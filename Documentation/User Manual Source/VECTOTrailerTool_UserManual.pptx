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 id="2147483754" r:id="rId2"/>
  </p:sldMasterIdLst>
  <p:notesMasterIdLst>
    <p:notesMasterId r:id="rId51"/>
  </p:notesMasterIdLst>
  <p:handoutMasterIdLst>
    <p:handoutMasterId r:id="rId52"/>
  </p:handoutMasterIdLst>
  <p:sldIdLst>
    <p:sldId id="258" r:id="rId3"/>
    <p:sldId id="430" r:id="rId4"/>
    <p:sldId id="382" r:id="rId5"/>
    <p:sldId id="313" r:id="rId6"/>
    <p:sldId id="401" r:id="rId7"/>
    <p:sldId id="402" r:id="rId8"/>
    <p:sldId id="354" r:id="rId9"/>
    <p:sldId id="403" r:id="rId10"/>
    <p:sldId id="390" r:id="rId11"/>
    <p:sldId id="419" r:id="rId12"/>
    <p:sldId id="379" r:id="rId13"/>
    <p:sldId id="431" r:id="rId14"/>
    <p:sldId id="372" r:id="rId15"/>
    <p:sldId id="373" r:id="rId16"/>
    <p:sldId id="376" r:id="rId17"/>
    <p:sldId id="374" r:id="rId18"/>
    <p:sldId id="432" r:id="rId19"/>
    <p:sldId id="380" r:id="rId20"/>
    <p:sldId id="387" r:id="rId21"/>
    <p:sldId id="395" r:id="rId22"/>
    <p:sldId id="397" r:id="rId23"/>
    <p:sldId id="429" r:id="rId24"/>
    <p:sldId id="396" r:id="rId25"/>
    <p:sldId id="426" r:id="rId26"/>
    <p:sldId id="400" r:id="rId27"/>
    <p:sldId id="409" r:id="rId28"/>
    <p:sldId id="410" r:id="rId29"/>
    <p:sldId id="414" r:id="rId30"/>
    <p:sldId id="420" r:id="rId31"/>
    <p:sldId id="404" r:id="rId32"/>
    <p:sldId id="405" r:id="rId33"/>
    <p:sldId id="417" r:id="rId34"/>
    <p:sldId id="407" r:id="rId35"/>
    <p:sldId id="418" r:id="rId36"/>
    <p:sldId id="411" r:id="rId37"/>
    <p:sldId id="416" r:id="rId38"/>
    <p:sldId id="408" r:id="rId39"/>
    <p:sldId id="412" r:id="rId40"/>
    <p:sldId id="413" r:id="rId41"/>
    <p:sldId id="421" r:id="rId42"/>
    <p:sldId id="422" r:id="rId43"/>
    <p:sldId id="423" r:id="rId44"/>
    <p:sldId id="424" r:id="rId45"/>
    <p:sldId id="425" r:id="rId46"/>
    <p:sldId id="383" r:id="rId47"/>
    <p:sldId id="384" r:id="rId48"/>
    <p:sldId id="385" r:id="rId49"/>
    <p:sldId id="386" r:id="rId50"/>
  </p:sldIdLst>
  <p:sldSz cx="9144000" cy="5143500" type="screen16x9"/>
  <p:notesSz cx="6810375" cy="99425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74">
          <p15:clr>
            <a:srgbClr val="A4A3A4"/>
          </p15:clr>
        </p15:guide>
        <p15:guide id="2" pos="5465">
          <p15:clr>
            <a:srgbClr val="A4A3A4"/>
          </p15:clr>
        </p15:guide>
      </p15:sldGuideLst>
    </p:ext>
    <p:ext uri="{2D200454-40CA-4A62-9FC3-DE9A4176ACB9}">
      <p15:notesGuideLst xmlns:p15="http://schemas.microsoft.com/office/powerpoint/2012/main">
        <p15:guide id="1" orient="horz" pos="3132" userDrawn="1">
          <p15:clr>
            <a:srgbClr val="A4A3A4"/>
          </p15:clr>
        </p15:guide>
        <p15:guide id="2" pos="214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xeis Martin" initials="RM" lastIdx="7" clrIdx="0">
    <p:extLst>
      <p:ext uri="{19B8F6BF-5375-455C-9EA6-DF929625EA0E}">
        <p15:presenceInfo xmlns:p15="http://schemas.microsoft.com/office/powerpoint/2012/main" userId="S-1-5-21-3973228963-298457264-3175122553-2623" providerId="AD"/>
      </p:ext>
    </p:extLst>
  </p:cmAuthor>
  <p:cmAuthor id="2" name="Present Stefan" initials="PS" lastIdx="3" clrIdx="1">
    <p:extLst>
      <p:ext uri="{19B8F6BF-5375-455C-9EA6-DF929625EA0E}">
        <p15:presenceInfo xmlns:p15="http://schemas.microsoft.com/office/powerpoint/2012/main" userId="S-1-5-21-3973228963-298457264-3175122553-1305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DED6"/>
    <a:srgbClr val="034EA2"/>
    <a:srgbClr val="1D9A78"/>
    <a:srgbClr val="FFC000"/>
    <a:srgbClr val="3166CF"/>
    <a:srgbClr val="4D80BC"/>
    <a:srgbClr val="FB2427"/>
    <a:srgbClr val="FB0004"/>
    <a:srgbClr val="E1CCF0"/>
    <a:srgbClr val="2583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6243" autoAdjust="0"/>
  </p:normalViewPr>
  <p:slideViewPr>
    <p:cSldViewPr showGuides="1">
      <p:cViewPr varScale="1">
        <p:scale>
          <a:sx n="135" d="100"/>
          <a:sy n="135" d="100"/>
        </p:scale>
        <p:origin x="390" y="126"/>
      </p:cViewPr>
      <p:guideLst>
        <p:guide orient="horz" pos="3174"/>
        <p:guide pos="546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50" d="100"/>
        <a:sy n="150" d="100"/>
      </p:scale>
      <p:origin x="0" y="0"/>
    </p:cViewPr>
  </p:sorterViewPr>
  <p:notesViewPr>
    <p:cSldViewPr showGuides="1">
      <p:cViewPr varScale="1">
        <p:scale>
          <a:sx n="76" d="100"/>
          <a:sy n="76" d="100"/>
        </p:scale>
        <p:origin x="2970" y="96"/>
      </p:cViewPr>
      <p:guideLst>
        <p:guide orient="horz" pos="3132"/>
        <p:guide pos="214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commentAuthors" Target="commentAuthor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1" y="0"/>
            <a:ext cx="2951905" cy="497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t" anchorCtr="0" compatLnSpc="1">
            <a:prstTxWarp prst="textNoShape">
              <a:avLst/>
            </a:prstTxWarp>
          </a:bodyPr>
          <a:lstStyle>
            <a:lvl1pPr>
              <a:defRPr>
                <a:solidFill>
                  <a:schemeClr val="tx1"/>
                </a:solidFill>
                <a:latin typeface="Arial" charset="0"/>
              </a:defRPr>
            </a:lvl1pPr>
          </a:lstStyle>
          <a:p>
            <a:endParaRPr lang="en-GB" altLang="en-US"/>
          </a:p>
        </p:txBody>
      </p:sp>
      <p:sp>
        <p:nvSpPr>
          <p:cNvPr id="37891" name="Rectangle 3"/>
          <p:cNvSpPr>
            <a:spLocks noGrp="1" noChangeArrowheads="1"/>
          </p:cNvSpPr>
          <p:nvPr>
            <p:ph type="dt" sz="quarter" idx="1"/>
          </p:nvPr>
        </p:nvSpPr>
        <p:spPr bwMode="auto">
          <a:xfrm>
            <a:off x="3856881" y="0"/>
            <a:ext cx="2951905" cy="497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t" anchorCtr="0" compatLnSpc="1">
            <a:prstTxWarp prst="textNoShape">
              <a:avLst/>
            </a:prstTxWarp>
          </a:bodyPr>
          <a:lstStyle>
            <a:lvl1pPr algn="r">
              <a:defRPr>
                <a:solidFill>
                  <a:schemeClr val="tx1"/>
                </a:solidFill>
                <a:latin typeface="Arial" charset="0"/>
              </a:defRPr>
            </a:lvl1pPr>
          </a:lstStyle>
          <a:p>
            <a:endParaRPr lang="en-GB" altLang="en-US"/>
          </a:p>
        </p:txBody>
      </p:sp>
      <p:sp>
        <p:nvSpPr>
          <p:cNvPr id="37892" name="Rectangle 4"/>
          <p:cNvSpPr>
            <a:spLocks noGrp="1" noChangeArrowheads="1"/>
          </p:cNvSpPr>
          <p:nvPr>
            <p:ph type="ftr" sz="quarter" idx="2"/>
          </p:nvPr>
        </p:nvSpPr>
        <p:spPr bwMode="auto">
          <a:xfrm>
            <a:off x="1" y="9443244"/>
            <a:ext cx="2951905" cy="497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b" anchorCtr="0" compatLnSpc="1">
            <a:prstTxWarp prst="textNoShape">
              <a:avLst/>
            </a:prstTxWarp>
          </a:bodyPr>
          <a:lstStyle>
            <a:lvl1pPr>
              <a:defRPr>
                <a:solidFill>
                  <a:schemeClr val="tx1"/>
                </a:solidFill>
                <a:latin typeface="Arial" charset="0"/>
              </a:defRPr>
            </a:lvl1pPr>
          </a:lstStyle>
          <a:p>
            <a:endParaRPr lang="en-GB" altLang="en-US"/>
          </a:p>
        </p:txBody>
      </p:sp>
      <p:sp>
        <p:nvSpPr>
          <p:cNvPr id="37893" name="Rectangle 5"/>
          <p:cNvSpPr>
            <a:spLocks noGrp="1" noChangeArrowheads="1"/>
          </p:cNvSpPr>
          <p:nvPr>
            <p:ph type="sldNum" sz="quarter" idx="3"/>
          </p:nvPr>
        </p:nvSpPr>
        <p:spPr bwMode="auto">
          <a:xfrm>
            <a:off x="3856881" y="9443244"/>
            <a:ext cx="2951905" cy="497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b" anchorCtr="0" compatLnSpc="1">
            <a:prstTxWarp prst="textNoShape">
              <a:avLst/>
            </a:prstTxWarp>
          </a:bodyPr>
          <a:lstStyle>
            <a:lvl1pPr algn="r">
              <a:defRPr>
                <a:solidFill>
                  <a:schemeClr val="tx1"/>
                </a:solidFill>
                <a:latin typeface="Arial" charset="0"/>
              </a:defRPr>
            </a:lvl1pPr>
          </a:lstStyle>
          <a:p>
            <a:fld id="{FED45814-836F-4D02-9B3F-C8895E045233}" type="slidenum">
              <a:rPr lang="en-GB" altLang="en-US"/>
              <a:pPr/>
              <a:t>‹Nr.›</a:t>
            </a:fld>
            <a:endParaRPr lang="en-GB" altLang="en-US"/>
          </a:p>
        </p:txBody>
      </p:sp>
    </p:spTree>
    <p:extLst>
      <p:ext uri="{BB962C8B-B14F-4D97-AF65-F5344CB8AC3E}">
        <p14:creationId xmlns:p14="http://schemas.microsoft.com/office/powerpoint/2010/main" val="23764585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1" y="0"/>
            <a:ext cx="2951905" cy="497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t" anchorCtr="0" compatLnSpc="1">
            <a:prstTxWarp prst="textNoShape">
              <a:avLst/>
            </a:prstTxWarp>
          </a:bodyPr>
          <a:lstStyle>
            <a:lvl1pPr>
              <a:defRPr>
                <a:solidFill>
                  <a:schemeClr val="tx1"/>
                </a:solidFill>
                <a:latin typeface="Arial" charset="0"/>
              </a:defRPr>
            </a:lvl1pPr>
          </a:lstStyle>
          <a:p>
            <a:endParaRPr lang="en-GB" altLang="en-US"/>
          </a:p>
        </p:txBody>
      </p:sp>
      <p:sp>
        <p:nvSpPr>
          <p:cNvPr id="36867" name="Rectangle 3"/>
          <p:cNvSpPr>
            <a:spLocks noGrp="1" noChangeArrowheads="1"/>
          </p:cNvSpPr>
          <p:nvPr>
            <p:ph type="dt" idx="1"/>
          </p:nvPr>
        </p:nvSpPr>
        <p:spPr bwMode="auto">
          <a:xfrm>
            <a:off x="3856881" y="0"/>
            <a:ext cx="2951905" cy="497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t" anchorCtr="0" compatLnSpc="1">
            <a:prstTxWarp prst="textNoShape">
              <a:avLst/>
            </a:prstTxWarp>
          </a:bodyPr>
          <a:lstStyle>
            <a:lvl1pPr algn="r">
              <a:defRPr>
                <a:solidFill>
                  <a:schemeClr val="tx1"/>
                </a:solidFill>
                <a:latin typeface="Arial" charset="0"/>
              </a:defRPr>
            </a:lvl1pPr>
          </a:lstStyle>
          <a:p>
            <a:endParaRPr lang="en-GB" altLang="en-US"/>
          </a:p>
        </p:txBody>
      </p:sp>
      <p:sp>
        <p:nvSpPr>
          <p:cNvPr id="36868" name="Rectangle 4"/>
          <p:cNvSpPr>
            <a:spLocks noGrp="1" noRot="1" noChangeAspect="1" noChangeArrowheads="1" noTextEdit="1"/>
          </p:cNvSpPr>
          <p:nvPr>
            <p:ph type="sldImg" idx="2"/>
          </p:nvPr>
        </p:nvSpPr>
        <p:spPr bwMode="auto">
          <a:xfrm>
            <a:off x="90488" y="746125"/>
            <a:ext cx="6630987" cy="372903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9" name="Rectangle 5"/>
          <p:cNvSpPr>
            <a:spLocks noGrp="1" noChangeArrowheads="1"/>
          </p:cNvSpPr>
          <p:nvPr>
            <p:ph type="body" sz="quarter" idx="3"/>
          </p:nvPr>
        </p:nvSpPr>
        <p:spPr bwMode="auto">
          <a:xfrm>
            <a:off x="296704" y="4722417"/>
            <a:ext cx="6216969" cy="4474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36870" name="Rectangle 6"/>
          <p:cNvSpPr>
            <a:spLocks noGrp="1" noChangeArrowheads="1"/>
          </p:cNvSpPr>
          <p:nvPr>
            <p:ph type="ftr" sz="quarter" idx="4"/>
          </p:nvPr>
        </p:nvSpPr>
        <p:spPr bwMode="auto">
          <a:xfrm>
            <a:off x="1" y="9443244"/>
            <a:ext cx="2951905" cy="497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b" anchorCtr="0" compatLnSpc="1">
            <a:prstTxWarp prst="textNoShape">
              <a:avLst/>
            </a:prstTxWarp>
          </a:bodyPr>
          <a:lstStyle>
            <a:lvl1pPr>
              <a:defRPr>
                <a:solidFill>
                  <a:schemeClr val="tx1"/>
                </a:solidFill>
                <a:latin typeface="Arial" charset="0"/>
              </a:defRPr>
            </a:lvl1pPr>
          </a:lstStyle>
          <a:p>
            <a:endParaRPr lang="en-GB" altLang="en-US"/>
          </a:p>
        </p:txBody>
      </p:sp>
      <p:sp>
        <p:nvSpPr>
          <p:cNvPr id="36871" name="Rectangle 7"/>
          <p:cNvSpPr>
            <a:spLocks noGrp="1" noChangeArrowheads="1"/>
          </p:cNvSpPr>
          <p:nvPr>
            <p:ph type="sldNum" sz="quarter" idx="5"/>
          </p:nvPr>
        </p:nvSpPr>
        <p:spPr bwMode="auto">
          <a:xfrm>
            <a:off x="3856881" y="9443244"/>
            <a:ext cx="2951905" cy="497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68" tIns="45784" rIns="91568" bIns="45784" numCol="1" anchor="b" anchorCtr="0" compatLnSpc="1">
            <a:prstTxWarp prst="textNoShape">
              <a:avLst/>
            </a:prstTxWarp>
          </a:bodyPr>
          <a:lstStyle>
            <a:lvl1pPr algn="r">
              <a:defRPr>
                <a:solidFill>
                  <a:schemeClr val="tx1"/>
                </a:solidFill>
                <a:latin typeface="Arial" charset="0"/>
              </a:defRPr>
            </a:lvl1pPr>
          </a:lstStyle>
          <a:p>
            <a:fld id="{220961ED-B8B5-4C64-9727-6F12A830C91B}" type="slidenum">
              <a:rPr lang="en-GB" altLang="en-US"/>
              <a:pPr/>
              <a:t>‹Nr.›</a:t>
            </a:fld>
            <a:endParaRPr lang="en-GB" altLang="en-US"/>
          </a:p>
        </p:txBody>
      </p:sp>
    </p:spTree>
    <p:extLst>
      <p:ext uri="{BB962C8B-B14F-4D97-AF65-F5344CB8AC3E}">
        <p14:creationId xmlns:p14="http://schemas.microsoft.com/office/powerpoint/2010/main" val="143276138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a:t>
            </a:fld>
            <a:endParaRPr lang="en-GB" altLang="en-US"/>
          </a:p>
        </p:txBody>
      </p:sp>
    </p:spTree>
    <p:extLst>
      <p:ext uri="{BB962C8B-B14F-4D97-AF65-F5344CB8AC3E}">
        <p14:creationId xmlns:p14="http://schemas.microsoft.com/office/powerpoint/2010/main" val="3570399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3</a:t>
            </a:fld>
            <a:endParaRPr lang="en-GB" altLang="en-US"/>
          </a:p>
        </p:txBody>
      </p:sp>
    </p:spTree>
    <p:extLst>
      <p:ext uri="{BB962C8B-B14F-4D97-AF65-F5344CB8AC3E}">
        <p14:creationId xmlns:p14="http://schemas.microsoft.com/office/powerpoint/2010/main" val="3217288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4</a:t>
            </a:fld>
            <a:endParaRPr lang="en-GB" altLang="en-US"/>
          </a:p>
        </p:txBody>
      </p:sp>
    </p:spTree>
    <p:extLst>
      <p:ext uri="{BB962C8B-B14F-4D97-AF65-F5344CB8AC3E}">
        <p14:creationId xmlns:p14="http://schemas.microsoft.com/office/powerpoint/2010/main" val="3261446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5</a:t>
            </a:fld>
            <a:endParaRPr lang="en-GB" altLang="en-US"/>
          </a:p>
        </p:txBody>
      </p:sp>
    </p:spTree>
    <p:extLst>
      <p:ext uri="{BB962C8B-B14F-4D97-AF65-F5344CB8AC3E}">
        <p14:creationId xmlns:p14="http://schemas.microsoft.com/office/powerpoint/2010/main" val="4007576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6</a:t>
            </a:fld>
            <a:endParaRPr lang="en-GB" altLang="en-US"/>
          </a:p>
        </p:txBody>
      </p:sp>
    </p:spTree>
    <p:extLst>
      <p:ext uri="{BB962C8B-B14F-4D97-AF65-F5344CB8AC3E}">
        <p14:creationId xmlns:p14="http://schemas.microsoft.com/office/powerpoint/2010/main" val="3452228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7</a:t>
            </a:fld>
            <a:endParaRPr lang="en-GB" altLang="en-US"/>
          </a:p>
        </p:txBody>
      </p:sp>
    </p:spTree>
    <p:extLst>
      <p:ext uri="{BB962C8B-B14F-4D97-AF65-F5344CB8AC3E}">
        <p14:creationId xmlns:p14="http://schemas.microsoft.com/office/powerpoint/2010/main" val="420599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8</a:t>
            </a:fld>
            <a:endParaRPr lang="en-GB" altLang="en-US"/>
          </a:p>
        </p:txBody>
      </p:sp>
    </p:spTree>
    <p:extLst>
      <p:ext uri="{BB962C8B-B14F-4D97-AF65-F5344CB8AC3E}">
        <p14:creationId xmlns:p14="http://schemas.microsoft.com/office/powerpoint/2010/main" val="1024322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9</a:t>
            </a:fld>
            <a:endParaRPr lang="en-GB" altLang="en-US"/>
          </a:p>
        </p:txBody>
      </p:sp>
    </p:spTree>
    <p:extLst>
      <p:ext uri="{BB962C8B-B14F-4D97-AF65-F5344CB8AC3E}">
        <p14:creationId xmlns:p14="http://schemas.microsoft.com/office/powerpoint/2010/main" val="1335303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10</a:t>
            </a:fld>
            <a:endParaRPr lang="en-GB" altLang="en-US"/>
          </a:p>
        </p:txBody>
      </p:sp>
    </p:spTree>
    <p:extLst>
      <p:ext uri="{BB962C8B-B14F-4D97-AF65-F5344CB8AC3E}">
        <p14:creationId xmlns:p14="http://schemas.microsoft.com/office/powerpoint/2010/main" val="3596317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12</a:t>
            </a:fld>
            <a:endParaRPr lang="en-GB" altLang="en-US"/>
          </a:p>
        </p:txBody>
      </p:sp>
    </p:spTree>
    <p:extLst>
      <p:ext uri="{BB962C8B-B14F-4D97-AF65-F5344CB8AC3E}">
        <p14:creationId xmlns:p14="http://schemas.microsoft.com/office/powerpoint/2010/main" val="1223110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13</a:t>
            </a:fld>
            <a:endParaRPr lang="en-GB" altLang="en-US"/>
          </a:p>
        </p:txBody>
      </p:sp>
    </p:spTree>
    <p:extLst>
      <p:ext uri="{BB962C8B-B14F-4D97-AF65-F5344CB8AC3E}">
        <p14:creationId xmlns:p14="http://schemas.microsoft.com/office/powerpoint/2010/main" val="1886196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14</a:t>
            </a:fld>
            <a:endParaRPr lang="en-GB" altLang="en-US"/>
          </a:p>
        </p:txBody>
      </p:sp>
    </p:spTree>
    <p:extLst>
      <p:ext uri="{BB962C8B-B14F-4D97-AF65-F5344CB8AC3E}">
        <p14:creationId xmlns:p14="http://schemas.microsoft.com/office/powerpoint/2010/main" val="3309739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15</a:t>
            </a:fld>
            <a:endParaRPr lang="en-GB" altLang="en-US"/>
          </a:p>
        </p:txBody>
      </p:sp>
    </p:spTree>
    <p:extLst>
      <p:ext uri="{BB962C8B-B14F-4D97-AF65-F5344CB8AC3E}">
        <p14:creationId xmlns:p14="http://schemas.microsoft.com/office/powerpoint/2010/main" val="1709906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16</a:t>
            </a:fld>
            <a:endParaRPr lang="en-GB" altLang="en-US"/>
          </a:p>
        </p:txBody>
      </p:sp>
    </p:spTree>
    <p:extLst>
      <p:ext uri="{BB962C8B-B14F-4D97-AF65-F5344CB8AC3E}">
        <p14:creationId xmlns:p14="http://schemas.microsoft.com/office/powerpoint/2010/main" val="3894773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17</a:t>
            </a:fld>
            <a:endParaRPr lang="en-GB" altLang="en-US"/>
          </a:p>
        </p:txBody>
      </p:sp>
    </p:spTree>
    <p:extLst>
      <p:ext uri="{BB962C8B-B14F-4D97-AF65-F5344CB8AC3E}">
        <p14:creationId xmlns:p14="http://schemas.microsoft.com/office/powerpoint/2010/main" val="1665708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18</a:t>
            </a:fld>
            <a:endParaRPr lang="en-GB" altLang="en-US"/>
          </a:p>
        </p:txBody>
      </p:sp>
    </p:spTree>
    <p:extLst>
      <p:ext uri="{BB962C8B-B14F-4D97-AF65-F5344CB8AC3E}">
        <p14:creationId xmlns:p14="http://schemas.microsoft.com/office/powerpoint/2010/main" val="22294369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19</a:t>
            </a:fld>
            <a:endParaRPr lang="en-GB" altLang="en-US"/>
          </a:p>
        </p:txBody>
      </p:sp>
    </p:spTree>
    <p:extLst>
      <p:ext uri="{BB962C8B-B14F-4D97-AF65-F5344CB8AC3E}">
        <p14:creationId xmlns:p14="http://schemas.microsoft.com/office/powerpoint/2010/main" val="9164353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20</a:t>
            </a:fld>
            <a:endParaRPr lang="en-GB" altLang="en-US"/>
          </a:p>
        </p:txBody>
      </p:sp>
    </p:spTree>
    <p:extLst>
      <p:ext uri="{BB962C8B-B14F-4D97-AF65-F5344CB8AC3E}">
        <p14:creationId xmlns:p14="http://schemas.microsoft.com/office/powerpoint/2010/main" val="12565824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21</a:t>
            </a:fld>
            <a:endParaRPr lang="en-GB" altLang="en-US"/>
          </a:p>
        </p:txBody>
      </p:sp>
    </p:spTree>
    <p:extLst>
      <p:ext uri="{BB962C8B-B14F-4D97-AF65-F5344CB8AC3E}">
        <p14:creationId xmlns:p14="http://schemas.microsoft.com/office/powerpoint/2010/main" val="2820443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22</a:t>
            </a:fld>
            <a:endParaRPr lang="en-GB" altLang="en-US"/>
          </a:p>
        </p:txBody>
      </p:sp>
    </p:spTree>
    <p:extLst>
      <p:ext uri="{BB962C8B-B14F-4D97-AF65-F5344CB8AC3E}">
        <p14:creationId xmlns:p14="http://schemas.microsoft.com/office/powerpoint/2010/main" val="3107403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23</a:t>
            </a:fld>
            <a:endParaRPr lang="en-GB" altLang="en-US"/>
          </a:p>
        </p:txBody>
      </p:sp>
    </p:spTree>
    <p:extLst>
      <p:ext uri="{BB962C8B-B14F-4D97-AF65-F5344CB8AC3E}">
        <p14:creationId xmlns:p14="http://schemas.microsoft.com/office/powerpoint/2010/main" val="2496116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24</a:t>
            </a:fld>
            <a:endParaRPr lang="en-GB" altLang="en-US"/>
          </a:p>
        </p:txBody>
      </p:sp>
    </p:spTree>
    <p:extLst>
      <p:ext uri="{BB962C8B-B14F-4D97-AF65-F5344CB8AC3E}">
        <p14:creationId xmlns:p14="http://schemas.microsoft.com/office/powerpoint/2010/main" val="1948748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25</a:t>
            </a:fld>
            <a:endParaRPr lang="en-GB" altLang="en-US"/>
          </a:p>
        </p:txBody>
      </p:sp>
    </p:spTree>
    <p:extLst>
      <p:ext uri="{BB962C8B-B14F-4D97-AF65-F5344CB8AC3E}">
        <p14:creationId xmlns:p14="http://schemas.microsoft.com/office/powerpoint/2010/main" val="36268571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26</a:t>
            </a:fld>
            <a:endParaRPr lang="en-GB" altLang="en-US"/>
          </a:p>
        </p:txBody>
      </p:sp>
    </p:spTree>
    <p:extLst>
      <p:ext uri="{BB962C8B-B14F-4D97-AF65-F5344CB8AC3E}">
        <p14:creationId xmlns:p14="http://schemas.microsoft.com/office/powerpoint/2010/main" val="2571826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27</a:t>
            </a:fld>
            <a:endParaRPr lang="en-GB" altLang="en-US"/>
          </a:p>
        </p:txBody>
      </p:sp>
    </p:spTree>
    <p:extLst>
      <p:ext uri="{BB962C8B-B14F-4D97-AF65-F5344CB8AC3E}">
        <p14:creationId xmlns:p14="http://schemas.microsoft.com/office/powerpoint/2010/main" val="22974966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28</a:t>
            </a:fld>
            <a:endParaRPr lang="en-GB" altLang="en-US" dirty="0"/>
          </a:p>
        </p:txBody>
      </p:sp>
    </p:spTree>
    <p:extLst>
      <p:ext uri="{BB962C8B-B14F-4D97-AF65-F5344CB8AC3E}">
        <p14:creationId xmlns:p14="http://schemas.microsoft.com/office/powerpoint/2010/main" val="36606018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45</a:t>
            </a:fld>
            <a:endParaRPr lang="en-GB" altLang="en-US"/>
          </a:p>
        </p:txBody>
      </p:sp>
    </p:spTree>
    <p:extLst>
      <p:ext uri="{BB962C8B-B14F-4D97-AF65-F5344CB8AC3E}">
        <p14:creationId xmlns:p14="http://schemas.microsoft.com/office/powerpoint/2010/main" val="1015322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46</a:t>
            </a:fld>
            <a:endParaRPr lang="en-GB" altLang="en-US"/>
          </a:p>
        </p:txBody>
      </p:sp>
    </p:spTree>
    <p:extLst>
      <p:ext uri="{BB962C8B-B14F-4D97-AF65-F5344CB8AC3E}">
        <p14:creationId xmlns:p14="http://schemas.microsoft.com/office/powerpoint/2010/main" val="20126851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47</a:t>
            </a:fld>
            <a:endParaRPr lang="en-GB" altLang="en-US"/>
          </a:p>
        </p:txBody>
      </p:sp>
    </p:spTree>
    <p:extLst>
      <p:ext uri="{BB962C8B-B14F-4D97-AF65-F5344CB8AC3E}">
        <p14:creationId xmlns:p14="http://schemas.microsoft.com/office/powerpoint/2010/main" val="35550219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48</a:t>
            </a:fld>
            <a:endParaRPr lang="en-GB" altLang="en-US"/>
          </a:p>
        </p:txBody>
      </p:sp>
    </p:spTree>
    <p:extLst>
      <p:ext uri="{BB962C8B-B14F-4D97-AF65-F5344CB8AC3E}">
        <p14:creationId xmlns:p14="http://schemas.microsoft.com/office/powerpoint/2010/main" val="3462857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FC1372-5585-4C63-A11E-9A6B7B874E0B}"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1864772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C1372-5585-4C63-A11E-9A6B7B874E0B}"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80750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5FC1372-5585-4C63-A11E-9A6B7B874E0B}"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305061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FC1372-5585-4C63-A11E-9A6B7B874E0B}"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4150919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FC1372-5585-4C63-A11E-9A6B7B874E0B}" type="datetimeFigureOut">
              <a:rPr lang="en-US" smtClean="0"/>
              <a:t>7/21/2022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343110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FC1372-5585-4C63-A11E-9A6B7B874E0B}" type="datetimeFigureOut">
              <a:rPr lang="en-US" smtClean="0"/>
              <a:t>7/21/2022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1994764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FC1372-5585-4C63-A11E-9A6B7B874E0B}" type="datetimeFigureOut">
              <a:rPr lang="en-US" smtClean="0"/>
              <a:t>7/21/2022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1638651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5FC1372-5585-4C63-A11E-9A6B7B874E0B}"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1869357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5FC1372-5585-4C63-A11E-9A6B7B874E0B}"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2963477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C1372-5585-4C63-A11E-9A6B7B874E0B}"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4057596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C1372-5585-4C63-A11E-9A6B7B874E0B}"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3927628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2224" y="195486"/>
            <a:ext cx="8229600" cy="702469"/>
          </a:xfrm>
          <a:prstGeom prst="rect">
            <a:avLst/>
          </a:prstGeom>
        </p:spPr>
        <p:txBody>
          <a:bodyPr>
            <a:normAutofit/>
          </a:bodyPr>
          <a:lstStyle>
            <a:lvl1pPr>
              <a:defRPr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GB" dirty="0"/>
          </a:p>
        </p:txBody>
      </p:sp>
      <p:sp>
        <p:nvSpPr>
          <p:cNvPr id="10" name="Content Placeholder 2"/>
          <p:cNvSpPr>
            <a:spLocks noGrp="1"/>
          </p:cNvSpPr>
          <p:nvPr>
            <p:ph idx="1"/>
          </p:nvPr>
        </p:nvSpPr>
        <p:spPr>
          <a:xfrm>
            <a:off x="457200" y="1203599"/>
            <a:ext cx="8229600" cy="3445422"/>
          </a:xfrm>
          <a:prstGeom prst="rect">
            <a:avLst/>
          </a:prstGeom>
        </p:spPr>
        <p:txBody>
          <a:bodyPr/>
          <a:lstStyle>
            <a:lvl1pPr marL="342900" indent="-342900">
              <a:lnSpc>
                <a:spcPct val="114000"/>
              </a:lnSpc>
              <a:buClr>
                <a:schemeClr val="accent4">
                  <a:lumMod val="75000"/>
                </a:schemeClr>
              </a:buClr>
              <a:buFont typeface="Arial" pitchFamily="34" charset="0"/>
              <a:buChar char="•"/>
              <a:defRPr i="0">
                <a:solidFill>
                  <a:schemeClr val="accent4">
                    <a:lumMod val="50000"/>
                  </a:schemeClr>
                </a:solidFill>
              </a:defRPr>
            </a:lvl1pPr>
            <a:lvl2pPr>
              <a:lnSpc>
                <a:spcPct val="114000"/>
              </a:lnSpc>
              <a:buClr>
                <a:schemeClr val="accent4">
                  <a:lumMod val="75000"/>
                </a:schemeClr>
              </a:buClr>
              <a:defRPr>
                <a:solidFill>
                  <a:schemeClr val="accent4">
                    <a:lumMod val="50000"/>
                  </a:schemeClr>
                </a:solidFill>
              </a:defRPr>
            </a:lvl2pPr>
            <a:lvl3pPr>
              <a:lnSpc>
                <a:spcPct val="114000"/>
              </a:lnSpc>
              <a:buClr>
                <a:schemeClr val="accent4">
                  <a:lumMod val="75000"/>
                </a:schemeClr>
              </a:buClr>
              <a:defRPr>
                <a:solidFill>
                  <a:schemeClr val="accent4">
                    <a:lumMod val="50000"/>
                  </a:schemeClr>
                </a:solidFil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479801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4" name="Rectangle 4"/>
          <p:cNvSpPr>
            <a:spLocks noGrp="1" noChangeArrowheads="1"/>
          </p:cNvSpPr>
          <p:nvPr>
            <p:ph type="ctrTitle"/>
          </p:nvPr>
        </p:nvSpPr>
        <p:spPr>
          <a:xfrm>
            <a:off x="4068530" y="1527634"/>
            <a:ext cx="4751942" cy="1350150"/>
          </a:xfrm>
          <a:prstGeom prst="rect">
            <a:avLst/>
          </a:prstGeom>
        </p:spPr>
        <p:txBody>
          <a:bodyPr lIns="0" tIns="0" rIns="0" bIns="0"/>
          <a:lstStyle>
            <a:lvl1pPr marL="0" algn="r">
              <a:lnSpc>
                <a:spcPct val="110000"/>
              </a:lnSpc>
              <a:defRPr sz="2800">
                <a:solidFill>
                  <a:srgbClr val="164194"/>
                </a:solidFill>
              </a:defRPr>
            </a:lvl1pPr>
          </a:lstStyle>
          <a:p>
            <a:pPr lvl="0"/>
            <a:endParaRPr lang="en-GB" altLang="en-US" noProof="0" dirty="0"/>
          </a:p>
        </p:txBody>
      </p:sp>
      <p:sp>
        <p:nvSpPr>
          <p:cNvPr id="5" name="Rectangle 5"/>
          <p:cNvSpPr>
            <a:spLocks noGrp="1" noChangeArrowheads="1"/>
          </p:cNvSpPr>
          <p:nvPr>
            <p:ph type="subTitle" idx="1"/>
          </p:nvPr>
        </p:nvSpPr>
        <p:spPr>
          <a:xfrm>
            <a:off x="4067945" y="2985796"/>
            <a:ext cx="4752547" cy="810090"/>
          </a:xfrm>
          <a:prstGeom prst="rect">
            <a:avLst/>
          </a:prstGeom>
        </p:spPr>
        <p:txBody>
          <a:bodyPr lIns="0" tIns="0" bIns="0"/>
          <a:lstStyle>
            <a:lvl1pPr marL="0" indent="0" algn="r">
              <a:lnSpc>
                <a:spcPct val="110000"/>
              </a:lnSpc>
              <a:spcBef>
                <a:spcPts val="0"/>
              </a:spcBef>
              <a:buFontTx/>
              <a:buNone/>
              <a:defRPr sz="2400" b="1" i="0">
                <a:solidFill>
                  <a:srgbClr val="164194"/>
                </a:solidFill>
              </a:defRPr>
            </a:lvl1pPr>
          </a:lstStyle>
          <a:p>
            <a:pPr lvl="0"/>
            <a:r>
              <a:rPr lang="en-US" altLang="en-US" noProof="0" dirty="0"/>
              <a:t>Click to edit Master subtitle style</a:t>
            </a:r>
            <a:endParaRPr lang="en-GB" altLang="en-US" noProof="0" dirty="0"/>
          </a:p>
        </p:txBody>
      </p:sp>
      <p:sp>
        <p:nvSpPr>
          <p:cNvPr id="6" name="Content Placeholder 2"/>
          <p:cNvSpPr>
            <a:spLocks noGrp="1"/>
          </p:cNvSpPr>
          <p:nvPr>
            <p:ph idx="10"/>
          </p:nvPr>
        </p:nvSpPr>
        <p:spPr>
          <a:xfrm>
            <a:off x="4067945" y="4011910"/>
            <a:ext cx="4752547" cy="486054"/>
          </a:xfrm>
          <a:prstGeom prst="rect">
            <a:avLst/>
          </a:prstGeom>
        </p:spPr>
        <p:txBody>
          <a:bodyPr lIns="0" rIns="0" bIns="360000" anchor="b"/>
          <a:lstStyle>
            <a:lvl1pPr marL="0" indent="0" algn="r">
              <a:buClr>
                <a:srgbClr val="1E4494"/>
              </a:buClr>
              <a:buFont typeface="Arial" panose="020B0604020202020204" pitchFamily="34" charset="0"/>
              <a:buNone/>
              <a:defRPr sz="1600" b="1"/>
            </a:lvl1pPr>
            <a:lvl2pPr marL="228600" indent="-228600" algn="r">
              <a:buClr>
                <a:srgbClr val="1E4494"/>
              </a:buClr>
              <a:buFont typeface="Arial" panose="020B0604020202020204" pitchFamily="34" charset="0"/>
              <a:buChar char="•"/>
              <a:defRPr sz="1600"/>
            </a:lvl2pPr>
            <a:lvl3pPr marL="457200" indent="-228600" algn="r">
              <a:buClr>
                <a:srgbClr val="1E4494"/>
              </a:buClr>
              <a:buFont typeface="Arial" panose="020B0604020202020204" pitchFamily="34" charset="0"/>
              <a:buChar char="•"/>
              <a:defRPr/>
            </a:lvl3pPr>
            <a:lvl4pPr marL="685800" indent="-228600" algn="r">
              <a:buClr>
                <a:srgbClr val="1E4494"/>
              </a:buClr>
              <a:buFont typeface="Arial" panose="020B0604020202020204" pitchFamily="34" charset="0"/>
              <a:buChar char="•"/>
              <a:defRPr/>
            </a:lvl4pPr>
            <a:lvl5pPr marL="914400" indent="-228600" algn="r">
              <a:buClr>
                <a:srgbClr val="1E4494"/>
              </a:buClr>
              <a:buFont typeface="Arial" panose="020B0604020202020204" pitchFamily="34" charset="0"/>
              <a:buChar char="•"/>
              <a:defRPr/>
            </a:lvl5pPr>
          </a:lstStyle>
          <a:p>
            <a:pPr lvl="0"/>
            <a:r>
              <a:rPr lang="en-US" dirty="0"/>
              <a:t>Click to edit Master text styles</a:t>
            </a:r>
          </a:p>
        </p:txBody>
      </p:sp>
    </p:spTree>
    <p:extLst>
      <p:ext uri="{BB962C8B-B14F-4D97-AF65-F5344CB8AC3E}">
        <p14:creationId xmlns:p14="http://schemas.microsoft.com/office/powerpoint/2010/main" val="1017334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466725" y="251129"/>
            <a:ext cx="8208963" cy="486054"/>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
        <p:nvSpPr>
          <p:cNvPr id="5" name="Content Placeholder 2"/>
          <p:cNvSpPr>
            <a:spLocks noGrp="1"/>
          </p:cNvSpPr>
          <p:nvPr>
            <p:ph idx="1"/>
          </p:nvPr>
        </p:nvSpPr>
        <p:spPr>
          <a:xfrm>
            <a:off x="467544" y="790129"/>
            <a:ext cx="8208144" cy="3674715"/>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chemeClr val="tx1"/>
                </a:solidFill>
              </a:defRPr>
            </a:lvl1pPr>
            <a:lvl2pPr marL="342900" indent="-342900">
              <a:lnSpc>
                <a:spcPct val="110000"/>
              </a:lnSpc>
              <a:spcBef>
                <a:spcPts val="0"/>
              </a:spcBef>
              <a:buClr>
                <a:srgbClr val="33ACE3"/>
              </a:buClr>
              <a:buFont typeface="Arial"/>
              <a:buChar char="•"/>
              <a:defRPr sz="1600">
                <a:solidFill>
                  <a:schemeClr val="tx1"/>
                </a:solidFill>
              </a:defRPr>
            </a:lvl2pPr>
            <a:lvl3pPr marL="0" indent="0">
              <a:lnSpc>
                <a:spcPct val="110000"/>
              </a:lnSpc>
              <a:spcBef>
                <a:spcPts val="0"/>
              </a:spcBef>
              <a:buClr>
                <a:srgbClr val="33ACE3"/>
              </a:buClr>
              <a:buFont typeface="Arial"/>
              <a:buNone/>
              <a:defRPr sz="1400">
                <a:solidFill>
                  <a:schemeClr val="tx1"/>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78702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66725" y="251129"/>
            <a:ext cx="8208963" cy="486054"/>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
        <p:nvSpPr>
          <p:cNvPr id="8" name="Content Placeholder 2"/>
          <p:cNvSpPr>
            <a:spLocks noGrp="1"/>
          </p:cNvSpPr>
          <p:nvPr>
            <p:ph idx="1"/>
          </p:nvPr>
        </p:nvSpPr>
        <p:spPr>
          <a:xfrm>
            <a:off x="467544" y="790129"/>
            <a:ext cx="3960440" cy="3674715"/>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
        <p:nvSpPr>
          <p:cNvPr id="9" name="Content Placeholder 2"/>
          <p:cNvSpPr>
            <a:spLocks noGrp="1"/>
          </p:cNvSpPr>
          <p:nvPr>
            <p:ph idx="12"/>
          </p:nvPr>
        </p:nvSpPr>
        <p:spPr>
          <a:xfrm>
            <a:off x="4715247" y="790129"/>
            <a:ext cx="3960440" cy="3674715"/>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611566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_picture">
    <p:spTree>
      <p:nvGrpSpPr>
        <p:cNvPr id="1" name=""/>
        <p:cNvGrpSpPr/>
        <p:nvPr/>
      </p:nvGrpSpPr>
      <p:grpSpPr>
        <a:xfrm>
          <a:off x="0" y="0"/>
          <a:ext cx="0" cy="0"/>
          <a:chOff x="0" y="0"/>
          <a:chExt cx="0" cy="0"/>
        </a:xfrm>
      </p:grpSpPr>
      <p:sp>
        <p:nvSpPr>
          <p:cNvPr id="6" name="Picture Placeholder 6"/>
          <p:cNvSpPr>
            <a:spLocks noGrp="1"/>
          </p:cNvSpPr>
          <p:nvPr>
            <p:ph type="pic" sz="quarter" idx="12"/>
          </p:nvPr>
        </p:nvSpPr>
        <p:spPr>
          <a:xfrm>
            <a:off x="4860032" y="360362"/>
            <a:ext cx="4320480" cy="4101597"/>
          </a:xfrm>
          <a:prstGeom prst="rect">
            <a:avLst/>
          </a:prstGeom>
        </p:spPr>
        <p:txBody>
          <a:bodyPr/>
          <a:lstStyle>
            <a:lvl1pPr>
              <a:defRPr sz="2000">
                <a:solidFill>
                  <a:srgbClr val="000000"/>
                </a:solidFill>
              </a:defRPr>
            </a:lvl1pPr>
          </a:lstStyle>
          <a:p>
            <a:endParaRPr lang="en-GB" dirty="0"/>
          </a:p>
        </p:txBody>
      </p:sp>
      <p:sp>
        <p:nvSpPr>
          <p:cNvPr id="11" name="Content Placeholder 2"/>
          <p:cNvSpPr>
            <a:spLocks noGrp="1"/>
          </p:cNvSpPr>
          <p:nvPr>
            <p:ph idx="13"/>
          </p:nvPr>
        </p:nvSpPr>
        <p:spPr>
          <a:xfrm>
            <a:off x="467544" y="1113625"/>
            <a:ext cx="3959994" cy="3402341"/>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
        <p:nvSpPr>
          <p:cNvPr id="13" name="Title 1"/>
          <p:cNvSpPr>
            <a:spLocks noGrp="1"/>
          </p:cNvSpPr>
          <p:nvPr>
            <p:ph type="title"/>
          </p:nvPr>
        </p:nvSpPr>
        <p:spPr>
          <a:xfrm>
            <a:off x="466725" y="251128"/>
            <a:ext cx="3961260" cy="754448"/>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868214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_text">
    <p:spTree>
      <p:nvGrpSpPr>
        <p:cNvPr id="1" name=""/>
        <p:cNvGrpSpPr/>
        <p:nvPr/>
      </p:nvGrpSpPr>
      <p:grpSpPr>
        <a:xfrm>
          <a:off x="0" y="0"/>
          <a:ext cx="0" cy="0"/>
          <a:chOff x="0" y="0"/>
          <a:chExt cx="0" cy="0"/>
        </a:xfrm>
      </p:grpSpPr>
      <p:sp>
        <p:nvSpPr>
          <p:cNvPr id="11" name="Picture Placeholder 6"/>
          <p:cNvSpPr>
            <a:spLocks noGrp="1"/>
          </p:cNvSpPr>
          <p:nvPr>
            <p:ph type="pic" sz="quarter" idx="10"/>
          </p:nvPr>
        </p:nvSpPr>
        <p:spPr>
          <a:xfrm>
            <a:off x="-17828" y="0"/>
            <a:ext cx="4229788" cy="5143500"/>
          </a:xfrm>
          <a:prstGeom prst="rect">
            <a:avLst/>
          </a:prstGeom>
        </p:spPr>
        <p:txBody>
          <a:bodyPr/>
          <a:lstStyle>
            <a:lvl1pPr>
              <a:defRPr sz="2000">
                <a:solidFill>
                  <a:srgbClr val="000000"/>
                </a:solidFill>
              </a:defRPr>
            </a:lvl1pPr>
          </a:lstStyle>
          <a:p>
            <a:endParaRPr lang="en-GB" dirty="0"/>
          </a:p>
        </p:txBody>
      </p:sp>
      <p:sp>
        <p:nvSpPr>
          <p:cNvPr id="12" name="Content Placeholder 2"/>
          <p:cNvSpPr>
            <a:spLocks noGrp="1"/>
          </p:cNvSpPr>
          <p:nvPr>
            <p:ph idx="13"/>
          </p:nvPr>
        </p:nvSpPr>
        <p:spPr>
          <a:xfrm>
            <a:off x="4716015" y="1113625"/>
            <a:ext cx="3960000" cy="3402341"/>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
        <p:nvSpPr>
          <p:cNvPr id="14" name="Title 1"/>
          <p:cNvSpPr>
            <a:spLocks noGrp="1"/>
          </p:cNvSpPr>
          <p:nvPr>
            <p:ph type="title"/>
          </p:nvPr>
        </p:nvSpPr>
        <p:spPr>
          <a:xfrm>
            <a:off x="4714755" y="251128"/>
            <a:ext cx="3961260" cy="754448"/>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Tree>
    <p:extLst>
      <p:ext uri="{BB962C8B-B14F-4D97-AF65-F5344CB8AC3E}">
        <p14:creationId xmlns:p14="http://schemas.microsoft.com/office/powerpoint/2010/main" val="920610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below-pictur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17828" y="0"/>
            <a:ext cx="9161828" cy="1653648"/>
          </a:xfrm>
          <a:prstGeom prst="rect">
            <a:avLst/>
          </a:prstGeom>
        </p:spPr>
        <p:txBody>
          <a:bodyPr/>
          <a:lstStyle>
            <a:lvl1pPr>
              <a:defRPr sz="2000">
                <a:solidFill>
                  <a:srgbClr val="000000"/>
                </a:solidFill>
              </a:defRPr>
            </a:lvl1pPr>
          </a:lstStyle>
          <a:p>
            <a:endParaRPr lang="en-GB" dirty="0"/>
          </a:p>
        </p:txBody>
      </p:sp>
      <p:sp>
        <p:nvSpPr>
          <p:cNvPr id="10" name="Content Placeholder 2"/>
          <p:cNvSpPr>
            <a:spLocks noGrp="1"/>
          </p:cNvSpPr>
          <p:nvPr>
            <p:ph idx="1"/>
          </p:nvPr>
        </p:nvSpPr>
        <p:spPr>
          <a:xfrm>
            <a:off x="467544" y="2462678"/>
            <a:ext cx="8208144" cy="2002166"/>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
        <p:nvSpPr>
          <p:cNvPr id="13" name="Title 1"/>
          <p:cNvSpPr>
            <a:spLocks noGrp="1"/>
          </p:cNvSpPr>
          <p:nvPr>
            <p:ph type="title"/>
          </p:nvPr>
        </p:nvSpPr>
        <p:spPr>
          <a:xfrm>
            <a:off x="466725" y="1923678"/>
            <a:ext cx="8208963" cy="486054"/>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Tree>
    <p:extLst>
      <p:ext uri="{BB962C8B-B14F-4D97-AF65-F5344CB8AC3E}">
        <p14:creationId xmlns:p14="http://schemas.microsoft.com/office/powerpoint/2010/main" val="42123457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itle 1"/>
          <p:cNvSpPr>
            <a:spLocks noGrp="1"/>
          </p:cNvSpPr>
          <p:nvPr>
            <p:ph type="title"/>
          </p:nvPr>
        </p:nvSpPr>
        <p:spPr>
          <a:xfrm>
            <a:off x="466725" y="251129"/>
            <a:ext cx="8208963" cy="486054"/>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Tree>
    <p:extLst>
      <p:ext uri="{BB962C8B-B14F-4D97-AF65-F5344CB8AC3E}">
        <p14:creationId xmlns:p14="http://schemas.microsoft.com/office/powerpoint/2010/main" val="9689852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1355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169864" y="896941"/>
            <a:ext cx="4525962" cy="380530"/>
          </a:xfrm>
          <a:prstGeom prst="rect">
            <a:avLst/>
          </a:prstGeom>
        </p:spPr>
        <p:txBody>
          <a:bodyPr/>
          <a:lstStyle>
            <a:lvl1pPr>
              <a:defRPr/>
            </a:lvl1pPr>
          </a:lstStyle>
          <a:p>
            <a:r>
              <a:rPr lang="en-GB" sz="1950" dirty="0"/>
              <a:t>Title</a:t>
            </a:r>
            <a:br>
              <a:rPr lang="en-GB" sz="1950" dirty="0"/>
            </a:br>
            <a:endParaRPr lang="en-GB" sz="1950" dirty="0"/>
          </a:p>
        </p:txBody>
      </p:sp>
      <p:sp>
        <p:nvSpPr>
          <p:cNvPr id="7" name="Picture Placeholder 6"/>
          <p:cNvSpPr>
            <a:spLocks noGrp="1"/>
          </p:cNvSpPr>
          <p:nvPr>
            <p:ph type="pic" sz="quarter" idx="10"/>
          </p:nvPr>
        </p:nvSpPr>
        <p:spPr>
          <a:xfrm>
            <a:off x="4876801" y="719418"/>
            <a:ext cx="4267200" cy="4424082"/>
          </a:xfrm>
          <a:prstGeom prst="rect">
            <a:avLst/>
          </a:prstGeom>
        </p:spPr>
        <p:txBody>
          <a:bodyPr/>
          <a:lstStyle/>
          <a:p>
            <a:endParaRPr lang="en-GB"/>
          </a:p>
        </p:txBody>
      </p:sp>
      <p:sp>
        <p:nvSpPr>
          <p:cNvPr id="10" name="Text Placeholder 2"/>
          <p:cNvSpPr>
            <a:spLocks noGrp="1"/>
          </p:cNvSpPr>
          <p:nvPr>
            <p:ph type="body" sz="quarter" idx="11"/>
          </p:nvPr>
        </p:nvSpPr>
        <p:spPr>
          <a:xfrm>
            <a:off x="198438" y="1432102"/>
            <a:ext cx="4455742" cy="2958353"/>
          </a:xfrm>
          <a:prstGeom prst="rect">
            <a:avLst/>
          </a:prstGeom>
        </p:spPr>
        <p:txBody>
          <a:bodyPr/>
          <a:lstStyle>
            <a:lvl1pPr>
              <a:defRPr sz="1200" b="1"/>
            </a:lvl1pPr>
            <a:lvl2pPr>
              <a:defRPr sz="1200"/>
            </a:lvl2pPr>
            <a:lvl3pPr>
              <a:defRPr sz="1050"/>
            </a:lvl3pPr>
            <a:lvl4pPr>
              <a:defRPr sz="1050"/>
            </a:lvl4pPr>
            <a:lvl5pPr>
              <a:defRPr sz="105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503437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Autofit/>
          </a:bodyPr>
          <a:lstStyle/>
          <a:p>
            <a:fld id="{F46C79FD-C571-418B-AB0F-5EE936C85276}" type="slidenum">
              <a:rPr lang="en-GB" smtClean="0"/>
              <a:t>‹Nr.›</a:t>
            </a:fld>
            <a:endParaRPr lang="en-GB"/>
          </a:p>
        </p:txBody>
      </p:sp>
      <p:sp>
        <p:nvSpPr>
          <p:cNvPr id="2" name="Rectangle 1"/>
          <p:cNvSpPr/>
          <p:nvPr userDrawn="1"/>
        </p:nvSpPr>
        <p:spPr>
          <a:xfrm>
            <a:off x="0" y="0"/>
            <a:ext cx="9144000" cy="808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5" name="Rectangle 4"/>
          <p:cNvSpPr/>
          <p:nvPr userDrawn="1"/>
        </p:nvSpPr>
        <p:spPr>
          <a:xfrm>
            <a:off x="0" y="808630"/>
            <a:ext cx="9144000" cy="4334870"/>
          </a:xfrm>
          <a:prstGeom prst="rect">
            <a:avLst/>
          </a:prstGeom>
          <a:solidFill>
            <a:srgbClr val="035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solidFill>
                <a:schemeClr val="accent4"/>
              </a:solidFill>
            </a:endParaRP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41700" y="193532"/>
            <a:ext cx="1244845" cy="864345"/>
          </a:xfrm>
          <a:prstGeom prst="rect">
            <a:avLst/>
          </a:prstGeom>
        </p:spPr>
      </p:pic>
      <p:sp>
        <p:nvSpPr>
          <p:cNvPr id="6" name="Title 1"/>
          <p:cNvSpPr>
            <a:spLocks noGrp="1"/>
          </p:cNvSpPr>
          <p:nvPr>
            <p:ph type="ctrTitle"/>
          </p:nvPr>
        </p:nvSpPr>
        <p:spPr>
          <a:xfrm>
            <a:off x="803513" y="1494430"/>
            <a:ext cx="7548918" cy="1612142"/>
          </a:xfrm>
        </p:spPr>
        <p:txBody>
          <a:bodyPr wrap="none" anchor="t">
            <a:noAutofit/>
          </a:bodyPr>
          <a:lstStyle>
            <a:lvl1pPr algn="l">
              <a:defRPr sz="4500" b="0">
                <a:solidFill>
                  <a:schemeClr val="bg1"/>
                </a:solidFill>
              </a:defRPr>
            </a:lvl1pPr>
          </a:lstStyle>
          <a:p>
            <a:r>
              <a:rPr lang="en-US"/>
              <a:t>Click to edit Master title style</a:t>
            </a:r>
            <a:endParaRPr lang="en-GB" dirty="0"/>
          </a:p>
        </p:txBody>
      </p:sp>
      <p:cxnSp>
        <p:nvCxnSpPr>
          <p:cNvPr id="7" name="Straight Connector 6"/>
          <p:cNvCxnSpPr/>
          <p:nvPr userDrawn="1"/>
        </p:nvCxnSpPr>
        <p:spPr>
          <a:xfrm>
            <a:off x="628650" y="1484194"/>
            <a:ext cx="0" cy="365930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4305869" y="4964373"/>
            <a:ext cx="530557" cy="180446"/>
          </a:xfrm>
          <a:prstGeom prst="rect">
            <a:avLst/>
          </a:prstGeom>
          <a:solidFill>
            <a:srgbClr val="004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17" name="Subtitle 2"/>
          <p:cNvSpPr>
            <a:spLocks noGrp="1"/>
          </p:cNvSpPr>
          <p:nvPr>
            <p:ph type="subTitle" idx="1"/>
          </p:nvPr>
        </p:nvSpPr>
        <p:spPr>
          <a:xfrm>
            <a:off x="803513" y="3313537"/>
            <a:ext cx="7548918" cy="673316"/>
          </a:xfrm>
        </p:spPr>
        <p:txBody>
          <a:bodyPr>
            <a:noAutofit/>
          </a:bodyPr>
          <a:lstStyle>
            <a:lvl1pPr marL="0" indent="0" algn="l">
              <a:buNone/>
              <a:defRPr sz="2100" i="0">
                <a:solidFill>
                  <a:schemeClr val="accent5"/>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19" name="Text Placeholder 18"/>
          <p:cNvSpPr>
            <a:spLocks noGrp="1"/>
          </p:cNvSpPr>
          <p:nvPr>
            <p:ph type="body" sz="quarter" idx="13"/>
          </p:nvPr>
        </p:nvSpPr>
        <p:spPr>
          <a:xfrm>
            <a:off x="4572000" y="4168427"/>
            <a:ext cx="3780235" cy="396749"/>
          </a:xfrm>
        </p:spPr>
        <p:txBody>
          <a:bodyPr>
            <a:noAutofit/>
          </a:bodyPr>
          <a:lstStyle>
            <a:lvl1pPr marL="0" indent="0" algn="r">
              <a:buFontTx/>
              <a:buNone/>
              <a:defRPr sz="1650" i="1">
                <a:solidFill>
                  <a:schemeClr val="bg1"/>
                </a:solidFill>
              </a:defRPr>
            </a:lvl1pPr>
          </a:lstStyle>
          <a:p>
            <a:pPr lvl="0"/>
            <a:r>
              <a:rPr lang="en-US"/>
              <a:t>Edit Master text styles</a:t>
            </a:r>
          </a:p>
        </p:txBody>
      </p:sp>
    </p:spTree>
    <p:extLst>
      <p:ext uri="{BB962C8B-B14F-4D97-AF65-F5344CB8AC3E}">
        <p14:creationId xmlns:p14="http://schemas.microsoft.com/office/powerpoint/2010/main" val="2506052123"/>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387716"/>
            <a:ext cx="9144000" cy="3763759"/>
          </a:xfrm>
          <a:prstGeom prst="rect">
            <a:avLst/>
          </a:prstGeom>
        </p:spPr>
      </p:pic>
      <p:sp>
        <p:nvSpPr>
          <p:cNvPr id="4" name="Slide Number Placeholder 3"/>
          <p:cNvSpPr>
            <a:spLocks noGrp="1"/>
          </p:cNvSpPr>
          <p:nvPr>
            <p:ph type="sldNum" sz="quarter" idx="12"/>
          </p:nvPr>
        </p:nvSpPr>
        <p:spPr/>
        <p:txBody>
          <a:bodyPr>
            <a:noAutofit/>
          </a:bodyPr>
          <a:lstStyle/>
          <a:p>
            <a:fld id="{F46C79FD-C571-418B-AB0F-5EE936C85276}" type="slidenum">
              <a:rPr lang="en-GB" smtClean="0"/>
              <a:t>‹Nr.›</a:t>
            </a:fld>
            <a:endParaRPr lang="en-GB"/>
          </a:p>
        </p:txBody>
      </p:sp>
      <p:sp>
        <p:nvSpPr>
          <p:cNvPr id="2" name="Rectangle 1"/>
          <p:cNvSpPr/>
          <p:nvPr userDrawn="1"/>
        </p:nvSpPr>
        <p:spPr>
          <a:xfrm>
            <a:off x="0" y="0"/>
            <a:ext cx="9144000" cy="808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5" name="Rectangle 4"/>
          <p:cNvSpPr/>
          <p:nvPr userDrawn="1"/>
        </p:nvSpPr>
        <p:spPr>
          <a:xfrm>
            <a:off x="0" y="808631"/>
            <a:ext cx="9144000" cy="2168100"/>
          </a:xfrm>
          <a:prstGeom prst="rect">
            <a:avLst/>
          </a:prstGeom>
          <a:solidFill>
            <a:srgbClr val="035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solidFill>
                <a:schemeClr val="accent4"/>
              </a:solidFill>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041700" y="193532"/>
            <a:ext cx="1244845" cy="864345"/>
          </a:xfrm>
          <a:prstGeom prst="rect">
            <a:avLst/>
          </a:prstGeom>
        </p:spPr>
      </p:pic>
      <p:sp>
        <p:nvSpPr>
          <p:cNvPr id="6" name="Title 1"/>
          <p:cNvSpPr>
            <a:spLocks noGrp="1"/>
          </p:cNvSpPr>
          <p:nvPr>
            <p:ph type="ctrTitle"/>
          </p:nvPr>
        </p:nvSpPr>
        <p:spPr>
          <a:xfrm>
            <a:off x="803513" y="1494430"/>
            <a:ext cx="7548918" cy="654485"/>
          </a:xfrm>
        </p:spPr>
        <p:txBody>
          <a:bodyPr anchor="t">
            <a:normAutofit/>
          </a:bodyPr>
          <a:lstStyle>
            <a:lvl1pPr algn="l">
              <a:defRPr sz="4500" b="0">
                <a:solidFill>
                  <a:schemeClr val="bg1"/>
                </a:solidFill>
              </a:defRPr>
            </a:lvl1pPr>
          </a:lstStyle>
          <a:p>
            <a:r>
              <a:rPr lang="en-US"/>
              <a:t>Click to edit Master title style</a:t>
            </a:r>
            <a:endParaRPr lang="en-GB" dirty="0"/>
          </a:p>
        </p:txBody>
      </p:sp>
      <p:cxnSp>
        <p:nvCxnSpPr>
          <p:cNvPr id="7" name="Straight Connector 6"/>
          <p:cNvCxnSpPr/>
          <p:nvPr userDrawn="1"/>
        </p:nvCxnSpPr>
        <p:spPr>
          <a:xfrm>
            <a:off x="628650" y="1484194"/>
            <a:ext cx="0" cy="365930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4305869" y="4964373"/>
            <a:ext cx="530557" cy="180446"/>
          </a:xfrm>
          <a:prstGeom prst="rect">
            <a:avLst/>
          </a:prstGeom>
          <a:solidFill>
            <a:srgbClr val="004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17" name="Subtitle 2"/>
          <p:cNvSpPr>
            <a:spLocks noGrp="1"/>
          </p:cNvSpPr>
          <p:nvPr>
            <p:ph type="subTitle" idx="1"/>
          </p:nvPr>
        </p:nvSpPr>
        <p:spPr>
          <a:xfrm>
            <a:off x="803513" y="2300601"/>
            <a:ext cx="7548918" cy="673316"/>
          </a:xfrm>
        </p:spPr>
        <p:txBody>
          <a:bodyPr>
            <a:noAutofit/>
          </a:bodyPr>
          <a:lstStyle>
            <a:lvl1pPr marL="0" indent="0" algn="l">
              <a:buNone/>
              <a:defRPr sz="2100" i="0">
                <a:solidFill>
                  <a:schemeClr val="accent5"/>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19" name="Text Placeholder 18"/>
          <p:cNvSpPr>
            <a:spLocks noGrp="1"/>
          </p:cNvSpPr>
          <p:nvPr>
            <p:ph type="body" sz="quarter" idx="13"/>
          </p:nvPr>
        </p:nvSpPr>
        <p:spPr>
          <a:xfrm>
            <a:off x="4572000" y="4337651"/>
            <a:ext cx="3780235" cy="396749"/>
          </a:xfrm>
        </p:spPr>
        <p:txBody>
          <a:bodyPr anchor="b" anchorCtr="0">
            <a:noAutofit/>
          </a:bodyPr>
          <a:lstStyle>
            <a:lvl1pPr marL="0" indent="0" algn="r">
              <a:buFontTx/>
              <a:buNone/>
              <a:defRPr sz="1650" i="1">
                <a:solidFill>
                  <a:schemeClr val="bg1"/>
                </a:solidFill>
              </a:defRPr>
            </a:lvl1pPr>
          </a:lstStyle>
          <a:p>
            <a:pPr lvl="0"/>
            <a:r>
              <a:rPr lang="en-US"/>
              <a:t>Edit Master text styles</a:t>
            </a:r>
          </a:p>
        </p:txBody>
      </p:sp>
    </p:spTree>
    <p:extLst>
      <p:ext uri="{BB962C8B-B14F-4D97-AF65-F5344CB8AC3E}">
        <p14:creationId xmlns:p14="http://schemas.microsoft.com/office/powerpoint/2010/main" val="4051363639"/>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601664"/>
            <a:ext cx="9144000" cy="4544396"/>
          </a:xfrm>
          <a:prstGeom prst="rect">
            <a:avLst/>
          </a:prstGeom>
        </p:spPr>
      </p:pic>
      <p:sp>
        <p:nvSpPr>
          <p:cNvPr id="14" name="Rectangle 13"/>
          <p:cNvSpPr/>
          <p:nvPr userDrawn="1"/>
        </p:nvSpPr>
        <p:spPr>
          <a:xfrm>
            <a:off x="3967" y="808630"/>
            <a:ext cx="9148010" cy="4337429"/>
          </a:xfrm>
          <a:prstGeom prst="rect">
            <a:avLst/>
          </a:prstGeom>
          <a:solidFill>
            <a:srgbClr val="024EA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solidFill>
                <a:schemeClr val="accent4"/>
              </a:solidFill>
            </a:endParaRPr>
          </a:p>
        </p:txBody>
      </p:sp>
      <p:sp>
        <p:nvSpPr>
          <p:cNvPr id="2" name="Rectangle 1"/>
          <p:cNvSpPr/>
          <p:nvPr userDrawn="1"/>
        </p:nvSpPr>
        <p:spPr>
          <a:xfrm>
            <a:off x="0" y="0"/>
            <a:ext cx="9144000" cy="808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6" name="Title 1"/>
          <p:cNvSpPr>
            <a:spLocks noGrp="1"/>
          </p:cNvSpPr>
          <p:nvPr>
            <p:ph type="ctrTitle"/>
          </p:nvPr>
        </p:nvSpPr>
        <p:spPr>
          <a:xfrm>
            <a:off x="803513" y="1494430"/>
            <a:ext cx="7548918" cy="1612142"/>
          </a:xfrm>
        </p:spPr>
        <p:txBody>
          <a:bodyPr wrap="none" anchor="t">
            <a:noAutofit/>
          </a:bodyPr>
          <a:lstStyle>
            <a:lvl1pPr algn="l">
              <a:defRPr sz="4500" b="0">
                <a:solidFill>
                  <a:schemeClr val="bg1"/>
                </a:solidFill>
              </a:defRPr>
            </a:lvl1pPr>
          </a:lstStyle>
          <a:p>
            <a:r>
              <a:rPr lang="en-US"/>
              <a:t>Click to edit Master title style</a:t>
            </a:r>
            <a:endParaRPr lang="en-GB" dirty="0"/>
          </a:p>
        </p:txBody>
      </p:sp>
      <p:cxnSp>
        <p:nvCxnSpPr>
          <p:cNvPr id="7" name="Straight Connector 6"/>
          <p:cNvCxnSpPr/>
          <p:nvPr userDrawn="1"/>
        </p:nvCxnSpPr>
        <p:spPr>
          <a:xfrm>
            <a:off x="628650" y="1484194"/>
            <a:ext cx="0" cy="365930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4305869" y="4964373"/>
            <a:ext cx="530557" cy="180446"/>
          </a:xfrm>
          <a:prstGeom prst="rect">
            <a:avLst/>
          </a:prstGeom>
          <a:solidFill>
            <a:srgbClr val="004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12" name="Subtitle 2"/>
          <p:cNvSpPr>
            <a:spLocks noGrp="1"/>
          </p:cNvSpPr>
          <p:nvPr>
            <p:ph type="subTitle" idx="1"/>
          </p:nvPr>
        </p:nvSpPr>
        <p:spPr>
          <a:xfrm>
            <a:off x="803513" y="3313537"/>
            <a:ext cx="7548918" cy="673316"/>
          </a:xfrm>
        </p:spPr>
        <p:txBody>
          <a:bodyPr wrap="none">
            <a:noAutofit/>
          </a:bodyPr>
          <a:lstStyle>
            <a:lvl1pPr marL="0" indent="0" algn="l">
              <a:buNone/>
              <a:defRPr sz="2100" i="0">
                <a:solidFill>
                  <a:schemeClr val="accent5"/>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041700" y="193532"/>
            <a:ext cx="1244845" cy="864345"/>
          </a:xfrm>
          <a:prstGeom prst="rect">
            <a:avLst/>
          </a:prstGeom>
        </p:spPr>
      </p:pic>
      <p:sp>
        <p:nvSpPr>
          <p:cNvPr id="16" name="Text Placeholder 18"/>
          <p:cNvSpPr>
            <a:spLocks noGrp="1"/>
          </p:cNvSpPr>
          <p:nvPr>
            <p:ph type="body" sz="quarter" idx="13"/>
          </p:nvPr>
        </p:nvSpPr>
        <p:spPr>
          <a:xfrm>
            <a:off x="4572000" y="4168427"/>
            <a:ext cx="3780235" cy="396749"/>
          </a:xfrm>
        </p:spPr>
        <p:txBody>
          <a:bodyPr wrap="none">
            <a:noAutofit/>
          </a:bodyPr>
          <a:lstStyle>
            <a:lvl1pPr marL="0" indent="0" algn="r">
              <a:buFontTx/>
              <a:buNone/>
              <a:defRPr sz="1650" i="1">
                <a:solidFill>
                  <a:schemeClr val="bg1"/>
                </a:solidFill>
              </a:defRPr>
            </a:lvl1pPr>
          </a:lstStyle>
          <a:p>
            <a:pPr lvl="0"/>
            <a:r>
              <a:rPr lang="en-US"/>
              <a:t>Edit Master text styles</a:t>
            </a:r>
          </a:p>
        </p:txBody>
      </p:sp>
    </p:spTree>
    <p:extLst>
      <p:ext uri="{BB962C8B-B14F-4D97-AF65-F5344CB8AC3E}">
        <p14:creationId xmlns:p14="http://schemas.microsoft.com/office/powerpoint/2010/main" val="2394186693"/>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Chapter Slide">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rgbClr val="035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2" name="Title 1"/>
          <p:cNvSpPr>
            <a:spLocks noGrp="1"/>
          </p:cNvSpPr>
          <p:nvPr>
            <p:ph type="ctrTitle"/>
          </p:nvPr>
        </p:nvSpPr>
        <p:spPr>
          <a:xfrm>
            <a:off x="802642" y="841772"/>
            <a:ext cx="8007029" cy="1790700"/>
          </a:xfrm>
        </p:spPr>
        <p:txBody>
          <a:bodyPr anchor="b">
            <a:noAutofit/>
          </a:bodyPr>
          <a:lstStyle>
            <a:lvl1pPr algn="l">
              <a:defRPr sz="4500">
                <a:solidFill>
                  <a:schemeClr val="accent5"/>
                </a:solidFill>
              </a:defRPr>
            </a:lvl1pPr>
          </a:lstStyle>
          <a:p>
            <a:r>
              <a:rPr lang="en-US"/>
              <a:t>Click to edit Master title style</a:t>
            </a:r>
            <a:endParaRPr lang="en-GB" dirty="0"/>
          </a:p>
        </p:txBody>
      </p:sp>
      <p:sp>
        <p:nvSpPr>
          <p:cNvPr id="3" name="Subtitle 2"/>
          <p:cNvSpPr>
            <a:spLocks noGrp="1"/>
          </p:cNvSpPr>
          <p:nvPr>
            <p:ph type="subTitle" idx="1"/>
          </p:nvPr>
        </p:nvSpPr>
        <p:spPr>
          <a:xfrm>
            <a:off x="802642" y="2701528"/>
            <a:ext cx="8007029" cy="1241822"/>
          </a:xfrm>
        </p:spPr>
        <p:txBody>
          <a:bodyPr>
            <a:noAutofit/>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6" name="Slide Number Placeholder 5"/>
          <p:cNvSpPr>
            <a:spLocks noGrp="1"/>
          </p:cNvSpPr>
          <p:nvPr>
            <p:ph type="sldNum" sz="quarter" idx="12"/>
          </p:nvPr>
        </p:nvSpPr>
        <p:spPr/>
        <p:txBody>
          <a:bodyPr>
            <a:noAutofit/>
          </a:bodyPr>
          <a:lstStyle>
            <a:lvl1pPr>
              <a:defRPr>
                <a:solidFill>
                  <a:schemeClr val="bg1"/>
                </a:solidFill>
              </a:defRPr>
            </a:lvl1pPr>
          </a:lstStyle>
          <a:p>
            <a:fld id="{F46C79FD-C571-418B-AB0F-5EE936C85276}" type="slidenum">
              <a:rPr lang="en-GB" smtClean="0"/>
              <a:pPr/>
              <a:t>‹Nr.›</a:t>
            </a:fld>
            <a:endParaRPr lang="en-GB" dirty="0"/>
          </a:p>
        </p:txBody>
      </p:sp>
      <p:cxnSp>
        <p:nvCxnSpPr>
          <p:cNvPr id="7" name="Straight Connector 6"/>
          <p:cNvCxnSpPr/>
          <p:nvPr userDrawn="1"/>
        </p:nvCxnSpPr>
        <p:spPr>
          <a:xfrm>
            <a:off x="628650" y="0"/>
            <a:ext cx="0" cy="2471951"/>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520786" y="4533943"/>
            <a:ext cx="1288884" cy="338365"/>
          </a:xfrm>
          <a:prstGeom prst="rect">
            <a:avLst/>
          </a:prstGeom>
        </p:spPr>
      </p:pic>
    </p:spTree>
    <p:extLst>
      <p:ext uri="{BB962C8B-B14F-4D97-AF65-F5344CB8AC3E}">
        <p14:creationId xmlns:p14="http://schemas.microsoft.com/office/powerpoint/2010/main" val="12560806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pter Slide (2)">
    <p:spTree>
      <p:nvGrpSpPr>
        <p:cNvPr id="1" name=""/>
        <p:cNvGrpSpPr/>
        <p:nvPr/>
      </p:nvGrpSpPr>
      <p:grpSpPr>
        <a:xfrm>
          <a:off x="0" y="0"/>
          <a:ext cx="0" cy="0"/>
          <a:chOff x="0" y="0"/>
          <a:chExt cx="0" cy="0"/>
        </a:xfrm>
      </p:grpSpPr>
      <p:sp>
        <p:nvSpPr>
          <p:cNvPr id="7" name="Rectangle 6"/>
          <p:cNvSpPr/>
          <p:nvPr userDrawn="1"/>
        </p:nvSpPr>
        <p:spPr>
          <a:xfrm>
            <a:off x="0" y="0"/>
            <a:ext cx="9144000" cy="5143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6" name="Slide Number Placeholder 5"/>
          <p:cNvSpPr>
            <a:spLocks noGrp="1"/>
          </p:cNvSpPr>
          <p:nvPr>
            <p:ph type="sldNum" sz="quarter" idx="12"/>
          </p:nvPr>
        </p:nvSpPr>
        <p:spPr/>
        <p:txBody>
          <a:bodyPr>
            <a:noAutofit/>
          </a:bodyPr>
          <a:lstStyle/>
          <a:p>
            <a:fld id="{F46C79FD-C571-418B-AB0F-5EE936C85276}" type="slidenum">
              <a:rPr lang="en-GB" smtClean="0"/>
              <a:t>‹Nr.›</a:t>
            </a:fld>
            <a:endParaRPr lang="en-GB"/>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525389" y="4534399"/>
            <a:ext cx="1287150" cy="337910"/>
          </a:xfrm>
          <a:prstGeom prst="rect">
            <a:avLst/>
          </a:prstGeom>
        </p:spPr>
      </p:pic>
      <p:sp>
        <p:nvSpPr>
          <p:cNvPr id="11" name="Title 1"/>
          <p:cNvSpPr>
            <a:spLocks noGrp="1"/>
          </p:cNvSpPr>
          <p:nvPr>
            <p:ph type="ctrTitle"/>
          </p:nvPr>
        </p:nvSpPr>
        <p:spPr>
          <a:xfrm>
            <a:off x="807760" y="841772"/>
            <a:ext cx="7617223" cy="1790700"/>
          </a:xfrm>
        </p:spPr>
        <p:txBody>
          <a:bodyPr anchor="b">
            <a:noAutofit/>
          </a:bodyPr>
          <a:lstStyle>
            <a:lvl1pPr algn="l">
              <a:defRPr sz="4500">
                <a:solidFill>
                  <a:schemeClr val="tx2"/>
                </a:solidFill>
              </a:defRPr>
            </a:lvl1pPr>
          </a:lstStyle>
          <a:p>
            <a:r>
              <a:rPr lang="en-US"/>
              <a:t>Click to edit Master title style</a:t>
            </a:r>
            <a:endParaRPr lang="en-GB" dirty="0"/>
          </a:p>
        </p:txBody>
      </p:sp>
      <p:cxnSp>
        <p:nvCxnSpPr>
          <p:cNvPr id="13" name="Straight Connector 12"/>
          <p:cNvCxnSpPr/>
          <p:nvPr userDrawn="1"/>
        </p:nvCxnSpPr>
        <p:spPr>
          <a:xfrm>
            <a:off x="628650" y="0"/>
            <a:ext cx="0" cy="247195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Subtitle 2"/>
          <p:cNvSpPr>
            <a:spLocks noGrp="1"/>
          </p:cNvSpPr>
          <p:nvPr>
            <p:ph type="subTitle" idx="1"/>
          </p:nvPr>
        </p:nvSpPr>
        <p:spPr>
          <a:xfrm>
            <a:off x="802642" y="2701528"/>
            <a:ext cx="7617223" cy="1241822"/>
          </a:xfrm>
        </p:spPr>
        <p:txBody>
          <a:bodyPr>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3726816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st slide (option 1)">
    <p:spTree>
      <p:nvGrpSpPr>
        <p:cNvPr id="1" name=""/>
        <p:cNvGrpSpPr/>
        <p:nvPr/>
      </p:nvGrpSpPr>
      <p:grpSpPr>
        <a:xfrm>
          <a:off x="0" y="0"/>
          <a:ext cx="0" cy="0"/>
          <a:chOff x="0" y="0"/>
          <a:chExt cx="0" cy="0"/>
        </a:xfrm>
      </p:grpSpPr>
      <p:sp>
        <p:nvSpPr>
          <p:cNvPr id="7" name="Rectangle 6"/>
          <p:cNvSpPr/>
          <p:nvPr userDrawn="1"/>
        </p:nvSpPr>
        <p:spPr>
          <a:xfrm>
            <a:off x="0" y="1"/>
            <a:ext cx="9144000" cy="257174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6" name="Slide Number Placeholder 5"/>
          <p:cNvSpPr>
            <a:spLocks noGrp="1"/>
          </p:cNvSpPr>
          <p:nvPr>
            <p:ph type="sldNum" sz="quarter" idx="12"/>
          </p:nvPr>
        </p:nvSpPr>
        <p:spPr/>
        <p:txBody>
          <a:bodyPr>
            <a:noAutofit/>
          </a:bodyPr>
          <a:lstStyle/>
          <a:p>
            <a:fld id="{F46C79FD-C571-418B-AB0F-5EE936C85276}" type="slidenum">
              <a:rPr lang="en-GB" smtClean="0"/>
              <a:t>‹Nr.›</a:t>
            </a:fld>
            <a:endParaRPr lang="en-GB"/>
          </a:p>
        </p:txBody>
      </p:sp>
      <p:sp>
        <p:nvSpPr>
          <p:cNvPr id="11" name="Title 1"/>
          <p:cNvSpPr>
            <a:spLocks noGrp="1"/>
          </p:cNvSpPr>
          <p:nvPr>
            <p:ph type="ctrTitle"/>
          </p:nvPr>
        </p:nvSpPr>
        <p:spPr>
          <a:xfrm>
            <a:off x="807760" y="841772"/>
            <a:ext cx="7617223" cy="930261"/>
          </a:xfrm>
        </p:spPr>
        <p:txBody>
          <a:bodyPr anchor="b">
            <a:noAutofit/>
          </a:bodyPr>
          <a:lstStyle>
            <a:lvl1pPr algn="l">
              <a:defRPr sz="4500">
                <a:solidFill>
                  <a:schemeClr val="tx2"/>
                </a:solidFill>
              </a:defRPr>
            </a:lvl1pPr>
          </a:lstStyle>
          <a:p>
            <a:r>
              <a:rPr lang="en-US"/>
              <a:t>Click to edit Master title style</a:t>
            </a:r>
            <a:endParaRPr lang="en-GB" dirty="0"/>
          </a:p>
        </p:txBody>
      </p:sp>
      <p:cxnSp>
        <p:nvCxnSpPr>
          <p:cNvPr id="13" name="Straight Connector 12"/>
          <p:cNvCxnSpPr/>
          <p:nvPr userDrawn="1"/>
        </p:nvCxnSpPr>
        <p:spPr>
          <a:xfrm>
            <a:off x="628650" y="1"/>
            <a:ext cx="0" cy="177203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Subtitle 2"/>
          <p:cNvSpPr>
            <a:spLocks noGrp="1"/>
          </p:cNvSpPr>
          <p:nvPr>
            <p:ph type="subTitle" idx="1"/>
          </p:nvPr>
        </p:nvSpPr>
        <p:spPr>
          <a:xfrm>
            <a:off x="628651" y="3120620"/>
            <a:ext cx="8167079" cy="1215109"/>
          </a:xfrm>
        </p:spPr>
        <p:txBody>
          <a:bodyPr>
            <a:noAutofit/>
          </a:bodyPr>
          <a:lstStyle>
            <a:lvl1pPr marL="0" indent="0" algn="l">
              <a:buNone/>
              <a:defRPr sz="10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36906059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st slide (option 2)">
    <p:spTree>
      <p:nvGrpSpPr>
        <p:cNvPr id="1" name=""/>
        <p:cNvGrpSpPr/>
        <p:nvPr/>
      </p:nvGrpSpPr>
      <p:grpSpPr>
        <a:xfrm>
          <a:off x="0" y="0"/>
          <a:ext cx="0" cy="0"/>
          <a:chOff x="0" y="0"/>
          <a:chExt cx="0" cy="0"/>
        </a:xfrm>
      </p:grpSpPr>
      <p:sp>
        <p:nvSpPr>
          <p:cNvPr id="7" name="Rectangle 6"/>
          <p:cNvSpPr/>
          <p:nvPr userDrawn="1"/>
        </p:nvSpPr>
        <p:spPr>
          <a:xfrm>
            <a:off x="0" y="1"/>
            <a:ext cx="9144000" cy="25717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350"/>
          </a:p>
        </p:txBody>
      </p:sp>
      <p:sp>
        <p:nvSpPr>
          <p:cNvPr id="6" name="Slide Number Placeholder 5"/>
          <p:cNvSpPr>
            <a:spLocks noGrp="1"/>
          </p:cNvSpPr>
          <p:nvPr>
            <p:ph type="sldNum" sz="quarter" idx="12"/>
          </p:nvPr>
        </p:nvSpPr>
        <p:spPr/>
        <p:txBody>
          <a:bodyPr>
            <a:noAutofit/>
          </a:bodyPr>
          <a:lstStyle/>
          <a:p>
            <a:fld id="{F46C79FD-C571-418B-AB0F-5EE936C85276}" type="slidenum">
              <a:rPr lang="en-GB" smtClean="0"/>
              <a:t>‹Nr.›</a:t>
            </a:fld>
            <a:endParaRPr lang="en-GB"/>
          </a:p>
        </p:txBody>
      </p:sp>
      <p:sp>
        <p:nvSpPr>
          <p:cNvPr id="11" name="Title 1"/>
          <p:cNvSpPr>
            <a:spLocks noGrp="1"/>
          </p:cNvSpPr>
          <p:nvPr>
            <p:ph type="ctrTitle"/>
          </p:nvPr>
        </p:nvSpPr>
        <p:spPr>
          <a:xfrm>
            <a:off x="807760" y="841772"/>
            <a:ext cx="7617223" cy="930261"/>
          </a:xfrm>
        </p:spPr>
        <p:txBody>
          <a:bodyPr anchor="b">
            <a:noAutofit/>
          </a:bodyPr>
          <a:lstStyle>
            <a:lvl1pPr algn="l">
              <a:defRPr sz="4500">
                <a:solidFill>
                  <a:schemeClr val="accent5"/>
                </a:solidFill>
              </a:defRPr>
            </a:lvl1pPr>
          </a:lstStyle>
          <a:p>
            <a:r>
              <a:rPr lang="en-US"/>
              <a:t>Click to edit Master title style</a:t>
            </a:r>
            <a:endParaRPr lang="en-GB" dirty="0"/>
          </a:p>
        </p:txBody>
      </p:sp>
      <p:cxnSp>
        <p:nvCxnSpPr>
          <p:cNvPr id="13" name="Straight Connector 12"/>
          <p:cNvCxnSpPr/>
          <p:nvPr userDrawn="1"/>
        </p:nvCxnSpPr>
        <p:spPr>
          <a:xfrm>
            <a:off x="628650" y="1"/>
            <a:ext cx="0" cy="1772033"/>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4" name="Subtitle 2"/>
          <p:cNvSpPr>
            <a:spLocks noGrp="1"/>
          </p:cNvSpPr>
          <p:nvPr>
            <p:ph type="subTitle" idx="1"/>
          </p:nvPr>
        </p:nvSpPr>
        <p:spPr>
          <a:xfrm>
            <a:off x="628651" y="3120620"/>
            <a:ext cx="8167079" cy="1215109"/>
          </a:xfrm>
        </p:spPr>
        <p:txBody>
          <a:bodyPr>
            <a:noAutofit/>
          </a:bodyPr>
          <a:lstStyle>
            <a:lvl1pPr marL="0" indent="0" algn="l">
              <a:buNone/>
              <a:defRPr sz="10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8431847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369219"/>
            <a:ext cx="8179274" cy="2911428"/>
          </a:xfrm>
        </p:spPr>
        <p:txBody>
          <a:bodyPr>
            <a:noAutofit/>
          </a:bodyPr>
          <a:lstStyle>
            <a:lvl1pPr>
              <a:lnSpc>
                <a:spcPct val="100000"/>
              </a:lnSpc>
              <a:spcBef>
                <a:spcPts val="0"/>
              </a:spcBef>
              <a:spcAft>
                <a:spcPts val="1350"/>
              </a:spcAft>
              <a:defRPr/>
            </a:lvl1pPr>
            <a:lvl2pPr>
              <a:lnSpc>
                <a:spcPct val="100000"/>
              </a:lnSpc>
              <a:spcAft>
                <a:spcPts val="1350"/>
              </a:spcAft>
              <a:defRPr/>
            </a:lvl2pPr>
            <a:lvl3pPr>
              <a:lnSpc>
                <a:spcPct val="100000"/>
              </a:lnSpc>
              <a:spcAft>
                <a:spcPts val="1350"/>
              </a:spcAft>
              <a:defRPr/>
            </a:lvl3pPr>
            <a:lvl4pPr>
              <a:lnSpc>
                <a:spcPct val="100000"/>
              </a:lnSpc>
              <a:spcAft>
                <a:spcPts val="1350"/>
              </a:spcAft>
              <a:defRPr/>
            </a:lvl4pPr>
            <a:lvl5pPr>
              <a:lnSpc>
                <a:spcPct val="100000"/>
              </a:lnSpc>
              <a:spcAft>
                <a:spcPts val="135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p:cNvSpPr>
            <a:spLocks noGrp="1"/>
          </p:cNvSpPr>
          <p:nvPr>
            <p:ph type="sldNum" sz="quarter" idx="12"/>
          </p:nvPr>
        </p:nvSpPr>
        <p:spPr/>
        <p:txBody>
          <a:bodyPr>
            <a:noAutofit/>
          </a:bodyPr>
          <a:lstStyle/>
          <a:p>
            <a:fld id="{F46C79FD-C571-418B-AB0F-5EE936C85276}" type="slidenum">
              <a:rPr lang="en-GB" smtClean="0"/>
              <a:t>‹Nr.›</a:t>
            </a:fld>
            <a:endParaRPr lang="en-GB"/>
          </a:p>
        </p:txBody>
      </p:sp>
      <p:cxnSp>
        <p:nvCxnSpPr>
          <p:cNvPr id="7" name="Straight Connector 6"/>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41874049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and Objec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49" y="1369219"/>
            <a:ext cx="3996000" cy="2929826"/>
          </a:xfrm>
        </p:spPr>
        <p:txBody>
          <a:bodyPr>
            <a:noAutofit/>
          </a:bodyPr>
          <a:lstStyle>
            <a:lvl1pPr>
              <a:spcAft>
                <a:spcPts val="1350"/>
              </a:spcAft>
              <a:defRPr/>
            </a:lvl1pPr>
            <a:lvl2pPr>
              <a:spcAft>
                <a:spcPts val="1350"/>
              </a:spcAft>
              <a:defRPr/>
            </a:lvl2pPr>
            <a:lvl3pPr>
              <a:spcAft>
                <a:spcPts val="1350"/>
              </a:spcAft>
              <a:defRPr/>
            </a:lvl3pPr>
            <a:lvl4pPr>
              <a:spcAft>
                <a:spcPts val="1350"/>
              </a:spcAft>
              <a:defRPr/>
            </a:lvl4pPr>
            <a:lvl5pPr>
              <a:spcAft>
                <a:spcPts val="135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4801688" y="1369219"/>
            <a:ext cx="3996000" cy="2929826"/>
          </a:xfrm>
          <a:noFill/>
        </p:spPr>
        <p:txBody>
          <a:bodyPr>
            <a:noAutofit/>
          </a:bodyPr>
          <a:lstStyle>
            <a:lvl1pPr marL="0" indent="0">
              <a:buNone/>
              <a:defRPr/>
            </a:lvl1pPr>
          </a:lstStyle>
          <a:p>
            <a:pPr lvl="0"/>
            <a:r>
              <a:rPr lang="en-US"/>
              <a:t>Edit Master text styles</a:t>
            </a:r>
          </a:p>
        </p:txBody>
      </p:sp>
      <p:sp>
        <p:nvSpPr>
          <p:cNvPr id="7" name="Slide Number Placeholder 6"/>
          <p:cNvSpPr>
            <a:spLocks noGrp="1"/>
          </p:cNvSpPr>
          <p:nvPr>
            <p:ph type="sldNum" sz="quarter" idx="12"/>
          </p:nvPr>
        </p:nvSpPr>
        <p:spPr/>
        <p:txBody>
          <a:bodyPr>
            <a:noAutofit/>
          </a:bodyPr>
          <a:lstStyle/>
          <a:p>
            <a:fld id="{F46C79FD-C571-418B-AB0F-5EE936C85276}" type="slidenum">
              <a:rPr lang="en-GB" smtClean="0"/>
              <a:t>‹Nr.›</a:t>
            </a:fld>
            <a:endParaRPr lang="en-GB"/>
          </a:p>
        </p:txBody>
      </p:sp>
      <p:cxnSp>
        <p:nvCxnSpPr>
          <p:cNvPr id="9" name="Straight Connector 8"/>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4292883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49" y="1369219"/>
            <a:ext cx="3996000" cy="2929826"/>
          </a:xfrm>
        </p:spPr>
        <p:txBody>
          <a:bodyPr>
            <a:noAutofit/>
          </a:bodyPr>
          <a:lstStyle>
            <a:lvl3pPr>
              <a:spcBef>
                <a:spcPts val="0"/>
              </a:spcBef>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4801688" y="1369219"/>
            <a:ext cx="3996000" cy="2929826"/>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Slide Number Placeholder 6"/>
          <p:cNvSpPr>
            <a:spLocks noGrp="1"/>
          </p:cNvSpPr>
          <p:nvPr>
            <p:ph type="sldNum" sz="quarter" idx="12"/>
          </p:nvPr>
        </p:nvSpPr>
        <p:spPr/>
        <p:txBody>
          <a:bodyPr/>
          <a:lstStyle/>
          <a:p>
            <a:fld id="{F46C79FD-C571-418B-AB0F-5EE936C85276}" type="slidenum">
              <a:rPr lang="en-GB" smtClean="0"/>
              <a:t>‹Nr.›</a:t>
            </a:fld>
            <a:endParaRPr lang="en-GB"/>
          </a:p>
        </p:txBody>
      </p:sp>
      <p:cxnSp>
        <p:nvCxnSpPr>
          <p:cNvPr id="10" name="Straight Connector 9"/>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28247875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49" y="1369219"/>
            <a:ext cx="2518867" cy="2822351"/>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Slide Number Placeholder 6"/>
          <p:cNvSpPr>
            <a:spLocks noGrp="1"/>
          </p:cNvSpPr>
          <p:nvPr>
            <p:ph type="sldNum" sz="quarter" idx="12"/>
          </p:nvPr>
        </p:nvSpPr>
        <p:spPr/>
        <p:txBody>
          <a:bodyPr>
            <a:noAutofit/>
          </a:bodyPr>
          <a:lstStyle/>
          <a:p>
            <a:fld id="{F46C79FD-C571-418B-AB0F-5EE936C85276}" type="slidenum">
              <a:rPr lang="en-GB" smtClean="0"/>
              <a:t>‹Nr.›</a:t>
            </a:fld>
            <a:endParaRPr lang="en-GB"/>
          </a:p>
        </p:txBody>
      </p:sp>
      <p:sp>
        <p:nvSpPr>
          <p:cNvPr id="9" name="Content Placeholder 2"/>
          <p:cNvSpPr>
            <a:spLocks noGrp="1"/>
          </p:cNvSpPr>
          <p:nvPr>
            <p:ph sz="half" idx="13"/>
          </p:nvPr>
        </p:nvSpPr>
        <p:spPr>
          <a:xfrm>
            <a:off x="3453735" y="1369219"/>
            <a:ext cx="2518867" cy="2822351"/>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2"/>
          <p:cNvSpPr>
            <a:spLocks noGrp="1"/>
          </p:cNvSpPr>
          <p:nvPr>
            <p:ph sz="half" idx="14"/>
          </p:nvPr>
        </p:nvSpPr>
        <p:spPr>
          <a:xfrm>
            <a:off x="6278821" y="1369219"/>
            <a:ext cx="2518867" cy="2822351"/>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12" name="Straight Connector 11"/>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19360324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260872"/>
            <a:ext cx="3868340" cy="617934"/>
          </a:xfrm>
        </p:spPr>
        <p:txBody>
          <a:bodyPr wrap="square" anchor="b">
            <a:noAutofit/>
          </a:bodyPr>
          <a:lstStyle>
            <a:lvl1pPr marL="0" indent="0">
              <a:buNone/>
              <a:defRPr sz="21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7"/>
            <a:ext cx="3868340" cy="2322998"/>
          </a:xfrm>
        </p:spPr>
        <p:txBody>
          <a:bodyPr wrap="square">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4629150" y="1260872"/>
            <a:ext cx="3887391" cy="617934"/>
          </a:xfrm>
          <a:noFill/>
        </p:spPr>
        <p:txBody>
          <a:bodyPr wrap="square" anchor="b">
            <a:noAutofit/>
          </a:bodyPr>
          <a:lstStyle>
            <a:lvl1pPr marL="0" indent="0">
              <a:buNone/>
              <a:defRPr sz="21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7"/>
            <a:ext cx="3887391" cy="2322998"/>
          </a:xfrm>
        </p:spPr>
        <p:txBody>
          <a:bodyPr wrap="square">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Slide Number Placeholder 8"/>
          <p:cNvSpPr>
            <a:spLocks noGrp="1"/>
          </p:cNvSpPr>
          <p:nvPr>
            <p:ph type="sldNum" sz="quarter" idx="12"/>
          </p:nvPr>
        </p:nvSpPr>
        <p:spPr/>
        <p:txBody>
          <a:bodyPr>
            <a:noAutofit/>
          </a:bodyPr>
          <a:lstStyle/>
          <a:p>
            <a:fld id="{F46C79FD-C571-418B-AB0F-5EE936C85276}" type="slidenum">
              <a:rPr lang="en-GB" smtClean="0"/>
              <a:t>‹Nr.›</a:t>
            </a:fld>
            <a:endParaRPr lang="en-GB"/>
          </a:p>
        </p:txBody>
      </p:sp>
      <p:cxnSp>
        <p:nvCxnSpPr>
          <p:cNvPr id="12" name="Straight Connector 11"/>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25270240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46C79FD-C571-418B-AB0F-5EE936C85276}" type="slidenum">
              <a:rPr lang="en-GB" smtClean="0"/>
              <a:t>‹Nr.›</a:t>
            </a:fld>
            <a:endParaRPr lang="en-GB"/>
          </a:p>
        </p:txBody>
      </p:sp>
      <p:cxnSp>
        <p:nvCxnSpPr>
          <p:cNvPr id="8" name="Straight Connector 7"/>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3926372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44726" y="-44726"/>
            <a:ext cx="4616726" cy="5237922"/>
          </a:xfrm>
          <a:solidFill>
            <a:schemeClr val="bg2"/>
          </a:solidFill>
          <a:ln w="28575">
            <a:solidFill>
              <a:schemeClr val="accent5"/>
            </a:solidFill>
          </a:ln>
        </p:spPr>
        <p:txBody>
          <a:bodyPr/>
          <a:lstStyle/>
          <a:p>
            <a:r>
              <a:rPr lang="en-US"/>
              <a:t>Click icon to add picture</a:t>
            </a:r>
            <a:endParaRPr lang="en-GB" dirty="0"/>
          </a:p>
        </p:txBody>
      </p:sp>
      <p:sp>
        <p:nvSpPr>
          <p:cNvPr id="10" name="Rectangle 9"/>
          <p:cNvSpPr/>
          <p:nvPr userDrawn="1"/>
        </p:nvSpPr>
        <p:spPr>
          <a:xfrm>
            <a:off x="2410536" y="1494430"/>
            <a:ext cx="6412742" cy="27124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14586" y="557852"/>
            <a:ext cx="408692" cy="408692"/>
          </a:xfrm>
          <a:prstGeom prst="rect">
            <a:avLst/>
          </a:prstGeom>
        </p:spPr>
      </p:pic>
      <p:sp>
        <p:nvSpPr>
          <p:cNvPr id="3" name="Content Placeholder 2"/>
          <p:cNvSpPr>
            <a:spLocks noGrp="1"/>
          </p:cNvSpPr>
          <p:nvPr>
            <p:ph idx="1"/>
          </p:nvPr>
        </p:nvSpPr>
        <p:spPr>
          <a:xfrm>
            <a:off x="2653748" y="1494429"/>
            <a:ext cx="6169530" cy="2712493"/>
          </a:xfrm>
          <a:solidFill>
            <a:schemeClr val="bg1"/>
          </a:solidFill>
        </p:spPr>
        <p:txBody>
          <a:bodyPr lIns="360000" tIns="360000" rIns="360000" bIns="360000" anchor="ctr" anchorCtr="0">
            <a:noAutofit/>
          </a:bodyPr>
          <a:lstStyle>
            <a:lvl1pPr marL="0" indent="0">
              <a:buFontTx/>
              <a:buNone/>
              <a:defRPr i="1">
                <a:solidFill>
                  <a:schemeClr val="tx2"/>
                </a:solidFill>
              </a:defRPr>
            </a:lvl1pPr>
          </a:lstStyle>
          <a:p>
            <a:pPr lvl="0"/>
            <a:r>
              <a:rPr lang="en-US"/>
              <a:t>Edit Master text styles</a:t>
            </a:r>
          </a:p>
        </p:txBody>
      </p:sp>
    </p:spTree>
    <p:extLst>
      <p:ext uri="{BB962C8B-B14F-4D97-AF65-F5344CB8AC3E}">
        <p14:creationId xmlns:p14="http://schemas.microsoft.com/office/powerpoint/2010/main" val="4070583287"/>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icture and Content (half p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5112792" y="1369219"/>
            <a:ext cx="3695131" cy="2827468"/>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p:cNvSpPr>
            <a:spLocks noGrp="1"/>
          </p:cNvSpPr>
          <p:nvPr>
            <p:ph type="sldNum" sz="quarter" idx="12"/>
          </p:nvPr>
        </p:nvSpPr>
        <p:spPr/>
        <p:txBody>
          <a:bodyPr/>
          <a:lstStyle/>
          <a:p>
            <a:fld id="{F46C79FD-C571-418B-AB0F-5EE936C85276}" type="slidenum">
              <a:rPr lang="en-GB" smtClean="0"/>
              <a:t>‹Nr.›</a:t>
            </a:fld>
            <a:endParaRPr lang="en-GB"/>
          </a:p>
        </p:txBody>
      </p:sp>
      <p:sp>
        <p:nvSpPr>
          <p:cNvPr id="10" name="Title Placeholder 1"/>
          <p:cNvSpPr>
            <a:spLocks noGrp="1"/>
          </p:cNvSpPr>
          <p:nvPr>
            <p:ph type="title"/>
          </p:nvPr>
        </p:nvSpPr>
        <p:spPr>
          <a:xfrm>
            <a:off x="5112792" y="362145"/>
            <a:ext cx="350195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
        <p:nvSpPr>
          <p:cNvPr id="7" name="Picture Placeholder 4"/>
          <p:cNvSpPr>
            <a:spLocks noGrp="1"/>
          </p:cNvSpPr>
          <p:nvPr>
            <p:ph type="pic" sz="quarter" idx="13"/>
          </p:nvPr>
        </p:nvSpPr>
        <p:spPr>
          <a:xfrm>
            <a:off x="-34787" y="-34787"/>
            <a:ext cx="4606787" cy="5223013"/>
          </a:xfrm>
          <a:solidFill>
            <a:schemeClr val="bg2"/>
          </a:solidFill>
          <a:ln w="28575">
            <a:solidFill>
              <a:schemeClr val="accent5"/>
            </a:solidFill>
          </a:ln>
        </p:spPr>
        <p:txBody>
          <a:bodyPr/>
          <a:lstStyle/>
          <a:p>
            <a:r>
              <a:rPr lang="en-US"/>
              <a:t>Click icon to add picture</a:t>
            </a:r>
            <a:endParaRPr lang="en-GB" dirty="0"/>
          </a:p>
        </p:txBody>
      </p:sp>
    </p:spTree>
    <p:extLst>
      <p:ext uri="{BB962C8B-B14F-4D97-AF65-F5344CB8AC3E}">
        <p14:creationId xmlns:p14="http://schemas.microsoft.com/office/powerpoint/2010/main" val="3504311163"/>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Picture Collage">
    <p:spTree>
      <p:nvGrpSpPr>
        <p:cNvPr id="1" name=""/>
        <p:cNvGrpSpPr/>
        <p:nvPr/>
      </p:nvGrpSpPr>
      <p:grpSpPr>
        <a:xfrm>
          <a:off x="0" y="0"/>
          <a:ext cx="0" cy="0"/>
          <a:chOff x="0" y="0"/>
          <a:chExt cx="0" cy="0"/>
        </a:xfrm>
      </p:grpSpPr>
      <p:sp>
        <p:nvSpPr>
          <p:cNvPr id="10" name="Picture Placeholder 5"/>
          <p:cNvSpPr>
            <a:spLocks noGrp="1"/>
          </p:cNvSpPr>
          <p:nvPr>
            <p:ph type="pic" sz="quarter" idx="15"/>
          </p:nvPr>
        </p:nvSpPr>
        <p:spPr>
          <a:xfrm>
            <a:off x="7108965" y="1435062"/>
            <a:ext cx="1406386" cy="1825732"/>
          </a:xfrm>
          <a:solidFill>
            <a:schemeClr val="bg2"/>
          </a:solidFill>
          <a:ln w="28575">
            <a:solidFill>
              <a:schemeClr val="bg1"/>
            </a:solidFill>
          </a:ln>
        </p:spPr>
        <p:txBody>
          <a:bodyPr/>
          <a:lstStyle/>
          <a:p>
            <a:r>
              <a:rPr lang="en-US"/>
              <a:t>Click icon to add picture</a:t>
            </a:r>
            <a:endParaRPr lang="en-GB"/>
          </a:p>
        </p:txBody>
      </p:sp>
      <p:sp>
        <p:nvSpPr>
          <p:cNvPr id="9" name="Picture Placeholder 5"/>
          <p:cNvSpPr>
            <a:spLocks noGrp="1"/>
          </p:cNvSpPr>
          <p:nvPr>
            <p:ph type="pic" sz="quarter" idx="14"/>
          </p:nvPr>
        </p:nvSpPr>
        <p:spPr>
          <a:xfrm>
            <a:off x="5288551" y="2173858"/>
            <a:ext cx="1730463" cy="1730463"/>
          </a:xfrm>
          <a:solidFill>
            <a:schemeClr val="bg2"/>
          </a:solidFill>
          <a:ln w="28575">
            <a:solidFill>
              <a:schemeClr val="bg1"/>
            </a:solidFill>
          </a:ln>
        </p:spPr>
        <p:txBody>
          <a:bodyPr/>
          <a:lstStyle/>
          <a:p>
            <a:r>
              <a:rPr lang="en-US"/>
              <a:t>Click icon to add picture</a:t>
            </a:r>
            <a:endParaRPr lang="en-GB"/>
          </a:p>
        </p:txBody>
      </p:sp>
      <p:sp>
        <p:nvSpPr>
          <p:cNvPr id="8" name="Picture Placeholder 5"/>
          <p:cNvSpPr>
            <a:spLocks noGrp="1"/>
          </p:cNvSpPr>
          <p:nvPr>
            <p:ph type="pic" sz="quarter" idx="13"/>
          </p:nvPr>
        </p:nvSpPr>
        <p:spPr>
          <a:xfrm>
            <a:off x="3061485" y="1435062"/>
            <a:ext cx="2389134" cy="1638023"/>
          </a:xfrm>
          <a:solidFill>
            <a:schemeClr val="bg2"/>
          </a:solidFill>
          <a:ln w="28575">
            <a:solidFill>
              <a:schemeClr val="bg1"/>
            </a:solidFill>
          </a:ln>
        </p:spPr>
        <p:txBody>
          <a:bodyPr/>
          <a:lstStyle/>
          <a:p>
            <a:r>
              <a:rPr lang="en-US"/>
              <a:t>Click icon to add picture</a:t>
            </a:r>
            <a:endParaRPr lang="en-GB"/>
          </a:p>
        </p:txBody>
      </p:sp>
      <p:sp>
        <p:nvSpPr>
          <p:cNvPr id="3" name="Slide Number Placeholder 2"/>
          <p:cNvSpPr>
            <a:spLocks noGrp="1"/>
          </p:cNvSpPr>
          <p:nvPr>
            <p:ph type="sldNum" sz="quarter" idx="10"/>
          </p:nvPr>
        </p:nvSpPr>
        <p:spPr/>
        <p:txBody>
          <a:bodyPr/>
          <a:lstStyle/>
          <a:p>
            <a:fld id="{F46C79FD-C571-418B-AB0F-5EE936C85276}" type="slidenum">
              <a:rPr lang="en-GB" smtClean="0"/>
              <a:pPr/>
              <a:t>‹Nr.›</a:t>
            </a:fld>
            <a:endParaRPr lang="en-GB" dirty="0"/>
          </a:p>
        </p:txBody>
      </p:sp>
      <p:cxnSp>
        <p:nvCxnSpPr>
          <p:cNvPr id="4" name="Straight Connector 3"/>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Picture Placeholder 5"/>
          <p:cNvSpPr>
            <a:spLocks noGrp="1"/>
          </p:cNvSpPr>
          <p:nvPr>
            <p:ph type="pic" sz="quarter" idx="11"/>
          </p:nvPr>
        </p:nvSpPr>
        <p:spPr>
          <a:xfrm>
            <a:off x="703660" y="1311058"/>
            <a:ext cx="1982390" cy="1401365"/>
          </a:xfrm>
          <a:solidFill>
            <a:schemeClr val="bg2"/>
          </a:solidFill>
          <a:ln w="28575">
            <a:solidFill>
              <a:schemeClr val="bg1"/>
            </a:solidFill>
          </a:ln>
        </p:spPr>
        <p:txBody>
          <a:bodyPr/>
          <a:lstStyle/>
          <a:p>
            <a:r>
              <a:rPr lang="en-US"/>
              <a:t>Click icon to add picture</a:t>
            </a:r>
            <a:endParaRPr lang="en-GB"/>
          </a:p>
        </p:txBody>
      </p:sp>
      <p:sp>
        <p:nvSpPr>
          <p:cNvPr id="7" name="Picture Placeholder 5"/>
          <p:cNvSpPr>
            <a:spLocks noGrp="1"/>
          </p:cNvSpPr>
          <p:nvPr>
            <p:ph type="pic" sz="quarter" idx="12"/>
          </p:nvPr>
        </p:nvSpPr>
        <p:spPr>
          <a:xfrm>
            <a:off x="2130189" y="2145623"/>
            <a:ext cx="1215323" cy="1638023"/>
          </a:xfrm>
          <a:solidFill>
            <a:schemeClr val="bg2"/>
          </a:solidFill>
          <a:ln w="28575">
            <a:solidFill>
              <a:schemeClr val="bg1"/>
            </a:solidFill>
          </a:ln>
        </p:spPr>
        <p:txBody>
          <a:bodyPr/>
          <a:lstStyle/>
          <a:p>
            <a:r>
              <a:rPr lang="en-US"/>
              <a:t>Click icon to add picture</a:t>
            </a:r>
            <a:endParaRPr lang="en-GB"/>
          </a:p>
        </p:txBody>
      </p:sp>
      <p:sp>
        <p:nvSpPr>
          <p:cNvPr id="12" name="Picture Placeholder 11"/>
          <p:cNvSpPr>
            <a:spLocks noGrp="1"/>
          </p:cNvSpPr>
          <p:nvPr>
            <p:ph type="pic" sz="quarter" idx="16"/>
          </p:nvPr>
        </p:nvSpPr>
        <p:spPr>
          <a:xfrm>
            <a:off x="3689323" y="2843195"/>
            <a:ext cx="1490663" cy="1490663"/>
          </a:xfrm>
          <a:solidFill>
            <a:schemeClr val="bg2"/>
          </a:solidFill>
          <a:ln w="28575">
            <a:solidFill>
              <a:schemeClr val="bg1"/>
            </a:solidFill>
          </a:ln>
        </p:spPr>
        <p:txBody>
          <a:bodyPr vert="horz" lIns="91440" tIns="45720" rIns="91440" bIns="45720" rtlCol="0">
            <a:noAutofit/>
          </a:bodyPr>
          <a:lstStyle>
            <a:lvl1pPr>
              <a:defRPr lang="en-GB"/>
            </a:lvl1pPr>
          </a:lstStyle>
          <a:p>
            <a:pPr lvl="0"/>
            <a:r>
              <a:rPr lang="en-US"/>
              <a:t>Click icon to add picture</a:t>
            </a:r>
            <a:endParaRPr lang="en-GB"/>
          </a:p>
        </p:txBody>
      </p:sp>
      <p:sp>
        <p:nvSpPr>
          <p:cNvPr id="13" name="Picture Placeholder 11"/>
          <p:cNvSpPr>
            <a:spLocks noGrp="1"/>
          </p:cNvSpPr>
          <p:nvPr>
            <p:ph type="pic" sz="quarter" idx="17"/>
          </p:nvPr>
        </p:nvSpPr>
        <p:spPr>
          <a:xfrm>
            <a:off x="703660" y="2931719"/>
            <a:ext cx="1313615" cy="1313615"/>
          </a:xfrm>
          <a:solidFill>
            <a:schemeClr val="bg2"/>
          </a:solidFill>
          <a:ln w="28575">
            <a:solidFill>
              <a:schemeClr val="bg1"/>
            </a:solidFill>
          </a:ln>
        </p:spPr>
        <p:txBody>
          <a:bodyPr vert="horz" lIns="91440" tIns="45720" rIns="91440" bIns="45720" rtlCol="0">
            <a:noAutofit/>
          </a:bodyPr>
          <a:lstStyle>
            <a:lvl1pPr>
              <a:defRPr lang="en-GB"/>
            </a:lvl1pPr>
          </a:lstStyle>
          <a:p>
            <a:pPr lvl="0"/>
            <a:r>
              <a:rPr lang="en-US"/>
              <a:t>Click icon to add picture</a:t>
            </a:r>
            <a:endParaRPr lang="en-GB"/>
          </a:p>
        </p:txBody>
      </p:sp>
      <p:sp>
        <p:nvSpPr>
          <p:cNvPr id="14"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23564775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Photo gallery">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F46C79FD-C571-418B-AB0F-5EE936C85276}" type="slidenum">
              <a:rPr lang="en-GB" smtClean="0"/>
              <a:pPr/>
              <a:t>‹Nr.›</a:t>
            </a:fld>
            <a:endParaRPr lang="en-GB" dirty="0"/>
          </a:p>
        </p:txBody>
      </p:sp>
      <p:cxnSp>
        <p:nvCxnSpPr>
          <p:cNvPr id="4" name="Straight Connector 3"/>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Picture Placeholder 5"/>
          <p:cNvSpPr>
            <a:spLocks noGrp="1"/>
          </p:cNvSpPr>
          <p:nvPr>
            <p:ph type="pic" sz="quarter" idx="11"/>
          </p:nvPr>
        </p:nvSpPr>
        <p:spPr>
          <a:xfrm>
            <a:off x="628650" y="1311060"/>
            <a:ext cx="1422217" cy="1422217"/>
          </a:xfrm>
          <a:solidFill>
            <a:schemeClr val="bg2"/>
          </a:solidFill>
        </p:spPr>
        <p:txBody>
          <a:bodyPr/>
          <a:lstStyle/>
          <a:p>
            <a:r>
              <a:rPr lang="en-US"/>
              <a:t>Click icon to add picture</a:t>
            </a:r>
            <a:endParaRPr lang="en-GB"/>
          </a:p>
        </p:txBody>
      </p:sp>
      <p:sp>
        <p:nvSpPr>
          <p:cNvPr id="7" name="Picture Placeholder 5"/>
          <p:cNvSpPr>
            <a:spLocks noGrp="1"/>
          </p:cNvSpPr>
          <p:nvPr>
            <p:ph type="pic" sz="quarter" idx="12"/>
          </p:nvPr>
        </p:nvSpPr>
        <p:spPr>
          <a:xfrm>
            <a:off x="2244771" y="1311060"/>
            <a:ext cx="1422217" cy="1422217"/>
          </a:xfrm>
          <a:solidFill>
            <a:schemeClr val="bg2"/>
          </a:solidFill>
        </p:spPr>
        <p:txBody>
          <a:bodyPr/>
          <a:lstStyle/>
          <a:p>
            <a:r>
              <a:rPr lang="en-US"/>
              <a:t>Click icon to add picture</a:t>
            </a:r>
            <a:endParaRPr lang="en-GB"/>
          </a:p>
        </p:txBody>
      </p:sp>
      <p:sp>
        <p:nvSpPr>
          <p:cNvPr id="8" name="Picture Placeholder 5"/>
          <p:cNvSpPr>
            <a:spLocks noGrp="1"/>
          </p:cNvSpPr>
          <p:nvPr>
            <p:ph type="pic" sz="quarter" idx="13"/>
          </p:nvPr>
        </p:nvSpPr>
        <p:spPr>
          <a:xfrm>
            <a:off x="3860892" y="1311059"/>
            <a:ext cx="1422217" cy="1422217"/>
          </a:xfrm>
          <a:solidFill>
            <a:schemeClr val="bg2"/>
          </a:solidFill>
        </p:spPr>
        <p:txBody>
          <a:bodyPr/>
          <a:lstStyle/>
          <a:p>
            <a:r>
              <a:rPr lang="en-US"/>
              <a:t>Click icon to add picture</a:t>
            </a:r>
            <a:endParaRPr lang="en-GB"/>
          </a:p>
        </p:txBody>
      </p:sp>
      <p:sp>
        <p:nvSpPr>
          <p:cNvPr id="9" name="Picture Placeholder 5"/>
          <p:cNvSpPr>
            <a:spLocks noGrp="1"/>
          </p:cNvSpPr>
          <p:nvPr>
            <p:ph type="pic" sz="quarter" idx="14"/>
          </p:nvPr>
        </p:nvSpPr>
        <p:spPr>
          <a:xfrm>
            <a:off x="5477013" y="1311058"/>
            <a:ext cx="1422217" cy="1422217"/>
          </a:xfrm>
          <a:solidFill>
            <a:schemeClr val="bg2"/>
          </a:solidFill>
        </p:spPr>
        <p:txBody>
          <a:bodyPr/>
          <a:lstStyle/>
          <a:p>
            <a:r>
              <a:rPr lang="en-US"/>
              <a:t>Click icon to add picture</a:t>
            </a:r>
            <a:endParaRPr lang="en-GB"/>
          </a:p>
        </p:txBody>
      </p:sp>
      <p:sp>
        <p:nvSpPr>
          <p:cNvPr id="10" name="Picture Placeholder 5"/>
          <p:cNvSpPr>
            <a:spLocks noGrp="1"/>
          </p:cNvSpPr>
          <p:nvPr>
            <p:ph type="pic" sz="quarter" idx="15"/>
          </p:nvPr>
        </p:nvSpPr>
        <p:spPr>
          <a:xfrm>
            <a:off x="7093134" y="1311058"/>
            <a:ext cx="1422217" cy="1422217"/>
          </a:xfrm>
          <a:solidFill>
            <a:schemeClr val="bg2"/>
          </a:solidFill>
        </p:spPr>
        <p:txBody>
          <a:bodyPr/>
          <a:lstStyle/>
          <a:p>
            <a:r>
              <a:rPr lang="en-US"/>
              <a:t>Click icon to add picture</a:t>
            </a:r>
            <a:endParaRPr lang="en-GB"/>
          </a:p>
        </p:txBody>
      </p:sp>
      <p:sp>
        <p:nvSpPr>
          <p:cNvPr id="11" name="Picture Placeholder 5"/>
          <p:cNvSpPr>
            <a:spLocks noGrp="1"/>
          </p:cNvSpPr>
          <p:nvPr>
            <p:ph type="pic" sz="quarter" idx="16"/>
          </p:nvPr>
        </p:nvSpPr>
        <p:spPr>
          <a:xfrm>
            <a:off x="628650" y="2950584"/>
            <a:ext cx="1422217" cy="1422217"/>
          </a:xfrm>
          <a:solidFill>
            <a:schemeClr val="bg2"/>
          </a:solidFill>
        </p:spPr>
        <p:txBody>
          <a:bodyPr/>
          <a:lstStyle/>
          <a:p>
            <a:r>
              <a:rPr lang="en-US"/>
              <a:t>Click icon to add picture</a:t>
            </a:r>
            <a:endParaRPr lang="en-GB"/>
          </a:p>
        </p:txBody>
      </p:sp>
      <p:sp>
        <p:nvSpPr>
          <p:cNvPr id="12" name="Picture Placeholder 5"/>
          <p:cNvSpPr>
            <a:spLocks noGrp="1"/>
          </p:cNvSpPr>
          <p:nvPr>
            <p:ph type="pic" sz="quarter" idx="17"/>
          </p:nvPr>
        </p:nvSpPr>
        <p:spPr>
          <a:xfrm>
            <a:off x="2244771" y="2950584"/>
            <a:ext cx="1422217" cy="1422217"/>
          </a:xfrm>
          <a:solidFill>
            <a:schemeClr val="bg2"/>
          </a:solidFill>
        </p:spPr>
        <p:txBody>
          <a:bodyPr/>
          <a:lstStyle/>
          <a:p>
            <a:r>
              <a:rPr lang="en-US"/>
              <a:t>Click icon to add picture</a:t>
            </a:r>
            <a:endParaRPr lang="en-GB"/>
          </a:p>
        </p:txBody>
      </p:sp>
      <p:sp>
        <p:nvSpPr>
          <p:cNvPr id="13" name="Picture Placeholder 5"/>
          <p:cNvSpPr>
            <a:spLocks noGrp="1"/>
          </p:cNvSpPr>
          <p:nvPr>
            <p:ph type="pic" sz="quarter" idx="18"/>
          </p:nvPr>
        </p:nvSpPr>
        <p:spPr>
          <a:xfrm>
            <a:off x="3860892" y="2950583"/>
            <a:ext cx="1422217" cy="1422217"/>
          </a:xfrm>
          <a:solidFill>
            <a:schemeClr val="bg2"/>
          </a:solidFill>
        </p:spPr>
        <p:txBody>
          <a:bodyPr/>
          <a:lstStyle/>
          <a:p>
            <a:r>
              <a:rPr lang="en-US"/>
              <a:t>Click icon to add picture</a:t>
            </a:r>
            <a:endParaRPr lang="en-GB"/>
          </a:p>
        </p:txBody>
      </p:sp>
      <p:sp>
        <p:nvSpPr>
          <p:cNvPr id="14" name="Picture Placeholder 5"/>
          <p:cNvSpPr>
            <a:spLocks noGrp="1"/>
          </p:cNvSpPr>
          <p:nvPr>
            <p:ph type="pic" sz="quarter" idx="19"/>
          </p:nvPr>
        </p:nvSpPr>
        <p:spPr>
          <a:xfrm>
            <a:off x="5477013" y="2950582"/>
            <a:ext cx="1422217" cy="1422217"/>
          </a:xfrm>
          <a:solidFill>
            <a:schemeClr val="bg2"/>
          </a:solidFill>
        </p:spPr>
        <p:txBody>
          <a:bodyPr/>
          <a:lstStyle/>
          <a:p>
            <a:r>
              <a:rPr lang="en-US"/>
              <a:t>Click icon to add picture</a:t>
            </a:r>
            <a:endParaRPr lang="en-GB"/>
          </a:p>
        </p:txBody>
      </p:sp>
      <p:sp>
        <p:nvSpPr>
          <p:cNvPr id="15" name="Picture Placeholder 5"/>
          <p:cNvSpPr>
            <a:spLocks noGrp="1"/>
          </p:cNvSpPr>
          <p:nvPr>
            <p:ph type="pic" sz="quarter" idx="20"/>
          </p:nvPr>
        </p:nvSpPr>
        <p:spPr>
          <a:xfrm>
            <a:off x="7093134" y="2950582"/>
            <a:ext cx="1422217" cy="1422217"/>
          </a:xfrm>
          <a:solidFill>
            <a:schemeClr val="bg2"/>
          </a:solidFill>
        </p:spPr>
        <p:txBody>
          <a:bodyPr/>
          <a:lstStyle/>
          <a:p>
            <a:r>
              <a:rPr lang="en-US"/>
              <a:t>Click icon to add picture</a:t>
            </a:r>
            <a:endParaRPr lang="en-GB"/>
          </a:p>
        </p:txBody>
      </p:sp>
      <p:sp>
        <p:nvSpPr>
          <p:cNvPr id="16"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34588645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images">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46C79FD-C571-418B-AB0F-5EE936C85276}" type="slidenum">
              <a:rPr lang="en-GB" smtClean="0"/>
              <a:t>‹Nr.›</a:t>
            </a:fld>
            <a:endParaRPr lang="en-GB"/>
          </a:p>
        </p:txBody>
      </p:sp>
      <p:cxnSp>
        <p:nvCxnSpPr>
          <p:cNvPr id="8" name="Straight Connector 7"/>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
        <p:nvSpPr>
          <p:cNvPr id="3" name="Picture Placeholder 2"/>
          <p:cNvSpPr>
            <a:spLocks noGrp="1"/>
          </p:cNvSpPr>
          <p:nvPr>
            <p:ph type="pic" sz="quarter" idx="13"/>
          </p:nvPr>
        </p:nvSpPr>
        <p:spPr>
          <a:xfrm>
            <a:off x="728042" y="1713501"/>
            <a:ext cx="2356247" cy="1568053"/>
          </a:xfrm>
          <a:solidFill>
            <a:schemeClr val="bg2"/>
          </a:solidFill>
        </p:spPr>
        <p:txBody>
          <a:bodyPr/>
          <a:lstStyle/>
          <a:p>
            <a:r>
              <a:rPr lang="en-US"/>
              <a:t>Click icon to add picture</a:t>
            </a:r>
            <a:endParaRPr lang="en-GB"/>
          </a:p>
        </p:txBody>
      </p:sp>
      <p:sp>
        <p:nvSpPr>
          <p:cNvPr id="11" name="Picture Placeholder 2"/>
          <p:cNvSpPr>
            <a:spLocks noGrp="1"/>
          </p:cNvSpPr>
          <p:nvPr>
            <p:ph type="pic" sz="quarter" idx="14"/>
          </p:nvPr>
        </p:nvSpPr>
        <p:spPr>
          <a:xfrm>
            <a:off x="5926089" y="1713501"/>
            <a:ext cx="2356247" cy="1568053"/>
          </a:xfrm>
          <a:solidFill>
            <a:schemeClr val="bg2"/>
          </a:solidFill>
        </p:spPr>
        <p:txBody>
          <a:bodyPr/>
          <a:lstStyle/>
          <a:p>
            <a:r>
              <a:rPr lang="en-US"/>
              <a:t>Click icon to add picture</a:t>
            </a:r>
            <a:endParaRPr lang="en-GB"/>
          </a:p>
        </p:txBody>
      </p:sp>
      <p:sp>
        <p:nvSpPr>
          <p:cNvPr id="12" name="Picture Placeholder 2"/>
          <p:cNvSpPr>
            <a:spLocks noGrp="1"/>
          </p:cNvSpPr>
          <p:nvPr>
            <p:ph type="pic" sz="quarter" idx="15"/>
          </p:nvPr>
        </p:nvSpPr>
        <p:spPr>
          <a:xfrm>
            <a:off x="3327065" y="1713501"/>
            <a:ext cx="2356247" cy="1568053"/>
          </a:xfrm>
          <a:solidFill>
            <a:schemeClr val="bg2"/>
          </a:solidFill>
        </p:spPr>
        <p:txBody>
          <a:bodyPr/>
          <a:lstStyle/>
          <a:p>
            <a:r>
              <a:rPr lang="en-US"/>
              <a:t>Click icon to add picture</a:t>
            </a:r>
            <a:endParaRPr lang="en-GB"/>
          </a:p>
        </p:txBody>
      </p:sp>
      <p:sp>
        <p:nvSpPr>
          <p:cNvPr id="13" name="Text Placeholder 12"/>
          <p:cNvSpPr>
            <a:spLocks noGrp="1"/>
          </p:cNvSpPr>
          <p:nvPr>
            <p:ph type="body" sz="quarter" idx="16"/>
          </p:nvPr>
        </p:nvSpPr>
        <p:spPr>
          <a:xfrm>
            <a:off x="905080" y="3029014"/>
            <a:ext cx="2002169" cy="1143176"/>
          </a:xfrm>
          <a:solidFill>
            <a:schemeClr val="bg1"/>
          </a:solidFill>
        </p:spPr>
        <p:txBody>
          <a:bodyPr tIns="90000"/>
          <a:lstStyle>
            <a:lvl1pPr marL="0" indent="0" algn="ctr">
              <a:buNone/>
              <a:defRPr sz="1500"/>
            </a:lvl1pPr>
          </a:lstStyle>
          <a:p>
            <a:pPr lvl="0"/>
            <a:r>
              <a:rPr lang="en-US"/>
              <a:t>Edit Master text styles</a:t>
            </a:r>
          </a:p>
        </p:txBody>
      </p:sp>
      <p:sp>
        <p:nvSpPr>
          <p:cNvPr id="15" name="Text Placeholder 12"/>
          <p:cNvSpPr>
            <a:spLocks noGrp="1"/>
          </p:cNvSpPr>
          <p:nvPr>
            <p:ph type="body" sz="quarter" idx="17"/>
          </p:nvPr>
        </p:nvSpPr>
        <p:spPr>
          <a:xfrm>
            <a:off x="3504104" y="3031459"/>
            <a:ext cx="2002169" cy="1143176"/>
          </a:xfrm>
          <a:solidFill>
            <a:schemeClr val="bg1"/>
          </a:solidFill>
        </p:spPr>
        <p:txBody>
          <a:bodyPr tIns="90000"/>
          <a:lstStyle>
            <a:lvl1pPr marL="0" indent="0" algn="ctr">
              <a:buNone/>
              <a:defRPr sz="1500"/>
            </a:lvl1pPr>
          </a:lstStyle>
          <a:p>
            <a:pPr lvl="0"/>
            <a:r>
              <a:rPr lang="en-US"/>
              <a:t>Edit Master text styles</a:t>
            </a:r>
          </a:p>
        </p:txBody>
      </p:sp>
      <p:sp>
        <p:nvSpPr>
          <p:cNvPr id="16" name="Text Placeholder 12"/>
          <p:cNvSpPr>
            <a:spLocks noGrp="1"/>
          </p:cNvSpPr>
          <p:nvPr>
            <p:ph type="body" sz="quarter" idx="18"/>
          </p:nvPr>
        </p:nvSpPr>
        <p:spPr>
          <a:xfrm>
            <a:off x="6103127" y="3028078"/>
            <a:ext cx="2002169" cy="1143176"/>
          </a:xfrm>
          <a:solidFill>
            <a:schemeClr val="bg1"/>
          </a:solidFill>
        </p:spPr>
        <p:txBody>
          <a:bodyPr tIns="90000"/>
          <a:lstStyle>
            <a:lvl1pPr marL="0" indent="0" algn="ctr">
              <a:buNone/>
              <a:defRPr sz="1500"/>
            </a:lvl1pPr>
          </a:lstStyle>
          <a:p>
            <a:pPr lvl="0"/>
            <a:r>
              <a:rPr lang="en-US"/>
              <a:t>Edit Master text styles</a:t>
            </a:r>
          </a:p>
        </p:txBody>
      </p:sp>
    </p:spTree>
    <p:extLst>
      <p:ext uri="{BB962C8B-B14F-4D97-AF65-F5344CB8AC3E}">
        <p14:creationId xmlns:p14="http://schemas.microsoft.com/office/powerpoint/2010/main" val="36087009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images">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46C79FD-C571-418B-AB0F-5EE936C85276}" type="slidenum">
              <a:rPr lang="en-GB" smtClean="0"/>
              <a:t>‹Nr.›</a:t>
            </a:fld>
            <a:endParaRPr lang="en-GB"/>
          </a:p>
        </p:txBody>
      </p:sp>
      <p:cxnSp>
        <p:nvCxnSpPr>
          <p:cNvPr id="8" name="Straight Connector 7"/>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
        <p:nvSpPr>
          <p:cNvPr id="3" name="Picture Placeholder 2"/>
          <p:cNvSpPr>
            <a:spLocks noGrp="1"/>
          </p:cNvSpPr>
          <p:nvPr>
            <p:ph type="pic" sz="quarter" idx="13"/>
          </p:nvPr>
        </p:nvSpPr>
        <p:spPr>
          <a:xfrm>
            <a:off x="2785402" y="1619968"/>
            <a:ext cx="1846193" cy="1228619"/>
          </a:xfrm>
          <a:solidFill>
            <a:schemeClr val="bg2"/>
          </a:solidFill>
        </p:spPr>
        <p:txBody>
          <a:bodyPr/>
          <a:lstStyle/>
          <a:p>
            <a:r>
              <a:rPr lang="en-US"/>
              <a:t>Click icon to add picture</a:t>
            </a:r>
            <a:endParaRPr lang="en-GB"/>
          </a:p>
        </p:txBody>
      </p:sp>
      <p:sp>
        <p:nvSpPr>
          <p:cNvPr id="11" name="Picture Placeholder 2"/>
          <p:cNvSpPr>
            <a:spLocks noGrp="1"/>
          </p:cNvSpPr>
          <p:nvPr>
            <p:ph type="pic" sz="quarter" idx="14"/>
          </p:nvPr>
        </p:nvSpPr>
        <p:spPr>
          <a:xfrm>
            <a:off x="2785402" y="2976661"/>
            <a:ext cx="1846193" cy="1228619"/>
          </a:xfrm>
          <a:solidFill>
            <a:schemeClr val="bg2"/>
          </a:solidFill>
        </p:spPr>
        <p:txBody>
          <a:bodyPr/>
          <a:lstStyle/>
          <a:p>
            <a:r>
              <a:rPr lang="en-US"/>
              <a:t>Click icon to add picture</a:t>
            </a:r>
            <a:endParaRPr lang="en-GB"/>
          </a:p>
        </p:txBody>
      </p:sp>
      <p:sp>
        <p:nvSpPr>
          <p:cNvPr id="12" name="Picture Placeholder 2"/>
          <p:cNvSpPr>
            <a:spLocks noGrp="1"/>
          </p:cNvSpPr>
          <p:nvPr>
            <p:ph type="pic" sz="quarter" idx="15"/>
          </p:nvPr>
        </p:nvSpPr>
        <p:spPr>
          <a:xfrm>
            <a:off x="4743411" y="1619968"/>
            <a:ext cx="1846195" cy="1228619"/>
          </a:xfrm>
          <a:solidFill>
            <a:schemeClr val="bg2"/>
          </a:solidFill>
        </p:spPr>
        <p:txBody>
          <a:bodyPr/>
          <a:lstStyle/>
          <a:p>
            <a:r>
              <a:rPr lang="en-US"/>
              <a:t>Click icon to add picture</a:t>
            </a:r>
            <a:endParaRPr lang="en-GB"/>
          </a:p>
        </p:txBody>
      </p:sp>
      <p:sp>
        <p:nvSpPr>
          <p:cNvPr id="13" name="Text Placeholder 12"/>
          <p:cNvSpPr>
            <a:spLocks noGrp="1"/>
          </p:cNvSpPr>
          <p:nvPr>
            <p:ph type="body" sz="quarter" idx="16"/>
          </p:nvPr>
        </p:nvSpPr>
        <p:spPr>
          <a:xfrm>
            <a:off x="6701420" y="2976660"/>
            <a:ext cx="1890000" cy="1228619"/>
          </a:xfrm>
          <a:noFill/>
        </p:spPr>
        <p:txBody>
          <a:bodyPr tIns="90000"/>
          <a:lstStyle>
            <a:lvl1pPr marL="0" indent="0" algn="l">
              <a:buNone/>
              <a:defRPr sz="1500"/>
            </a:lvl1pPr>
          </a:lstStyle>
          <a:p>
            <a:pPr lvl="0"/>
            <a:r>
              <a:rPr lang="en-US"/>
              <a:t>Edit Master text styles</a:t>
            </a:r>
          </a:p>
        </p:txBody>
      </p:sp>
      <p:sp>
        <p:nvSpPr>
          <p:cNvPr id="16" name="Text Placeholder 12"/>
          <p:cNvSpPr>
            <a:spLocks noGrp="1"/>
          </p:cNvSpPr>
          <p:nvPr>
            <p:ph type="body" sz="quarter" idx="18"/>
          </p:nvPr>
        </p:nvSpPr>
        <p:spPr>
          <a:xfrm>
            <a:off x="775213" y="1619968"/>
            <a:ext cx="1890000" cy="1228619"/>
          </a:xfrm>
          <a:noFill/>
        </p:spPr>
        <p:txBody>
          <a:bodyPr tIns="90000"/>
          <a:lstStyle>
            <a:lvl1pPr marL="0" indent="0" algn="r">
              <a:buNone/>
              <a:defRPr sz="1500"/>
            </a:lvl1pPr>
          </a:lstStyle>
          <a:p>
            <a:pPr lvl="0"/>
            <a:r>
              <a:rPr lang="en-US"/>
              <a:t>Edit Master text styles</a:t>
            </a:r>
          </a:p>
        </p:txBody>
      </p:sp>
      <p:sp>
        <p:nvSpPr>
          <p:cNvPr id="14" name="Picture Placeholder 2"/>
          <p:cNvSpPr>
            <a:spLocks noGrp="1"/>
          </p:cNvSpPr>
          <p:nvPr>
            <p:ph type="pic" sz="quarter" idx="19"/>
          </p:nvPr>
        </p:nvSpPr>
        <p:spPr>
          <a:xfrm>
            <a:off x="4743412" y="2976660"/>
            <a:ext cx="1846193" cy="1228619"/>
          </a:xfrm>
          <a:solidFill>
            <a:schemeClr val="bg2"/>
          </a:solidFill>
        </p:spPr>
        <p:txBody>
          <a:bodyPr/>
          <a:lstStyle/>
          <a:p>
            <a:r>
              <a:rPr lang="en-US"/>
              <a:t>Click icon to add picture</a:t>
            </a:r>
            <a:endParaRPr lang="en-GB"/>
          </a:p>
        </p:txBody>
      </p:sp>
      <p:sp>
        <p:nvSpPr>
          <p:cNvPr id="17" name="Text Placeholder 12"/>
          <p:cNvSpPr>
            <a:spLocks noGrp="1"/>
          </p:cNvSpPr>
          <p:nvPr>
            <p:ph type="body" sz="quarter" idx="20"/>
          </p:nvPr>
        </p:nvSpPr>
        <p:spPr>
          <a:xfrm>
            <a:off x="775213" y="2976661"/>
            <a:ext cx="1890000" cy="1228619"/>
          </a:xfrm>
          <a:noFill/>
        </p:spPr>
        <p:txBody>
          <a:bodyPr tIns="90000"/>
          <a:lstStyle>
            <a:lvl1pPr marL="0" indent="0" algn="r">
              <a:buNone/>
              <a:defRPr sz="1500"/>
            </a:lvl1pPr>
          </a:lstStyle>
          <a:p>
            <a:pPr lvl="0"/>
            <a:r>
              <a:rPr lang="en-US"/>
              <a:t>Edit Master text styles</a:t>
            </a:r>
          </a:p>
        </p:txBody>
      </p:sp>
      <p:sp>
        <p:nvSpPr>
          <p:cNvPr id="18" name="Text Placeholder 12"/>
          <p:cNvSpPr>
            <a:spLocks noGrp="1"/>
          </p:cNvSpPr>
          <p:nvPr>
            <p:ph type="body" sz="quarter" idx="21"/>
          </p:nvPr>
        </p:nvSpPr>
        <p:spPr>
          <a:xfrm>
            <a:off x="6724742" y="1619968"/>
            <a:ext cx="1890000" cy="1228619"/>
          </a:xfrm>
          <a:noFill/>
        </p:spPr>
        <p:txBody>
          <a:bodyPr tIns="90000"/>
          <a:lstStyle>
            <a:lvl1pPr marL="0" indent="0" algn="l">
              <a:buNone/>
              <a:defRPr sz="1500"/>
            </a:lvl1pPr>
          </a:lstStyle>
          <a:p>
            <a:pPr lvl="0"/>
            <a:r>
              <a:rPr lang="en-US"/>
              <a:t>Edit Master text styles</a:t>
            </a:r>
          </a:p>
        </p:txBody>
      </p:sp>
    </p:spTree>
    <p:extLst>
      <p:ext uri="{BB962C8B-B14F-4D97-AF65-F5344CB8AC3E}">
        <p14:creationId xmlns:p14="http://schemas.microsoft.com/office/powerpoint/2010/main" val="32878467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Round pictur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F46C79FD-C571-418B-AB0F-5EE936C85276}" type="slidenum">
              <a:rPr lang="en-GB" smtClean="0"/>
              <a:pPr/>
              <a:t>‹Nr.›</a:t>
            </a:fld>
            <a:endParaRPr lang="en-GB" dirty="0"/>
          </a:p>
        </p:txBody>
      </p:sp>
      <p:cxnSp>
        <p:nvCxnSpPr>
          <p:cNvPr id="4" name="Straight Connector 3"/>
          <p:cNvCxnSpPr/>
          <p:nvPr userDrawn="1"/>
        </p:nvCxnSpPr>
        <p:spPr>
          <a:xfrm flipH="1">
            <a:off x="628650" y="0"/>
            <a:ext cx="1" cy="95726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5" name="Title Placeholder 1"/>
          <p:cNvSpPr>
            <a:spLocks noGrp="1"/>
          </p:cNvSpPr>
          <p:nvPr>
            <p:ph type="title"/>
          </p:nvPr>
        </p:nvSpPr>
        <p:spPr>
          <a:xfrm>
            <a:off x="728042"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
        <p:nvSpPr>
          <p:cNvPr id="12" name="Picture Placeholder 11"/>
          <p:cNvSpPr>
            <a:spLocks noGrp="1"/>
          </p:cNvSpPr>
          <p:nvPr>
            <p:ph type="pic" sz="quarter" idx="11"/>
          </p:nvPr>
        </p:nvSpPr>
        <p:spPr>
          <a:xfrm>
            <a:off x="727473" y="1382547"/>
            <a:ext cx="1604002" cy="1604002"/>
          </a:xfrm>
          <a:prstGeom prst="ellipse">
            <a:avLst/>
          </a:prstGeom>
          <a:solidFill>
            <a:schemeClr val="bg2"/>
          </a:solidFill>
        </p:spPr>
        <p:txBody>
          <a:bodyPr/>
          <a:lstStyle/>
          <a:p>
            <a:r>
              <a:rPr lang="en-US"/>
              <a:t>Click icon to add picture</a:t>
            </a:r>
            <a:endParaRPr lang="en-GB"/>
          </a:p>
        </p:txBody>
      </p:sp>
      <p:sp>
        <p:nvSpPr>
          <p:cNvPr id="13" name="Picture Placeholder 11"/>
          <p:cNvSpPr>
            <a:spLocks noGrp="1"/>
          </p:cNvSpPr>
          <p:nvPr>
            <p:ph type="pic" sz="quarter" idx="12"/>
          </p:nvPr>
        </p:nvSpPr>
        <p:spPr>
          <a:xfrm>
            <a:off x="2686050" y="1382546"/>
            <a:ext cx="1604002" cy="1604002"/>
          </a:xfrm>
          <a:prstGeom prst="ellipse">
            <a:avLst/>
          </a:prstGeom>
          <a:solidFill>
            <a:schemeClr val="bg2"/>
          </a:solidFill>
        </p:spPr>
        <p:txBody>
          <a:bodyPr/>
          <a:lstStyle/>
          <a:p>
            <a:r>
              <a:rPr lang="en-US"/>
              <a:t>Click icon to add picture</a:t>
            </a:r>
            <a:endParaRPr lang="en-GB"/>
          </a:p>
        </p:txBody>
      </p:sp>
      <p:sp>
        <p:nvSpPr>
          <p:cNvPr id="14" name="Picture Placeholder 11"/>
          <p:cNvSpPr>
            <a:spLocks noGrp="1"/>
          </p:cNvSpPr>
          <p:nvPr>
            <p:ph type="pic" sz="quarter" idx="13"/>
          </p:nvPr>
        </p:nvSpPr>
        <p:spPr>
          <a:xfrm>
            <a:off x="4644628" y="1382545"/>
            <a:ext cx="1604002" cy="1604002"/>
          </a:xfrm>
          <a:prstGeom prst="ellipse">
            <a:avLst/>
          </a:prstGeom>
          <a:solidFill>
            <a:schemeClr val="bg2"/>
          </a:solidFill>
        </p:spPr>
        <p:txBody>
          <a:bodyPr/>
          <a:lstStyle/>
          <a:p>
            <a:r>
              <a:rPr lang="en-US"/>
              <a:t>Click icon to add picture</a:t>
            </a:r>
            <a:endParaRPr lang="en-GB"/>
          </a:p>
        </p:txBody>
      </p:sp>
      <p:sp>
        <p:nvSpPr>
          <p:cNvPr id="15" name="Picture Placeholder 11"/>
          <p:cNvSpPr>
            <a:spLocks noGrp="1"/>
          </p:cNvSpPr>
          <p:nvPr>
            <p:ph type="pic" sz="quarter" idx="14"/>
          </p:nvPr>
        </p:nvSpPr>
        <p:spPr>
          <a:xfrm>
            <a:off x="6603206" y="1382544"/>
            <a:ext cx="1604002" cy="1604002"/>
          </a:xfrm>
          <a:prstGeom prst="ellipse">
            <a:avLst/>
          </a:prstGeom>
          <a:solidFill>
            <a:schemeClr val="bg2"/>
          </a:solidFill>
        </p:spPr>
        <p:txBody>
          <a:bodyPr/>
          <a:lstStyle/>
          <a:p>
            <a:r>
              <a:rPr lang="en-US"/>
              <a:t>Click icon to add picture</a:t>
            </a:r>
            <a:endParaRPr lang="en-GB"/>
          </a:p>
        </p:txBody>
      </p:sp>
      <p:cxnSp>
        <p:nvCxnSpPr>
          <p:cNvPr id="9" name="Straight Connector 8"/>
          <p:cNvCxnSpPr/>
          <p:nvPr userDrawn="1"/>
        </p:nvCxnSpPr>
        <p:spPr bwMode="auto">
          <a:xfrm>
            <a:off x="2512253" y="3218794"/>
            <a:ext cx="0" cy="89026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Connector 9"/>
          <p:cNvCxnSpPr/>
          <p:nvPr userDrawn="1"/>
        </p:nvCxnSpPr>
        <p:spPr bwMode="auto">
          <a:xfrm>
            <a:off x="4477814" y="3218794"/>
            <a:ext cx="0" cy="89026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p:cNvCxnSpPr/>
          <p:nvPr userDrawn="1"/>
        </p:nvCxnSpPr>
        <p:spPr bwMode="auto">
          <a:xfrm>
            <a:off x="6443375" y="3218794"/>
            <a:ext cx="0" cy="89026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Content Placeholder 7"/>
          <p:cNvSpPr>
            <a:spLocks noGrp="1"/>
          </p:cNvSpPr>
          <p:nvPr>
            <p:ph sz="quarter" idx="15"/>
          </p:nvPr>
        </p:nvSpPr>
        <p:spPr>
          <a:xfrm>
            <a:off x="748423" y="3195416"/>
            <a:ext cx="1562100" cy="937022"/>
          </a:xfrm>
        </p:spPr>
        <p:txBody>
          <a:bodyPr/>
          <a:lstStyle>
            <a:lvl1pPr marL="0" indent="0" algn="ctr">
              <a:buNone/>
              <a:defRPr sz="1500"/>
            </a:lvl1pPr>
          </a:lstStyle>
          <a:p>
            <a:pPr lvl="0"/>
            <a:r>
              <a:rPr lang="en-US"/>
              <a:t>Edit Master text styles</a:t>
            </a:r>
          </a:p>
        </p:txBody>
      </p:sp>
      <p:sp>
        <p:nvSpPr>
          <p:cNvPr id="16" name="Content Placeholder 7"/>
          <p:cNvSpPr>
            <a:spLocks noGrp="1"/>
          </p:cNvSpPr>
          <p:nvPr>
            <p:ph sz="quarter" idx="16"/>
          </p:nvPr>
        </p:nvSpPr>
        <p:spPr>
          <a:xfrm>
            <a:off x="2713984" y="3195416"/>
            <a:ext cx="1562100" cy="937022"/>
          </a:xfrm>
        </p:spPr>
        <p:txBody>
          <a:bodyPr/>
          <a:lstStyle>
            <a:lvl1pPr marL="0" indent="0" algn="ctr">
              <a:buNone/>
              <a:defRPr sz="1500"/>
            </a:lvl1pPr>
          </a:lstStyle>
          <a:p>
            <a:pPr lvl="0"/>
            <a:r>
              <a:rPr lang="en-US"/>
              <a:t>Edit Master text styles</a:t>
            </a:r>
          </a:p>
        </p:txBody>
      </p:sp>
      <p:sp>
        <p:nvSpPr>
          <p:cNvPr id="17" name="Content Placeholder 7"/>
          <p:cNvSpPr>
            <a:spLocks noGrp="1"/>
          </p:cNvSpPr>
          <p:nvPr>
            <p:ph sz="quarter" idx="17"/>
          </p:nvPr>
        </p:nvSpPr>
        <p:spPr>
          <a:xfrm>
            <a:off x="4679545" y="3195416"/>
            <a:ext cx="1562100" cy="937022"/>
          </a:xfrm>
        </p:spPr>
        <p:txBody>
          <a:bodyPr/>
          <a:lstStyle>
            <a:lvl1pPr marL="0" indent="0" algn="ctr">
              <a:buNone/>
              <a:defRPr sz="1500"/>
            </a:lvl1pPr>
          </a:lstStyle>
          <a:p>
            <a:pPr lvl="0"/>
            <a:r>
              <a:rPr lang="en-US"/>
              <a:t>Edit Master text styles</a:t>
            </a:r>
          </a:p>
        </p:txBody>
      </p:sp>
      <p:sp>
        <p:nvSpPr>
          <p:cNvPr id="18" name="Content Placeholder 7"/>
          <p:cNvSpPr>
            <a:spLocks noGrp="1"/>
          </p:cNvSpPr>
          <p:nvPr>
            <p:ph sz="quarter" idx="18"/>
          </p:nvPr>
        </p:nvSpPr>
        <p:spPr>
          <a:xfrm>
            <a:off x="6645107" y="3195416"/>
            <a:ext cx="1562100" cy="937022"/>
          </a:xfrm>
        </p:spPr>
        <p:txBody>
          <a:bodyPr/>
          <a:lstStyle>
            <a:lvl1pPr marL="0" indent="0" algn="ctr">
              <a:buNone/>
              <a:defRPr sz="1500"/>
            </a:lvl1pPr>
          </a:lstStyle>
          <a:p>
            <a:pPr lvl="0"/>
            <a:r>
              <a:rPr lang="en-US"/>
              <a:t>Edit Master text styles</a:t>
            </a:r>
          </a:p>
        </p:txBody>
      </p:sp>
    </p:spTree>
    <p:extLst>
      <p:ext uri="{BB962C8B-B14F-4D97-AF65-F5344CB8AC3E}">
        <p14:creationId xmlns:p14="http://schemas.microsoft.com/office/powerpoint/2010/main" val="9206945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2"/>
          <p:cNvSpPr>
            <a:spLocks noGrp="1"/>
          </p:cNvSpPr>
          <p:nvPr>
            <p:ph type="pic" sz="quarter" idx="13"/>
          </p:nvPr>
        </p:nvSpPr>
        <p:spPr>
          <a:xfrm>
            <a:off x="0" y="0"/>
            <a:ext cx="9144000" cy="2571750"/>
          </a:xfrm>
          <a:solidFill>
            <a:schemeClr val="bg2"/>
          </a:solidFill>
        </p:spPr>
        <p:txBody>
          <a:bodyPr/>
          <a:lstStyle/>
          <a:p>
            <a:r>
              <a:rPr lang="en-US"/>
              <a:t>Click icon to add picture</a:t>
            </a:r>
            <a:endParaRPr lang="en-GB"/>
          </a:p>
        </p:txBody>
      </p:sp>
      <p:sp>
        <p:nvSpPr>
          <p:cNvPr id="2" name="Title 1"/>
          <p:cNvSpPr>
            <a:spLocks noGrp="1"/>
          </p:cNvSpPr>
          <p:nvPr>
            <p:ph type="title"/>
          </p:nvPr>
        </p:nvSpPr>
        <p:spPr>
          <a:xfrm>
            <a:off x="628650" y="1984983"/>
            <a:ext cx="7886700" cy="586768"/>
          </a:xfrm>
          <a:solidFill>
            <a:schemeClr val="bg1"/>
          </a:solidFill>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F46C79FD-C571-418B-AB0F-5EE936C85276}" type="slidenum">
              <a:rPr lang="en-GB" smtClean="0"/>
              <a:pPr/>
              <a:t>‹Nr.›</a:t>
            </a:fld>
            <a:endParaRPr lang="en-GB" dirty="0"/>
          </a:p>
        </p:txBody>
      </p:sp>
      <p:sp>
        <p:nvSpPr>
          <p:cNvPr id="6" name="Text Placeholder 5"/>
          <p:cNvSpPr>
            <a:spLocks noGrp="1"/>
          </p:cNvSpPr>
          <p:nvPr>
            <p:ph type="body" sz="quarter" idx="14"/>
          </p:nvPr>
        </p:nvSpPr>
        <p:spPr>
          <a:xfrm>
            <a:off x="628650" y="2722960"/>
            <a:ext cx="7886700" cy="15263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07385471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6C79FD-C571-418B-AB0F-5EE936C85276}" type="slidenum">
              <a:rPr lang="en-GB" smtClean="0"/>
              <a:t>‹Nr.›</a:t>
            </a:fld>
            <a:endParaRPr lang="en-GB"/>
          </a:p>
        </p:txBody>
      </p:sp>
    </p:spTree>
    <p:extLst>
      <p:ext uri="{BB962C8B-B14F-4D97-AF65-F5344CB8AC3E}">
        <p14:creationId xmlns:p14="http://schemas.microsoft.com/office/powerpoint/2010/main" val="33627455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2224" y="195486"/>
            <a:ext cx="8229600" cy="702469"/>
          </a:xfrm>
          <a:prstGeom prst="rect">
            <a:avLst/>
          </a:prstGeom>
        </p:spPr>
        <p:txBody>
          <a:bodyPr>
            <a:normAutofit/>
          </a:bodyPr>
          <a:lstStyle>
            <a:lvl1pPr>
              <a:defRPr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GB" dirty="0"/>
          </a:p>
        </p:txBody>
      </p:sp>
      <p:sp>
        <p:nvSpPr>
          <p:cNvPr id="10" name="Content Placeholder 2"/>
          <p:cNvSpPr>
            <a:spLocks noGrp="1"/>
          </p:cNvSpPr>
          <p:nvPr>
            <p:ph idx="1"/>
          </p:nvPr>
        </p:nvSpPr>
        <p:spPr>
          <a:xfrm>
            <a:off x="457200" y="1203599"/>
            <a:ext cx="8229600" cy="3445422"/>
          </a:xfrm>
          <a:prstGeom prst="rect">
            <a:avLst/>
          </a:prstGeom>
        </p:spPr>
        <p:txBody>
          <a:bodyPr/>
          <a:lstStyle>
            <a:lvl1pPr marL="342900" indent="-342900">
              <a:lnSpc>
                <a:spcPct val="114000"/>
              </a:lnSpc>
              <a:buClr>
                <a:schemeClr val="accent4">
                  <a:lumMod val="75000"/>
                </a:schemeClr>
              </a:buClr>
              <a:buFont typeface="Arial" pitchFamily="34" charset="0"/>
              <a:buChar char="•"/>
              <a:defRPr i="0">
                <a:solidFill>
                  <a:schemeClr val="accent4">
                    <a:lumMod val="50000"/>
                  </a:schemeClr>
                </a:solidFill>
              </a:defRPr>
            </a:lvl1pPr>
            <a:lvl2pPr>
              <a:lnSpc>
                <a:spcPct val="114000"/>
              </a:lnSpc>
              <a:buClr>
                <a:schemeClr val="accent4">
                  <a:lumMod val="75000"/>
                </a:schemeClr>
              </a:buClr>
              <a:defRPr>
                <a:solidFill>
                  <a:schemeClr val="accent4">
                    <a:lumMod val="50000"/>
                  </a:schemeClr>
                </a:solidFill>
              </a:defRPr>
            </a:lvl2pPr>
            <a:lvl3pPr>
              <a:lnSpc>
                <a:spcPct val="114000"/>
              </a:lnSpc>
              <a:buClr>
                <a:schemeClr val="accent4">
                  <a:lumMod val="75000"/>
                </a:schemeClr>
              </a:buClr>
              <a:defRPr>
                <a:solidFill>
                  <a:schemeClr val="accent4">
                    <a:lumMod val="50000"/>
                  </a:schemeClr>
                </a:solidFil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14143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image" Target="../media/image2.png"/><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theme" Target="../theme/theme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5FC1372-5585-4C63-A11E-9A6B7B874E0B}" type="datetimeFigureOut">
              <a:rPr lang="en-US" smtClean="0"/>
              <a:t>7/21/2022</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9700B71-0E25-4AD9-8A5F-C984458AB1BA}" type="slidenum">
              <a:rPr lang="en-US" smtClean="0"/>
              <a:t>‹Nr.›</a:t>
            </a:fld>
            <a:endParaRPr lang="en-US"/>
          </a:p>
        </p:txBody>
      </p:sp>
      <p:sp>
        <p:nvSpPr>
          <p:cNvPr id="7" name="Slide Number Placeholder 1"/>
          <p:cNvSpPr txBox="1">
            <a:spLocks/>
          </p:cNvSpPr>
          <p:nvPr userDrawn="1"/>
        </p:nvSpPr>
        <p:spPr>
          <a:xfrm>
            <a:off x="395536" y="4803998"/>
            <a:ext cx="2133600" cy="273844"/>
          </a:xfrm>
          <a:prstGeom prst="rect">
            <a:avLst/>
          </a:prstGeom>
        </p:spPr>
        <p:txBody>
          <a:bodyPr vert="horz" lIns="91440" tIns="0" rIns="91440" bIns="0" rtlCol="0" anchor="ctr"/>
          <a:lstStyle>
            <a:defPPr>
              <a:defRPr lang="en-GB"/>
            </a:defPPr>
            <a:lvl1pPr marL="0" indent="0" algn="r" rtl="0" fontAlgn="base">
              <a:spcBef>
                <a:spcPct val="0"/>
              </a:spcBef>
              <a:spcAft>
                <a:spcPct val="0"/>
              </a:spcAft>
              <a:buClr>
                <a:srgbClr val="33ACE3"/>
              </a:buClr>
              <a:buFont typeface="Arial"/>
              <a:buNone/>
              <a:defRPr sz="1200" kern="1200">
                <a:solidFill>
                  <a:srgbClr val="164194"/>
                </a:solidFill>
                <a:latin typeface="Verdana" pitchFamily="34" charset="0"/>
                <a:ea typeface="+mn-ea"/>
                <a:cs typeface="+mn-cs"/>
              </a:defRPr>
            </a:lvl1pPr>
            <a:lvl2pPr marL="457200" algn="l" rtl="0" fontAlgn="base">
              <a:spcBef>
                <a:spcPct val="0"/>
              </a:spcBef>
              <a:spcAft>
                <a:spcPct val="0"/>
              </a:spcAft>
              <a:defRPr sz="1200" kern="1200">
                <a:solidFill>
                  <a:srgbClr val="0F5494"/>
                </a:solidFill>
                <a:latin typeface="Verdana" pitchFamily="34" charset="0"/>
                <a:ea typeface="+mn-ea"/>
                <a:cs typeface="+mn-cs"/>
              </a:defRPr>
            </a:lvl2pPr>
            <a:lvl3pPr marL="914400" algn="l" rtl="0" fontAlgn="base">
              <a:spcBef>
                <a:spcPct val="0"/>
              </a:spcBef>
              <a:spcAft>
                <a:spcPct val="0"/>
              </a:spcAft>
              <a:defRPr sz="1200" kern="1200">
                <a:solidFill>
                  <a:srgbClr val="0F5494"/>
                </a:solidFill>
                <a:latin typeface="Verdana" pitchFamily="34" charset="0"/>
                <a:ea typeface="+mn-ea"/>
                <a:cs typeface="+mn-cs"/>
              </a:defRPr>
            </a:lvl3pPr>
            <a:lvl4pPr marL="1371600" algn="l" rtl="0" fontAlgn="base">
              <a:spcBef>
                <a:spcPct val="0"/>
              </a:spcBef>
              <a:spcAft>
                <a:spcPct val="0"/>
              </a:spcAft>
              <a:defRPr sz="1200" kern="1200">
                <a:solidFill>
                  <a:srgbClr val="0F5494"/>
                </a:solidFill>
                <a:latin typeface="Verdana" pitchFamily="34" charset="0"/>
                <a:ea typeface="+mn-ea"/>
                <a:cs typeface="+mn-cs"/>
              </a:defRPr>
            </a:lvl4pPr>
            <a:lvl5pPr marL="1828800" algn="l" rtl="0" fontAlgn="base">
              <a:spcBef>
                <a:spcPct val="0"/>
              </a:spcBef>
              <a:spcAft>
                <a:spcPct val="0"/>
              </a:spcAft>
              <a:defRPr sz="1200" kern="1200">
                <a:solidFill>
                  <a:srgbClr val="0F5494"/>
                </a:solidFill>
                <a:latin typeface="Verdana" pitchFamily="34" charset="0"/>
                <a:ea typeface="+mn-ea"/>
                <a:cs typeface="+mn-cs"/>
              </a:defRPr>
            </a:lvl5pPr>
            <a:lvl6pPr marL="2286000" algn="l" defTabSz="914400" rtl="0" eaLnBrk="1" latinLnBrk="0" hangingPunct="1">
              <a:defRPr sz="1200" kern="1200">
                <a:solidFill>
                  <a:srgbClr val="0F5494"/>
                </a:solidFill>
                <a:latin typeface="Verdana" pitchFamily="34" charset="0"/>
                <a:ea typeface="+mn-ea"/>
                <a:cs typeface="+mn-cs"/>
              </a:defRPr>
            </a:lvl6pPr>
            <a:lvl7pPr marL="2743200" algn="l" defTabSz="914400" rtl="0" eaLnBrk="1" latinLnBrk="0" hangingPunct="1">
              <a:defRPr sz="1200" kern="1200">
                <a:solidFill>
                  <a:srgbClr val="0F5494"/>
                </a:solidFill>
                <a:latin typeface="Verdana" pitchFamily="34" charset="0"/>
                <a:ea typeface="+mn-ea"/>
                <a:cs typeface="+mn-cs"/>
              </a:defRPr>
            </a:lvl7pPr>
            <a:lvl8pPr marL="3200400" algn="l" defTabSz="914400" rtl="0" eaLnBrk="1" latinLnBrk="0" hangingPunct="1">
              <a:defRPr sz="1200" kern="1200">
                <a:solidFill>
                  <a:srgbClr val="0F5494"/>
                </a:solidFill>
                <a:latin typeface="Verdana" pitchFamily="34" charset="0"/>
                <a:ea typeface="+mn-ea"/>
                <a:cs typeface="+mn-cs"/>
              </a:defRPr>
            </a:lvl8pPr>
            <a:lvl9pPr marL="3657600" algn="l" defTabSz="914400" rtl="0" eaLnBrk="1" latinLnBrk="0" hangingPunct="1">
              <a:defRPr sz="1200" kern="1200">
                <a:solidFill>
                  <a:srgbClr val="0F5494"/>
                </a:solidFill>
                <a:latin typeface="Verdana" pitchFamily="34" charset="0"/>
                <a:ea typeface="+mn-ea"/>
                <a:cs typeface="+mn-cs"/>
              </a:defRPr>
            </a:lvl9pPr>
          </a:lstStyle>
          <a:p>
            <a:pPr algn="l"/>
            <a:fld id="{416CF0FB-56F5-7340-B552-B5CF2D5EAED5}" type="slidenum">
              <a:rPr lang="en-US" smtClean="0">
                <a:solidFill>
                  <a:srgbClr val="7F7F7F"/>
                </a:solidFill>
              </a:rPr>
              <a:pPr algn="l"/>
              <a:t>‹Nr.›</a:t>
            </a:fld>
            <a:endParaRPr lang="en-US" dirty="0">
              <a:solidFill>
                <a:srgbClr val="7F7F7F"/>
              </a:solidFill>
            </a:endParaRPr>
          </a:p>
        </p:txBody>
      </p:sp>
      <p:pic>
        <p:nvPicPr>
          <p:cNvPr id="8" name="Picture 7" descr="EC-JRC-logo_horizontal_EN_pos_transparent-background.png"/>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7380312" y="4666652"/>
            <a:ext cx="1455117" cy="425377"/>
          </a:xfrm>
          <a:prstGeom prst="rect">
            <a:avLst/>
          </a:prstGeom>
        </p:spPr>
      </p:pic>
      <p:sp>
        <p:nvSpPr>
          <p:cNvPr id="14" name="Rechteck 13">
            <a:extLst>
              <a:ext uri="{FF2B5EF4-FFF2-40B4-BE49-F238E27FC236}">
                <a16:creationId xmlns:a16="http://schemas.microsoft.com/office/drawing/2014/main" id="{488890AE-ACCD-4008-929B-9CFD54A03D80}"/>
              </a:ext>
            </a:extLst>
          </p:cNvPr>
          <p:cNvSpPr/>
          <p:nvPr userDrawn="1"/>
        </p:nvSpPr>
        <p:spPr>
          <a:xfrm>
            <a:off x="8687543" y="4778821"/>
            <a:ext cx="72008" cy="273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13" name="Gerader Verbinder 12">
            <a:extLst>
              <a:ext uri="{FF2B5EF4-FFF2-40B4-BE49-F238E27FC236}">
                <a16:creationId xmlns:a16="http://schemas.microsoft.com/office/drawing/2014/main" id="{41E95813-8726-4735-A5C1-8E137EDF3568}"/>
              </a:ext>
            </a:extLst>
          </p:cNvPr>
          <p:cNvCxnSpPr>
            <a:cxnSpLocks/>
          </p:cNvCxnSpPr>
          <p:nvPr userDrawn="1"/>
        </p:nvCxnSpPr>
        <p:spPr>
          <a:xfrm>
            <a:off x="8723511" y="4850766"/>
            <a:ext cx="0" cy="190800"/>
          </a:xfrm>
          <a:prstGeom prst="line">
            <a:avLst/>
          </a:prstGeom>
          <a:ln w="12700">
            <a:solidFill>
              <a:srgbClr val="034EA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2D95695-F815-439B-A983-809DCE61729E}"/>
              </a:ext>
            </a:extLst>
          </p:cNvPr>
          <p:cNvCxnSpPr/>
          <p:nvPr userDrawn="1"/>
        </p:nvCxnSpPr>
        <p:spPr>
          <a:xfrm>
            <a:off x="626308" y="-7375"/>
            <a:ext cx="0" cy="96480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35307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53" r:id="rId12"/>
    <p:sldLayoutId id="2147483661" r:id="rId13"/>
    <p:sldLayoutId id="2147483650" r:id="rId14"/>
    <p:sldLayoutId id="2147483652" r:id="rId15"/>
    <p:sldLayoutId id="2147483655" r:id="rId16"/>
    <p:sldLayoutId id="2147483656" r:id="rId17"/>
    <p:sldLayoutId id="2147483659" r:id="rId18"/>
    <p:sldLayoutId id="2147483654" r:id="rId19"/>
    <p:sldLayoutId id="2147483660" r:id="rId20"/>
    <p:sldLayoutId id="2147483667" r:id="rId2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2145"/>
            <a:ext cx="7886700" cy="586768"/>
          </a:xfrm>
          <a:prstGeom prst="rect">
            <a:avLst/>
          </a:prstGeom>
        </p:spPr>
        <p:txBody>
          <a:bodyPr vert="horz" lIns="91440" tIns="45720" rIns="91440" bIns="0" rtlCol="0" anchor="b"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628650" y="1369219"/>
            <a:ext cx="7886700" cy="2911428"/>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628650" y="4598465"/>
            <a:ext cx="2057400" cy="273844"/>
          </a:xfrm>
          <a:prstGeom prst="rect">
            <a:avLst/>
          </a:prstGeom>
        </p:spPr>
        <p:txBody>
          <a:bodyPr vert="horz" lIns="91440" tIns="45720" rIns="91440" bIns="45720" rtlCol="0" anchor="ctr">
            <a:noAutofit/>
          </a:bodyPr>
          <a:lstStyle>
            <a:lvl1pPr algn="l">
              <a:defRPr sz="900">
                <a:solidFill>
                  <a:schemeClr val="tx1">
                    <a:tint val="75000"/>
                  </a:schemeClr>
                </a:solidFill>
              </a:defRPr>
            </a:lvl1pPr>
          </a:lstStyle>
          <a:p>
            <a:fld id="{F46C79FD-C571-418B-AB0F-5EE936C85276}" type="slidenum">
              <a:rPr lang="en-GB" smtClean="0"/>
              <a:pPr/>
              <a:t>‹Nr.›</a:t>
            </a:fld>
            <a:endParaRPr lang="en-GB" dirty="0"/>
          </a:p>
        </p:txBody>
      </p:sp>
      <p:pic>
        <p:nvPicPr>
          <p:cNvPr id="7" name="Picture 6"/>
          <p:cNvPicPr>
            <a:picLocks noChangeAspect="1"/>
          </p:cNvPicPr>
          <p:nvPr userDrawn="1"/>
        </p:nvPicPr>
        <p:blipFill>
          <a:blip r:embed="rId25" cstate="print">
            <a:extLst>
              <a:ext uri="{28A0092B-C50C-407E-A947-70E740481C1C}">
                <a14:useLocalDpi xmlns:a14="http://schemas.microsoft.com/office/drawing/2010/main"/>
              </a:ext>
            </a:extLst>
          </a:blip>
          <a:stretch>
            <a:fillRect/>
          </a:stretch>
        </p:blipFill>
        <p:spPr>
          <a:xfrm>
            <a:off x="7525389" y="4534492"/>
            <a:ext cx="1286800" cy="337817"/>
          </a:xfrm>
          <a:prstGeom prst="rect">
            <a:avLst/>
          </a:prstGeom>
        </p:spPr>
      </p:pic>
    </p:spTree>
    <p:extLst>
      <p:ext uri="{BB962C8B-B14F-4D97-AF65-F5344CB8AC3E}">
        <p14:creationId xmlns:p14="http://schemas.microsoft.com/office/powerpoint/2010/main" val="298933204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Lst>
  <p:hf sldNum="0" hdr="0" ftr="0" dt="0"/>
  <p:txStyles>
    <p:titleStyle>
      <a:lvl1pPr algn="l" defTabSz="685800" rtl="0" eaLnBrk="1" latinLnBrk="0" hangingPunct="1">
        <a:lnSpc>
          <a:spcPct val="90000"/>
        </a:lnSpc>
        <a:spcBef>
          <a:spcPct val="0"/>
        </a:spcBef>
        <a:buNone/>
        <a:defRPr sz="3000" kern="1200">
          <a:solidFill>
            <a:schemeClr val="tx2"/>
          </a:solidFill>
          <a:latin typeface="+mj-lt"/>
          <a:ea typeface="+mj-ea"/>
          <a:cs typeface="+mj-cs"/>
        </a:defRPr>
      </a:lvl1pPr>
    </p:titleStyle>
    <p:bodyStyle>
      <a:lvl1pPr marL="171450" indent="-171450" algn="l" defTabSz="685800" rtl="0" eaLnBrk="1" latinLnBrk="0" hangingPunct="1">
        <a:lnSpc>
          <a:spcPct val="100000"/>
        </a:lnSpc>
        <a:spcBef>
          <a:spcPts val="0"/>
        </a:spcBef>
        <a:spcAft>
          <a:spcPts val="1350"/>
        </a:spcAft>
        <a:buClr>
          <a:schemeClr val="tx2"/>
        </a:buClr>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spcAft>
          <a:spcPts val="1350"/>
        </a:spcAft>
        <a:buClr>
          <a:schemeClr val="tx2"/>
        </a:buClr>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spcAft>
          <a:spcPts val="1350"/>
        </a:spcAft>
        <a:buClr>
          <a:schemeClr val="tx2"/>
        </a:buClr>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spcAft>
          <a:spcPts val="1350"/>
        </a:spcAft>
        <a:buClr>
          <a:schemeClr val="tx2"/>
        </a:buClr>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spcAft>
          <a:spcPts val="1350"/>
        </a:spcAft>
        <a:buClr>
          <a:schemeClr val="tx2"/>
        </a:buClr>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ka.ms/vs/17/release/vc_redist.x86.ex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aka.ms/vs/17/release/vc_redist.x64.ex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643906E1-03F5-4B35-B981-9A728B0BC861}"/>
              </a:ext>
            </a:extLst>
          </p:cNvPr>
          <p:cNvSpPr>
            <a:spLocks noGrp="1"/>
          </p:cNvSpPr>
          <p:nvPr>
            <p:ph type="subTitle" idx="1"/>
          </p:nvPr>
        </p:nvSpPr>
        <p:spPr/>
        <p:txBody>
          <a:bodyPr/>
          <a:lstStyle/>
          <a:p>
            <a:r>
              <a:rPr lang="de-AT" sz="3200"/>
              <a:t>User Manual Version 0.9.0</a:t>
            </a:r>
            <a:endParaRPr lang="de-AT" sz="3200" dirty="0"/>
          </a:p>
        </p:txBody>
      </p:sp>
      <p:sp>
        <p:nvSpPr>
          <p:cNvPr id="10" name="Textplatzhalter 9">
            <a:extLst>
              <a:ext uri="{FF2B5EF4-FFF2-40B4-BE49-F238E27FC236}">
                <a16:creationId xmlns:a16="http://schemas.microsoft.com/office/drawing/2014/main" id="{1DA4AB2C-897E-429D-886D-62E84B4F2140}"/>
              </a:ext>
            </a:extLst>
          </p:cNvPr>
          <p:cNvSpPr>
            <a:spLocks noGrp="1"/>
          </p:cNvSpPr>
          <p:nvPr>
            <p:ph type="body" sz="quarter" idx="13"/>
          </p:nvPr>
        </p:nvSpPr>
        <p:spPr/>
        <p:txBody>
          <a:bodyPr/>
          <a:lstStyle/>
          <a:p>
            <a:r>
              <a:rPr lang="hu-HU" dirty="0"/>
              <a:t>DG CLIMA</a:t>
            </a:r>
            <a:endParaRPr lang="en-GB" dirty="0"/>
          </a:p>
          <a:p>
            <a:endParaRPr lang="de-AT" dirty="0"/>
          </a:p>
        </p:txBody>
      </p:sp>
      <p:sp>
        <p:nvSpPr>
          <p:cNvPr id="12" name="Titel 11">
            <a:extLst>
              <a:ext uri="{FF2B5EF4-FFF2-40B4-BE49-F238E27FC236}">
                <a16:creationId xmlns:a16="http://schemas.microsoft.com/office/drawing/2014/main" id="{57C9C963-1338-4384-8338-53441C48A740}"/>
              </a:ext>
            </a:extLst>
          </p:cNvPr>
          <p:cNvSpPr>
            <a:spLocks noGrp="1"/>
          </p:cNvSpPr>
          <p:nvPr>
            <p:ph type="ctrTitle"/>
          </p:nvPr>
        </p:nvSpPr>
        <p:spPr/>
        <p:txBody>
          <a:bodyPr/>
          <a:lstStyle/>
          <a:p>
            <a:r>
              <a:rPr lang="hu-HU" dirty="0"/>
              <a:t>VECTO Trailer Tool</a:t>
            </a:r>
            <a:endParaRPr lang="de-AT" dirty="0"/>
          </a:p>
        </p:txBody>
      </p:sp>
    </p:spTree>
    <p:extLst>
      <p:ext uri="{BB962C8B-B14F-4D97-AF65-F5344CB8AC3E}">
        <p14:creationId xmlns:p14="http://schemas.microsoft.com/office/powerpoint/2010/main" val="1121371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362145"/>
            <a:ext cx="7966248" cy="586768"/>
          </a:xfrm>
          <a:ln>
            <a:noFill/>
          </a:ln>
        </p:spPr>
        <p:txBody>
          <a:bodyPr>
            <a:normAutofit/>
          </a:bodyPr>
          <a:lstStyle/>
          <a:p>
            <a:r>
              <a:rPr lang="en-US">
                <a:solidFill>
                  <a:srgbClr val="034EA2"/>
                </a:solidFill>
              </a:rPr>
              <a:t>About this release version</a:t>
            </a:r>
            <a:endParaRPr lang="en-US" dirty="0">
              <a:solidFill>
                <a:srgbClr val="034EA2"/>
              </a:solidFill>
            </a:endParaRPr>
          </a:p>
        </p:txBody>
      </p:sp>
      <p:sp>
        <p:nvSpPr>
          <p:cNvPr id="4" name="Inhaltsplatzhalter 3"/>
          <p:cNvSpPr>
            <a:spLocks noGrp="1"/>
          </p:cNvSpPr>
          <p:nvPr>
            <p:ph idx="1"/>
          </p:nvPr>
        </p:nvSpPr>
        <p:spPr>
          <a:xfrm>
            <a:off x="457200" y="1203599"/>
            <a:ext cx="8229600" cy="3718839"/>
          </a:xfrm>
          <a:noFill/>
        </p:spPr>
        <p:txBody>
          <a:bodyPr wrap="square" rtlCol="0">
            <a:spAutoFit/>
          </a:bodyPr>
          <a:lstStyle/>
          <a:p>
            <a:pPr marL="355600" defTabSz="457200">
              <a:buClr>
                <a:srgbClr val="034EA2"/>
              </a:buClr>
            </a:pPr>
            <a:r>
              <a:rPr lang="en-US" sz="1600">
                <a:solidFill>
                  <a:schemeClr val="tx1"/>
                </a:solidFill>
              </a:rPr>
              <a:t>This release is a feature complete version of the VECTO Trailer Tool for the first implementation of the </a:t>
            </a:r>
            <a:r>
              <a:rPr lang="en-US" sz="1600">
                <a:solidFill>
                  <a:schemeClr val="tx1"/>
                </a:solidFill>
                <a:latin typeface="Times New Roman" panose="02020603050405020304" pitchFamily="18" charset="0"/>
                <a:cs typeface="Times New Roman" panose="02020603050405020304" pitchFamily="18" charset="0"/>
              </a:rPr>
              <a:t>Regulation as regards the performance of heavy-duty trailers with regard to their influence on the CO</a:t>
            </a:r>
            <a:r>
              <a:rPr lang="en-US" sz="1600" baseline="-25000">
                <a:solidFill>
                  <a:schemeClr val="tx1"/>
                </a:solidFill>
                <a:latin typeface="Times New Roman" panose="02020603050405020304" pitchFamily="18" charset="0"/>
                <a:cs typeface="Times New Roman" panose="02020603050405020304" pitchFamily="18" charset="0"/>
              </a:rPr>
              <a:t>2</a:t>
            </a:r>
            <a:r>
              <a:rPr lang="en-US" sz="1600">
                <a:solidFill>
                  <a:schemeClr val="tx1"/>
                </a:solidFill>
                <a:latin typeface="Times New Roman" panose="02020603050405020304" pitchFamily="18" charset="0"/>
                <a:cs typeface="Times New Roman" panose="02020603050405020304" pitchFamily="18" charset="0"/>
              </a:rPr>
              <a:t> emissions, fuel consumption, energy consumption and zero emission range of motor vehicles and amending Implementing Regulation (EU) 2020/683</a:t>
            </a:r>
          </a:p>
          <a:p>
            <a:pPr marL="355600" defTabSz="457200">
              <a:buClr>
                <a:srgbClr val="034EA2"/>
              </a:buClr>
            </a:pPr>
            <a:r>
              <a:rPr lang="en-US" sz="1600" b="1">
                <a:solidFill>
                  <a:schemeClr val="tx1"/>
                </a:solidFill>
              </a:rPr>
              <a:t>This is not yet an official version</a:t>
            </a:r>
            <a:r>
              <a:rPr lang="en-US" sz="1600">
                <a:solidFill>
                  <a:schemeClr val="tx1"/>
                </a:solidFill>
              </a:rPr>
              <a:t>, as the standard values for </a:t>
            </a:r>
            <a:r>
              <a:rPr lang="el-GR" sz="1600">
                <a:solidFill>
                  <a:schemeClr val="tx1"/>
                </a:solidFill>
              </a:rPr>
              <a:t>Δ</a:t>
            </a:r>
            <a:r>
              <a:rPr lang="en-US" sz="1600">
                <a:solidFill>
                  <a:schemeClr val="tx1"/>
                </a:solidFill>
              </a:rPr>
              <a:t>CdxA reduction rates for aero features on DB and DC trailers are still not fixed. </a:t>
            </a:r>
          </a:p>
          <a:p>
            <a:pPr marL="355600" defTabSz="457200">
              <a:buClr>
                <a:srgbClr val="034EA2"/>
              </a:buClr>
            </a:pPr>
            <a:r>
              <a:rPr lang="en-US" sz="1600">
                <a:solidFill>
                  <a:schemeClr val="tx1"/>
                </a:solidFill>
              </a:rPr>
              <a:t>In this respect, placeholder values are implemented in the present version (details see slides 38 and 39).</a:t>
            </a:r>
          </a:p>
          <a:p>
            <a:pPr marL="355600" defTabSz="457200">
              <a:buClr>
                <a:srgbClr val="034EA2"/>
              </a:buClr>
            </a:pPr>
            <a:r>
              <a:rPr lang="en-US" sz="1600" b="1">
                <a:solidFill>
                  <a:schemeClr val="tx1"/>
                </a:solidFill>
              </a:rPr>
              <a:t>Any official calculations carried out after the regulation has come into force must be carried out with subsequent official releases!</a:t>
            </a:r>
            <a:endParaRPr lang="en-GB" sz="1600" b="1">
              <a:solidFill>
                <a:schemeClr val="tx1"/>
              </a:solidFill>
            </a:endParaRPr>
          </a:p>
        </p:txBody>
      </p:sp>
    </p:spTree>
    <p:extLst>
      <p:ext uri="{BB962C8B-B14F-4D97-AF65-F5344CB8AC3E}">
        <p14:creationId xmlns:p14="http://schemas.microsoft.com/office/powerpoint/2010/main" val="3874012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362145"/>
            <a:ext cx="7966248" cy="586768"/>
          </a:xfrm>
          <a:ln>
            <a:noFill/>
          </a:ln>
        </p:spPr>
        <p:txBody>
          <a:bodyPr>
            <a:normAutofit/>
          </a:bodyPr>
          <a:lstStyle/>
          <a:p>
            <a:r>
              <a:rPr lang="en-US" dirty="0">
                <a:solidFill>
                  <a:srgbClr val="034EA2"/>
                </a:solidFill>
              </a:rPr>
              <a:t>Content</a:t>
            </a:r>
          </a:p>
        </p:txBody>
      </p:sp>
      <p:sp>
        <p:nvSpPr>
          <p:cNvPr id="3" name="Inhaltsplatzhalter 2"/>
          <p:cNvSpPr>
            <a:spLocks noGrp="1"/>
          </p:cNvSpPr>
          <p:nvPr>
            <p:ph idx="1"/>
          </p:nvPr>
        </p:nvSpPr>
        <p:spPr>
          <a:xfrm>
            <a:off x="626308" y="1203598"/>
            <a:ext cx="8060492" cy="3744416"/>
          </a:xfrm>
        </p:spPr>
        <p:txBody>
          <a:bodyPr>
            <a:normAutofit fontScale="62500" lnSpcReduction="20000"/>
          </a:bodyPr>
          <a:lstStyle/>
          <a:p>
            <a:pPr>
              <a:spcBef>
                <a:spcPts val="400"/>
              </a:spcBef>
            </a:pPr>
            <a:r>
              <a:rPr lang="en-US" sz="1800" dirty="0">
                <a:solidFill>
                  <a:schemeClr val="tx1"/>
                </a:solidFill>
              </a:rPr>
              <a:t>References to information in Technical Annexes of the Trailer Regulation</a:t>
            </a:r>
          </a:p>
          <a:p>
            <a:pPr>
              <a:spcBef>
                <a:spcPts val="400"/>
              </a:spcBef>
            </a:pPr>
            <a:r>
              <a:rPr lang="en-US" sz="1800" dirty="0">
                <a:solidFill>
                  <a:schemeClr val="tx1"/>
                </a:solidFill>
              </a:rPr>
              <a:t>VECTO Trailer Tool</a:t>
            </a:r>
          </a:p>
          <a:p>
            <a:pPr lvl="1">
              <a:spcBef>
                <a:spcPts val="200"/>
              </a:spcBef>
            </a:pPr>
            <a:r>
              <a:rPr lang="en-US" sz="1500" dirty="0">
                <a:solidFill>
                  <a:schemeClr val="tx1"/>
                </a:solidFill>
              </a:rPr>
              <a:t>Platform requirements and installation options</a:t>
            </a:r>
          </a:p>
          <a:p>
            <a:pPr lvl="1">
              <a:spcBef>
                <a:spcPts val="200"/>
              </a:spcBef>
            </a:pPr>
            <a:r>
              <a:rPr lang="en-US" sz="1500" dirty="0">
                <a:solidFill>
                  <a:schemeClr val="tx1"/>
                </a:solidFill>
              </a:rPr>
              <a:t>Software package</a:t>
            </a:r>
          </a:p>
          <a:p>
            <a:pPr lvl="1">
              <a:spcBef>
                <a:spcPts val="200"/>
              </a:spcBef>
            </a:pPr>
            <a:r>
              <a:rPr lang="en-US" sz="1500" dirty="0" err="1">
                <a:solidFill>
                  <a:schemeClr val="tx1"/>
                </a:solidFill>
              </a:rPr>
              <a:t>JobFiles</a:t>
            </a:r>
            <a:r>
              <a:rPr lang="en-US" sz="1500" dirty="0">
                <a:solidFill>
                  <a:schemeClr val="tx1"/>
                </a:solidFill>
              </a:rPr>
              <a:t> GUI</a:t>
            </a:r>
          </a:p>
          <a:p>
            <a:pPr lvl="1">
              <a:spcBef>
                <a:spcPts val="200"/>
              </a:spcBef>
            </a:pPr>
            <a:r>
              <a:rPr lang="en-US" sz="1500" dirty="0">
                <a:solidFill>
                  <a:schemeClr val="tx1"/>
                </a:solidFill>
              </a:rPr>
              <a:t>Options GUI</a:t>
            </a:r>
          </a:p>
          <a:p>
            <a:pPr lvl="1">
              <a:spcBef>
                <a:spcPts val="200"/>
              </a:spcBef>
            </a:pPr>
            <a:r>
              <a:rPr lang="en-US" sz="1500" dirty="0">
                <a:solidFill>
                  <a:schemeClr val="tx1"/>
                </a:solidFill>
              </a:rPr>
              <a:t>Background worker</a:t>
            </a:r>
          </a:p>
          <a:p>
            <a:pPr lvl="1">
              <a:spcBef>
                <a:spcPts val="200"/>
              </a:spcBef>
            </a:pPr>
            <a:r>
              <a:rPr lang="en-US" sz="1500" dirty="0">
                <a:solidFill>
                  <a:schemeClr val="tx1"/>
                </a:solidFill>
              </a:rPr>
              <a:t>How to create or edit trailer job</a:t>
            </a:r>
          </a:p>
          <a:p>
            <a:pPr lvl="1">
              <a:spcBef>
                <a:spcPts val="200"/>
              </a:spcBef>
            </a:pPr>
            <a:r>
              <a:rPr lang="en-US" sz="1500" dirty="0">
                <a:solidFill>
                  <a:schemeClr val="tx1"/>
                </a:solidFill>
              </a:rPr>
              <a:t>Result files</a:t>
            </a:r>
          </a:p>
          <a:p>
            <a:pPr lvl="1">
              <a:spcBef>
                <a:spcPts val="200"/>
              </a:spcBef>
            </a:pPr>
            <a:r>
              <a:rPr lang="en-US" sz="1500" dirty="0">
                <a:solidFill>
                  <a:schemeClr val="tx1"/>
                </a:solidFill>
              </a:rPr>
              <a:t>What is the “Efficiency ratio”?</a:t>
            </a:r>
          </a:p>
          <a:p>
            <a:pPr lvl="1">
              <a:spcBef>
                <a:spcPts val="200"/>
              </a:spcBef>
            </a:pPr>
            <a:r>
              <a:rPr lang="en-US" sz="1500" dirty="0">
                <a:solidFill>
                  <a:schemeClr val="tx1"/>
                </a:solidFill>
              </a:rPr>
              <a:t>What is the “Reference </a:t>
            </a:r>
            <a:r>
              <a:rPr lang="en-US" sz="1500">
                <a:solidFill>
                  <a:schemeClr val="tx1"/>
                </a:solidFill>
              </a:rPr>
              <a:t>ratio”?</a:t>
            </a:r>
          </a:p>
          <a:p>
            <a:pPr lvl="1">
              <a:spcBef>
                <a:spcPts val="200"/>
              </a:spcBef>
            </a:pPr>
            <a:r>
              <a:rPr lang="en-US" sz="1500">
                <a:solidFill>
                  <a:schemeClr val="tx1"/>
                </a:solidFill>
              </a:rPr>
              <a:t>Hashing</a:t>
            </a:r>
          </a:p>
          <a:p>
            <a:pPr lvl="1">
              <a:spcBef>
                <a:spcPts val="200"/>
              </a:spcBef>
            </a:pPr>
            <a:r>
              <a:rPr lang="en-US" sz="1500">
                <a:solidFill>
                  <a:schemeClr val="tx1"/>
                </a:solidFill>
              </a:rPr>
              <a:t>Plausibility checks</a:t>
            </a:r>
          </a:p>
          <a:p>
            <a:pPr lvl="1">
              <a:spcBef>
                <a:spcPts val="200"/>
              </a:spcBef>
            </a:pPr>
            <a:r>
              <a:rPr lang="en-US" sz="1500">
                <a:solidFill>
                  <a:schemeClr val="tx1"/>
                </a:solidFill>
              </a:rPr>
              <a:t>Options for automation</a:t>
            </a:r>
            <a:endParaRPr lang="en-US" sz="1500" dirty="0">
              <a:solidFill>
                <a:schemeClr val="tx1"/>
              </a:solidFill>
            </a:endParaRPr>
          </a:p>
          <a:p>
            <a:pPr>
              <a:spcBef>
                <a:spcPts val="400"/>
              </a:spcBef>
            </a:pPr>
            <a:r>
              <a:rPr lang="en-US" sz="1800">
                <a:solidFill>
                  <a:schemeClr val="tx1"/>
                </a:solidFill>
              </a:rPr>
              <a:t>Handling of aerodynamic devices</a:t>
            </a:r>
          </a:p>
          <a:p>
            <a:pPr lvl="1">
              <a:spcBef>
                <a:spcPts val="200"/>
              </a:spcBef>
            </a:pPr>
            <a:r>
              <a:rPr lang="en-US" sz="1500">
                <a:solidFill>
                  <a:schemeClr val="tx1"/>
                </a:solidFill>
              </a:rPr>
              <a:t>Generation </a:t>
            </a:r>
            <a:r>
              <a:rPr lang="en-US" sz="1500" dirty="0">
                <a:solidFill>
                  <a:schemeClr val="tx1"/>
                </a:solidFill>
              </a:rPr>
              <a:t>of input XML for a certified aero </a:t>
            </a:r>
            <a:r>
              <a:rPr lang="en-US" sz="1500">
                <a:solidFill>
                  <a:schemeClr val="tx1"/>
                </a:solidFill>
              </a:rPr>
              <a:t>device </a:t>
            </a:r>
          </a:p>
          <a:p>
            <a:pPr lvl="1">
              <a:spcBef>
                <a:spcPts val="200"/>
              </a:spcBef>
            </a:pPr>
            <a:r>
              <a:rPr lang="en-US" sz="1500">
                <a:solidFill>
                  <a:schemeClr val="tx1"/>
                </a:solidFill>
              </a:rPr>
              <a:t>Standard aerodynamic devices: Reduction values and allowed configurations</a:t>
            </a:r>
          </a:p>
          <a:p>
            <a:pPr>
              <a:spcBef>
                <a:spcPts val="200"/>
              </a:spcBef>
            </a:pPr>
            <a:r>
              <a:rPr lang="en-US" sz="1800">
                <a:solidFill>
                  <a:schemeClr val="tx1"/>
                </a:solidFill>
              </a:rPr>
              <a:t>Handling of liftable and steered axles</a:t>
            </a:r>
          </a:p>
          <a:p>
            <a:pPr lvl="1">
              <a:spcBef>
                <a:spcPts val="200"/>
              </a:spcBef>
            </a:pPr>
            <a:r>
              <a:rPr lang="en-US" sz="1500">
                <a:solidFill>
                  <a:schemeClr val="tx1"/>
                </a:solidFill>
              </a:rPr>
              <a:t>Bonus factors</a:t>
            </a:r>
          </a:p>
          <a:p>
            <a:pPr lvl="1">
              <a:spcBef>
                <a:spcPts val="200"/>
              </a:spcBef>
            </a:pPr>
            <a:r>
              <a:rPr lang="en-US" sz="1500">
                <a:solidFill>
                  <a:schemeClr val="tx1"/>
                </a:solidFill>
              </a:rPr>
              <a:t>Rules for multiple liftable and/or steered axles</a:t>
            </a:r>
            <a:endParaRPr lang="en-US" sz="1500" dirty="0">
              <a:solidFill>
                <a:schemeClr val="tx1"/>
              </a:solidFill>
            </a:endParaRPr>
          </a:p>
          <a:p>
            <a:pPr>
              <a:spcBef>
                <a:spcPts val="400"/>
              </a:spcBef>
            </a:pPr>
            <a:r>
              <a:rPr lang="en-US" sz="1800" dirty="0">
                <a:solidFill>
                  <a:schemeClr val="tx1"/>
                </a:solidFill>
              </a:rPr>
              <a:t>Overview content of VECTO Trailer Tool </a:t>
            </a:r>
            <a:r>
              <a:rPr lang="en-US" sz="1800" dirty="0" err="1">
                <a:solidFill>
                  <a:schemeClr val="tx1"/>
                </a:solidFill>
              </a:rPr>
              <a:t>Masterexcel</a:t>
            </a:r>
            <a:endParaRPr lang="en-GB" sz="1800" dirty="0">
              <a:solidFill>
                <a:schemeClr val="tx1"/>
              </a:solidFill>
            </a:endParaRPr>
          </a:p>
        </p:txBody>
      </p:sp>
    </p:spTree>
    <p:extLst>
      <p:ext uri="{BB962C8B-B14F-4D97-AF65-F5344CB8AC3E}">
        <p14:creationId xmlns:p14="http://schemas.microsoft.com/office/powerpoint/2010/main" val="3454036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106846"/>
            <a:ext cx="7886700"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References to information in Technical Annexes of the Trailer Regulation</a:t>
            </a:r>
          </a:p>
        </p:txBody>
      </p:sp>
      <p:graphicFrame>
        <p:nvGraphicFramePr>
          <p:cNvPr id="7" name="Tabelle 6">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981231124"/>
              </p:ext>
            </p:extLst>
          </p:nvPr>
        </p:nvGraphicFramePr>
        <p:xfrm>
          <a:off x="467544" y="1117650"/>
          <a:ext cx="8208000" cy="3388360"/>
        </p:xfrm>
        <a:graphic>
          <a:graphicData uri="http://schemas.openxmlformats.org/drawingml/2006/table">
            <a:tbl>
              <a:tblPr firstRow="1" bandRow="1">
                <a:tableStyleId>{5C22544A-7EE6-4342-B048-85BDC9FD1C3A}</a:tableStyleId>
              </a:tblPr>
              <a:tblGrid>
                <a:gridCol w="1182812">
                  <a:extLst>
                    <a:ext uri="{9D8B030D-6E8A-4147-A177-3AD203B41FA5}">
                      <a16:colId xmlns:a16="http://schemas.microsoft.com/office/drawing/2014/main" val="791925895"/>
                    </a:ext>
                  </a:extLst>
                </a:gridCol>
                <a:gridCol w="2273572">
                  <a:extLst>
                    <a:ext uri="{9D8B030D-6E8A-4147-A177-3AD203B41FA5}">
                      <a16:colId xmlns:a16="http://schemas.microsoft.com/office/drawing/2014/main" val="1869676461"/>
                    </a:ext>
                  </a:extLst>
                </a:gridCol>
                <a:gridCol w="4751616">
                  <a:extLst>
                    <a:ext uri="{9D8B030D-6E8A-4147-A177-3AD203B41FA5}">
                      <a16:colId xmlns:a16="http://schemas.microsoft.com/office/drawing/2014/main" val="3290756059"/>
                    </a:ext>
                  </a:extLst>
                </a:gridCol>
              </a:tblGrid>
              <a:tr h="370840">
                <a:tc>
                  <a:txBody>
                    <a:bodyPr/>
                    <a:lstStyle/>
                    <a:p>
                      <a:r>
                        <a:rPr lang="de-AT" sz="1200" dirty="0"/>
                        <a:t>Annex </a:t>
                      </a:r>
                      <a:r>
                        <a:rPr lang="de-AT" sz="1200" dirty="0" err="1"/>
                        <a:t>Number</a:t>
                      </a:r>
                      <a:endParaRPr lang="de-AT" sz="1200" dirty="0"/>
                    </a:p>
                  </a:txBody>
                  <a:tcPr/>
                </a:tc>
                <a:tc>
                  <a:txBody>
                    <a:bodyPr/>
                    <a:lstStyle/>
                    <a:p>
                      <a:r>
                        <a:rPr lang="de-AT" sz="1200"/>
                        <a:t>Title</a:t>
                      </a:r>
                      <a:endParaRPr lang="de-AT" sz="1200" dirty="0"/>
                    </a:p>
                  </a:txBody>
                  <a:tcPr/>
                </a:tc>
                <a:tc>
                  <a:txBody>
                    <a:bodyPr/>
                    <a:lstStyle/>
                    <a:p>
                      <a:r>
                        <a:rPr lang="de-AT" sz="1200" dirty="0"/>
                        <a:t>Further Explanation</a:t>
                      </a:r>
                    </a:p>
                  </a:txBody>
                  <a:tcPr/>
                </a:tc>
                <a:extLst>
                  <a:ext uri="{0D108BD9-81ED-4DB2-BD59-A6C34878D82A}">
                    <a16:rowId xmlns:a16="http://schemas.microsoft.com/office/drawing/2014/main" val="52858787"/>
                  </a:ext>
                </a:extLst>
              </a:tr>
              <a:tr h="370840">
                <a:tc>
                  <a:txBody>
                    <a:bodyPr/>
                    <a:lstStyle/>
                    <a:p>
                      <a:r>
                        <a:rPr lang="de-AT" sz="1200" b="1" dirty="0">
                          <a:solidFill>
                            <a:schemeClr val="bg1"/>
                          </a:solidFill>
                        </a:rPr>
                        <a:t>Annex I</a:t>
                      </a:r>
                    </a:p>
                  </a:txBody>
                  <a:tcPr>
                    <a:solidFill>
                      <a:schemeClr val="accent1"/>
                    </a:solidFill>
                  </a:tcPr>
                </a:tc>
                <a:tc>
                  <a:txBody>
                    <a:bodyPr/>
                    <a:lstStyle/>
                    <a:p>
                      <a:r>
                        <a:rPr lang="en-US" sz="1200" dirty="0"/>
                        <a:t>Classification of vehicles in vehicle groups</a:t>
                      </a:r>
                      <a:endParaRPr lang="de-AT" sz="1200" dirty="0"/>
                    </a:p>
                  </a:txBody>
                  <a:tcPr/>
                </a:tc>
                <a:tc>
                  <a:txBody>
                    <a:bodyPr/>
                    <a:lstStyle/>
                    <a:p>
                      <a:r>
                        <a:rPr lang="de-AT" sz="1200"/>
                        <a:t>Required definitions and classification system for </a:t>
                      </a:r>
                      <a:r>
                        <a:rPr lang="de-AT" sz="1200" dirty="0" err="1"/>
                        <a:t>trailers</a:t>
                      </a:r>
                      <a:r>
                        <a:rPr lang="de-AT" sz="1200" dirty="0"/>
                        <a:t> </a:t>
                      </a:r>
                      <a:r>
                        <a:rPr lang="de-AT" sz="1200" dirty="0" err="1"/>
                        <a:t>covered</a:t>
                      </a:r>
                      <a:r>
                        <a:rPr lang="de-AT" sz="1200" dirty="0"/>
                        <a:t> </a:t>
                      </a:r>
                      <a:r>
                        <a:rPr lang="de-AT" sz="1200" dirty="0" err="1"/>
                        <a:t>by</a:t>
                      </a:r>
                      <a:r>
                        <a:rPr lang="de-AT" sz="1200" dirty="0"/>
                        <a:t> </a:t>
                      </a:r>
                      <a:r>
                        <a:rPr lang="de-AT" sz="1200" err="1"/>
                        <a:t>the</a:t>
                      </a:r>
                      <a:r>
                        <a:rPr lang="de-AT" sz="1200"/>
                        <a:t> Regulation</a:t>
                      </a:r>
                      <a:endParaRPr lang="de-AT" sz="1200" dirty="0"/>
                    </a:p>
                  </a:txBody>
                  <a:tcPr/>
                </a:tc>
                <a:extLst>
                  <a:ext uri="{0D108BD9-81ED-4DB2-BD59-A6C34878D82A}">
                    <a16:rowId xmlns:a16="http://schemas.microsoft.com/office/drawing/2014/main" val="975515952"/>
                  </a:ext>
                </a:extLst>
              </a:tr>
              <a:tr h="370840">
                <a:tc>
                  <a:txBody>
                    <a:bodyPr/>
                    <a:lstStyle/>
                    <a:p>
                      <a:r>
                        <a:rPr lang="de-AT" sz="1200" b="1" dirty="0">
                          <a:solidFill>
                            <a:schemeClr val="bg1"/>
                          </a:solidFill>
                        </a:rPr>
                        <a:t>Annex II</a:t>
                      </a:r>
                    </a:p>
                  </a:txBody>
                  <a:tcPr>
                    <a:solidFill>
                      <a:schemeClr val="accent1"/>
                    </a:solidFill>
                  </a:tcPr>
                </a:tc>
                <a:tc>
                  <a:txBody>
                    <a:bodyPr/>
                    <a:lstStyle/>
                    <a:p>
                      <a:r>
                        <a:rPr lang="de-AT" sz="1200" dirty="0" err="1"/>
                        <a:t>Requirements</a:t>
                      </a:r>
                      <a:r>
                        <a:rPr lang="de-AT" sz="1200" dirty="0"/>
                        <a:t> and </a:t>
                      </a:r>
                      <a:r>
                        <a:rPr lang="de-AT" sz="1200" dirty="0" err="1"/>
                        <a:t>processes</a:t>
                      </a:r>
                      <a:r>
                        <a:rPr lang="de-AT" sz="1200" dirty="0"/>
                        <a:t> </a:t>
                      </a:r>
                      <a:r>
                        <a:rPr lang="de-AT" sz="1200" dirty="0" err="1"/>
                        <a:t>for</a:t>
                      </a:r>
                      <a:r>
                        <a:rPr lang="de-AT" sz="1200" dirty="0"/>
                        <a:t> </a:t>
                      </a:r>
                      <a:r>
                        <a:rPr lang="de-AT" sz="1200" dirty="0" err="1"/>
                        <a:t>the</a:t>
                      </a:r>
                      <a:r>
                        <a:rPr lang="de-AT" sz="1200" dirty="0"/>
                        <a:t> </a:t>
                      </a:r>
                      <a:r>
                        <a:rPr lang="de-AT" sz="1200" dirty="0" err="1"/>
                        <a:t>operation</a:t>
                      </a:r>
                      <a:r>
                        <a:rPr lang="de-AT" sz="1200" dirty="0"/>
                        <a:t> </a:t>
                      </a:r>
                      <a:r>
                        <a:rPr lang="de-AT" sz="1200" dirty="0" err="1"/>
                        <a:t>of</a:t>
                      </a:r>
                      <a:r>
                        <a:rPr lang="de-AT" sz="1200" dirty="0"/>
                        <a:t> </a:t>
                      </a:r>
                      <a:r>
                        <a:rPr lang="de-AT" sz="1200" dirty="0" err="1"/>
                        <a:t>the</a:t>
                      </a:r>
                      <a:r>
                        <a:rPr lang="de-AT" sz="1200" dirty="0"/>
                        <a:t> </a:t>
                      </a:r>
                      <a:r>
                        <a:rPr lang="de-AT" sz="1200" dirty="0" err="1"/>
                        <a:t>simulation</a:t>
                      </a:r>
                      <a:r>
                        <a:rPr lang="de-AT" sz="1200" dirty="0"/>
                        <a:t> </a:t>
                      </a:r>
                      <a:r>
                        <a:rPr lang="de-AT" sz="1200" dirty="0" err="1"/>
                        <a:t>tool</a:t>
                      </a:r>
                      <a:endParaRPr lang="de-AT" sz="1200" dirty="0"/>
                    </a:p>
                  </a:txBody>
                  <a:tcPr/>
                </a:tc>
                <a:tc>
                  <a:txBody>
                    <a:bodyPr/>
                    <a:lstStyle/>
                    <a:p>
                      <a:r>
                        <a:rPr lang="en-US" sz="1200"/>
                        <a:t>Requirements for the process to be able to determine the official values within the framework of trailer regulation by means of the VECTO Trailer Tool </a:t>
                      </a:r>
                      <a:endParaRPr lang="de-AT" sz="1200" dirty="0"/>
                    </a:p>
                  </a:txBody>
                  <a:tcPr/>
                </a:tc>
                <a:extLst>
                  <a:ext uri="{0D108BD9-81ED-4DB2-BD59-A6C34878D82A}">
                    <a16:rowId xmlns:a16="http://schemas.microsoft.com/office/drawing/2014/main" val="4122913343"/>
                  </a:ext>
                </a:extLst>
              </a:tr>
              <a:tr h="370840">
                <a:tc>
                  <a:txBody>
                    <a:bodyPr/>
                    <a:lstStyle/>
                    <a:p>
                      <a:r>
                        <a:rPr lang="de-AT" sz="1200" b="1" dirty="0">
                          <a:solidFill>
                            <a:schemeClr val="bg1"/>
                          </a:solidFill>
                        </a:rPr>
                        <a:t>Annex III</a:t>
                      </a:r>
                    </a:p>
                  </a:txBody>
                  <a:tcPr>
                    <a:solidFill>
                      <a:schemeClr val="accent1"/>
                    </a:solidFill>
                  </a:tcPr>
                </a:tc>
                <a:tc>
                  <a:txBody>
                    <a:bodyPr/>
                    <a:lstStyle/>
                    <a:p>
                      <a:r>
                        <a:rPr lang="de-AT" sz="1200" dirty="0"/>
                        <a:t>Input </a:t>
                      </a:r>
                      <a:r>
                        <a:rPr lang="de-AT" sz="1200" dirty="0" err="1"/>
                        <a:t>information</a:t>
                      </a:r>
                      <a:r>
                        <a:rPr lang="de-AT" sz="1200" dirty="0"/>
                        <a:t> </a:t>
                      </a:r>
                      <a:r>
                        <a:rPr lang="de-AT" sz="1200" dirty="0" err="1"/>
                        <a:t>about</a:t>
                      </a:r>
                      <a:r>
                        <a:rPr lang="de-AT" sz="1200" dirty="0"/>
                        <a:t> </a:t>
                      </a:r>
                      <a:r>
                        <a:rPr lang="de-AT" sz="1200" dirty="0" err="1"/>
                        <a:t>the</a:t>
                      </a:r>
                      <a:r>
                        <a:rPr lang="de-AT" sz="1200" dirty="0"/>
                        <a:t> </a:t>
                      </a:r>
                      <a:r>
                        <a:rPr lang="de-AT" sz="1200" dirty="0" err="1"/>
                        <a:t>characteristic</a:t>
                      </a:r>
                      <a:r>
                        <a:rPr lang="de-AT" sz="1200" dirty="0"/>
                        <a:t> </a:t>
                      </a:r>
                      <a:r>
                        <a:rPr lang="de-AT" sz="1200" dirty="0" err="1"/>
                        <a:t>of</a:t>
                      </a:r>
                      <a:r>
                        <a:rPr lang="de-AT" sz="1200" dirty="0"/>
                        <a:t> </a:t>
                      </a:r>
                      <a:r>
                        <a:rPr lang="de-AT" sz="1200" dirty="0" err="1"/>
                        <a:t>the</a:t>
                      </a:r>
                      <a:r>
                        <a:rPr lang="de-AT" sz="1200" dirty="0"/>
                        <a:t> </a:t>
                      </a:r>
                      <a:r>
                        <a:rPr lang="de-AT" sz="1200" dirty="0" err="1"/>
                        <a:t>vehicle</a:t>
                      </a:r>
                      <a:endParaRPr lang="de-AT" sz="1200" dirty="0"/>
                    </a:p>
                  </a:txBody>
                  <a:tcPr/>
                </a:tc>
                <a:tc>
                  <a:txBody>
                    <a:bodyPr/>
                    <a:lstStyle/>
                    <a:p>
                      <a:pPr marL="0" indent="0">
                        <a:buFont typeface="Arial" panose="020B0604020202020204" pitchFamily="34" charset="0"/>
                        <a:buNone/>
                      </a:pPr>
                      <a:r>
                        <a:rPr lang="en-US" sz="1200"/>
                        <a:t>Definitions and precise description of the input parameters into the tool and how to determine them</a:t>
                      </a:r>
                      <a:endParaRPr lang="de-AT" sz="1200" dirty="0"/>
                    </a:p>
                  </a:txBody>
                  <a:tcPr/>
                </a:tc>
                <a:extLst>
                  <a:ext uri="{0D108BD9-81ED-4DB2-BD59-A6C34878D82A}">
                    <a16:rowId xmlns:a16="http://schemas.microsoft.com/office/drawing/2014/main" val="3760094025"/>
                  </a:ext>
                </a:extLst>
              </a:tr>
              <a:tr h="370840">
                <a:tc>
                  <a:txBody>
                    <a:bodyPr/>
                    <a:lstStyle/>
                    <a:p>
                      <a:r>
                        <a:rPr lang="de-AT" sz="1200" b="1" dirty="0">
                          <a:solidFill>
                            <a:schemeClr val="bg1"/>
                          </a:solidFill>
                        </a:rPr>
                        <a:t>Annex IV</a:t>
                      </a:r>
                    </a:p>
                  </a:txBody>
                  <a:tcPr>
                    <a:solidFill>
                      <a:schemeClr val="accent1"/>
                    </a:solidFill>
                  </a:tcPr>
                </a:tc>
                <a:tc>
                  <a:txBody>
                    <a:bodyPr/>
                    <a:lstStyle/>
                    <a:p>
                      <a:r>
                        <a:rPr lang="de-AT" sz="1200" dirty="0"/>
                        <a:t>Template </a:t>
                      </a:r>
                      <a:r>
                        <a:rPr lang="de-AT" sz="1200" dirty="0" err="1"/>
                        <a:t>of</a:t>
                      </a:r>
                      <a:r>
                        <a:rPr lang="de-AT" sz="1200" dirty="0"/>
                        <a:t> </a:t>
                      </a:r>
                      <a:r>
                        <a:rPr lang="de-AT" sz="1200" dirty="0" err="1"/>
                        <a:t>the</a:t>
                      </a:r>
                      <a:r>
                        <a:rPr lang="de-AT" sz="1200" dirty="0"/>
                        <a:t> </a:t>
                      </a:r>
                      <a:r>
                        <a:rPr lang="de-AT" sz="1200" dirty="0" err="1"/>
                        <a:t>Manufacturer‘s</a:t>
                      </a:r>
                      <a:r>
                        <a:rPr lang="de-AT" sz="1200" dirty="0"/>
                        <a:t> Records </a:t>
                      </a:r>
                      <a:r>
                        <a:rPr lang="de-AT" sz="1200" dirty="0" err="1"/>
                        <a:t>file</a:t>
                      </a:r>
                      <a:r>
                        <a:rPr lang="de-AT" sz="1200" dirty="0"/>
                        <a:t> and </a:t>
                      </a:r>
                      <a:r>
                        <a:rPr lang="de-AT" sz="1200" dirty="0" err="1"/>
                        <a:t>of</a:t>
                      </a:r>
                      <a:r>
                        <a:rPr lang="de-AT" sz="1200" dirty="0"/>
                        <a:t> </a:t>
                      </a:r>
                      <a:r>
                        <a:rPr lang="de-AT" sz="1200" dirty="0" err="1"/>
                        <a:t>the</a:t>
                      </a:r>
                      <a:r>
                        <a:rPr lang="de-AT" sz="1200" dirty="0"/>
                        <a:t> Customer Information </a:t>
                      </a:r>
                      <a:r>
                        <a:rPr lang="de-AT" sz="1200" dirty="0" err="1"/>
                        <a:t>file</a:t>
                      </a:r>
                      <a:endParaRPr lang="de-AT" sz="12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de-AT" sz="1200" dirty="0"/>
                        <a:t>Definition </a:t>
                      </a:r>
                      <a:r>
                        <a:rPr lang="de-AT" sz="1200" err="1"/>
                        <a:t>of</a:t>
                      </a:r>
                      <a:r>
                        <a:rPr lang="de-AT" sz="1200"/>
                        <a:t> content and</a:t>
                      </a:r>
                      <a:r>
                        <a:rPr lang="de-AT" sz="1200" baseline="0"/>
                        <a:t> structure of the Manufacturer‘s Records file (MRF) and the </a:t>
                      </a:r>
                      <a:r>
                        <a:rPr lang="de-AT" sz="1200"/>
                        <a:t>Customer Information file</a:t>
                      </a:r>
                      <a:r>
                        <a:rPr lang="de-AT" sz="1200" baseline="0"/>
                        <a:t> (CIF)</a:t>
                      </a:r>
                      <a:endParaRPr lang="de-AT" sz="1200" dirty="0"/>
                    </a:p>
                  </a:txBody>
                  <a:tcPr/>
                </a:tc>
                <a:extLst>
                  <a:ext uri="{0D108BD9-81ED-4DB2-BD59-A6C34878D82A}">
                    <a16:rowId xmlns:a16="http://schemas.microsoft.com/office/drawing/2014/main" val="4003124656"/>
                  </a:ext>
                </a:extLst>
              </a:tr>
              <a:tr h="370840">
                <a:tc>
                  <a:txBody>
                    <a:bodyPr/>
                    <a:lstStyle/>
                    <a:p>
                      <a:r>
                        <a:rPr lang="de-AT" sz="1200" b="1" dirty="0">
                          <a:solidFill>
                            <a:schemeClr val="bg1"/>
                          </a:solidFill>
                        </a:rPr>
                        <a:t>Annex V</a:t>
                      </a:r>
                    </a:p>
                  </a:txBody>
                  <a:tcPr>
                    <a:solidFill>
                      <a:schemeClr val="accent1"/>
                    </a:solidFill>
                  </a:tcPr>
                </a:tc>
                <a:tc>
                  <a:txBody>
                    <a:bodyPr/>
                    <a:lstStyle/>
                    <a:p>
                      <a:pPr marL="0" algn="l" defTabSz="685800" rtl="0" eaLnBrk="1" latinLnBrk="0" hangingPunct="1"/>
                      <a:r>
                        <a:rPr lang="de-AT" sz="1200" kern="1200">
                          <a:solidFill>
                            <a:schemeClr val="dk1"/>
                          </a:solidFill>
                          <a:latin typeface="+mn-lt"/>
                          <a:ea typeface="+mn-ea"/>
                          <a:cs typeface="+mn-cs"/>
                        </a:rPr>
                        <a:t>Vehicle‘s air drag data</a:t>
                      </a:r>
                      <a:endParaRPr lang="de-AT" sz="1200" kern="1200" dirty="0">
                        <a:solidFill>
                          <a:schemeClr val="dk1"/>
                        </a:solidFill>
                        <a:latin typeface="+mn-lt"/>
                        <a:ea typeface="+mn-ea"/>
                        <a:cs typeface="+mn-cs"/>
                      </a:endParaRPr>
                    </a:p>
                  </a:txBody>
                  <a:tcPr/>
                </a:tc>
                <a:tc>
                  <a:txBody>
                    <a:bodyPr/>
                    <a:lstStyle/>
                    <a:p>
                      <a:pPr marL="0" indent="0">
                        <a:buFont typeface="Arial" panose="020B0604020202020204" pitchFamily="34" charset="0"/>
                        <a:buNone/>
                      </a:pPr>
                      <a:r>
                        <a:rPr lang="de-AT" sz="1200" dirty="0" err="1"/>
                        <a:t>Defines</a:t>
                      </a:r>
                      <a:r>
                        <a:rPr lang="de-AT" sz="1200" dirty="0"/>
                        <a:t> </a:t>
                      </a:r>
                      <a:r>
                        <a:rPr lang="de-AT" sz="1200" dirty="0" err="1"/>
                        <a:t>the</a:t>
                      </a:r>
                      <a:r>
                        <a:rPr lang="de-AT" sz="1200" dirty="0"/>
                        <a:t> </a:t>
                      </a:r>
                      <a:r>
                        <a:rPr lang="de-AT" sz="1200" dirty="0" err="1"/>
                        <a:t>procedures</a:t>
                      </a:r>
                      <a:r>
                        <a:rPr lang="de-AT" sz="1200" dirty="0"/>
                        <a:t> </a:t>
                      </a:r>
                      <a:r>
                        <a:rPr lang="de-AT" sz="1200" dirty="0" err="1"/>
                        <a:t>how</a:t>
                      </a:r>
                      <a:r>
                        <a:rPr lang="de-AT" sz="1200" dirty="0"/>
                        <a:t> </a:t>
                      </a:r>
                      <a:r>
                        <a:rPr lang="de-AT" sz="1200" dirty="0" err="1"/>
                        <a:t>the</a:t>
                      </a:r>
                      <a:r>
                        <a:rPr lang="de-AT" sz="1200" dirty="0"/>
                        <a:t> </a:t>
                      </a:r>
                      <a:r>
                        <a:rPr lang="de-AT" sz="1200" dirty="0" err="1"/>
                        <a:t>features</a:t>
                      </a:r>
                      <a:r>
                        <a:rPr lang="de-AT" sz="1200" baseline="0" dirty="0"/>
                        <a:t> </a:t>
                      </a:r>
                      <a:r>
                        <a:rPr lang="de-AT" sz="1200" baseline="0" dirty="0" err="1"/>
                        <a:t>of</a:t>
                      </a:r>
                      <a:r>
                        <a:rPr lang="de-AT" sz="1200" baseline="0" dirty="0"/>
                        <a:t> </a:t>
                      </a:r>
                      <a:r>
                        <a:rPr lang="de-AT" sz="1200" baseline="0" dirty="0" err="1"/>
                        <a:t>aerodynamic</a:t>
                      </a:r>
                      <a:r>
                        <a:rPr lang="de-AT" sz="1200" baseline="0" dirty="0"/>
                        <a:t> </a:t>
                      </a:r>
                      <a:r>
                        <a:rPr lang="de-AT" sz="1200" baseline="0" dirty="0" err="1"/>
                        <a:t>devices</a:t>
                      </a:r>
                      <a:r>
                        <a:rPr lang="de-AT" sz="1200" baseline="0" dirty="0"/>
                        <a:t> </a:t>
                      </a:r>
                      <a:r>
                        <a:rPr lang="de-AT" sz="1200" baseline="0" dirty="0" err="1"/>
                        <a:t>shall</a:t>
                      </a:r>
                      <a:r>
                        <a:rPr lang="de-AT" sz="1200" baseline="0" dirty="0"/>
                        <a:t> </a:t>
                      </a:r>
                      <a:r>
                        <a:rPr lang="de-AT" sz="1200" baseline="0" dirty="0" err="1"/>
                        <a:t>be</a:t>
                      </a:r>
                      <a:r>
                        <a:rPr lang="de-AT" sz="1200" baseline="0" dirty="0"/>
                        <a:t> </a:t>
                      </a:r>
                      <a:r>
                        <a:rPr lang="de-AT" sz="1200" baseline="0" dirty="0" err="1"/>
                        <a:t>determined</a:t>
                      </a:r>
                      <a:r>
                        <a:rPr lang="de-AT" sz="1200" baseline="0" dirty="0"/>
                        <a:t>, </a:t>
                      </a:r>
                      <a:r>
                        <a:rPr lang="de-AT" sz="1200" baseline="0" dirty="0" err="1"/>
                        <a:t>either</a:t>
                      </a:r>
                      <a:r>
                        <a:rPr lang="de-AT" sz="1200" baseline="0" dirty="0"/>
                        <a:t> via virtual </a:t>
                      </a:r>
                      <a:r>
                        <a:rPr lang="de-AT" sz="1200" baseline="0" dirty="0" err="1"/>
                        <a:t>testing</a:t>
                      </a:r>
                      <a:r>
                        <a:rPr lang="de-AT" sz="1200" baseline="0" dirty="0"/>
                        <a:t> </a:t>
                      </a:r>
                      <a:r>
                        <a:rPr lang="de-AT" sz="1200" baseline="0" dirty="0" err="1"/>
                        <a:t>using</a:t>
                      </a:r>
                      <a:r>
                        <a:rPr lang="de-AT" sz="1200" baseline="0" dirty="0"/>
                        <a:t> CFD </a:t>
                      </a:r>
                      <a:r>
                        <a:rPr lang="de-AT" sz="1200" baseline="0" dirty="0" err="1"/>
                        <a:t>or</a:t>
                      </a:r>
                      <a:r>
                        <a:rPr lang="de-AT" sz="1200" baseline="0" dirty="0"/>
                        <a:t> </a:t>
                      </a:r>
                      <a:r>
                        <a:rPr lang="de-AT" sz="1200" baseline="0" dirty="0" err="1"/>
                        <a:t>by</a:t>
                      </a:r>
                      <a:r>
                        <a:rPr lang="de-AT" sz="1200" baseline="0" dirty="0"/>
                        <a:t> </a:t>
                      </a:r>
                      <a:r>
                        <a:rPr lang="de-AT" sz="1200" baseline="0" dirty="0" err="1"/>
                        <a:t>applying</a:t>
                      </a:r>
                      <a:r>
                        <a:rPr lang="de-AT" sz="1200" baseline="0" dirty="0"/>
                        <a:t> </a:t>
                      </a:r>
                      <a:r>
                        <a:rPr lang="de-AT" sz="1200" baseline="0" dirty="0" err="1"/>
                        <a:t>standard</a:t>
                      </a:r>
                      <a:r>
                        <a:rPr lang="de-AT" sz="1200" baseline="0" dirty="0"/>
                        <a:t> </a:t>
                      </a:r>
                      <a:r>
                        <a:rPr lang="de-AT" sz="1200" baseline="0" dirty="0" err="1"/>
                        <a:t>reduction</a:t>
                      </a:r>
                      <a:r>
                        <a:rPr lang="de-AT" sz="1200" baseline="0" dirty="0"/>
                        <a:t> </a:t>
                      </a:r>
                      <a:r>
                        <a:rPr lang="de-AT" sz="1200" baseline="0" dirty="0" err="1"/>
                        <a:t>rates</a:t>
                      </a:r>
                      <a:r>
                        <a:rPr lang="de-AT" sz="1200" baseline="0" dirty="0"/>
                        <a:t> </a:t>
                      </a:r>
                      <a:r>
                        <a:rPr lang="de-AT" sz="1200" baseline="0" dirty="0" err="1"/>
                        <a:t>for</a:t>
                      </a:r>
                      <a:r>
                        <a:rPr lang="de-AT" sz="1200" baseline="0" dirty="0"/>
                        <a:t> </a:t>
                      </a:r>
                      <a:r>
                        <a:rPr lang="de-AT" sz="1200" baseline="0" dirty="0" err="1"/>
                        <a:t>aerodyanmic</a:t>
                      </a:r>
                      <a:r>
                        <a:rPr lang="de-AT" sz="1200" baseline="0" dirty="0"/>
                        <a:t> </a:t>
                      </a:r>
                      <a:r>
                        <a:rPr lang="de-AT" sz="1200" baseline="0" dirty="0" err="1"/>
                        <a:t>devices</a:t>
                      </a:r>
                      <a:r>
                        <a:rPr lang="de-AT" sz="1200" baseline="0" dirty="0"/>
                        <a:t> </a:t>
                      </a:r>
                      <a:r>
                        <a:rPr lang="de-AT" sz="1200" baseline="0" dirty="0" err="1"/>
                        <a:t>fulfilling</a:t>
                      </a:r>
                      <a:r>
                        <a:rPr lang="de-AT" sz="1200" baseline="0" dirty="0"/>
                        <a:t> </a:t>
                      </a:r>
                      <a:r>
                        <a:rPr lang="de-AT" sz="1200" baseline="0" dirty="0" err="1"/>
                        <a:t>certain</a:t>
                      </a:r>
                      <a:r>
                        <a:rPr lang="de-AT" sz="1200" baseline="0" dirty="0"/>
                        <a:t> </a:t>
                      </a:r>
                      <a:r>
                        <a:rPr lang="de-AT" sz="1200" baseline="0" dirty="0" err="1"/>
                        <a:t>minimum</a:t>
                      </a:r>
                      <a:r>
                        <a:rPr lang="de-AT" sz="1200" baseline="0" dirty="0"/>
                        <a:t> </a:t>
                      </a:r>
                      <a:r>
                        <a:rPr lang="de-AT" sz="1200" baseline="0" dirty="0" err="1"/>
                        <a:t>properties</a:t>
                      </a:r>
                      <a:endParaRPr lang="de-AT" sz="1200" dirty="0"/>
                    </a:p>
                  </a:txBody>
                  <a:tcPr/>
                </a:tc>
                <a:extLst>
                  <a:ext uri="{0D108BD9-81ED-4DB2-BD59-A6C34878D82A}">
                    <a16:rowId xmlns:a16="http://schemas.microsoft.com/office/drawing/2014/main" val="2467328158"/>
                  </a:ext>
                </a:extLst>
              </a:tr>
            </a:tbl>
          </a:graphicData>
        </a:graphic>
      </p:graphicFrame>
    </p:spTree>
    <p:extLst>
      <p:ext uri="{BB962C8B-B14F-4D97-AF65-F5344CB8AC3E}">
        <p14:creationId xmlns:p14="http://schemas.microsoft.com/office/powerpoint/2010/main" val="4146480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Platform requirements</a:t>
            </a:r>
            <a:endPar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Textfeld 9"/>
          <p:cNvSpPr txBox="1"/>
          <p:nvPr/>
        </p:nvSpPr>
        <p:spPr>
          <a:xfrm>
            <a:off x="627888" y="1131590"/>
            <a:ext cx="6752424" cy="3416320"/>
          </a:xfrm>
          <a:prstGeom prst="rect">
            <a:avLst/>
          </a:prstGeom>
          <a:noFill/>
        </p:spPr>
        <p:txBody>
          <a:bodyPr wrap="square" rtlCol="0">
            <a:spAutoFit/>
          </a:bodyPr>
          <a:lstStyle/>
          <a:p>
            <a:r>
              <a:rPr lang="de-AT" dirty="0"/>
              <a:t>Hardware </a:t>
            </a:r>
            <a:r>
              <a:rPr lang="de-AT" dirty="0" err="1"/>
              <a:t>Requirements</a:t>
            </a:r>
            <a:endParaRPr lang="de-AT" dirty="0"/>
          </a:p>
          <a:p>
            <a:pPr marL="285750" indent="-285750">
              <a:buClr>
                <a:srgbClr val="034EA2"/>
              </a:buClr>
              <a:buFont typeface="Arial" panose="020B0604020202020204" pitchFamily="34" charset="0"/>
              <a:buChar char="•"/>
            </a:pPr>
            <a:r>
              <a:rPr lang="de-AT" dirty="0"/>
              <a:t>Microsoft Windows PC </a:t>
            </a:r>
            <a:r>
              <a:rPr lang="de-AT" dirty="0" err="1"/>
              <a:t>running</a:t>
            </a:r>
            <a:r>
              <a:rPr lang="de-AT" dirty="0"/>
              <a:t> Microsoft Windows 7 </a:t>
            </a:r>
            <a:r>
              <a:rPr lang="de-AT" dirty="0" err="1"/>
              <a:t>or</a:t>
            </a:r>
            <a:r>
              <a:rPr lang="de-AT" dirty="0"/>
              <a:t> </a:t>
            </a:r>
            <a:r>
              <a:rPr lang="de-AT" dirty="0" err="1"/>
              <a:t>later</a:t>
            </a:r>
            <a:endParaRPr lang="de-AT" dirty="0"/>
          </a:p>
          <a:p>
            <a:endParaRPr lang="de-AT" dirty="0"/>
          </a:p>
          <a:p>
            <a:r>
              <a:rPr lang="de-AT" dirty="0"/>
              <a:t>Software </a:t>
            </a:r>
            <a:r>
              <a:rPr lang="de-AT" dirty="0" err="1"/>
              <a:t>Requirements</a:t>
            </a:r>
            <a:endParaRPr lang="de-AT" dirty="0"/>
          </a:p>
          <a:p>
            <a:pPr marL="285750" indent="-285750">
              <a:buClr>
                <a:srgbClr val="034EA2"/>
              </a:buClr>
              <a:buFont typeface="Arial" panose="020B0604020202020204" pitchFamily="34" charset="0"/>
              <a:buChar char="•"/>
            </a:pPr>
            <a:r>
              <a:rPr lang="de-AT" dirty="0"/>
              <a:t>Microsoft .NET Framework 4.8</a:t>
            </a:r>
          </a:p>
          <a:p>
            <a:pPr marL="285750" indent="-285750">
              <a:buClr>
                <a:srgbClr val="034EA2"/>
              </a:buClr>
              <a:buFont typeface="Arial" panose="020B0604020202020204" pitchFamily="34" charset="0"/>
              <a:buChar char="•"/>
            </a:pPr>
            <a:endParaRPr lang="en-US" dirty="0">
              <a:solidFill>
                <a:srgbClr val="FF0000"/>
              </a:solidFill>
            </a:endParaRPr>
          </a:p>
          <a:p>
            <a:pPr>
              <a:buClr>
                <a:srgbClr val="034EA2"/>
              </a:buClr>
            </a:pPr>
            <a:r>
              <a:rPr lang="en-US" dirty="0"/>
              <a:t>Software Requirements to use the pdf function of the tool</a:t>
            </a:r>
          </a:p>
          <a:p>
            <a:pPr marL="285750" indent="-285750">
              <a:buClr>
                <a:srgbClr val="034EA2"/>
              </a:buClr>
              <a:buFont typeface="Arial" panose="020B0604020202020204" pitchFamily="34" charset="0"/>
              <a:buChar char="•"/>
            </a:pPr>
            <a:r>
              <a:rPr lang="en-US" dirty="0"/>
              <a:t>Microsoft Visual C++ Runtime must be installed. If this is not the case for your computer, it can be downloaded free of charge from the following links:</a:t>
            </a:r>
          </a:p>
          <a:p>
            <a:pPr marL="742950" lvl="1" indent="-285750">
              <a:buClr>
                <a:srgbClr val="034EA2"/>
              </a:buClr>
              <a:buFont typeface="Arial" panose="020B0604020202020204" pitchFamily="34" charset="0"/>
              <a:buChar char="•"/>
            </a:pPr>
            <a:r>
              <a:rPr lang="en-US" dirty="0"/>
              <a:t>32 bit: </a:t>
            </a:r>
            <a:r>
              <a:rPr lang="en-US" dirty="0">
                <a:hlinkClick r:id="rId3"/>
              </a:rPr>
              <a:t>https://aka.ms/vs/17/release/vc_redist.x86.exe</a:t>
            </a:r>
            <a:endParaRPr lang="en-US" dirty="0"/>
          </a:p>
          <a:p>
            <a:pPr marL="742950" lvl="1" indent="-285750">
              <a:buClr>
                <a:srgbClr val="034EA2"/>
              </a:buClr>
              <a:buFont typeface="Arial" panose="020B0604020202020204" pitchFamily="34" charset="0"/>
              <a:buChar char="•"/>
            </a:pPr>
            <a:r>
              <a:rPr lang="en-US" dirty="0"/>
              <a:t>64 bit: </a:t>
            </a:r>
            <a:r>
              <a:rPr lang="en-US" dirty="0">
                <a:hlinkClick r:id="rId4"/>
              </a:rPr>
              <a:t>https://aka.ms/vs/17/release/vc_redist.x64.exe</a:t>
            </a:r>
            <a:endParaRPr lang="en-US" dirty="0"/>
          </a:p>
        </p:txBody>
      </p:sp>
    </p:spTree>
    <p:extLst>
      <p:ext uri="{BB962C8B-B14F-4D97-AF65-F5344CB8AC3E}">
        <p14:creationId xmlns:p14="http://schemas.microsoft.com/office/powerpoint/2010/main" val="3680542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Installation Options</a:t>
            </a:r>
            <a:endPar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Textfeld 5">
            <a:extLst>
              <a:ext uri="{FF2B5EF4-FFF2-40B4-BE49-F238E27FC236}">
                <a16:creationId xmlns:a16="http://schemas.microsoft.com/office/drawing/2014/main" id="{D26BC6C1-F877-4DB0-BE0C-3F5C7A024F4E}"/>
              </a:ext>
            </a:extLst>
          </p:cNvPr>
          <p:cNvSpPr txBox="1"/>
          <p:nvPr/>
        </p:nvSpPr>
        <p:spPr>
          <a:xfrm>
            <a:off x="627888" y="1131590"/>
            <a:ext cx="8336600" cy="3231654"/>
          </a:xfrm>
          <a:prstGeom prst="rect">
            <a:avLst/>
          </a:prstGeom>
          <a:noFill/>
        </p:spPr>
        <p:txBody>
          <a:bodyPr wrap="square" rtlCol="0">
            <a:spAutoFit/>
          </a:bodyPr>
          <a:lstStyle/>
          <a:p>
            <a:r>
              <a:rPr lang="en-US" sz="1200" dirty="0"/>
              <a:t>VECTO Trailer Tool is distributed as a portable application. This means you can simply unzip the archive and directly execute it. This, however, requires write and execute permission for the VECTO Trailer Tool application directory.</a:t>
            </a:r>
          </a:p>
          <a:p>
            <a:endParaRPr lang="en-US" sz="1200" dirty="0"/>
          </a:p>
          <a:p>
            <a:r>
              <a:rPr lang="en-US" sz="1200" dirty="0"/>
              <a:t>In case you do not have execute permissions, please ask your system administrator to install VECTO Trailer Tool into an appropriate directory (e.g. under </a:t>
            </a:r>
            <a:r>
              <a:rPr lang="en-US" sz="1100" dirty="0">
                <a:solidFill>
                  <a:srgbClr val="000000"/>
                </a:solidFill>
                <a:latin typeface="Courier New" panose="02070309020205020404" pitchFamily="49" charset="0"/>
              </a:rPr>
              <a:t>C:\Program Files</a:t>
            </a:r>
            <a:r>
              <a:rPr lang="en-US" sz="1200" dirty="0"/>
              <a:t>). Installing VECTO Trailer Tool requires the following two steps:</a:t>
            </a:r>
          </a:p>
          <a:p>
            <a:endParaRPr lang="en-US" sz="1200" dirty="0"/>
          </a:p>
          <a:p>
            <a:pPr marL="285750" indent="-285750">
              <a:buClr>
                <a:srgbClr val="034EA2"/>
              </a:buClr>
              <a:buFont typeface="Arial" panose="020B0604020202020204" pitchFamily="34" charset="0"/>
              <a:buChar char="•"/>
            </a:pPr>
            <a:r>
              <a:rPr lang="en-US" sz="1200" dirty="0"/>
              <a:t>Copy the VECTO Trailer Tool directory and all its files and subdirectories to the appropriate location where the user has execute permissions</a:t>
            </a:r>
          </a:p>
          <a:p>
            <a:pPr marL="285750" indent="-285750">
              <a:buClr>
                <a:srgbClr val="034EA2"/>
              </a:buClr>
              <a:buFont typeface="Arial" panose="020B0604020202020204" pitchFamily="34" charset="0"/>
              <a:buChar char="•"/>
            </a:pPr>
            <a:r>
              <a:rPr lang="en-US" sz="1200" dirty="0"/>
              <a:t>Edit the file </a:t>
            </a:r>
            <a:r>
              <a:rPr lang="en-US" sz="1100" dirty="0">
                <a:solidFill>
                  <a:srgbClr val="000000"/>
                </a:solidFill>
                <a:latin typeface="Courier New" panose="02070309020205020404" pitchFamily="49" charset="0"/>
              </a:rPr>
              <a:t>install.ini </a:t>
            </a:r>
            <a:r>
              <a:rPr lang="en-US" sz="1200" dirty="0"/>
              <a:t>and remove the comment character (#) in the line containing </a:t>
            </a:r>
            <a:r>
              <a:rPr lang="en-US" sz="1100" dirty="0" err="1">
                <a:solidFill>
                  <a:srgbClr val="000000"/>
                </a:solidFill>
                <a:latin typeface="Courier New" panose="02070309020205020404" pitchFamily="49" charset="0"/>
              </a:rPr>
              <a:t>ExecutionMode</a:t>
            </a:r>
            <a:r>
              <a:rPr lang="en-US" sz="1100" dirty="0">
                <a:solidFill>
                  <a:srgbClr val="000000"/>
                </a:solidFill>
                <a:latin typeface="Courier New" panose="02070309020205020404" pitchFamily="49" charset="0"/>
              </a:rPr>
              <a:t> = install</a:t>
            </a:r>
            <a:endParaRPr lang="en-US" sz="1200" dirty="0">
              <a:solidFill>
                <a:srgbClr val="000000"/>
              </a:solidFill>
              <a:latin typeface="Courier New" panose="02070309020205020404" pitchFamily="49" charset="0"/>
            </a:endParaRPr>
          </a:p>
          <a:p>
            <a:pPr marL="285750" indent="-285750">
              <a:buFont typeface="Arial" panose="020B0604020202020204" pitchFamily="34" charset="0"/>
              <a:buChar char="•"/>
            </a:pPr>
            <a:endParaRPr lang="en-US" sz="1200" dirty="0"/>
          </a:p>
          <a:p>
            <a:r>
              <a:rPr lang="en-US" sz="1200" dirty="0"/>
              <a:t>If the </a:t>
            </a:r>
            <a:r>
              <a:rPr lang="en-US" sz="1200" dirty="0" err="1"/>
              <a:t>ExecutionMode</a:t>
            </a:r>
            <a:r>
              <a:rPr lang="en-US" sz="1200" dirty="0"/>
              <a:t> is set to install (this is also possible when running VECTO Trailer Tool from an arbitrary directory), VECTO Trailer Tool does not write its configuration files and log files to the application directory but to the directories </a:t>
            </a:r>
            <a:r>
              <a:rPr lang="en-US" sz="1100" dirty="0">
                <a:solidFill>
                  <a:srgbClr val="000000"/>
                </a:solidFill>
                <a:latin typeface="Courier New" panose="02070309020205020404" pitchFamily="49" charset="0"/>
              </a:rPr>
              <a:t>%APPDATA% </a:t>
            </a:r>
            <a:r>
              <a:rPr lang="en-US" sz="1200" dirty="0"/>
              <a:t>and </a:t>
            </a:r>
            <a:r>
              <a:rPr lang="en-US" sz="1100" dirty="0">
                <a:solidFill>
                  <a:srgbClr val="000000"/>
                </a:solidFill>
                <a:latin typeface="Courier New" panose="02070309020205020404" pitchFamily="49" charset="0"/>
              </a:rPr>
              <a:t>%LOCALAPPDATA% </a:t>
            </a:r>
            <a:r>
              <a:rPr lang="en-US" sz="1200" dirty="0"/>
              <a:t>(usually </a:t>
            </a:r>
            <a:r>
              <a:rPr lang="en-US" sz="1100" dirty="0">
                <a:solidFill>
                  <a:srgbClr val="000000"/>
                </a:solidFill>
                <a:latin typeface="Courier New" panose="02070309020205020404" pitchFamily="49" charset="0"/>
              </a:rPr>
              <a:t>C: \User\&lt;username&gt;\</a:t>
            </a:r>
            <a:r>
              <a:rPr lang="en-US" sz="1100" dirty="0" err="1">
                <a:solidFill>
                  <a:srgbClr val="000000"/>
                </a:solidFill>
                <a:latin typeface="Courier New" panose="02070309020205020404" pitchFamily="49" charset="0"/>
              </a:rPr>
              <a:t>AppData</a:t>
            </a:r>
            <a:r>
              <a:rPr lang="en-US" sz="1100" dirty="0">
                <a:solidFill>
                  <a:srgbClr val="000000"/>
                </a:solidFill>
                <a:latin typeface="Courier New" panose="02070309020205020404" pitchFamily="49" charset="0"/>
              </a:rPr>
              <a:t>\Roaming </a:t>
            </a:r>
            <a:r>
              <a:rPr lang="en-US" sz="1200" dirty="0"/>
              <a:t>and </a:t>
            </a:r>
            <a:r>
              <a:rPr lang="en-US" sz="1100" dirty="0">
                <a:solidFill>
                  <a:srgbClr val="000000"/>
                </a:solidFill>
                <a:latin typeface="Courier New" panose="02070309020205020404" pitchFamily="49" charset="0"/>
              </a:rPr>
              <a:t>C: \User\&lt;username&gt;\</a:t>
            </a:r>
            <a:r>
              <a:rPr lang="en-US" sz="1100" dirty="0" err="1">
                <a:solidFill>
                  <a:srgbClr val="000000"/>
                </a:solidFill>
                <a:latin typeface="Courier New" panose="02070309020205020404" pitchFamily="49" charset="0"/>
              </a:rPr>
              <a:t>AppData</a:t>
            </a:r>
            <a:r>
              <a:rPr lang="en-US" sz="1100" dirty="0">
                <a:solidFill>
                  <a:srgbClr val="000000"/>
                </a:solidFill>
                <a:latin typeface="Courier New" panose="02070309020205020404" pitchFamily="49" charset="0"/>
              </a:rPr>
              <a:t>\Local</a:t>
            </a:r>
            <a:r>
              <a:rPr lang="en-US" sz="1200" dirty="0"/>
              <a:t>).</a:t>
            </a:r>
          </a:p>
          <a:p>
            <a:endParaRPr lang="en-US" sz="1200" dirty="0"/>
          </a:p>
          <a:p>
            <a:r>
              <a:rPr lang="en-US" sz="1200" b="1" dirty="0"/>
              <a:t>Important</a:t>
            </a:r>
            <a:r>
              <a:rPr lang="en-US" sz="1200" dirty="0"/>
              <a:t>: If the </a:t>
            </a:r>
            <a:r>
              <a:rPr lang="en-US" sz="1200" dirty="0" err="1"/>
              <a:t>ExecutionMode</a:t>
            </a:r>
            <a:r>
              <a:rPr lang="en-US" sz="1200" dirty="0"/>
              <a:t> is set to install it is necessary that you copy the generic VECTO Trailer Tool models distributed with VECTO Trailer Tool to a location where you have write permissions as VECTO Trailer Tool writes the results to the same directory as the job files</a:t>
            </a:r>
          </a:p>
        </p:txBody>
      </p:sp>
    </p:spTree>
    <p:extLst>
      <p:ext uri="{BB962C8B-B14F-4D97-AF65-F5344CB8AC3E}">
        <p14:creationId xmlns:p14="http://schemas.microsoft.com/office/powerpoint/2010/main" val="326957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Software package</a:t>
            </a:r>
          </a:p>
        </p:txBody>
      </p:sp>
      <p:pic>
        <p:nvPicPr>
          <p:cNvPr id="7" name="Grafik 6"/>
          <p:cNvPicPr>
            <a:picLocks noChangeAspect="1"/>
          </p:cNvPicPr>
          <p:nvPr/>
        </p:nvPicPr>
        <p:blipFill>
          <a:blip r:embed="rId3"/>
          <a:stretch>
            <a:fillRect/>
          </a:stretch>
        </p:blipFill>
        <p:spPr>
          <a:xfrm>
            <a:off x="179512" y="1419622"/>
            <a:ext cx="3456384" cy="3456384"/>
          </a:xfrm>
          <a:prstGeom prst="rect">
            <a:avLst/>
          </a:prstGeom>
        </p:spPr>
      </p:pic>
      <p:sp>
        <p:nvSpPr>
          <p:cNvPr id="10" name="Textfeld 9"/>
          <p:cNvSpPr txBox="1"/>
          <p:nvPr/>
        </p:nvSpPr>
        <p:spPr>
          <a:xfrm>
            <a:off x="627888" y="1131590"/>
            <a:ext cx="6752424" cy="646331"/>
          </a:xfrm>
          <a:prstGeom prst="rect">
            <a:avLst/>
          </a:prstGeom>
          <a:noFill/>
        </p:spPr>
        <p:txBody>
          <a:bodyPr wrap="square" rtlCol="0">
            <a:spAutoFit/>
          </a:bodyPr>
          <a:lstStyle/>
          <a:p>
            <a:r>
              <a:rPr lang="en-GB" dirty="0"/>
              <a:t>Content of VECTO Trailer Tool package as downloaded from JRC server</a:t>
            </a:r>
            <a:br>
              <a:rPr lang="en-GB" dirty="0"/>
            </a:br>
            <a:r>
              <a:rPr lang="en-GB" dirty="0"/>
              <a:t>can be copied to any place on a PC/server*  </a:t>
            </a:r>
          </a:p>
        </p:txBody>
      </p:sp>
      <p:sp>
        <p:nvSpPr>
          <p:cNvPr id="16" name="Textfeld 15">
            <a:extLst>
              <a:ext uri="{FF2B5EF4-FFF2-40B4-BE49-F238E27FC236}">
                <a16:creationId xmlns:a16="http://schemas.microsoft.com/office/drawing/2014/main" id="{351CDA67-7309-4BA3-83EF-5F36E27CF8CC}"/>
              </a:ext>
            </a:extLst>
          </p:cNvPr>
          <p:cNvSpPr txBox="1"/>
          <p:nvPr/>
        </p:nvSpPr>
        <p:spPr>
          <a:xfrm>
            <a:off x="827584" y="4663309"/>
            <a:ext cx="4491935" cy="246221"/>
          </a:xfrm>
          <a:prstGeom prst="rect">
            <a:avLst/>
          </a:prstGeom>
          <a:noFill/>
        </p:spPr>
        <p:txBody>
          <a:bodyPr wrap="none" rtlCol="0">
            <a:spAutoFit/>
          </a:bodyPr>
          <a:lstStyle/>
          <a:p>
            <a:r>
              <a:rPr lang="de-AT" sz="1000" dirty="0">
                <a:solidFill>
                  <a:schemeClr val="accent4">
                    <a:lumMod val="50000"/>
                  </a:schemeClr>
                </a:solidFill>
              </a:rPr>
              <a:t>* Snapshot </a:t>
            </a:r>
            <a:r>
              <a:rPr lang="de-AT" sz="1000" dirty="0" err="1">
                <a:solidFill>
                  <a:schemeClr val="accent4">
                    <a:lumMod val="50000"/>
                  </a:schemeClr>
                </a:solidFill>
              </a:rPr>
              <a:t>shows</a:t>
            </a:r>
            <a:r>
              <a:rPr lang="de-AT" sz="1000" dirty="0">
                <a:solidFill>
                  <a:schemeClr val="accent4">
                    <a:lumMod val="50000"/>
                  </a:schemeClr>
                </a:solidFill>
              </a:rPr>
              <a:t> </a:t>
            </a:r>
            <a:r>
              <a:rPr lang="de-AT" sz="1000" dirty="0" err="1">
                <a:solidFill>
                  <a:schemeClr val="accent4">
                    <a:lumMod val="50000"/>
                  </a:schemeClr>
                </a:solidFill>
              </a:rPr>
              <a:t>only</a:t>
            </a:r>
            <a:r>
              <a:rPr lang="de-AT" sz="1000" dirty="0">
                <a:solidFill>
                  <a:schemeClr val="accent4">
                    <a:lumMod val="50000"/>
                  </a:schemeClr>
                </a:solidFill>
              </a:rPr>
              <a:t> a </a:t>
            </a:r>
            <a:r>
              <a:rPr lang="de-AT" sz="1000" dirty="0" err="1">
                <a:solidFill>
                  <a:schemeClr val="accent4">
                    <a:lumMod val="50000"/>
                  </a:schemeClr>
                </a:solidFill>
              </a:rPr>
              <a:t>reduced</a:t>
            </a:r>
            <a:r>
              <a:rPr lang="de-AT" sz="1000" dirty="0">
                <a:solidFill>
                  <a:schemeClr val="accent4">
                    <a:lumMod val="50000"/>
                  </a:schemeClr>
                </a:solidFill>
              </a:rPr>
              <a:t> </a:t>
            </a:r>
            <a:r>
              <a:rPr lang="de-AT" sz="1000" dirty="0" err="1">
                <a:solidFill>
                  <a:schemeClr val="accent4">
                    <a:lumMod val="50000"/>
                  </a:schemeClr>
                </a:solidFill>
              </a:rPr>
              <a:t>set</a:t>
            </a:r>
            <a:r>
              <a:rPr lang="de-AT" sz="1000" dirty="0">
                <a:solidFill>
                  <a:schemeClr val="accent4">
                    <a:lumMod val="50000"/>
                  </a:schemeClr>
                </a:solidFill>
              </a:rPr>
              <a:t> </a:t>
            </a:r>
            <a:r>
              <a:rPr lang="de-AT" sz="1000" dirty="0" err="1">
                <a:solidFill>
                  <a:schemeClr val="accent4">
                    <a:lumMod val="50000"/>
                  </a:schemeClr>
                </a:solidFill>
              </a:rPr>
              <a:t>of</a:t>
            </a:r>
            <a:r>
              <a:rPr lang="de-AT" sz="1000" dirty="0">
                <a:solidFill>
                  <a:schemeClr val="accent4">
                    <a:lumMod val="50000"/>
                  </a:schemeClr>
                </a:solidFill>
              </a:rPr>
              <a:t> </a:t>
            </a:r>
            <a:r>
              <a:rPr lang="de-AT" sz="1000" dirty="0" err="1">
                <a:solidFill>
                  <a:schemeClr val="accent4">
                    <a:lumMod val="50000"/>
                  </a:schemeClr>
                </a:solidFill>
              </a:rPr>
              <a:t>data</a:t>
            </a:r>
            <a:r>
              <a:rPr lang="de-AT" sz="1000" dirty="0">
                <a:solidFill>
                  <a:schemeClr val="accent4">
                    <a:lumMod val="50000"/>
                  </a:schemeClr>
                </a:solidFill>
              </a:rPr>
              <a:t> </a:t>
            </a:r>
            <a:r>
              <a:rPr lang="de-AT" sz="1000" dirty="0" err="1">
                <a:solidFill>
                  <a:schemeClr val="accent4">
                    <a:lumMod val="50000"/>
                  </a:schemeClr>
                </a:solidFill>
              </a:rPr>
              <a:t>included</a:t>
            </a:r>
            <a:r>
              <a:rPr lang="de-AT" sz="1000" dirty="0">
                <a:solidFill>
                  <a:schemeClr val="accent4">
                    <a:lumMod val="50000"/>
                  </a:schemeClr>
                </a:solidFill>
              </a:rPr>
              <a:t> in </a:t>
            </a:r>
            <a:r>
              <a:rPr lang="de-AT" sz="1000" dirty="0" err="1">
                <a:solidFill>
                  <a:schemeClr val="accent4">
                    <a:lumMod val="50000"/>
                  </a:schemeClr>
                </a:solidFill>
              </a:rPr>
              <a:t>the</a:t>
            </a:r>
            <a:r>
              <a:rPr lang="de-AT" sz="1000" dirty="0">
                <a:solidFill>
                  <a:schemeClr val="accent4">
                    <a:lumMod val="50000"/>
                  </a:schemeClr>
                </a:solidFill>
              </a:rPr>
              <a:t> </a:t>
            </a:r>
            <a:r>
              <a:rPr lang="de-AT" sz="1000" dirty="0" err="1">
                <a:solidFill>
                  <a:schemeClr val="accent4">
                    <a:lumMod val="50000"/>
                  </a:schemeClr>
                </a:solidFill>
              </a:rPr>
              <a:t>downloadable</a:t>
            </a:r>
            <a:r>
              <a:rPr lang="de-AT" sz="1000" dirty="0">
                <a:solidFill>
                  <a:schemeClr val="accent4">
                    <a:lumMod val="50000"/>
                  </a:schemeClr>
                </a:solidFill>
              </a:rPr>
              <a:t> </a:t>
            </a:r>
            <a:r>
              <a:rPr lang="de-AT" sz="1000" dirty="0" err="1">
                <a:solidFill>
                  <a:schemeClr val="accent4">
                    <a:lumMod val="50000"/>
                  </a:schemeClr>
                </a:solidFill>
              </a:rPr>
              <a:t>package</a:t>
            </a:r>
            <a:endParaRPr lang="de-AT" sz="1000" dirty="0">
              <a:solidFill>
                <a:schemeClr val="accent4">
                  <a:lumMod val="50000"/>
                </a:schemeClr>
              </a:solidFill>
            </a:endParaRPr>
          </a:p>
        </p:txBody>
      </p:sp>
      <p:pic>
        <p:nvPicPr>
          <p:cNvPr id="5" name="Grafik 4">
            <a:extLst>
              <a:ext uri="{FF2B5EF4-FFF2-40B4-BE49-F238E27FC236}">
                <a16:creationId xmlns:a16="http://schemas.microsoft.com/office/drawing/2014/main" id="{64A61D3A-D281-4ED1-B910-B0105A3D787E}"/>
              </a:ext>
            </a:extLst>
          </p:cNvPr>
          <p:cNvPicPr>
            <a:picLocks noChangeAspect="1"/>
          </p:cNvPicPr>
          <p:nvPr/>
        </p:nvPicPr>
        <p:blipFill>
          <a:blip r:embed="rId4"/>
          <a:stretch>
            <a:fillRect/>
          </a:stretch>
        </p:blipFill>
        <p:spPr>
          <a:xfrm>
            <a:off x="1475656" y="1849241"/>
            <a:ext cx="1943100" cy="2705100"/>
          </a:xfrm>
          <a:prstGeom prst="rect">
            <a:avLst/>
          </a:prstGeom>
        </p:spPr>
      </p:pic>
      <p:sp>
        <p:nvSpPr>
          <p:cNvPr id="12" name="Legende mit Linie 2 (ohne Rahmen) 11"/>
          <p:cNvSpPr/>
          <p:nvPr/>
        </p:nvSpPr>
        <p:spPr>
          <a:xfrm>
            <a:off x="3779912" y="2355726"/>
            <a:ext cx="5040560" cy="340275"/>
          </a:xfrm>
          <a:prstGeom prst="callout2">
            <a:avLst>
              <a:gd name="adj1" fmla="val 48828"/>
              <a:gd name="adj2" fmla="val 708"/>
              <a:gd name="adj3" fmla="val 48828"/>
              <a:gd name="adj4" fmla="val -4620"/>
              <a:gd name="adj5" fmla="val -46185"/>
              <a:gd name="adj6" fmla="val -20179"/>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Example files </a:t>
            </a:r>
            <a:r>
              <a:rPr lang="en-GB" sz="1400">
                <a:solidFill>
                  <a:srgbClr val="0070C0"/>
                </a:solidFill>
              </a:rPr>
              <a:t>for trailers, tyres, certified aerodynamic devices and XML </a:t>
            </a:r>
            <a:r>
              <a:rPr lang="en-GB" sz="1400" dirty="0">
                <a:solidFill>
                  <a:srgbClr val="0070C0"/>
                </a:solidFill>
              </a:rPr>
              <a:t>files of the generic </a:t>
            </a:r>
            <a:r>
              <a:rPr lang="en-GB" sz="1400">
                <a:solidFill>
                  <a:srgbClr val="0070C0"/>
                </a:solidFill>
              </a:rPr>
              <a:t>towing vehicles</a:t>
            </a:r>
            <a:endParaRPr lang="en-GB" sz="1400" dirty="0">
              <a:solidFill>
                <a:srgbClr val="0070C0"/>
              </a:solidFill>
            </a:endParaRPr>
          </a:p>
        </p:txBody>
      </p:sp>
      <p:sp>
        <p:nvSpPr>
          <p:cNvPr id="14" name="Legende mit Linie 2 (ohne Rahmen) 11">
            <a:extLst>
              <a:ext uri="{FF2B5EF4-FFF2-40B4-BE49-F238E27FC236}">
                <a16:creationId xmlns:a16="http://schemas.microsoft.com/office/drawing/2014/main" id="{7F02B5F1-94D2-4210-B212-B3A2EF168E7C}"/>
              </a:ext>
            </a:extLst>
          </p:cNvPr>
          <p:cNvSpPr/>
          <p:nvPr/>
        </p:nvSpPr>
        <p:spPr>
          <a:xfrm>
            <a:off x="3779912" y="2859782"/>
            <a:ext cx="5040560" cy="340275"/>
          </a:xfrm>
          <a:prstGeom prst="callout2">
            <a:avLst>
              <a:gd name="adj1" fmla="val 48828"/>
              <a:gd name="adj2" fmla="val 708"/>
              <a:gd name="adj3" fmla="val 48828"/>
              <a:gd name="adj4" fmla="val -4620"/>
              <a:gd name="adj5" fmla="val -15527"/>
              <a:gd name="adj6" fmla="val -20050"/>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Example XML files and XSD files</a:t>
            </a:r>
          </a:p>
        </p:txBody>
      </p:sp>
      <p:sp>
        <p:nvSpPr>
          <p:cNvPr id="13" name="Legende mit Linie 2 (ohne Rahmen) 12"/>
          <p:cNvSpPr/>
          <p:nvPr/>
        </p:nvSpPr>
        <p:spPr>
          <a:xfrm>
            <a:off x="3779912" y="3593802"/>
            <a:ext cx="4455673" cy="340275"/>
          </a:xfrm>
          <a:prstGeom prst="callout2">
            <a:avLst>
              <a:gd name="adj1" fmla="val 48828"/>
              <a:gd name="adj2" fmla="val 708"/>
              <a:gd name="adj3" fmla="val 48828"/>
              <a:gd name="adj4" fmla="val -4620"/>
              <a:gd name="adj5" fmla="val 119663"/>
              <a:gd name="adj6" fmla="val -22224"/>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b="1">
                <a:solidFill>
                  <a:srgbClr val="0070C0"/>
                </a:solidFill>
              </a:rPr>
              <a:t>VECTO Trailer Tool Executable, double-click </a:t>
            </a:r>
            <a:r>
              <a:rPr lang="en-GB" sz="1400" b="1" dirty="0">
                <a:solidFill>
                  <a:srgbClr val="0070C0"/>
                </a:solidFill>
              </a:rPr>
              <a:t>to start</a:t>
            </a:r>
          </a:p>
        </p:txBody>
      </p:sp>
      <p:sp>
        <p:nvSpPr>
          <p:cNvPr id="15" name="Legende mit Linie 2 (ohne Rahmen) 11">
            <a:extLst>
              <a:ext uri="{FF2B5EF4-FFF2-40B4-BE49-F238E27FC236}">
                <a16:creationId xmlns:a16="http://schemas.microsoft.com/office/drawing/2014/main" id="{7F02B5F1-94D2-4210-B212-B3A2EF168E7C}"/>
              </a:ext>
            </a:extLst>
          </p:cNvPr>
          <p:cNvSpPr/>
          <p:nvPr/>
        </p:nvSpPr>
        <p:spPr>
          <a:xfrm>
            <a:off x="3779912" y="3244762"/>
            <a:ext cx="5040560" cy="340275"/>
          </a:xfrm>
          <a:prstGeom prst="callout2">
            <a:avLst>
              <a:gd name="adj1" fmla="val 48828"/>
              <a:gd name="adj2" fmla="val 708"/>
              <a:gd name="adj3" fmla="val 48828"/>
              <a:gd name="adj4" fmla="val -4620"/>
              <a:gd name="adj5" fmla="val -15527"/>
              <a:gd name="adj6" fmla="val -20050"/>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a:solidFill>
                  <a:srgbClr val="0070C0"/>
                </a:solidFill>
              </a:rPr>
              <a:t>VECTO Hashing Tool</a:t>
            </a:r>
            <a:endParaRPr lang="en-GB" sz="1400" dirty="0">
              <a:solidFill>
                <a:srgbClr val="0070C0"/>
              </a:solidFill>
            </a:endParaRPr>
          </a:p>
        </p:txBody>
      </p:sp>
    </p:spTree>
    <p:extLst>
      <p:ext uri="{BB962C8B-B14F-4D97-AF65-F5344CB8AC3E}">
        <p14:creationId xmlns:p14="http://schemas.microsoft.com/office/powerpoint/2010/main" val="113617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F0E95940-307A-42D8-823C-29A9AEE9EA84}"/>
              </a:ext>
            </a:extLst>
          </p:cNvPr>
          <p:cNvPicPr>
            <a:picLocks noChangeAspect="1"/>
          </p:cNvPicPr>
          <p:nvPr/>
        </p:nvPicPr>
        <p:blipFill>
          <a:blip r:embed="rId3"/>
          <a:stretch>
            <a:fillRect/>
          </a:stretch>
        </p:blipFill>
        <p:spPr>
          <a:xfrm>
            <a:off x="7007925" y="1995686"/>
            <a:ext cx="1814219" cy="2540896"/>
          </a:xfrm>
          <a:prstGeom prst="rect">
            <a:avLst/>
          </a:prstGeom>
        </p:spPr>
      </p:pic>
      <p:sp>
        <p:nvSpPr>
          <p:cNvPr id="7" name="Titel 1"/>
          <p:cNvSpPr txBox="1">
            <a:spLocks/>
          </p:cNvSpPr>
          <p:nvPr/>
        </p:nvSpPr>
        <p:spPr>
          <a:xfrm>
            <a:off x="728042" y="123478"/>
            <a:ext cx="7787308"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What to do if tool doesn’t start</a:t>
            </a:r>
            <a:endPar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Text Box 4"/>
          <p:cNvSpPr txBox="1">
            <a:spLocks noChangeArrowheads="1"/>
          </p:cNvSpPr>
          <p:nvPr/>
        </p:nvSpPr>
        <p:spPr bwMode="auto">
          <a:xfrm>
            <a:off x="611560" y="1275606"/>
            <a:ext cx="8255074" cy="3456384"/>
          </a:xfrm>
          <a:prstGeom prst="rect">
            <a:avLst/>
          </a:prstGeom>
          <a:extLst/>
        </p:spPr>
        <p:txBody>
          <a:bodyPr vert="horz" lIns="91440" tIns="45720" rIns="91440" bIns="45720" rtlCol="0">
            <a:noAutofit/>
          </a:bodyPr>
          <a:lstStyle>
            <a:defPPr>
              <a:defRPr lang="en-US"/>
            </a:defPPr>
            <a:lvl1pPr indent="0" defTabSz="685800">
              <a:lnSpc>
                <a:spcPct val="100000"/>
              </a:lnSpc>
              <a:spcBef>
                <a:spcPts val="600"/>
              </a:spcBef>
              <a:buClr>
                <a:schemeClr val="accent4">
                  <a:lumMod val="75000"/>
                </a:schemeClr>
              </a:buClr>
              <a:buFont typeface="Arial" pitchFamily="34" charset="0"/>
              <a:buNone/>
              <a:defRPr sz="1400" i="0"/>
            </a:lvl1pPr>
            <a:lvl2pPr marL="514350" indent="-171450" defTabSz="685800">
              <a:lnSpc>
                <a:spcPct val="114000"/>
              </a:lnSpc>
              <a:spcBef>
                <a:spcPts val="375"/>
              </a:spcBef>
              <a:buClr>
                <a:schemeClr val="accent4">
                  <a:lumMod val="75000"/>
                </a:schemeClr>
              </a:buClr>
              <a:buFont typeface="Arial" panose="020B0604020202020204" pitchFamily="34" charset="0"/>
              <a:buChar char="•"/>
              <a:defRPr>
                <a:solidFill>
                  <a:schemeClr val="accent4">
                    <a:lumMod val="50000"/>
                  </a:schemeClr>
                </a:solidFill>
              </a:defRPr>
            </a:lvl2pPr>
            <a:lvl3pPr marL="857250" indent="-171450" defTabSz="685800">
              <a:lnSpc>
                <a:spcPct val="114000"/>
              </a:lnSpc>
              <a:spcBef>
                <a:spcPts val="375"/>
              </a:spcBef>
              <a:buClr>
                <a:schemeClr val="accent4">
                  <a:lumMod val="75000"/>
                </a:schemeClr>
              </a:buClr>
              <a:buFont typeface="Arial" panose="020B0604020202020204" pitchFamily="34" charset="0"/>
              <a:buChar char="•"/>
              <a:defRPr sz="1500">
                <a:solidFill>
                  <a:schemeClr val="accent4">
                    <a:lumMod val="50000"/>
                  </a:schemeClr>
                </a:solidFill>
              </a:defRPr>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US" sz="1800" dirty="0"/>
              <a:t>Such a </a:t>
            </a:r>
            <a:r>
              <a:rPr lang="en-US" sz="1800" dirty="0" err="1"/>
              <a:t>behaviour</a:t>
            </a:r>
            <a:r>
              <a:rPr lang="en-US" sz="1800" dirty="0"/>
              <a:t> has been observed in cases where the VECTO Trailer Tool software package was unpacked with the Windows Explorer and marked the executables and </a:t>
            </a:r>
            <a:r>
              <a:rPr lang="en-US" sz="1800" dirty="0" err="1"/>
              <a:t>dlls</a:t>
            </a:r>
            <a:r>
              <a:rPr lang="en-US" sz="1800" dirty="0"/>
              <a:t> as unsafe (because loaded from the internet).</a:t>
            </a:r>
          </a:p>
          <a:p>
            <a:pPr>
              <a:spcBef>
                <a:spcPts val="1200"/>
              </a:spcBef>
            </a:pPr>
            <a:r>
              <a:rPr lang="en-US" sz="1800" dirty="0"/>
              <a:t>How to fix this?</a:t>
            </a:r>
          </a:p>
          <a:p>
            <a:pPr>
              <a:spcBef>
                <a:spcPts val="900"/>
              </a:spcBef>
            </a:pPr>
            <a:r>
              <a:rPr lang="en-US" sz="1600" b="1" dirty="0">
                <a:sym typeface="Wingdings" panose="05000000000000000000" pitchFamily="2" charset="2"/>
              </a:rPr>
              <a:t>Option 1: </a:t>
            </a:r>
          </a:p>
          <a:p>
            <a:pPr>
              <a:spcBef>
                <a:spcPts val="300"/>
              </a:spcBef>
            </a:pPr>
            <a:r>
              <a:rPr lang="en-US" sz="1600" dirty="0"/>
              <a:t>Check all exe and </a:t>
            </a:r>
            <a:r>
              <a:rPr lang="en-US" sz="1600" dirty="0" err="1"/>
              <a:t>dlls</a:t>
            </a:r>
            <a:r>
              <a:rPr lang="en-US" sz="1600" dirty="0"/>
              <a:t> and mark them as “safe” </a:t>
            </a:r>
            <a:r>
              <a:rPr lang="en-US" sz="1600" dirty="0">
                <a:sym typeface="Wingdings" panose="05000000000000000000" pitchFamily="2" charset="2"/>
              </a:rPr>
              <a:t></a:t>
            </a:r>
            <a:r>
              <a:rPr lang="en-US" sz="1600" dirty="0"/>
              <a:t> explorer</a:t>
            </a:r>
            <a:br>
              <a:rPr lang="en-US" sz="1600" dirty="0"/>
            </a:br>
            <a:r>
              <a:rPr lang="en-US" sz="1600" dirty="0">
                <a:sym typeface="Wingdings" panose="05000000000000000000" pitchFamily="2" charset="2"/>
              </a:rPr>
              <a:t> </a:t>
            </a:r>
            <a:r>
              <a:rPr lang="en-US" sz="1600" dirty="0"/>
              <a:t>right click properties and then in the lower area tick the box that</a:t>
            </a:r>
          </a:p>
          <a:p>
            <a:pPr>
              <a:spcBef>
                <a:spcPts val="300"/>
              </a:spcBef>
            </a:pPr>
            <a:r>
              <a:rPr lang="en-US" sz="1600" dirty="0"/>
              <a:t>says “Unblock” (see Snapshot to the right)</a:t>
            </a:r>
          </a:p>
          <a:p>
            <a:pPr>
              <a:spcBef>
                <a:spcPts val="900"/>
              </a:spcBef>
            </a:pPr>
            <a:r>
              <a:rPr lang="en-US" sz="1600" b="1" dirty="0"/>
              <a:t>Option 2:</a:t>
            </a:r>
          </a:p>
          <a:p>
            <a:pPr>
              <a:spcBef>
                <a:spcPts val="300"/>
              </a:spcBef>
            </a:pPr>
            <a:r>
              <a:rPr lang="en-US" sz="1600" dirty="0"/>
              <a:t>Unpack VECTO Trailer Tool with another software (“7zip” for example)</a:t>
            </a:r>
          </a:p>
        </p:txBody>
      </p:sp>
      <p:sp>
        <p:nvSpPr>
          <p:cNvPr id="4" name="Rechteck 3">
            <a:extLst>
              <a:ext uri="{FF2B5EF4-FFF2-40B4-BE49-F238E27FC236}">
                <a16:creationId xmlns:a16="http://schemas.microsoft.com/office/drawing/2014/main" id="{11B9F8EB-C1E1-42C2-990D-A54119717408}"/>
              </a:ext>
            </a:extLst>
          </p:cNvPr>
          <p:cNvSpPr/>
          <p:nvPr/>
        </p:nvSpPr>
        <p:spPr>
          <a:xfrm>
            <a:off x="8308203" y="3976468"/>
            <a:ext cx="346988" cy="144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1259964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70419108-6F5E-4E65-BF15-4243DC8BE6A1}"/>
              </a:ext>
            </a:extLst>
          </p:cNvPr>
          <p:cNvPicPr>
            <a:picLocks noChangeAspect="1"/>
          </p:cNvPicPr>
          <p:nvPr/>
        </p:nvPicPr>
        <p:blipFill>
          <a:blip r:embed="rId3"/>
          <a:stretch>
            <a:fillRect/>
          </a:stretch>
        </p:blipFill>
        <p:spPr>
          <a:xfrm>
            <a:off x="1908572" y="996413"/>
            <a:ext cx="4557155" cy="4017569"/>
          </a:xfrm>
          <a:prstGeom prst="rect">
            <a:avLst/>
          </a:prstGeom>
        </p:spPr>
      </p:pic>
      <p:sp>
        <p:nvSpPr>
          <p:cNvPr id="2" name="Titel 1"/>
          <p:cNvSpPr>
            <a:spLocks noGrp="1"/>
          </p:cNvSpPr>
          <p:nvPr>
            <p:ph type="title"/>
          </p:nvPr>
        </p:nvSpPr>
        <p:spPr>
          <a:xfrm>
            <a:off x="728042" y="96366"/>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a:t>
            </a:r>
            <a:r>
              <a:rPr lang="en-US" sz="2000" b="1" dirty="0" err="1">
                <a:solidFill>
                  <a:srgbClr val="034EA2"/>
                </a:solidFill>
                <a:latin typeface="Verdana" panose="020B0604030504040204" pitchFamily="34" charset="0"/>
                <a:ea typeface="Verdana" panose="020B0604030504040204" pitchFamily="34" charset="0"/>
                <a:cs typeface="Verdana" panose="020B0604030504040204" pitchFamily="34" charset="0"/>
              </a:rPr>
              <a:t>JobFiles</a:t>
            </a:r>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 GUI</a:t>
            </a:r>
          </a:p>
        </p:txBody>
      </p:sp>
      <p:sp>
        <p:nvSpPr>
          <p:cNvPr id="23" name="Legende mit Linie 2 (ohne Rahmen) 22"/>
          <p:cNvSpPr/>
          <p:nvPr/>
        </p:nvSpPr>
        <p:spPr>
          <a:xfrm>
            <a:off x="6827354" y="3087985"/>
            <a:ext cx="1584176" cy="340275"/>
          </a:xfrm>
          <a:prstGeom prst="callout2">
            <a:avLst>
              <a:gd name="adj1" fmla="val 46745"/>
              <a:gd name="adj2" fmla="val -1011"/>
              <a:gd name="adj3" fmla="val -42194"/>
              <a:gd name="adj4" fmla="val -18410"/>
              <a:gd name="adj5" fmla="val -46383"/>
              <a:gd name="adj6" fmla="val -85593"/>
            </a:avLst>
          </a:prstGeom>
          <a:noFill/>
          <a:ln w="6350">
            <a:solidFill>
              <a:srgbClr val="FFC00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b="1" dirty="0">
                <a:solidFill>
                  <a:srgbClr val="FFC000"/>
                </a:solidFill>
              </a:rPr>
              <a:t>Job window that shows all loaded Job files</a:t>
            </a:r>
          </a:p>
        </p:txBody>
      </p:sp>
      <p:sp>
        <p:nvSpPr>
          <p:cNvPr id="24" name="Rechteck 23">
            <a:extLst>
              <a:ext uri="{FF2B5EF4-FFF2-40B4-BE49-F238E27FC236}">
                <a16:creationId xmlns:a16="http://schemas.microsoft.com/office/drawing/2014/main" id="{BA55C230-110F-468D-A485-16A8CFEF6CCA}"/>
              </a:ext>
            </a:extLst>
          </p:cNvPr>
          <p:cNvSpPr/>
          <p:nvPr/>
        </p:nvSpPr>
        <p:spPr>
          <a:xfrm>
            <a:off x="1959251" y="1523778"/>
            <a:ext cx="612000" cy="12600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5" name="Legende mit Linie 2 (ohne Rahmen) 14">
            <a:extLst>
              <a:ext uri="{FF2B5EF4-FFF2-40B4-BE49-F238E27FC236}">
                <a16:creationId xmlns:a16="http://schemas.microsoft.com/office/drawing/2014/main" id="{C0533C36-5702-4263-B5E6-79B25673ABD8}"/>
              </a:ext>
            </a:extLst>
          </p:cNvPr>
          <p:cNvSpPr/>
          <p:nvPr/>
        </p:nvSpPr>
        <p:spPr>
          <a:xfrm>
            <a:off x="104281" y="2372638"/>
            <a:ext cx="1584176" cy="340275"/>
          </a:xfrm>
          <a:prstGeom prst="callout2">
            <a:avLst>
              <a:gd name="adj1" fmla="val 48828"/>
              <a:gd name="adj2" fmla="val 96980"/>
              <a:gd name="adj3" fmla="val 2464"/>
              <a:gd name="adj4" fmla="val 103082"/>
              <a:gd name="adj5" fmla="val -235818"/>
              <a:gd name="adj6" fmla="val 116299"/>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dirty="0">
                <a:solidFill>
                  <a:srgbClr val="0070C0"/>
                </a:solidFill>
              </a:rPr>
              <a:t>Switch between “Job Files” and “Options” tab</a:t>
            </a:r>
          </a:p>
        </p:txBody>
      </p:sp>
      <p:sp>
        <p:nvSpPr>
          <p:cNvPr id="26" name="Rechteck 25">
            <a:extLst>
              <a:ext uri="{FF2B5EF4-FFF2-40B4-BE49-F238E27FC236}">
                <a16:creationId xmlns:a16="http://schemas.microsoft.com/office/drawing/2014/main" id="{798DED5D-C50B-4FB2-91D4-D11EE6A96AA3}"/>
              </a:ext>
            </a:extLst>
          </p:cNvPr>
          <p:cNvSpPr/>
          <p:nvPr/>
        </p:nvSpPr>
        <p:spPr>
          <a:xfrm>
            <a:off x="1963789" y="1221614"/>
            <a:ext cx="648000" cy="11520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7" name="Legende mit Linie 2 (ohne Rahmen) 18">
            <a:extLst>
              <a:ext uri="{FF2B5EF4-FFF2-40B4-BE49-F238E27FC236}">
                <a16:creationId xmlns:a16="http://schemas.microsoft.com/office/drawing/2014/main" id="{710D0C98-8D0E-4A8F-869F-FF100BF02BFE}"/>
              </a:ext>
            </a:extLst>
          </p:cNvPr>
          <p:cNvSpPr/>
          <p:nvPr/>
        </p:nvSpPr>
        <p:spPr>
          <a:xfrm>
            <a:off x="104281" y="1563638"/>
            <a:ext cx="1368152" cy="340275"/>
          </a:xfrm>
          <a:prstGeom prst="callout2">
            <a:avLst>
              <a:gd name="adj1" fmla="val 48828"/>
              <a:gd name="adj2" fmla="val 96980"/>
              <a:gd name="adj3" fmla="val 25913"/>
              <a:gd name="adj4" fmla="val 110077"/>
              <a:gd name="adj5" fmla="val -89271"/>
              <a:gd name="adj6" fmla="val 134778"/>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Toolbar with common controls like</a:t>
            </a:r>
          </a:p>
          <a:p>
            <a:pPr marL="171450" indent="-171450">
              <a:buFont typeface="Arial" panose="020B0604020202020204" pitchFamily="34" charset="0"/>
              <a:buChar char="•"/>
            </a:pPr>
            <a:r>
              <a:rPr lang="en-GB" sz="1000" dirty="0">
                <a:solidFill>
                  <a:srgbClr val="0070C0"/>
                </a:solidFill>
              </a:rPr>
              <a:t>add new Job</a:t>
            </a:r>
          </a:p>
          <a:p>
            <a:pPr marL="171450" indent="-171450">
              <a:buFont typeface="Arial" panose="020B0604020202020204" pitchFamily="34" charset="0"/>
              <a:buChar char="•"/>
            </a:pPr>
            <a:r>
              <a:rPr lang="en-GB" sz="1000" dirty="0">
                <a:solidFill>
                  <a:srgbClr val="0070C0"/>
                </a:solidFill>
              </a:rPr>
              <a:t>search for Job files</a:t>
            </a:r>
          </a:p>
          <a:p>
            <a:pPr marL="171450" indent="-171450">
              <a:buFont typeface="Arial" panose="020B0604020202020204" pitchFamily="34" charset="0"/>
              <a:buChar char="•"/>
            </a:pPr>
            <a:r>
              <a:rPr lang="en-GB" sz="1000" dirty="0">
                <a:solidFill>
                  <a:srgbClr val="0070C0"/>
                </a:solidFill>
              </a:rPr>
              <a:t>open User Manual</a:t>
            </a:r>
          </a:p>
          <a:p>
            <a:pPr marL="171450" indent="-171450">
              <a:buFont typeface="Arial" panose="020B0604020202020204" pitchFamily="34" charset="0"/>
              <a:buChar char="•"/>
            </a:pPr>
            <a:r>
              <a:rPr lang="en-GB" sz="1000" dirty="0">
                <a:solidFill>
                  <a:srgbClr val="0070C0"/>
                </a:solidFill>
              </a:rPr>
              <a:t>etc.</a:t>
            </a:r>
          </a:p>
        </p:txBody>
      </p:sp>
      <p:sp>
        <p:nvSpPr>
          <p:cNvPr id="28" name="Rechteck 27">
            <a:extLst>
              <a:ext uri="{FF2B5EF4-FFF2-40B4-BE49-F238E27FC236}">
                <a16:creationId xmlns:a16="http://schemas.microsoft.com/office/drawing/2014/main" id="{3CE8D64B-A4AA-4512-BDC5-DB5662E00A8E}"/>
              </a:ext>
            </a:extLst>
          </p:cNvPr>
          <p:cNvSpPr/>
          <p:nvPr/>
        </p:nvSpPr>
        <p:spPr>
          <a:xfrm>
            <a:off x="2494270" y="1791841"/>
            <a:ext cx="2970000" cy="1296144"/>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9" name="Rechteck 28">
            <a:extLst>
              <a:ext uri="{FF2B5EF4-FFF2-40B4-BE49-F238E27FC236}">
                <a16:creationId xmlns:a16="http://schemas.microsoft.com/office/drawing/2014/main" id="{27BE2EFC-8D03-4242-921F-5034AE07AFA5}"/>
              </a:ext>
            </a:extLst>
          </p:cNvPr>
          <p:cNvSpPr/>
          <p:nvPr/>
        </p:nvSpPr>
        <p:spPr>
          <a:xfrm>
            <a:off x="2013799" y="3250668"/>
            <a:ext cx="4338000" cy="1553162"/>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0" name="Legende mit Linie 2 (ohne Rahmen) 22">
            <a:extLst>
              <a:ext uri="{FF2B5EF4-FFF2-40B4-BE49-F238E27FC236}">
                <a16:creationId xmlns:a16="http://schemas.microsoft.com/office/drawing/2014/main" id="{CF10C20E-5200-465D-A122-2149A4D9279A}"/>
              </a:ext>
            </a:extLst>
          </p:cNvPr>
          <p:cNvSpPr/>
          <p:nvPr/>
        </p:nvSpPr>
        <p:spPr>
          <a:xfrm>
            <a:off x="276325" y="4187006"/>
            <a:ext cx="1584176" cy="340275"/>
          </a:xfrm>
          <a:prstGeom prst="callout2">
            <a:avLst>
              <a:gd name="adj1" fmla="val 48828"/>
              <a:gd name="adj2" fmla="val 96980"/>
              <a:gd name="adj3" fmla="val 49464"/>
              <a:gd name="adj4" fmla="val 99717"/>
              <a:gd name="adj5" fmla="val 49441"/>
              <a:gd name="adj6" fmla="val 109815"/>
            </a:avLst>
          </a:prstGeom>
          <a:noFill/>
          <a:ln w="6350">
            <a:solidFill>
              <a:srgbClr val="FFC00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b="1" dirty="0">
                <a:solidFill>
                  <a:srgbClr val="FFC000"/>
                </a:solidFill>
              </a:rPr>
              <a:t>Message window showing the calculation status</a:t>
            </a:r>
          </a:p>
        </p:txBody>
      </p:sp>
      <p:sp>
        <p:nvSpPr>
          <p:cNvPr id="32" name="Rechteck 31">
            <a:extLst>
              <a:ext uri="{FF2B5EF4-FFF2-40B4-BE49-F238E27FC236}">
                <a16:creationId xmlns:a16="http://schemas.microsoft.com/office/drawing/2014/main" id="{B44A4626-4185-4097-94AB-EF3735D6FD07}"/>
              </a:ext>
            </a:extLst>
          </p:cNvPr>
          <p:cNvSpPr/>
          <p:nvPr/>
        </p:nvSpPr>
        <p:spPr>
          <a:xfrm>
            <a:off x="2024924" y="1782191"/>
            <a:ext cx="396000" cy="10800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3" name="Legende mit Linie 2 (ohne Rahmen) 14">
            <a:extLst>
              <a:ext uri="{FF2B5EF4-FFF2-40B4-BE49-F238E27FC236}">
                <a16:creationId xmlns:a16="http://schemas.microsoft.com/office/drawing/2014/main" id="{5C1C441B-8E3A-4235-ABAE-B508A40E53ED}"/>
              </a:ext>
            </a:extLst>
          </p:cNvPr>
          <p:cNvSpPr/>
          <p:nvPr/>
        </p:nvSpPr>
        <p:spPr>
          <a:xfrm>
            <a:off x="-35210" y="3003156"/>
            <a:ext cx="1584176" cy="340275"/>
          </a:xfrm>
          <a:prstGeom prst="callout2">
            <a:avLst>
              <a:gd name="adj1" fmla="val 48828"/>
              <a:gd name="adj2" fmla="val 96980"/>
              <a:gd name="adj3" fmla="val 10796"/>
              <a:gd name="adj4" fmla="val 102635"/>
              <a:gd name="adj5" fmla="val -339279"/>
              <a:gd name="adj6" fmla="val 129818"/>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dirty="0">
                <a:solidFill>
                  <a:srgbClr val="0070C0"/>
                </a:solidFill>
              </a:rPr>
              <a:t>Start button to simulate active Jobs</a:t>
            </a:r>
          </a:p>
        </p:txBody>
      </p:sp>
      <p:sp>
        <p:nvSpPr>
          <p:cNvPr id="35" name="Rechteck 34">
            <a:extLst>
              <a:ext uri="{FF2B5EF4-FFF2-40B4-BE49-F238E27FC236}">
                <a16:creationId xmlns:a16="http://schemas.microsoft.com/office/drawing/2014/main" id="{79C60146-0DAC-4BFA-B61F-D351713270E8}"/>
              </a:ext>
            </a:extLst>
          </p:cNvPr>
          <p:cNvSpPr/>
          <p:nvPr/>
        </p:nvSpPr>
        <p:spPr>
          <a:xfrm>
            <a:off x="5579679" y="1923678"/>
            <a:ext cx="720000" cy="426943"/>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7" name="Legende mit Linie 2 (ohne Rahmen) 14">
            <a:extLst>
              <a:ext uri="{FF2B5EF4-FFF2-40B4-BE49-F238E27FC236}">
                <a16:creationId xmlns:a16="http://schemas.microsoft.com/office/drawing/2014/main" id="{7FC65FE0-E9A3-4794-BA80-D2C69DC18533}"/>
              </a:ext>
            </a:extLst>
          </p:cNvPr>
          <p:cNvSpPr/>
          <p:nvPr/>
        </p:nvSpPr>
        <p:spPr>
          <a:xfrm>
            <a:off x="6825333" y="2224327"/>
            <a:ext cx="2157509" cy="340275"/>
          </a:xfrm>
          <a:prstGeom prst="callout2">
            <a:avLst>
              <a:gd name="adj1" fmla="val 4040"/>
              <a:gd name="adj2" fmla="val 152"/>
              <a:gd name="adj3" fmla="val -39844"/>
              <a:gd name="adj4" fmla="val 65"/>
              <a:gd name="adj5" fmla="val -35996"/>
              <a:gd name="adj6" fmla="val -24907"/>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Buttons to handle Job files</a:t>
            </a:r>
          </a:p>
          <a:p>
            <a:pPr marL="171450" indent="-171450">
              <a:buFont typeface="Arial" panose="020B0604020202020204" pitchFamily="34" charset="0"/>
              <a:buChar char="•"/>
            </a:pPr>
            <a:r>
              <a:rPr lang="en-GB" sz="1000" dirty="0">
                <a:solidFill>
                  <a:srgbClr val="0070C0"/>
                </a:solidFill>
              </a:rPr>
              <a:t>Add new Jobs</a:t>
            </a:r>
          </a:p>
          <a:p>
            <a:pPr marL="171450" indent="-171450">
              <a:buFont typeface="Arial" panose="020B0604020202020204" pitchFamily="34" charset="0"/>
              <a:buChar char="•"/>
            </a:pPr>
            <a:r>
              <a:rPr lang="en-GB" sz="1000" dirty="0">
                <a:solidFill>
                  <a:srgbClr val="0070C0"/>
                </a:solidFill>
              </a:rPr>
              <a:t>Edit existing Jobs from Job window</a:t>
            </a:r>
          </a:p>
          <a:p>
            <a:pPr marL="171450" indent="-171450">
              <a:buFont typeface="Arial" panose="020B0604020202020204" pitchFamily="34" charset="0"/>
              <a:buChar char="•"/>
            </a:pPr>
            <a:r>
              <a:rPr lang="en-GB" sz="1000" dirty="0">
                <a:solidFill>
                  <a:srgbClr val="0070C0"/>
                </a:solidFill>
              </a:rPr>
              <a:t>Delete Jobs from Job window</a:t>
            </a:r>
          </a:p>
        </p:txBody>
      </p:sp>
      <p:sp>
        <p:nvSpPr>
          <p:cNvPr id="21" name="Legende mit Linie 2 (ohne Rahmen) 14">
            <a:extLst>
              <a:ext uri="{FF2B5EF4-FFF2-40B4-BE49-F238E27FC236}">
                <a16:creationId xmlns:a16="http://schemas.microsoft.com/office/drawing/2014/main" id="{AD556827-C4F3-4FF0-A55B-D051A268D88B}"/>
              </a:ext>
            </a:extLst>
          </p:cNvPr>
          <p:cNvSpPr/>
          <p:nvPr/>
        </p:nvSpPr>
        <p:spPr>
          <a:xfrm>
            <a:off x="-3731" y="3525950"/>
            <a:ext cx="1584176" cy="340275"/>
          </a:xfrm>
          <a:prstGeom prst="callout2">
            <a:avLst>
              <a:gd name="adj1" fmla="val 48828"/>
              <a:gd name="adj2" fmla="val 96980"/>
              <a:gd name="adj3" fmla="val 6630"/>
              <a:gd name="adj4" fmla="val 105767"/>
              <a:gd name="adj5" fmla="val -443435"/>
              <a:gd name="adj6" fmla="val 128027"/>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dirty="0">
                <a:solidFill>
                  <a:srgbClr val="0070C0"/>
                </a:solidFill>
              </a:rPr>
              <a:t>Button to activate/stop background worker</a:t>
            </a:r>
          </a:p>
        </p:txBody>
      </p:sp>
      <p:sp>
        <p:nvSpPr>
          <p:cNvPr id="22" name="Rechteck 21">
            <a:extLst>
              <a:ext uri="{FF2B5EF4-FFF2-40B4-BE49-F238E27FC236}">
                <a16:creationId xmlns:a16="http://schemas.microsoft.com/office/drawing/2014/main" id="{F92DC812-FB1E-4A55-9E0D-E9EA2FD013F0}"/>
              </a:ext>
            </a:extLst>
          </p:cNvPr>
          <p:cNvSpPr/>
          <p:nvPr/>
        </p:nvSpPr>
        <p:spPr>
          <a:xfrm>
            <a:off x="2024924" y="1964489"/>
            <a:ext cx="396000" cy="10800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1261952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0396B1C9-F32D-4C7D-B3CD-9E7A16410FC4}"/>
              </a:ext>
            </a:extLst>
          </p:cNvPr>
          <p:cNvPicPr>
            <a:picLocks noChangeAspect="1"/>
          </p:cNvPicPr>
          <p:nvPr/>
        </p:nvPicPr>
        <p:blipFill>
          <a:blip r:embed="rId3"/>
          <a:stretch>
            <a:fillRect/>
          </a:stretch>
        </p:blipFill>
        <p:spPr>
          <a:xfrm>
            <a:off x="3057610" y="2428297"/>
            <a:ext cx="3324539" cy="1909479"/>
          </a:xfrm>
          <a:prstGeom prst="rect">
            <a:avLst/>
          </a:prstGeom>
        </p:spPr>
      </p:pic>
      <p:sp>
        <p:nvSpPr>
          <p:cNvPr id="2"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Options GUI</a:t>
            </a:r>
          </a:p>
        </p:txBody>
      </p:sp>
      <p:sp>
        <p:nvSpPr>
          <p:cNvPr id="24" name="Rechteck 23">
            <a:extLst>
              <a:ext uri="{FF2B5EF4-FFF2-40B4-BE49-F238E27FC236}">
                <a16:creationId xmlns:a16="http://schemas.microsoft.com/office/drawing/2014/main" id="{BA55C230-110F-468D-A485-16A8CFEF6CCA}"/>
              </a:ext>
            </a:extLst>
          </p:cNvPr>
          <p:cNvSpPr/>
          <p:nvPr/>
        </p:nvSpPr>
        <p:spPr>
          <a:xfrm>
            <a:off x="3100388" y="2743897"/>
            <a:ext cx="3235670" cy="235523"/>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6" name="Rechteck 25">
            <a:extLst>
              <a:ext uri="{FF2B5EF4-FFF2-40B4-BE49-F238E27FC236}">
                <a16:creationId xmlns:a16="http://schemas.microsoft.com/office/drawing/2014/main" id="{798DED5D-C50B-4FB2-91D4-D11EE6A96AA3}"/>
              </a:ext>
            </a:extLst>
          </p:cNvPr>
          <p:cNvSpPr/>
          <p:nvPr/>
        </p:nvSpPr>
        <p:spPr>
          <a:xfrm>
            <a:off x="3100387" y="3011482"/>
            <a:ext cx="788987" cy="298455"/>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7" name="Legende mit Linie 2 (ohne Rahmen) 18">
            <a:extLst>
              <a:ext uri="{FF2B5EF4-FFF2-40B4-BE49-F238E27FC236}">
                <a16:creationId xmlns:a16="http://schemas.microsoft.com/office/drawing/2014/main" id="{710D0C98-8D0E-4A8F-869F-FF100BF02BFE}"/>
              </a:ext>
            </a:extLst>
          </p:cNvPr>
          <p:cNvSpPr/>
          <p:nvPr/>
        </p:nvSpPr>
        <p:spPr>
          <a:xfrm>
            <a:off x="348228" y="2529622"/>
            <a:ext cx="2268760" cy="340275"/>
          </a:xfrm>
          <a:prstGeom prst="callout2">
            <a:avLst>
              <a:gd name="adj1" fmla="val 48828"/>
              <a:gd name="adj2" fmla="val 96980"/>
              <a:gd name="adj3" fmla="val 48828"/>
              <a:gd name="adj4" fmla="val 112667"/>
              <a:gd name="adj5" fmla="val 173040"/>
              <a:gd name="adj6" fmla="val 121099"/>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000" dirty="0">
                <a:solidFill>
                  <a:srgbClr val="0070C0"/>
                </a:solidFill>
              </a:rPr>
              <a:t>If selected, the tool writes modal results (.</a:t>
            </a:r>
            <a:r>
              <a:rPr lang="en-US" sz="1000" dirty="0" err="1">
                <a:solidFill>
                  <a:srgbClr val="0070C0"/>
                </a:solidFill>
              </a:rPr>
              <a:t>vmod</a:t>
            </a:r>
            <a:r>
              <a:rPr lang="en-US" sz="1000" dirty="0">
                <a:solidFill>
                  <a:srgbClr val="0070C0"/>
                </a:solidFill>
              </a:rPr>
              <a:t> files) for every calculation run. A Summary file (.</a:t>
            </a:r>
            <a:r>
              <a:rPr lang="en-US" sz="1000" dirty="0" err="1">
                <a:solidFill>
                  <a:srgbClr val="0070C0"/>
                </a:solidFill>
              </a:rPr>
              <a:t>vsum</a:t>
            </a:r>
            <a:r>
              <a:rPr lang="en-US" sz="1000" dirty="0">
                <a:solidFill>
                  <a:srgbClr val="0070C0"/>
                </a:solidFill>
              </a:rPr>
              <a:t>) is always created </a:t>
            </a:r>
            <a:endParaRPr lang="en-GB" sz="1000" dirty="0">
              <a:solidFill>
                <a:srgbClr val="0070C0"/>
              </a:solidFill>
            </a:endParaRPr>
          </a:p>
        </p:txBody>
      </p:sp>
      <p:sp>
        <p:nvSpPr>
          <p:cNvPr id="31" name="Legende mit Linie 2 (ohne Rahmen) 19">
            <a:extLst>
              <a:ext uri="{FF2B5EF4-FFF2-40B4-BE49-F238E27FC236}">
                <a16:creationId xmlns:a16="http://schemas.microsoft.com/office/drawing/2014/main" id="{4D8C9743-5812-4763-8D60-2B4C7433DAF5}"/>
              </a:ext>
            </a:extLst>
          </p:cNvPr>
          <p:cNvSpPr/>
          <p:nvPr/>
        </p:nvSpPr>
        <p:spPr>
          <a:xfrm>
            <a:off x="4067944" y="2120532"/>
            <a:ext cx="3782777" cy="340275"/>
          </a:xfrm>
          <a:prstGeom prst="callout2">
            <a:avLst>
              <a:gd name="adj1" fmla="val 48828"/>
              <a:gd name="adj2" fmla="val 581"/>
              <a:gd name="adj3" fmla="val 83005"/>
              <a:gd name="adj4" fmla="val -3980"/>
              <a:gd name="adj5" fmla="val 179998"/>
              <a:gd name="adj6" fmla="val -4190"/>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rgbClr val="0070C0"/>
                </a:solidFill>
              </a:rPr>
              <a:t>This input can be used to write all simulation result files to a certain directory. This can either be an absolute or a relative path</a:t>
            </a:r>
            <a:endParaRPr lang="en-GB" sz="1000" dirty="0">
              <a:solidFill>
                <a:srgbClr val="0070C0"/>
              </a:solidFill>
            </a:endParaRPr>
          </a:p>
        </p:txBody>
      </p:sp>
      <p:sp>
        <p:nvSpPr>
          <p:cNvPr id="32" name="Textfeld 31">
            <a:extLst>
              <a:ext uri="{FF2B5EF4-FFF2-40B4-BE49-F238E27FC236}">
                <a16:creationId xmlns:a16="http://schemas.microsoft.com/office/drawing/2014/main" id="{22A66128-C480-4068-AE76-80A9FA37037B}"/>
              </a:ext>
            </a:extLst>
          </p:cNvPr>
          <p:cNvSpPr txBox="1"/>
          <p:nvPr/>
        </p:nvSpPr>
        <p:spPr>
          <a:xfrm>
            <a:off x="626308" y="939803"/>
            <a:ext cx="8374280" cy="1077218"/>
          </a:xfrm>
          <a:prstGeom prst="rect">
            <a:avLst/>
          </a:prstGeom>
          <a:noFill/>
        </p:spPr>
        <p:txBody>
          <a:bodyPr wrap="square" rtlCol="0">
            <a:spAutoFit/>
          </a:bodyPr>
          <a:lstStyle/>
          <a:p>
            <a:pPr marL="285750" indent="-285750">
              <a:buClr>
                <a:srgbClr val="034EA2"/>
              </a:buClr>
              <a:buFont typeface="Arial" panose="020B0604020202020204" pitchFamily="34" charset="0"/>
              <a:buChar char="•"/>
            </a:pPr>
            <a:r>
              <a:rPr lang="en-GB" sz="1600" dirty="0"/>
              <a:t>At first program start it is recommended to define the default output directory and check the settings for writing modal results and creating formatted pdf reports</a:t>
            </a:r>
          </a:p>
          <a:p>
            <a:pPr marL="285750" indent="-285750">
              <a:buClr>
                <a:srgbClr val="034EA2"/>
              </a:buClr>
              <a:buFont typeface="Arial" panose="020B0604020202020204" pitchFamily="34" charset="0"/>
              <a:buChar char="•"/>
            </a:pPr>
            <a:r>
              <a:rPr lang="en-US" sz="1600" dirty="0"/>
              <a:t>Settings only affect the handling of input data or results, but do not influence the official results. </a:t>
            </a:r>
            <a:endParaRPr lang="en-GB" sz="1600" dirty="0"/>
          </a:p>
        </p:txBody>
      </p:sp>
      <p:sp>
        <p:nvSpPr>
          <p:cNvPr id="34" name="Rechteck 33">
            <a:extLst>
              <a:ext uri="{FF2B5EF4-FFF2-40B4-BE49-F238E27FC236}">
                <a16:creationId xmlns:a16="http://schemas.microsoft.com/office/drawing/2014/main" id="{DE28AD9E-50E6-4801-AD1B-31CB3EE6BA17}"/>
              </a:ext>
            </a:extLst>
          </p:cNvPr>
          <p:cNvSpPr/>
          <p:nvPr/>
        </p:nvSpPr>
        <p:spPr>
          <a:xfrm>
            <a:off x="3096578" y="3360991"/>
            <a:ext cx="3235670" cy="910971"/>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5" name="Legende mit Linie 2 (ohne Rahmen) 19">
            <a:extLst>
              <a:ext uri="{FF2B5EF4-FFF2-40B4-BE49-F238E27FC236}">
                <a16:creationId xmlns:a16="http://schemas.microsoft.com/office/drawing/2014/main" id="{CFBC4AD4-7F37-44D5-8318-CA348F199F46}"/>
              </a:ext>
            </a:extLst>
          </p:cNvPr>
          <p:cNvSpPr/>
          <p:nvPr/>
        </p:nvSpPr>
        <p:spPr>
          <a:xfrm>
            <a:off x="348228" y="3950064"/>
            <a:ext cx="1830567" cy="595239"/>
          </a:xfrm>
          <a:prstGeom prst="callout2">
            <a:avLst>
              <a:gd name="adj1" fmla="val 51210"/>
              <a:gd name="adj2" fmla="val 97387"/>
              <a:gd name="adj3" fmla="val 52146"/>
              <a:gd name="adj4" fmla="val 109275"/>
              <a:gd name="adj5" fmla="val -26205"/>
              <a:gd name="adj6" fmla="val 150018"/>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err="1">
                <a:solidFill>
                  <a:srgbClr val="0070C0"/>
                </a:solidFill>
              </a:rPr>
              <a:t>Input/Output</a:t>
            </a:r>
            <a:r>
              <a:rPr lang="en-GB" sz="1000" dirty="0">
                <a:solidFill>
                  <a:srgbClr val="0070C0"/>
                </a:solidFill>
              </a:rPr>
              <a:t> directories for the Background worker as well as options to write modal outputs and pdf reports of the simulation runs</a:t>
            </a:r>
          </a:p>
        </p:txBody>
      </p:sp>
      <p:sp>
        <p:nvSpPr>
          <p:cNvPr id="15" name="Legende mit Linie 2 (ohne Rahmen) 18">
            <a:extLst>
              <a:ext uri="{FF2B5EF4-FFF2-40B4-BE49-F238E27FC236}">
                <a16:creationId xmlns:a16="http://schemas.microsoft.com/office/drawing/2014/main" id="{996E2A3B-A615-43BE-A35C-1343DFEC43F2}"/>
              </a:ext>
            </a:extLst>
          </p:cNvPr>
          <p:cNvSpPr/>
          <p:nvPr/>
        </p:nvSpPr>
        <p:spPr>
          <a:xfrm>
            <a:off x="323528" y="3212360"/>
            <a:ext cx="2268760" cy="340275"/>
          </a:xfrm>
          <a:prstGeom prst="callout2">
            <a:avLst>
              <a:gd name="adj1" fmla="val 48828"/>
              <a:gd name="adj2" fmla="val 96980"/>
              <a:gd name="adj3" fmla="val 48828"/>
              <a:gd name="adj4" fmla="val 112667"/>
              <a:gd name="adj5" fmla="val 10687"/>
              <a:gd name="adj6" fmla="val 122219"/>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000" dirty="0">
                <a:solidFill>
                  <a:srgbClr val="0070C0"/>
                </a:solidFill>
              </a:rPr>
              <a:t>If selected, the tool creates a formatted pdf report for both the CIF and MRF for every simulated job</a:t>
            </a:r>
            <a:endParaRPr lang="en-GB" sz="1000" dirty="0">
              <a:solidFill>
                <a:srgbClr val="0070C0"/>
              </a:solidFill>
            </a:endParaRPr>
          </a:p>
        </p:txBody>
      </p:sp>
    </p:spTree>
    <p:extLst>
      <p:ext uri="{BB962C8B-B14F-4D97-AF65-F5344CB8AC3E}">
        <p14:creationId xmlns:p14="http://schemas.microsoft.com/office/powerpoint/2010/main" val="2343413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098DE9-0951-4466-90DD-E61A66CA7D5A}"/>
              </a:ext>
            </a:extLst>
          </p:cNvPr>
          <p:cNvSpPr>
            <a:spLocks noGrp="1"/>
          </p:cNvSpPr>
          <p:nvPr>
            <p:ph type="title"/>
          </p:nvPr>
        </p:nvSpPr>
        <p:spPr>
          <a:xfrm>
            <a:off x="728042" y="123478"/>
            <a:ext cx="7787308" cy="994172"/>
          </a:xfrm>
        </p:spPr>
        <p:txBody>
          <a:bodyPr vert="horz" lIns="91440" tIns="45720" rIns="91440" bIns="45720" rtlCol="0" anchor="ctr">
            <a:normAutofit/>
          </a:bodyPr>
          <a:lstStyle/>
          <a:p>
            <a:r>
              <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Background </a:t>
            </a:r>
            <a:r>
              <a:rPr lang="de-AT" sz="2000" b="1" dirty="0" err="1">
                <a:solidFill>
                  <a:srgbClr val="034EA2"/>
                </a:solidFill>
                <a:latin typeface="Verdana" panose="020B0604030504040204" pitchFamily="34" charset="0"/>
                <a:ea typeface="Verdana" panose="020B0604030504040204" pitchFamily="34" charset="0"/>
                <a:cs typeface="Verdana" panose="020B0604030504040204" pitchFamily="34" charset="0"/>
              </a:rPr>
              <a:t>worker</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3" name="Inhaltsplatzhalter 2">
            <a:extLst>
              <a:ext uri="{FF2B5EF4-FFF2-40B4-BE49-F238E27FC236}">
                <a16:creationId xmlns:a16="http://schemas.microsoft.com/office/drawing/2014/main" id="{5F3EAABA-E0D3-4838-A2EC-E66FAD618B3D}"/>
              </a:ext>
            </a:extLst>
          </p:cNvPr>
          <p:cNvSpPr>
            <a:spLocks noGrp="1"/>
          </p:cNvSpPr>
          <p:nvPr>
            <p:ph idx="1"/>
          </p:nvPr>
        </p:nvSpPr>
        <p:spPr/>
        <p:txBody>
          <a:bodyPr/>
          <a:lstStyle/>
          <a:p>
            <a:pPr marL="0" indent="0">
              <a:buNone/>
            </a:pPr>
            <a:r>
              <a:rPr lang="de-AT" sz="1800" dirty="0" err="1"/>
              <a:t>Enables</a:t>
            </a:r>
            <a:r>
              <a:rPr lang="de-AT" sz="1800" dirty="0"/>
              <a:t> a simple </a:t>
            </a:r>
            <a:r>
              <a:rPr lang="de-AT" sz="1800" dirty="0" err="1"/>
              <a:t>automation</a:t>
            </a:r>
            <a:r>
              <a:rPr lang="de-AT" sz="1800" dirty="0"/>
              <a:t> </a:t>
            </a:r>
            <a:r>
              <a:rPr lang="de-AT" sz="1800" dirty="0" err="1"/>
              <a:t>of</a:t>
            </a:r>
            <a:r>
              <a:rPr lang="de-AT" sz="1800" dirty="0"/>
              <a:t> </a:t>
            </a:r>
            <a:r>
              <a:rPr lang="de-AT" sz="1800" dirty="0" err="1"/>
              <a:t>simulation</a:t>
            </a:r>
            <a:r>
              <a:rPr lang="de-AT" sz="1800" dirty="0"/>
              <a:t> </a:t>
            </a:r>
            <a:r>
              <a:rPr lang="de-AT" sz="1800" dirty="0" err="1"/>
              <a:t>runs</a:t>
            </a:r>
            <a:endParaRPr lang="de-AT" sz="1800" dirty="0"/>
          </a:p>
          <a:p>
            <a:pPr marL="342900" indent="-342900">
              <a:buClr>
                <a:srgbClr val="034EA2"/>
              </a:buClr>
              <a:buFont typeface="+mj-lt"/>
              <a:buAutoNum type="arabicPeriod"/>
            </a:pPr>
            <a:r>
              <a:rPr lang="en-GB" sz="1600" dirty="0"/>
              <a:t>The background worker periodically (i.e. every 4 seconds) searches a directory specified by the user for new input XMLs (Input Directory)</a:t>
            </a:r>
          </a:p>
          <a:p>
            <a:pPr marL="342900" indent="-342900">
              <a:buClr>
                <a:srgbClr val="034EA2"/>
              </a:buClr>
              <a:buFont typeface="+mj-lt"/>
              <a:buAutoNum type="arabicPeriod"/>
            </a:pPr>
            <a:r>
              <a:rPr lang="en-GB" sz="1600" dirty="0"/>
              <a:t>If a new file is available, a calculation is automatically started in the background</a:t>
            </a:r>
          </a:p>
          <a:p>
            <a:pPr marL="342900" indent="-342900">
              <a:buClr>
                <a:srgbClr val="034EA2"/>
              </a:buClr>
              <a:buFont typeface="+mj-lt"/>
              <a:buAutoNum type="arabicPeriod"/>
            </a:pPr>
            <a:r>
              <a:rPr lang="en-GB" sz="1600" dirty="0"/>
              <a:t>After completion, the result files are stored in another directory to be specified by the user (Output Directory)*</a:t>
            </a:r>
          </a:p>
          <a:p>
            <a:pPr>
              <a:buClr>
                <a:srgbClr val="034EA2"/>
              </a:buClr>
            </a:pPr>
            <a:r>
              <a:rPr lang="en-GB" sz="1600" dirty="0"/>
              <a:t>Important boundary conditions / information on using the Background worker</a:t>
            </a:r>
          </a:p>
          <a:p>
            <a:pPr lvl="1">
              <a:buClr>
                <a:srgbClr val="034EA2"/>
              </a:buClr>
            </a:pPr>
            <a:r>
              <a:rPr lang="en-GB" sz="1300" dirty="0"/>
              <a:t>Input and Output Directory </a:t>
            </a:r>
            <a:r>
              <a:rPr lang="en-GB" sz="1300" b="1" dirty="0"/>
              <a:t>must be </a:t>
            </a:r>
            <a:r>
              <a:rPr lang="en-GB" sz="1300" dirty="0"/>
              <a:t>different folders</a:t>
            </a:r>
          </a:p>
          <a:p>
            <a:pPr lvl="1">
              <a:buClr>
                <a:srgbClr val="034EA2"/>
              </a:buClr>
            </a:pPr>
            <a:r>
              <a:rPr lang="en-GB" sz="1300" dirty="0"/>
              <a:t>In case an erroneous file is read from the Input directory, the tool will display an error message but still simulate the remaining valid Job files</a:t>
            </a:r>
          </a:p>
          <a:p>
            <a:pPr marL="457200" indent="-457200">
              <a:buFont typeface="+mj-lt"/>
              <a:buAutoNum type="arabicPeriod"/>
            </a:pPr>
            <a:endParaRPr lang="de-AT" dirty="0">
              <a:solidFill>
                <a:srgbClr val="FF0000"/>
              </a:solidFill>
            </a:endParaRPr>
          </a:p>
        </p:txBody>
      </p:sp>
      <p:sp>
        <p:nvSpPr>
          <p:cNvPr id="4" name="Textfeld 3">
            <a:extLst>
              <a:ext uri="{FF2B5EF4-FFF2-40B4-BE49-F238E27FC236}">
                <a16:creationId xmlns:a16="http://schemas.microsoft.com/office/drawing/2014/main" id="{918FF262-0804-48FF-9288-6195E8F6EA5D}"/>
              </a:ext>
            </a:extLst>
          </p:cNvPr>
          <p:cNvSpPr txBox="1"/>
          <p:nvPr/>
        </p:nvSpPr>
        <p:spPr>
          <a:xfrm>
            <a:off x="628650" y="4276985"/>
            <a:ext cx="5735866" cy="430887"/>
          </a:xfrm>
          <a:prstGeom prst="rect">
            <a:avLst/>
          </a:prstGeom>
          <a:noFill/>
        </p:spPr>
        <p:txBody>
          <a:bodyPr wrap="none" rtlCol="0">
            <a:spAutoFit/>
          </a:bodyPr>
          <a:lstStyle/>
          <a:p>
            <a:r>
              <a:rPr lang="de-AT" sz="1100" dirty="0"/>
              <a:t>*The </a:t>
            </a:r>
            <a:r>
              <a:rPr lang="de-AT" sz="1100" dirty="0" err="1"/>
              <a:t>background</a:t>
            </a:r>
            <a:r>
              <a:rPr lang="de-AT" sz="1100" dirty="0"/>
              <a:t> </a:t>
            </a:r>
            <a:r>
              <a:rPr lang="de-AT" sz="1100" dirty="0" err="1"/>
              <a:t>worker</a:t>
            </a:r>
            <a:r>
              <a:rPr lang="de-AT" sz="1100" dirty="0"/>
              <a:t> </a:t>
            </a:r>
            <a:r>
              <a:rPr lang="de-AT" sz="1100" dirty="0" err="1"/>
              <a:t>has</a:t>
            </a:r>
            <a:r>
              <a:rPr lang="de-AT" sz="1100" dirty="0"/>
              <a:t> </a:t>
            </a:r>
            <a:r>
              <a:rPr lang="de-AT" sz="1100" dirty="0" err="1"/>
              <a:t>to</a:t>
            </a:r>
            <a:r>
              <a:rPr lang="de-AT" sz="1100" dirty="0"/>
              <a:t> </a:t>
            </a:r>
            <a:r>
              <a:rPr lang="de-AT" sz="1100" dirty="0" err="1"/>
              <a:t>be</a:t>
            </a:r>
            <a:r>
              <a:rPr lang="de-AT" sz="1100" dirty="0"/>
              <a:t> </a:t>
            </a:r>
            <a:r>
              <a:rPr lang="de-AT" sz="1100" dirty="0" err="1"/>
              <a:t>initiated</a:t>
            </a:r>
            <a:r>
              <a:rPr lang="de-AT" sz="1100" dirty="0"/>
              <a:t> </a:t>
            </a:r>
            <a:r>
              <a:rPr lang="de-AT" sz="1100" dirty="0" err="1"/>
              <a:t>for</a:t>
            </a:r>
            <a:r>
              <a:rPr lang="de-AT" sz="1100" dirty="0"/>
              <a:t> a </a:t>
            </a:r>
            <a:r>
              <a:rPr lang="de-AT" sz="1100" dirty="0" err="1"/>
              <a:t>certain</a:t>
            </a:r>
            <a:r>
              <a:rPr lang="de-AT" sz="1100" dirty="0"/>
              <a:t> </a:t>
            </a:r>
            <a:r>
              <a:rPr lang="de-AT" sz="1100" dirty="0" err="1"/>
              <a:t>input</a:t>
            </a:r>
            <a:r>
              <a:rPr lang="de-AT" sz="1100" dirty="0"/>
              <a:t>/</a:t>
            </a:r>
            <a:r>
              <a:rPr lang="de-AT" sz="1100" dirty="0" err="1"/>
              <a:t>output</a:t>
            </a:r>
            <a:r>
              <a:rPr lang="de-AT" sz="1100" dirty="0"/>
              <a:t> </a:t>
            </a:r>
            <a:r>
              <a:rPr lang="de-AT" sz="1100" dirty="0" err="1"/>
              <a:t>directory</a:t>
            </a:r>
            <a:r>
              <a:rPr lang="de-AT" sz="1100" dirty="0"/>
              <a:t> </a:t>
            </a:r>
            <a:r>
              <a:rPr lang="de-AT" sz="1100" dirty="0" err="1"/>
              <a:t>by</a:t>
            </a:r>
            <a:r>
              <a:rPr lang="de-AT" sz="1100" dirty="0"/>
              <a:t> </a:t>
            </a:r>
            <a:r>
              <a:rPr lang="de-AT" sz="1100" dirty="0" err="1"/>
              <a:t>pressing</a:t>
            </a:r>
            <a:r>
              <a:rPr lang="de-AT" sz="1100" dirty="0"/>
              <a:t> </a:t>
            </a:r>
            <a:r>
              <a:rPr lang="de-AT" sz="1100" dirty="0" err="1"/>
              <a:t>the</a:t>
            </a:r>
            <a:r>
              <a:rPr lang="de-AT" sz="1100" dirty="0"/>
              <a:t> </a:t>
            </a:r>
          </a:p>
          <a:p>
            <a:r>
              <a:rPr lang="de-AT" sz="1100" dirty="0"/>
              <a:t>„Scan Folder“ </a:t>
            </a:r>
            <a:r>
              <a:rPr lang="de-AT" sz="1100" dirty="0" err="1"/>
              <a:t>button</a:t>
            </a:r>
            <a:r>
              <a:rPr lang="de-AT" sz="1100" dirty="0"/>
              <a:t> </a:t>
            </a:r>
            <a:r>
              <a:rPr lang="de-AT" sz="1100" dirty="0" err="1"/>
              <a:t>under</a:t>
            </a:r>
            <a:r>
              <a:rPr lang="de-AT" sz="1100" dirty="0"/>
              <a:t> „</a:t>
            </a:r>
            <a:r>
              <a:rPr lang="de-AT" sz="1100" dirty="0" err="1"/>
              <a:t>JobFiles</a:t>
            </a:r>
            <a:r>
              <a:rPr lang="de-AT" sz="1100" dirty="0"/>
              <a:t>“</a:t>
            </a:r>
          </a:p>
        </p:txBody>
      </p:sp>
    </p:spTree>
    <p:extLst>
      <p:ext uri="{BB962C8B-B14F-4D97-AF65-F5344CB8AC3E}">
        <p14:creationId xmlns:p14="http://schemas.microsoft.com/office/powerpoint/2010/main" val="1789399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0ABB8A51-FDEF-4CD0-B85A-4542DAD6ADB6}"/>
              </a:ext>
            </a:extLst>
          </p:cNvPr>
          <p:cNvPicPr>
            <a:picLocks noChangeAspect="1"/>
          </p:cNvPicPr>
          <p:nvPr/>
        </p:nvPicPr>
        <p:blipFill>
          <a:blip r:embed="rId3"/>
          <a:stretch>
            <a:fillRect/>
          </a:stretch>
        </p:blipFill>
        <p:spPr>
          <a:xfrm>
            <a:off x="2514106" y="1011662"/>
            <a:ext cx="6377592" cy="3521121"/>
          </a:xfrm>
          <a:prstGeom prst="rect">
            <a:avLst/>
          </a:prstGeom>
        </p:spPr>
      </p:pic>
      <p:sp>
        <p:nvSpPr>
          <p:cNvPr id="2" name="Titel 1"/>
          <p:cNvSpPr>
            <a:spLocks noGrp="1"/>
          </p:cNvSpPr>
          <p:nvPr>
            <p:ph type="title"/>
          </p:nvPr>
        </p:nvSpPr>
        <p:spPr>
          <a:xfrm>
            <a:off x="723554" y="123478"/>
            <a:ext cx="7791796"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Create or edit trailer job (1/6)</a:t>
            </a:r>
          </a:p>
        </p:txBody>
      </p:sp>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3323987"/>
          </a:xfrm>
          <a:prstGeom prst="rect">
            <a:avLst/>
          </a:prstGeom>
          <a:noFill/>
        </p:spPr>
        <p:txBody>
          <a:bodyPr wrap="square" rtlCol="0">
            <a:spAutoFit/>
          </a:bodyPr>
          <a:lstStyle/>
          <a:p>
            <a:pPr marL="342900" indent="-342900">
              <a:buFont typeface="+mj-lt"/>
              <a:buAutoNum type="arabicPeriod"/>
            </a:pPr>
            <a:r>
              <a:rPr lang="en-GB" sz="1400" dirty="0"/>
              <a:t>Open window via</a:t>
            </a:r>
          </a:p>
          <a:p>
            <a:pPr marL="800100" lvl="1" indent="-342900">
              <a:buClr>
                <a:srgbClr val="034EA2"/>
              </a:buClr>
              <a:buFont typeface="Arial" panose="020B0604020202020204" pitchFamily="34" charset="0"/>
              <a:buChar char="•"/>
            </a:pPr>
            <a:r>
              <a:rPr lang="en-GB" sz="1400" dirty="0"/>
              <a:t>“Edit Job” or</a:t>
            </a:r>
          </a:p>
          <a:p>
            <a:pPr marL="800100" lvl="1" indent="-342900">
              <a:buClr>
                <a:srgbClr val="034EA2"/>
              </a:buClr>
              <a:buFont typeface="Arial" panose="020B0604020202020204" pitchFamily="34" charset="0"/>
              <a:buChar char="•"/>
            </a:pPr>
            <a:r>
              <a:rPr lang="en-GB" sz="1400" dirty="0"/>
              <a:t>Right click on Job window </a:t>
            </a:r>
            <a:r>
              <a:rPr lang="en-GB" sz="1400" dirty="0">
                <a:sym typeface="Wingdings" panose="05000000000000000000" pitchFamily="2" charset="2"/>
              </a:rPr>
              <a:t> “Create Trailer Job”</a:t>
            </a:r>
          </a:p>
          <a:p>
            <a:pPr marL="800100" lvl="1" indent="-342900">
              <a:buFont typeface="Arial" panose="020B0604020202020204" pitchFamily="34" charset="0"/>
              <a:buChar char="•"/>
            </a:pPr>
            <a:endParaRPr lang="en-GB" sz="1400" dirty="0">
              <a:sym typeface="Wingdings" panose="05000000000000000000" pitchFamily="2" charset="2"/>
            </a:endParaRPr>
          </a:p>
          <a:p>
            <a:pPr marL="342900" indent="-342900">
              <a:buFont typeface="+mj-lt"/>
              <a:buAutoNum type="arabicPeriod"/>
            </a:pPr>
            <a:r>
              <a:rPr lang="en-GB" sz="1400" dirty="0"/>
              <a:t>Define main trailer specifications</a:t>
            </a:r>
          </a:p>
          <a:p>
            <a:pPr marL="342900" indent="-342900">
              <a:buFont typeface="+mj-lt"/>
              <a:buAutoNum type="arabicPeriod"/>
            </a:pPr>
            <a:endParaRPr lang="en-GB" sz="1400" dirty="0"/>
          </a:p>
          <a:p>
            <a:pPr marL="342900" indent="-342900">
              <a:buFont typeface="+mj-lt"/>
              <a:buAutoNum type="arabicPeriod"/>
            </a:pPr>
            <a:r>
              <a:rPr lang="en-GB" sz="1400" dirty="0"/>
              <a:t>Define Aero feature technologies</a:t>
            </a:r>
          </a:p>
          <a:p>
            <a:pPr marL="342900" indent="-342900">
              <a:buFont typeface="+mj-lt"/>
              <a:buAutoNum type="arabicPeriod"/>
            </a:pPr>
            <a:endParaRPr lang="en-GB" sz="1400" dirty="0"/>
          </a:p>
          <a:p>
            <a:pPr marL="342900" indent="-342900">
              <a:buFont typeface="+mj-lt"/>
              <a:buAutoNum type="arabicPeriod"/>
            </a:pPr>
            <a:r>
              <a:rPr lang="en-GB" sz="1400" dirty="0"/>
              <a:t>Define Axle and Tyre features</a:t>
            </a:r>
          </a:p>
        </p:txBody>
      </p:sp>
      <p:sp>
        <p:nvSpPr>
          <p:cNvPr id="18" name="Rechteck 17">
            <a:extLst>
              <a:ext uri="{FF2B5EF4-FFF2-40B4-BE49-F238E27FC236}">
                <a16:creationId xmlns:a16="http://schemas.microsoft.com/office/drawing/2014/main" id="{BFC56291-D8FF-4064-B968-C2ACF8410274}"/>
              </a:ext>
            </a:extLst>
          </p:cNvPr>
          <p:cNvSpPr/>
          <p:nvPr/>
        </p:nvSpPr>
        <p:spPr>
          <a:xfrm>
            <a:off x="2618741" y="1556814"/>
            <a:ext cx="6107046" cy="1094946"/>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9" name="Rechteck 18">
            <a:extLst>
              <a:ext uri="{FF2B5EF4-FFF2-40B4-BE49-F238E27FC236}">
                <a16:creationId xmlns:a16="http://schemas.microsoft.com/office/drawing/2014/main" id="{4EF282CB-EF33-4644-8376-3AD90955BABB}"/>
              </a:ext>
            </a:extLst>
          </p:cNvPr>
          <p:cNvSpPr/>
          <p:nvPr/>
        </p:nvSpPr>
        <p:spPr>
          <a:xfrm>
            <a:off x="2618740" y="2678960"/>
            <a:ext cx="2048510" cy="1486640"/>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4" name="Rechteck 23">
            <a:extLst>
              <a:ext uri="{FF2B5EF4-FFF2-40B4-BE49-F238E27FC236}">
                <a16:creationId xmlns:a16="http://schemas.microsoft.com/office/drawing/2014/main" id="{C70E6B36-9A19-489B-A12D-10B6007C7728}"/>
              </a:ext>
            </a:extLst>
          </p:cNvPr>
          <p:cNvSpPr/>
          <p:nvPr/>
        </p:nvSpPr>
        <p:spPr>
          <a:xfrm>
            <a:off x="146468" y="2883193"/>
            <a:ext cx="288032" cy="237588"/>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8" name="Rechteck 27">
            <a:extLst>
              <a:ext uri="{FF2B5EF4-FFF2-40B4-BE49-F238E27FC236}">
                <a16:creationId xmlns:a16="http://schemas.microsoft.com/office/drawing/2014/main" id="{5679CD40-6E09-4EC9-B950-9BF3CA079226}"/>
              </a:ext>
            </a:extLst>
          </p:cNvPr>
          <p:cNvSpPr/>
          <p:nvPr/>
        </p:nvSpPr>
        <p:spPr>
          <a:xfrm>
            <a:off x="4727575" y="2677350"/>
            <a:ext cx="1963847" cy="1486640"/>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9" name="Rechteck 28">
            <a:extLst>
              <a:ext uri="{FF2B5EF4-FFF2-40B4-BE49-F238E27FC236}">
                <a16:creationId xmlns:a16="http://schemas.microsoft.com/office/drawing/2014/main" id="{DEB16384-30AB-4BFD-BEA8-3FAE9209FC7E}"/>
              </a:ext>
            </a:extLst>
          </p:cNvPr>
          <p:cNvSpPr/>
          <p:nvPr/>
        </p:nvSpPr>
        <p:spPr>
          <a:xfrm>
            <a:off x="146468" y="3523981"/>
            <a:ext cx="288032" cy="237588"/>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0" name="Rechteck 29">
            <a:extLst>
              <a:ext uri="{FF2B5EF4-FFF2-40B4-BE49-F238E27FC236}">
                <a16:creationId xmlns:a16="http://schemas.microsoft.com/office/drawing/2014/main" id="{8577FF1B-DF1E-4B33-9D34-66E44D309307}"/>
              </a:ext>
            </a:extLst>
          </p:cNvPr>
          <p:cNvSpPr/>
          <p:nvPr/>
        </p:nvSpPr>
        <p:spPr>
          <a:xfrm>
            <a:off x="146468" y="4157584"/>
            <a:ext cx="288032" cy="237588"/>
          </a:xfrm>
          <a:prstGeom prst="rect">
            <a:avLst/>
          </a:prstGeom>
          <a:solidFill>
            <a:srgbClr val="E1CCF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1" name="Rechteck 30">
            <a:extLst>
              <a:ext uri="{FF2B5EF4-FFF2-40B4-BE49-F238E27FC236}">
                <a16:creationId xmlns:a16="http://schemas.microsoft.com/office/drawing/2014/main" id="{1E417FBD-5850-46F4-B5BD-47046E31F338}"/>
              </a:ext>
            </a:extLst>
          </p:cNvPr>
          <p:cNvSpPr/>
          <p:nvPr/>
        </p:nvSpPr>
        <p:spPr>
          <a:xfrm>
            <a:off x="6769396" y="2678960"/>
            <a:ext cx="1956392" cy="1478624"/>
          </a:xfrm>
          <a:prstGeom prst="rect">
            <a:avLst/>
          </a:prstGeom>
          <a:solidFill>
            <a:srgbClr val="E1CCF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234864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8D780BB4-EE6C-4075-A797-7598EA28FDEE}"/>
              </a:ext>
            </a:extLst>
          </p:cNvPr>
          <p:cNvPicPr>
            <a:picLocks noChangeAspect="1"/>
          </p:cNvPicPr>
          <p:nvPr/>
        </p:nvPicPr>
        <p:blipFill>
          <a:blip r:embed="rId3"/>
          <a:stretch>
            <a:fillRect/>
          </a:stretch>
        </p:blipFill>
        <p:spPr>
          <a:xfrm>
            <a:off x="3294283" y="1635646"/>
            <a:ext cx="2488135" cy="2257200"/>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738664"/>
          </a:xfrm>
          <a:prstGeom prst="rect">
            <a:avLst/>
          </a:prstGeom>
          <a:noFill/>
        </p:spPr>
        <p:txBody>
          <a:bodyPr wrap="square" rtlCol="0">
            <a:spAutoFit/>
          </a:bodyPr>
          <a:lstStyle/>
          <a:p>
            <a:pPr marL="342900" indent="-342900">
              <a:buFont typeface="+mj-lt"/>
              <a:buAutoNum type="arabicPeriod" startAt="3"/>
            </a:pPr>
            <a:r>
              <a:rPr lang="en-GB" sz="1400" dirty="0"/>
              <a:t>Define Aero feature technologies</a:t>
            </a:r>
          </a:p>
          <a:p>
            <a:pPr marL="342900" indent="-342900">
              <a:buFont typeface="+mj-lt"/>
              <a:buAutoNum type="arabicPeriod" startAt="3"/>
            </a:pPr>
            <a:endParaRPr lang="en-GB" sz="1400" dirty="0"/>
          </a:p>
        </p:txBody>
      </p:sp>
      <p:sp>
        <p:nvSpPr>
          <p:cNvPr id="12" name="Rechteck 11">
            <a:extLst>
              <a:ext uri="{FF2B5EF4-FFF2-40B4-BE49-F238E27FC236}">
                <a16:creationId xmlns:a16="http://schemas.microsoft.com/office/drawing/2014/main" id="{7EB63A11-2820-4D9A-884E-07AC6B567DEB}"/>
              </a:ext>
            </a:extLst>
          </p:cNvPr>
          <p:cNvSpPr/>
          <p:nvPr/>
        </p:nvSpPr>
        <p:spPr>
          <a:xfrm>
            <a:off x="146468" y="1386628"/>
            <a:ext cx="288032" cy="237588"/>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Rechteck 14">
            <a:extLst>
              <a:ext uri="{FF2B5EF4-FFF2-40B4-BE49-F238E27FC236}">
                <a16:creationId xmlns:a16="http://schemas.microsoft.com/office/drawing/2014/main" id="{AB539BE7-850F-437E-9BDE-046F6F85F446}"/>
              </a:ext>
            </a:extLst>
          </p:cNvPr>
          <p:cNvSpPr/>
          <p:nvPr/>
        </p:nvSpPr>
        <p:spPr>
          <a:xfrm>
            <a:off x="3300873" y="2211710"/>
            <a:ext cx="1980000" cy="38417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6" name="Legende mit Linie 2 (ohne Rahmen) 19">
            <a:extLst>
              <a:ext uri="{FF2B5EF4-FFF2-40B4-BE49-F238E27FC236}">
                <a16:creationId xmlns:a16="http://schemas.microsoft.com/office/drawing/2014/main" id="{8F393C1E-828E-476E-B44C-F7B75A459184}"/>
              </a:ext>
            </a:extLst>
          </p:cNvPr>
          <p:cNvSpPr/>
          <p:nvPr/>
        </p:nvSpPr>
        <p:spPr>
          <a:xfrm>
            <a:off x="6156176" y="1995686"/>
            <a:ext cx="1830567" cy="340275"/>
          </a:xfrm>
          <a:prstGeom prst="callout2">
            <a:avLst>
              <a:gd name="adj1" fmla="val 48828"/>
              <a:gd name="adj2" fmla="val 581"/>
              <a:gd name="adj3" fmla="val 49675"/>
              <a:gd name="adj4" fmla="val -15973"/>
              <a:gd name="adj5" fmla="val 127054"/>
              <a:gd name="adj6" fmla="val -47191"/>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Checkbox to declare applicable standard aerodynamic device(s)</a:t>
            </a:r>
          </a:p>
          <a:p>
            <a:r>
              <a:rPr lang="en-GB" sz="1000" b="1" dirty="0">
                <a:solidFill>
                  <a:srgbClr val="0070C0"/>
                </a:solidFill>
              </a:rPr>
              <a:t>Note that not all combinations are valid </a:t>
            </a:r>
            <a:r>
              <a:rPr lang="en-GB" sz="1000" b="1" dirty="0">
                <a:solidFill>
                  <a:srgbClr val="0070C0"/>
                </a:solidFill>
                <a:sym typeface="Wingdings" panose="05000000000000000000" pitchFamily="2" charset="2"/>
              </a:rPr>
              <a:t> s</a:t>
            </a:r>
            <a:r>
              <a:rPr lang="en-GB" sz="1000" b="1" dirty="0">
                <a:solidFill>
                  <a:srgbClr val="0070C0"/>
                </a:solidFill>
              </a:rPr>
              <a:t>ee also:</a:t>
            </a:r>
          </a:p>
        </p:txBody>
      </p:sp>
      <p:sp>
        <p:nvSpPr>
          <p:cNvPr id="5" name="Textfeld 4">
            <a:extLst>
              <a:ext uri="{FF2B5EF4-FFF2-40B4-BE49-F238E27FC236}">
                <a16:creationId xmlns:a16="http://schemas.microsoft.com/office/drawing/2014/main" id="{83E896AC-0456-4154-B168-7EC67D11F0B5}"/>
              </a:ext>
            </a:extLst>
          </p:cNvPr>
          <p:cNvSpPr txBox="1"/>
          <p:nvPr/>
        </p:nvSpPr>
        <p:spPr>
          <a:xfrm>
            <a:off x="6151921" y="2443703"/>
            <a:ext cx="2884575" cy="707886"/>
          </a:xfrm>
          <a:prstGeom prst="rect">
            <a:avLst/>
          </a:prstGeom>
          <a:noFill/>
        </p:spPr>
        <p:txBody>
          <a:bodyPr wrap="square" rtlCol="0">
            <a:spAutoFit/>
          </a:bodyPr>
          <a:lstStyle/>
          <a:p>
            <a:pPr marL="171450" indent="-171450">
              <a:buFont typeface="Arial" panose="020B0604020202020204" pitchFamily="34" charset="0"/>
              <a:buChar char="•"/>
            </a:pPr>
            <a:r>
              <a:rPr lang="de-AT" sz="1000">
                <a:solidFill>
                  <a:srgbClr val="0070C0"/>
                </a:solidFill>
              </a:rPr>
              <a:t>Masterexcel</a:t>
            </a:r>
            <a:r>
              <a:rPr lang="de-AT" sz="1000" dirty="0">
                <a:solidFill>
                  <a:srgbClr val="0070C0"/>
                </a:solidFill>
              </a:rPr>
              <a:t> </a:t>
            </a:r>
            <a:r>
              <a:rPr lang="de-AT" sz="1000">
                <a:solidFill>
                  <a:srgbClr val="0070C0"/>
                </a:solidFill>
              </a:rPr>
              <a:t>sheet </a:t>
            </a:r>
            <a:r>
              <a:rPr lang="de-AT" sz="1000" dirty="0">
                <a:solidFill>
                  <a:srgbClr val="0070C0"/>
                </a:solidFill>
              </a:rPr>
              <a:t>„</a:t>
            </a:r>
            <a:r>
              <a:rPr lang="de-AT" sz="1000" dirty="0" err="1">
                <a:solidFill>
                  <a:srgbClr val="0070C0"/>
                </a:solidFill>
              </a:rPr>
              <a:t>Combination</a:t>
            </a:r>
            <a:r>
              <a:rPr lang="de-AT" sz="1000" dirty="0">
                <a:solidFill>
                  <a:srgbClr val="0070C0"/>
                </a:solidFill>
              </a:rPr>
              <a:t> Add-</a:t>
            </a:r>
            <a:r>
              <a:rPr lang="de-AT" sz="1000" dirty="0" err="1">
                <a:solidFill>
                  <a:srgbClr val="0070C0"/>
                </a:solidFill>
              </a:rPr>
              <a:t>ons</a:t>
            </a:r>
            <a:r>
              <a:rPr lang="de-AT" sz="1000" dirty="0">
                <a:solidFill>
                  <a:srgbClr val="0070C0"/>
                </a:solidFill>
              </a:rPr>
              <a:t>“</a:t>
            </a:r>
          </a:p>
          <a:p>
            <a:pPr marL="171450" indent="-171450">
              <a:buFont typeface="Arial" panose="020B0604020202020204" pitchFamily="34" charset="0"/>
              <a:buChar char="•"/>
            </a:pPr>
            <a:r>
              <a:rPr lang="de-AT" sz="1000" dirty="0">
                <a:solidFill>
                  <a:srgbClr val="0070C0"/>
                </a:solidFill>
              </a:rPr>
              <a:t>Trailer_combination_addon.csv in </a:t>
            </a:r>
            <a:r>
              <a:rPr lang="de-AT" sz="1000" dirty="0" err="1">
                <a:solidFill>
                  <a:srgbClr val="0070C0"/>
                </a:solidFill>
              </a:rPr>
              <a:t>the</a:t>
            </a:r>
            <a:r>
              <a:rPr lang="de-AT" sz="1000" dirty="0">
                <a:solidFill>
                  <a:srgbClr val="0070C0"/>
                </a:solidFill>
              </a:rPr>
              <a:t> </a:t>
            </a:r>
            <a:r>
              <a:rPr lang="de-AT" sz="1000">
                <a:solidFill>
                  <a:srgbClr val="0070C0"/>
                </a:solidFill>
              </a:rPr>
              <a:t>Declaration folder</a:t>
            </a:r>
            <a:endParaRPr lang="de-AT" sz="1000" dirty="0">
              <a:solidFill>
                <a:srgbClr val="0070C0"/>
              </a:solidFill>
            </a:endParaRPr>
          </a:p>
          <a:p>
            <a:pPr marL="171450" indent="-171450">
              <a:buFont typeface="Arial" panose="020B0604020202020204" pitchFamily="34" charset="0"/>
              <a:buChar char="•"/>
            </a:pPr>
            <a:r>
              <a:rPr lang="de-AT" sz="1000" dirty="0">
                <a:solidFill>
                  <a:srgbClr val="0070C0"/>
                </a:solidFill>
              </a:rPr>
              <a:t>Task 2 report</a:t>
            </a:r>
          </a:p>
        </p:txBody>
      </p:sp>
      <p:sp>
        <p:nvSpPr>
          <p:cNvPr id="20" name="Legende mit Linie 2 (ohne Rahmen) 19">
            <a:extLst>
              <a:ext uri="{FF2B5EF4-FFF2-40B4-BE49-F238E27FC236}">
                <a16:creationId xmlns:a16="http://schemas.microsoft.com/office/drawing/2014/main" id="{8567E10E-B285-4E0C-B265-5397C1EC4C4B}"/>
              </a:ext>
            </a:extLst>
          </p:cNvPr>
          <p:cNvSpPr/>
          <p:nvPr/>
        </p:nvSpPr>
        <p:spPr>
          <a:xfrm>
            <a:off x="434500" y="1995686"/>
            <a:ext cx="2121276" cy="600194"/>
          </a:xfrm>
          <a:prstGeom prst="callout2">
            <a:avLst>
              <a:gd name="adj1" fmla="val 44562"/>
              <a:gd name="adj2" fmla="val 100088"/>
              <a:gd name="adj3" fmla="val 11286"/>
              <a:gd name="adj4" fmla="val 120800"/>
              <a:gd name="adj5" fmla="val -25498"/>
              <a:gd name="adj6" fmla="val 134141"/>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a:solidFill>
                  <a:srgbClr val="0070C0"/>
                </a:solidFill>
              </a:rPr>
              <a:t>Select if standard values for reduction rates from aero devices are to be applied</a:t>
            </a:r>
          </a:p>
        </p:txBody>
      </p:sp>
      <p:sp>
        <p:nvSpPr>
          <p:cNvPr id="21" name="Rechteck 20">
            <a:extLst>
              <a:ext uri="{FF2B5EF4-FFF2-40B4-BE49-F238E27FC236}">
                <a16:creationId xmlns:a16="http://schemas.microsoft.com/office/drawing/2014/main" id="{134D3895-19FD-497B-9E8D-9E2772A033C8}"/>
              </a:ext>
            </a:extLst>
          </p:cNvPr>
          <p:cNvSpPr/>
          <p:nvPr/>
        </p:nvSpPr>
        <p:spPr>
          <a:xfrm>
            <a:off x="3299250" y="1774582"/>
            <a:ext cx="1944216" cy="144016"/>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2" name="Textfeld 21">
            <a:extLst>
              <a:ext uri="{FF2B5EF4-FFF2-40B4-BE49-F238E27FC236}">
                <a16:creationId xmlns:a16="http://schemas.microsoft.com/office/drawing/2014/main" id="{D079A5D0-1CE1-406E-9161-D8FC7A606FCA}"/>
              </a:ext>
            </a:extLst>
          </p:cNvPr>
          <p:cNvSpPr txBox="1"/>
          <p:nvPr/>
        </p:nvSpPr>
        <p:spPr>
          <a:xfrm>
            <a:off x="434500" y="2595880"/>
            <a:ext cx="2216004" cy="1477328"/>
          </a:xfrm>
          <a:prstGeom prst="rect">
            <a:avLst/>
          </a:prstGeom>
          <a:noFill/>
        </p:spPr>
        <p:txBody>
          <a:bodyPr wrap="square" rtlCol="0">
            <a:spAutoFit/>
          </a:bodyPr>
          <a:lstStyle/>
          <a:p>
            <a:r>
              <a:rPr lang="en-GB" sz="1000">
                <a:solidFill>
                  <a:schemeClr val="bg1">
                    <a:lumMod val="50000"/>
                  </a:schemeClr>
                </a:solidFill>
              </a:rPr>
              <a:t>Standard values as automatically allocated by the VECTO Trailer Tool are documented in:</a:t>
            </a:r>
            <a:endParaRPr lang="de-AT" sz="1000">
              <a:solidFill>
                <a:schemeClr val="bg1">
                  <a:lumMod val="50000"/>
                </a:schemeClr>
              </a:solidFill>
            </a:endParaRPr>
          </a:p>
          <a:p>
            <a:pPr marL="171450" indent="-171450">
              <a:buFont typeface="Arial" panose="020B0604020202020204" pitchFamily="34" charset="0"/>
              <a:buChar char="•"/>
            </a:pPr>
            <a:r>
              <a:rPr lang="de-AT" sz="1000">
                <a:solidFill>
                  <a:schemeClr val="bg1">
                    <a:lumMod val="50000"/>
                  </a:schemeClr>
                </a:solidFill>
              </a:rPr>
              <a:t>Masterexcel </a:t>
            </a:r>
            <a:r>
              <a:rPr lang="de-AT" sz="1000" dirty="0" err="1">
                <a:solidFill>
                  <a:schemeClr val="bg1">
                    <a:lumMod val="50000"/>
                  </a:schemeClr>
                </a:solidFill>
              </a:rPr>
              <a:t>sheet</a:t>
            </a:r>
            <a:r>
              <a:rPr lang="de-AT" sz="1000" dirty="0">
                <a:solidFill>
                  <a:schemeClr val="bg1">
                    <a:lumMod val="50000"/>
                  </a:schemeClr>
                </a:solidFill>
              </a:rPr>
              <a:t> „</a:t>
            </a:r>
            <a:r>
              <a:rPr lang="de-AT" sz="1000" dirty="0" err="1">
                <a:solidFill>
                  <a:schemeClr val="bg1">
                    <a:lumMod val="50000"/>
                  </a:schemeClr>
                </a:solidFill>
              </a:rPr>
              <a:t>Combination</a:t>
            </a:r>
            <a:r>
              <a:rPr lang="de-AT" sz="1000" dirty="0">
                <a:solidFill>
                  <a:schemeClr val="bg1">
                    <a:lumMod val="50000"/>
                  </a:schemeClr>
                </a:solidFill>
              </a:rPr>
              <a:t> Add-</a:t>
            </a:r>
            <a:r>
              <a:rPr lang="de-AT" sz="1000" dirty="0" err="1">
                <a:solidFill>
                  <a:schemeClr val="bg1">
                    <a:lumMod val="50000"/>
                  </a:schemeClr>
                </a:solidFill>
              </a:rPr>
              <a:t>ons</a:t>
            </a:r>
            <a:r>
              <a:rPr lang="de-AT" sz="1000" dirty="0">
                <a:solidFill>
                  <a:schemeClr val="bg1">
                    <a:lumMod val="50000"/>
                  </a:schemeClr>
                </a:solidFill>
              </a:rPr>
              <a:t>“ </a:t>
            </a:r>
            <a:r>
              <a:rPr lang="de-AT" sz="1000" dirty="0" err="1">
                <a:solidFill>
                  <a:schemeClr val="bg1">
                    <a:lumMod val="50000"/>
                  </a:schemeClr>
                </a:solidFill>
              </a:rPr>
              <a:t>or</a:t>
            </a:r>
            <a:r>
              <a:rPr lang="de-AT" sz="1000" dirty="0">
                <a:solidFill>
                  <a:schemeClr val="bg1">
                    <a:lumMod val="50000"/>
                  </a:schemeClr>
                </a:solidFill>
              </a:rPr>
              <a:t> „</a:t>
            </a:r>
            <a:r>
              <a:rPr lang="de-AT" sz="1000" dirty="0" err="1">
                <a:solidFill>
                  <a:schemeClr val="bg1">
                    <a:lumMod val="50000"/>
                  </a:schemeClr>
                </a:solidFill>
              </a:rPr>
              <a:t>Specific</a:t>
            </a:r>
            <a:r>
              <a:rPr lang="de-AT" sz="1000" dirty="0">
                <a:solidFill>
                  <a:schemeClr val="bg1">
                    <a:lumMod val="50000"/>
                  </a:schemeClr>
                </a:solidFill>
              </a:rPr>
              <a:t> Trailer“ </a:t>
            </a:r>
            <a:r>
              <a:rPr lang="de-AT" sz="1000" dirty="0" err="1">
                <a:solidFill>
                  <a:schemeClr val="bg1">
                    <a:lumMod val="50000"/>
                  </a:schemeClr>
                </a:solidFill>
              </a:rPr>
              <a:t>column</a:t>
            </a:r>
            <a:r>
              <a:rPr lang="de-AT" sz="1000" dirty="0">
                <a:solidFill>
                  <a:schemeClr val="bg1">
                    <a:lumMod val="50000"/>
                  </a:schemeClr>
                </a:solidFill>
              </a:rPr>
              <a:t> Y </a:t>
            </a:r>
            <a:r>
              <a:rPr lang="de-AT" sz="1000" dirty="0" err="1">
                <a:solidFill>
                  <a:schemeClr val="bg1">
                    <a:lumMod val="50000"/>
                  </a:schemeClr>
                </a:solidFill>
              </a:rPr>
              <a:t>to</a:t>
            </a:r>
            <a:r>
              <a:rPr lang="de-AT" sz="1000" dirty="0">
                <a:solidFill>
                  <a:schemeClr val="bg1">
                    <a:lumMod val="50000"/>
                  </a:schemeClr>
                </a:solidFill>
              </a:rPr>
              <a:t> BH</a:t>
            </a:r>
          </a:p>
          <a:p>
            <a:pPr marL="171450" indent="-171450">
              <a:buFont typeface="Arial" panose="020B0604020202020204" pitchFamily="34" charset="0"/>
              <a:buChar char="•"/>
            </a:pPr>
            <a:r>
              <a:rPr lang="de-AT" sz="1000" dirty="0">
                <a:solidFill>
                  <a:schemeClr val="bg1">
                    <a:lumMod val="50000"/>
                  </a:schemeClr>
                </a:solidFill>
              </a:rPr>
              <a:t>Specific_trailer.csv in </a:t>
            </a:r>
            <a:r>
              <a:rPr lang="de-AT" sz="1000" dirty="0" err="1">
                <a:solidFill>
                  <a:schemeClr val="bg1">
                    <a:lumMod val="50000"/>
                  </a:schemeClr>
                </a:solidFill>
              </a:rPr>
              <a:t>the</a:t>
            </a:r>
            <a:r>
              <a:rPr lang="de-AT" sz="1000" dirty="0">
                <a:solidFill>
                  <a:schemeClr val="bg1">
                    <a:lumMod val="50000"/>
                  </a:schemeClr>
                </a:solidFill>
              </a:rPr>
              <a:t> Declaration </a:t>
            </a:r>
            <a:r>
              <a:rPr lang="de-AT" sz="1000" dirty="0" err="1">
                <a:solidFill>
                  <a:schemeClr val="bg1">
                    <a:lumMod val="50000"/>
                  </a:schemeClr>
                </a:solidFill>
              </a:rPr>
              <a:t>folder</a:t>
            </a:r>
            <a:endParaRPr lang="de-AT" sz="1000" dirty="0">
              <a:solidFill>
                <a:schemeClr val="bg1">
                  <a:lumMod val="50000"/>
                </a:schemeClr>
              </a:solidFill>
            </a:endParaRPr>
          </a:p>
          <a:p>
            <a:pPr marL="171450" indent="-171450">
              <a:buFont typeface="Arial" panose="020B0604020202020204" pitchFamily="34" charset="0"/>
              <a:buChar char="•"/>
            </a:pPr>
            <a:r>
              <a:rPr lang="de-AT" sz="1000" dirty="0">
                <a:solidFill>
                  <a:schemeClr val="bg1">
                    <a:lumMod val="50000"/>
                  </a:schemeClr>
                </a:solidFill>
              </a:rPr>
              <a:t>Task 2 report</a:t>
            </a:r>
          </a:p>
        </p:txBody>
      </p:sp>
      <p:sp>
        <p:nvSpPr>
          <p:cNvPr id="13"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Create or edit trailer job (2/6)</a:t>
            </a:r>
          </a:p>
        </p:txBody>
      </p:sp>
    </p:spTree>
    <p:extLst>
      <p:ext uri="{BB962C8B-B14F-4D97-AF65-F5344CB8AC3E}">
        <p14:creationId xmlns:p14="http://schemas.microsoft.com/office/powerpoint/2010/main" val="2644120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9D2DF09E-3404-4070-9B95-BC3E725497EC}"/>
              </a:ext>
            </a:extLst>
          </p:cNvPr>
          <p:cNvPicPr>
            <a:picLocks noChangeAspect="1"/>
          </p:cNvPicPr>
          <p:nvPr/>
        </p:nvPicPr>
        <p:blipFill>
          <a:blip r:embed="rId3"/>
          <a:stretch>
            <a:fillRect/>
          </a:stretch>
        </p:blipFill>
        <p:spPr>
          <a:xfrm>
            <a:off x="3277474" y="1491630"/>
            <a:ext cx="2489471" cy="2257200"/>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738664"/>
          </a:xfrm>
          <a:prstGeom prst="rect">
            <a:avLst/>
          </a:prstGeom>
          <a:noFill/>
        </p:spPr>
        <p:txBody>
          <a:bodyPr wrap="square" rtlCol="0">
            <a:spAutoFit/>
          </a:bodyPr>
          <a:lstStyle/>
          <a:p>
            <a:pPr marL="342900" indent="-342900">
              <a:buFont typeface="+mj-lt"/>
              <a:buAutoNum type="arabicPeriod" startAt="3"/>
            </a:pPr>
            <a:r>
              <a:rPr lang="en-GB" sz="1400" dirty="0"/>
              <a:t>Define Aero feature technologies</a:t>
            </a:r>
          </a:p>
          <a:p>
            <a:pPr marL="342900" indent="-342900">
              <a:buFont typeface="+mj-lt"/>
              <a:buAutoNum type="arabicPeriod" startAt="3"/>
            </a:pPr>
            <a:endParaRPr lang="en-GB" sz="1400" dirty="0"/>
          </a:p>
        </p:txBody>
      </p:sp>
      <p:sp>
        <p:nvSpPr>
          <p:cNvPr id="16" name="Legende mit Linie 2 (ohne Rahmen) 19">
            <a:extLst>
              <a:ext uri="{FF2B5EF4-FFF2-40B4-BE49-F238E27FC236}">
                <a16:creationId xmlns:a16="http://schemas.microsoft.com/office/drawing/2014/main" id="{8F393C1E-828E-476E-B44C-F7B75A459184}"/>
              </a:ext>
            </a:extLst>
          </p:cNvPr>
          <p:cNvSpPr/>
          <p:nvPr/>
        </p:nvSpPr>
        <p:spPr>
          <a:xfrm>
            <a:off x="6156176" y="1995686"/>
            <a:ext cx="1830567" cy="340275"/>
          </a:xfrm>
          <a:prstGeom prst="callout2">
            <a:avLst>
              <a:gd name="adj1" fmla="val 48828"/>
              <a:gd name="adj2" fmla="val 581"/>
              <a:gd name="adj3" fmla="val 49675"/>
              <a:gd name="adj4" fmla="val -15973"/>
              <a:gd name="adj5" fmla="val 93845"/>
              <a:gd name="adj6" fmla="val -28904"/>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Brows button </a:t>
            </a:r>
            <a:r>
              <a:rPr lang="en-GB" sz="1000">
                <a:solidFill>
                  <a:srgbClr val="0070C0"/>
                </a:solidFill>
              </a:rPr>
              <a:t>to browse </a:t>
            </a:r>
            <a:r>
              <a:rPr lang="en-GB" sz="1000" dirty="0">
                <a:solidFill>
                  <a:srgbClr val="0070C0"/>
                </a:solidFill>
              </a:rPr>
              <a:t>for the XML file of the certified aerodynamic device</a:t>
            </a:r>
            <a:endParaRPr lang="en-GB" sz="1000" b="1" dirty="0">
              <a:solidFill>
                <a:srgbClr val="0070C0"/>
              </a:solidFill>
            </a:endParaRPr>
          </a:p>
        </p:txBody>
      </p:sp>
      <p:sp>
        <p:nvSpPr>
          <p:cNvPr id="21" name="Rechteck 20">
            <a:extLst>
              <a:ext uri="{FF2B5EF4-FFF2-40B4-BE49-F238E27FC236}">
                <a16:creationId xmlns:a16="http://schemas.microsoft.com/office/drawing/2014/main" id="{134D3895-19FD-497B-9E8D-9E2772A033C8}"/>
              </a:ext>
            </a:extLst>
          </p:cNvPr>
          <p:cNvSpPr/>
          <p:nvPr/>
        </p:nvSpPr>
        <p:spPr>
          <a:xfrm>
            <a:off x="3303057" y="1793919"/>
            <a:ext cx="1944216" cy="144016"/>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4" name="Legende mit Linie 2 (ohne Rahmen) 19">
            <a:extLst>
              <a:ext uri="{FF2B5EF4-FFF2-40B4-BE49-F238E27FC236}">
                <a16:creationId xmlns:a16="http://schemas.microsoft.com/office/drawing/2014/main" id="{2815C0DE-ABE0-4D3D-A890-5507C943A4E0}"/>
              </a:ext>
            </a:extLst>
          </p:cNvPr>
          <p:cNvSpPr/>
          <p:nvPr/>
        </p:nvSpPr>
        <p:spPr>
          <a:xfrm>
            <a:off x="542514" y="1930139"/>
            <a:ext cx="1830567" cy="1127084"/>
          </a:xfrm>
          <a:prstGeom prst="callout2">
            <a:avLst>
              <a:gd name="adj1" fmla="val 44562"/>
              <a:gd name="adj2" fmla="val 100088"/>
              <a:gd name="adj3" fmla="val 26836"/>
              <a:gd name="adj4" fmla="val 100819"/>
              <a:gd name="adj5" fmla="val -6604"/>
              <a:gd name="adj6" fmla="val 150956"/>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a:solidFill>
                  <a:srgbClr val="0070C0"/>
                </a:solidFill>
              </a:rPr>
              <a:t>Select if certified reduction rates from aerodynamic devices are to be applied</a:t>
            </a:r>
            <a:endParaRPr lang="en-GB" sz="1000" dirty="0">
              <a:solidFill>
                <a:srgbClr val="0070C0"/>
              </a:solidFill>
            </a:endParaRPr>
          </a:p>
          <a:p>
            <a:r>
              <a:rPr lang="en-GB" sz="1000" dirty="0">
                <a:solidFill>
                  <a:srgbClr val="0070C0"/>
                </a:solidFill>
              </a:rPr>
              <a:t> </a:t>
            </a:r>
          </a:p>
        </p:txBody>
      </p:sp>
      <p:sp>
        <p:nvSpPr>
          <p:cNvPr id="11"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Create or edit trailer job (3/6)</a:t>
            </a:r>
          </a:p>
        </p:txBody>
      </p:sp>
      <p:sp>
        <p:nvSpPr>
          <p:cNvPr id="20" name="Rechteck 19">
            <a:extLst>
              <a:ext uri="{FF2B5EF4-FFF2-40B4-BE49-F238E27FC236}">
                <a16:creationId xmlns:a16="http://schemas.microsoft.com/office/drawing/2014/main" id="{99460832-F440-44ED-8E3A-31D06640C408}"/>
              </a:ext>
            </a:extLst>
          </p:cNvPr>
          <p:cNvSpPr/>
          <p:nvPr/>
        </p:nvSpPr>
        <p:spPr>
          <a:xfrm>
            <a:off x="5415776" y="2230064"/>
            <a:ext cx="212400" cy="144016"/>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3" name="Rechteck 22">
            <a:extLst>
              <a:ext uri="{FF2B5EF4-FFF2-40B4-BE49-F238E27FC236}">
                <a16:creationId xmlns:a16="http://schemas.microsoft.com/office/drawing/2014/main" id="{4646CDC0-D7DD-40E3-B8C2-272A32C93A7C}"/>
              </a:ext>
            </a:extLst>
          </p:cNvPr>
          <p:cNvSpPr/>
          <p:nvPr/>
        </p:nvSpPr>
        <p:spPr>
          <a:xfrm>
            <a:off x="146468" y="1386628"/>
            <a:ext cx="288032" cy="237588"/>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4214689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D9F3992B-49AB-4DD0-A4EA-ADFD755D5033}"/>
              </a:ext>
            </a:extLst>
          </p:cNvPr>
          <p:cNvPicPr>
            <a:picLocks noChangeAspect="1"/>
          </p:cNvPicPr>
          <p:nvPr/>
        </p:nvPicPr>
        <p:blipFill>
          <a:blip r:embed="rId3"/>
          <a:stretch>
            <a:fillRect/>
          </a:stretch>
        </p:blipFill>
        <p:spPr>
          <a:xfrm>
            <a:off x="3237800" y="1635646"/>
            <a:ext cx="2540281" cy="2257200"/>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738664"/>
          </a:xfrm>
          <a:prstGeom prst="rect">
            <a:avLst/>
          </a:prstGeom>
          <a:noFill/>
        </p:spPr>
        <p:txBody>
          <a:bodyPr wrap="square" rtlCol="0">
            <a:spAutoFit/>
          </a:bodyPr>
          <a:lstStyle/>
          <a:p>
            <a:pPr marL="342900" indent="-342900">
              <a:buFont typeface="+mj-lt"/>
              <a:buAutoNum type="arabicPeriod" startAt="3"/>
            </a:pPr>
            <a:r>
              <a:rPr lang="en-GB" sz="1400" dirty="0"/>
              <a:t>Define Aero feature technologies</a:t>
            </a:r>
          </a:p>
          <a:p>
            <a:pPr marL="342900" indent="-342900">
              <a:buFont typeface="+mj-lt"/>
              <a:buAutoNum type="arabicPeriod" startAt="3"/>
            </a:pPr>
            <a:endParaRPr lang="en-GB" sz="1400" dirty="0"/>
          </a:p>
        </p:txBody>
      </p:sp>
      <p:sp>
        <p:nvSpPr>
          <p:cNvPr id="21" name="Rechteck 20">
            <a:extLst>
              <a:ext uri="{FF2B5EF4-FFF2-40B4-BE49-F238E27FC236}">
                <a16:creationId xmlns:a16="http://schemas.microsoft.com/office/drawing/2014/main" id="{134D3895-19FD-497B-9E8D-9E2772A033C8}"/>
              </a:ext>
            </a:extLst>
          </p:cNvPr>
          <p:cNvSpPr/>
          <p:nvPr/>
        </p:nvSpPr>
        <p:spPr>
          <a:xfrm>
            <a:off x="3292675" y="2062864"/>
            <a:ext cx="1944216" cy="144016"/>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8" name="Legende mit Linie 2 (ohne Rahmen) 19">
            <a:extLst>
              <a:ext uri="{FF2B5EF4-FFF2-40B4-BE49-F238E27FC236}">
                <a16:creationId xmlns:a16="http://schemas.microsoft.com/office/drawing/2014/main" id="{46191AC4-3755-4BD0-A753-C5435E1048B5}"/>
              </a:ext>
            </a:extLst>
          </p:cNvPr>
          <p:cNvSpPr/>
          <p:nvPr/>
        </p:nvSpPr>
        <p:spPr>
          <a:xfrm>
            <a:off x="542514" y="1930139"/>
            <a:ext cx="1830567" cy="1127084"/>
          </a:xfrm>
          <a:prstGeom prst="callout2">
            <a:avLst>
              <a:gd name="adj1" fmla="val 44562"/>
              <a:gd name="adj2" fmla="val 100088"/>
              <a:gd name="adj3" fmla="val 21349"/>
              <a:gd name="adj4" fmla="val 123123"/>
              <a:gd name="adj5" fmla="val 17526"/>
              <a:gd name="adj6" fmla="val 149846"/>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a:solidFill>
                  <a:srgbClr val="0070C0"/>
                </a:solidFill>
              </a:rPr>
              <a:t>Select if </a:t>
            </a:r>
            <a:r>
              <a:rPr lang="en-GB" sz="1000" dirty="0">
                <a:solidFill>
                  <a:srgbClr val="0070C0"/>
                </a:solidFill>
              </a:rPr>
              <a:t>the trailer is equipped with no aerodynamic device(s)</a:t>
            </a:r>
          </a:p>
        </p:txBody>
      </p:sp>
      <p:sp>
        <p:nvSpPr>
          <p:cNvPr id="9"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Create or edit trailer job (4/6)</a:t>
            </a:r>
          </a:p>
        </p:txBody>
      </p:sp>
      <p:sp>
        <p:nvSpPr>
          <p:cNvPr id="8" name="Rechteck 7">
            <a:extLst>
              <a:ext uri="{FF2B5EF4-FFF2-40B4-BE49-F238E27FC236}">
                <a16:creationId xmlns:a16="http://schemas.microsoft.com/office/drawing/2014/main" id="{5B11D9CB-1EB4-4F38-AB64-249E446DC3CD}"/>
              </a:ext>
            </a:extLst>
          </p:cNvPr>
          <p:cNvSpPr/>
          <p:nvPr/>
        </p:nvSpPr>
        <p:spPr>
          <a:xfrm>
            <a:off x="146468" y="1386628"/>
            <a:ext cx="288032" cy="237588"/>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308084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9B7EB66-1886-4537-AB03-0333B65FE291}"/>
              </a:ext>
            </a:extLst>
          </p:cNvPr>
          <p:cNvPicPr>
            <a:picLocks noChangeAspect="1"/>
          </p:cNvPicPr>
          <p:nvPr/>
        </p:nvPicPr>
        <p:blipFill>
          <a:blip r:embed="rId3"/>
          <a:stretch>
            <a:fillRect/>
          </a:stretch>
        </p:blipFill>
        <p:spPr>
          <a:xfrm>
            <a:off x="2668592" y="1779662"/>
            <a:ext cx="4527795" cy="2401200"/>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523220"/>
          </a:xfrm>
          <a:prstGeom prst="rect">
            <a:avLst/>
          </a:prstGeom>
          <a:noFill/>
        </p:spPr>
        <p:txBody>
          <a:bodyPr wrap="square" rtlCol="0">
            <a:spAutoFit/>
          </a:bodyPr>
          <a:lstStyle/>
          <a:p>
            <a:pPr marL="342900" indent="-342900">
              <a:buFont typeface="+mj-lt"/>
              <a:buAutoNum type="arabicPeriod" startAt="4"/>
            </a:pPr>
            <a:r>
              <a:rPr lang="en-GB" sz="1400" dirty="0"/>
              <a:t>Define Axle and Tyre features</a:t>
            </a:r>
          </a:p>
        </p:txBody>
      </p:sp>
      <p:sp>
        <p:nvSpPr>
          <p:cNvPr id="16" name="Legende mit Linie 2 (ohne Rahmen) 19">
            <a:extLst>
              <a:ext uri="{FF2B5EF4-FFF2-40B4-BE49-F238E27FC236}">
                <a16:creationId xmlns:a16="http://schemas.microsoft.com/office/drawing/2014/main" id="{8F393C1E-828E-476E-B44C-F7B75A459184}"/>
              </a:ext>
            </a:extLst>
          </p:cNvPr>
          <p:cNvSpPr/>
          <p:nvPr/>
        </p:nvSpPr>
        <p:spPr>
          <a:xfrm>
            <a:off x="383312" y="2038036"/>
            <a:ext cx="1830567" cy="340275"/>
          </a:xfrm>
          <a:prstGeom prst="callout2">
            <a:avLst>
              <a:gd name="adj1" fmla="val 46745"/>
              <a:gd name="adj2" fmla="val 100097"/>
              <a:gd name="adj3" fmla="val 47592"/>
              <a:gd name="adj4" fmla="val 109487"/>
              <a:gd name="adj5" fmla="val 95008"/>
              <a:gd name="adj6" fmla="val 13312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Checkbox to declare applicable </a:t>
            </a:r>
            <a:r>
              <a:rPr lang="en-GB" sz="1000">
                <a:solidFill>
                  <a:srgbClr val="0070C0"/>
                </a:solidFill>
              </a:rPr>
              <a:t>tyre/axle features</a:t>
            </a:r>
            <a:endParaRPr lang="en-GB" sz="1000" dirty="0">
              <a:solidFill>
                <a:srgbClr val="0070C0"/>
              </a:solidFill>
            </a:endParaRPr>
          </a:p>
        </p:txBody>
      </p:sp>
      <p:sp>
        <p:nvSpPr>
          <p:cNvPr id="20" name="Legende mit Linie 2 (ohne Rahmen) 19">
            <a:extLst>
              <a:ext uri="{FF2B5EF4-FFF2-40B4-BE49-F238E27FC236}">
                <a16:creationId xmlns:a16="http://schemas.microsoft.com/office/drawing/2014/main" id="{8567E10E-B285-4E0C-B265-5397C1EC4C4B}"/>
              </a:ext>
            </a:extLst>
          </p:cNvPr>
          <p:cNvSpPr/>
          <p:nvPr/>
        </p:nvSpPr>
        <p:spPr>
          <a:xfrm>
            <a:off x="7236296" y="3041314"/>
            <a:ext cx="1830567" cy="340275"/>
          </a:xfrm>
          <a:prstGeom prst="callout2">
            <a:avLst>
              <a:gd name="adj1" fmla="val 25814"/>
              <a:gd name="adj2" fmla="val 959"/>
              <a:gd name="adj3" fmla="val -15547"/>
              <a:gd name="adj4" fmla="val 945"/>
              <a:gd name="adj5" fmla="val -66852"/>
              <a:gd name="adj6" fmla="val -14015"/>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a:solidFill>
                  <a:srgbClr val="0070C0"/>
                </a:solidFill>
              </a:rPr>
              <a:t>Browse </a:t>
            </a:r>
            <a:r>
              <a:rPr lang="en-GB" sz="1000" dirty="0">
                <a:solidFill>
                  <a:srgbClr val="0070C0"/>
                </a:solidFill>
              </a:rPr>
              <a:t>button to search for tyre XMLs</a:t>
            </a:r>
          </a:p>
          <a:p>
            <a:endParaRPr lang="en-GB" sz="1000" dirty="0">
              <a:solidFill>
                <a:srgbClr val="0070C0"/>
              </a:solidFill>
            </a:endParaRPr>
          </a:p>
        </p:txBody>
      </p:sp>
      <p:sp>
        <p:nvSpPr>
          <p:cNvPr id="21" name="Rechteck 20">
            <a:extLst>
              <a:ext uri="{FF2B5EF4-FFF2-40B4-BE49-F238E27FC236}">
                <a16:creationId xmlns:a16="http://schemas.microsoft.com/office/drawing/2014/main" id="{134D3895-19FD-497B-9E8D-9E2772A033C8}"/>
              </a:ext>
            </a:extLst>
          </p:cNvPr>
          <p:cNvSpPr/>
          <p:nvPr/>
        </p:nvSpPr>
        <p:spPr>
          <a:xfrm>
            <a:off x="2825660" y="2276312"/>
            <a:ext cx="4212000" cy="203998"/>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4" name="Textfeld 13">
            <a:extLst>
              <a:ext uri="{FF2B5EF4-FFF2-40B4-BE49-F238E27FC236}">
                <a16:creationId xmlns:a16="http://schemas.microsoft.com/office/drawing/2014/main" id="{992772E8-0674-41FD-A45A-4B260C24FB73}"/>
              </a:ext>
            </a:extLst>
          </p:cNvPr>
          <p:cNvSpPr txBox="1"/>
          <p:nvPr/>
        </p:nvSpPr>
        <p:spPr>
          <a:xfrm>
            <a:off x="401747" y="2495567"/>
            <a:ext cx="1986063" cy="1631216"/>
          </a:xfrm>
          <a:prstGeom prst="rect">
            <a:avLst/>
          </a:prstGeom>
          <a:noFill/>
        </p:spPr>
        <p:txBody>
          <a:bodyPr wrap="square" rtlCol="0">
            <a:spAutoFit/>
          </a:bodyPr>
          <a:lstStyle/>
          <a:p>
            <a:r>
              <a:rPr lang="en-GB" sz="1000">
                <a:solidFill>
                  <a:schemeClr val="bg1">
                    <a:lumMod val="50000"/>
                  </a:schemeClr>
                </a:solidFill>
              </a:rPr>
              <a:t>Effects as automatically considered by the VECTO Trailer Tool for liftable/steered axles are documented in:</a:t>
            </a:r>
            <a:endParaRPr lang="de-AT" sz="1000">
              <a:solidFill>
                <a:schemeClr val="bg1">
                  <a:lumMod val="50000"/>
                </a:schemeClr>
              </a:solidFill>
            </a:endParaRPr>
          </a:p>
          <a:p>
            <a:pPr marL="171450" indent="-171450">
              <a:buFont typeface="Arial" panose="020B0604020202020204" pitchFamily="34" charset="0"/>
              <a:buChar char="•"/>
            </a:pPr>
            <a:r>
              <a:rPr lang="de-AT" sz="1000">
                <a:solidFill>
                  <a:schemeClr val="bg1">
                    <a:lumMod val="50000"/>
                  </a:schemeClr>
                </a:solidFill>
              </a:rPr>
              <a:t>Masterexcel</a:t>
            </a:r>
            <a:endParaRPr lang="de-AT" sz="1000" dirty="0">
              <a:solidFill>
                <a:schemeClr val="bg1">
                  <a:lumMod val="50000"/>
                </a:schemeClr>
              </a:solidFill>
            </a:endParaRPr>
          </a:p>
          <a:p>
            <a:pPr marL="628650" lvl="1" indent="-171450">
              <a:buFont typeface="Arial" panose="020B0604020202020204" pitchFamily="34" charset="0"/>
              <a:buChar char="•"/>
            </a:pPr>
            <a:r>
              <a:rPr lang="de-AT" sz="1000" dirty="0" err="1">
                <a:solidFill>
                  <a:schemeClr val="bg1">
                    <a:lumMod val="50000"/>
                  </a:schemeClr>
                </a:solidFill>
              </a:rPr>
              <a:t>sheet</a:t>
            </a:r>
            <a:r>
              <a:rPr lang="de-AT" sz="1000" dirty="0">
                <a:solidFill>
                  <a:schemeClr val="bg1">
                    <a:lumMod val="50000"/>
                  </a:schemeClr>
                </a:solidFill>
              </a:rPr>
              <a:t> „</a:t>
            </a:r>
            <a:r>
              <a:rPr lang="de-AT" sz="1000" dirty="0" err="1">
                <a:solidFill>
                  <a:schemeClr val="bg1">
                    <a:lumMod val="50000"/>
                  </a:schemeClr>
                </a:solidFill>
              </a:rPr>
              <a:t>Specific</a:t>
            </a:r>
            <a:r>
              <a:rPr lang="de-AT" sz="1000" dirty="0">
                <a:solidFill>
                  <a:schemeClr val="bg1">
                    <a:lumMod val="50000"/>
                  </a:schemeClr>
                </a:solidFill>
              </a:rPr>
              <a:t> Trailer“ </a:t>
            </a:r>
            <a:r>
              <a:rPr lang="de-AT" sz="1000" dirty="0" err="1">
                <a:solidFill>
                  <a:schemeClr val="bg1">
                    <a:lumMod val="50000"/>
                  </a:schemeClr>
                </a:solidFill>
              </a:rPr>
              <a:t>column</a:t>
            </a:r>
            <a:r>
              <a:rPr lang="de-AT" sz="1000" dirty="0">
                <a:solidFill>
                  <a:schemeClr val="bg1">
                    <a:lumMod val="50000"/>
                  </a:schemeClr>
                </a:solidFill>
              </a:rPr>
              <a:t> E </a:t>
            </a:r>
            <a:r>
              <a:rPr lang="de-AT" sz="1000" dirty="0" err="1">
                <a:solidFill>
                  <a:schemeClr val="bg1">
                    <a:lumMod val="50000"/>
                  </a:schemeClr>
                </a:solidFill>
              </a:rPr>
              <a:t>to</a:t>
            </a:r>
            <a:r>
              <a:rPr lang="de-AT" sz="1000" dirty="0">
                <a:solidFill>
                  <a:schemeClr val="bg1">
                    <a:lumMod val="50000"/>
                  </a:schemeClr>
                </a:solidFill>
              </a:rPr>
              <a:t> P</a:t>
            </a:r>
          </a:p>
          <a:p>
            <a:pPr marL="171450" indent="-171450">
              <a:buFont typeface="Arial" panose="020B0604020202020204" pitchFamily="34" charset="0"/>
              <a:buChar char="•"/>
            </a:pPr>
            <a:r>
              <a:rPr lang="de-AT" sz="1000" dirty="0">
                <a:solidFill>
                  <a:schemeClr val="bg1">
                    <a:lumMod val="50000"/>
                  </a:schemeClr>
                </a:solidFill>
              </a:rPr>
              <a:t>Specific_trailer.csv in </a:t>
            </a:r>
            <a:r>
              <a:rPr lang="de-AT" sz="1000" dirty="0" err="1">
                <a:solidFill>
                  <a:schemeClr val="bg1">
                    <a:lumMod val="50000"/>
                  </a:schemeClr>
                </a:solidFill>
              </a:rPr>
              <a:t>the</a:t>
            </a:r>
            <a:r>
              <a:rPr lang="de-AT" sz="1000" dirty="0">
                <a:solidFill>
                  <a:schemeClr val="bg1">
                    <a:lumMod val="50000"/>
                  </a:schemeClr>
                </a:solidFill>
              </a:rPr>
              <a:t> Declaration </a:t>
            </a:r>
            <a:r>
              <a:rPr lang="de-AT" sz="1000" dirty="0" err="1">
                <a:solidFill>
                  <a:schemeClr val="bg1">
                    <a:lumMod val="50000"/>
                  </a:schemeClr>
                </a:solidFill>
              </a:rPr>
              <a:t>folder</a:t>
            </a:r>
            <a:r>
              <a:rPr lang="de-AT" sz="1000" dirty="0">
                <a:solidFill>
                  <a:schemeClr val="bg1">
                    <a:lumMod val="50000"/>
                  </a:schemeClr>
                </a:solidFill>
              </a:rPr>
              <a:t>,</a:t>
            </a:r>
          </a:p>
          <a:p>
            <a:pPr marL="171450" indent="-171450">
              <a:buFont typeface="Arial" panose="020B0604020202020204" pitchFamily="34" charset="0"/>
              <a:buChar char="•"/>
            </a:pPr>
            <a:r>
              <a:rPr lang="de-AT" sz="1000" dirty="0">
                <a:solidFill>
                  <a:schemeClr val="bg1">
                    <a:lumMod val="50000"/>
                  </a:schemeClr>
                </a:solidFill>
              </a:rPr>
              <a:t>Task 2 report</a:t>
            </a:r>
          </a:p>
        </p:txBody>
      </p:sp>
      <p:sp>
        <p:nvSpPr>
          <p:cNvPr id="12"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Create or edit trailer job (5/6)</a:t>
            </a:r>
          </a:p>
        </p:txBody>
      </p:sp>
      <p:sp>
        <p:nvSpPr>
          <p:cNvPr id="18" name="Rechteck 17">
            <a:extLst>
              <a:ext uri="{FF2B5EF4-FFF2-40B4-BE49-F238E27FC236}">
                <a16:creationId xmlns:a16="http://schemas.microsoft.com/office/drawing/2014/main" id="{26A27EA1-E5E7-4E84-8B15-F99396B7401C}"/>
              </a:ext>
            </a:extLst>
          </p:cNvPr>
          <p:cNvSpPr/>
          <p:nvPr/>
        </p:nvSpPr>
        <p:spPr>
          <a:xfrm>
            <a:off x="6763191" y="2711758"/>
            <a:ext cx="226800" cy="16200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Rechteck 14">
            <a:extLst>
              <a:ext uri="{FF2B5EF4-FFF2-40B4-BE49-F238E27FC236}">
                <a16:creationId xmlns:a16="http://schemas.microsoft.com/office/drawing/2014/main" id="{D031BE14-7F72-47D1-88A2-39352309C7EE}"/>
              </a:ext>
            </a:extLst>
          </p:cNvPr>
          <p:cNvSpPr/>
          <p:nvPr/>
        </p:nvSpPr>
        <p:spPr>
          <a:xfrm>
            <a:off x="146468" y="1381204"/>
            <a:ext cx="288032" cy="237588"/>
          </a:xfrm>
          <a:prstGeom prst="rect">
            <a:avLst/>
          </a:prstGeom>
          <a:solidFill>
            <a:srgbClr val="E1CCF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1388126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Grafik 17">
            <a:extLst>
              <a:ext uri="{FF2B5EF4-FFF2-40B4-BE49-F238E27FC236}">
                <a16:creationId xmlns:a16="http://schemas.microsoft.com/office/drawing/2014/main" id="{6C0D7A78-FFB9-4301-804B-1BB7EC36BB40}"/>
              </a:ext>
            </a:extLst>
          </p:cNvPr>
          <p:cNvPicPr>
            <a:picLocks noChangeAspect="1"/>
          </p:cNvPicPr>
          <p:nvPr/>
        </p:nvPicPr>
        <p:blipFill>
          <a:blip r:embed="rId3"/>
          <a:stretch>
            <a:fillRect/>
          </a:stretch>
        </p:blipFill>
        <p:spPr>
          <a:xfrm>
            <a:off x="2514106" y="1011662"/>
            <a:ext cx="6377592" cy="3521121"/>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1384995"/>
          </a:xfrm>
          <a:prstGeom prst="rect">
            <a:avLst/>
          </a:prstGeom>
          <a:noFill/>
        </p:spPr>
        <p:txBody>
          <a:bodyPr wrap="square" rtlCol="0">
            <a:spAutoFit/>
          </a:bodyPr>
          <a:lstStyle/>
          <a:p>
            <a:pPr marL="342900" indent="-342900">
              <a:buFont typeface="+mj-lt"/>
              <a:buAutoNum type="arabicPeriod" startAt="5"/>
            </a:pPr>
            <a:r>
              <a:rPr lang="en-GB" sz="1400" dirty="0"/>
              <a:t>Save Job file</a:t>
            </a:r>
          </a:p>
          <a:p>
            <a:pPr marL="342900" indent="-342900">
              <a:buFont typeface="+mj-lt"/>
              <a:buAutoNum type="arabicPeriod" startAt="5"/>
            </a:pPr>
            <a:endParaRPr lang="en-GB" sz="1400" dirty="0">
              <a:sym typeface="Wingdings" panose="05000000000000000000" pitchFamily="2" charset="2"/>
            </a:endParaRPr>
          </a:p>
          <a:p>
            <a:pPr marL="342900" indent="-342900">
              <a:buFont typeface="+mj-lt"/>
              <a:buAutoNum type="arabicPeriod" startAt="5"/>
            </a:pPr>
            <a:r>
              <a:rPr lang="en-GB" sz="1400" dirty="0">
                <a:sym typeface="Wingdings" panose="05000000000000000000" pitchFamily="2" charset="2"/>
              </a:rPr>
              <a:t>Press “Start” in Job file editor to start simulation of active Jobs</a:t>
            </a:r>
          </a:p>
          <a:p>
            <a:pPr marL="800100" lvl="1" indent="-342900">
              <a:buFont typeface="Arial" panose="020B0604020202020204" pitchFamily="34" charset="0"/>
              <a:buChar char="•"/>
            </a:pPr>
            <a:endParaRPr lang="en-GB" sz="1400" dirty="0">
              <a:sym typeface="Wingdings" panose="05000000000000000000" pitchFamily="2" charset="2"/>
            </a:endParaRPr>
          </a:p>
        </p:txBody>
      </p:sp>
      <p:sp>
        <p:nvSpPr>
          <p:cNvPr id="12" name="Rechteck 11">
            <a:extLst>
              <a:ext uri="{FF2B5EF4-FFF2-40B4-BE49-F238E27FC236}">
                <a16:creationId xmlns:a16="http://schemas.microsoft.com/office/drawing/2014/main" id="{04F8E474-F6F5-4D12-B9EE-B4834DAC5A0F}"/>
              </a:ext>
            </a:extLst>
          </p:cNvPr>
          <p:cNvSpPr/>
          <p:nvPr/>
        </p:nvSpPr>
        <p:spPr>
          <a:xfrm>
            <a:off x="152606" y="1392952"/>
            <a:ext cx="245513" cy="214882"/>
          </a:xfrm>
          <a:prstGeom prst="rect">
            <a:avLst/>
          </a:prstGeom>
          <a:solidFill>
            <a:schemeClr val="accent2">
              <a:lumMod val="40000"/>
              <a:lumOff val="6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9"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Create or edit trailer job (6/6)</a:t>
            </a:r>
          </a:p>
        </p:txBody>
      </p:sp>
      <p:sp>
        <p:nvSpPr>
          <p:cNvPr id="14" name="Rechteck 13">
            <a:extLst>
              <a:ext uri="{FF2B5EF4-FFF2-40B4-BE49-F238E27FC236}">
                <a16:creationId xmlns:a16="http://schemas.microsoft.com/office/drawing/2014/main" id="{E85B49AA-FFA0-4556-9E30-C814370D21FF}"/>
              </a:ext>
            </a:extLst>
          </p:cNvPr>
          <p:cNvSpPr/>
          <p:nvPr/>
        </p:nvSpPr>
        <p:spPr>
          <a:xfrm>
            <a:off x="7870907" y="4309392"/>
            <a:ext cx="869055" cy="106663"/>
          </a:xfrm>
          <a:prstGeom prst="rect">
            <a:avLst/>
          </a:prstGeom>
          <a:solidFill>
            <a:schemeClr val="accent2">
              <a:lumMod val="40000"/>
              <a:lumOff val="6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2484358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p:cNvPicPr>
            <a:picLocks noChangeAspect="1"/>
          </p:cNvPicPr>
          <p:nvPr/>
        </p:nvPicPr>
        <p:blipFill>
          <a:blip r:embed="rId3"/>
          <a:stretch>
            <a:fillRect/>
          </a:stretch>
        </p:blipFill>
        <p:spPr>
          <a:xfrm>
            <a:off x="179512" y="1419622"/>
            <a:ext cx="3456384" cy="3456384"/>
          </a:xfrm>
          <a:prstGeom prst="rect">
            <a:avLst/>
          </a:prstGeom>
        </p:spPr>
      </p:pic>
      <p:sp>
        <p:nvSpPr>
          <p:cNvPr id="2"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Result files (1/2)</a:t>
            </a:r>
          </a:p>
        </p:txBody>
      </p:sp>
      <p:sp>
        <p:nvSpPr>
          <p:cNvPr id="10" name="Textfeld 9"/>
          <p:cNvSpPr txBox="1"/>
          <p:nvPr/>
        </p:nvSpPr>
        <p:spPr>
          <a:xfrm>
            <a:off x="627888" y="1131590"/>
            <a:ext cx="6752424" cy="646331"/>
          </a:xfrm>
          <a:prstGeom prst="rect">
            <a:avLst/>
          </a:prstGeom>
          <a:noFill/>
        </p:spPr>
        <p:txBody>
          <a:bodyPr wrap="square" rtlCol="0">
            <a:spAutoFit/>
          </a:bodyPr>
          <a:lstStyle/>
          <a:p>
            <a:r>
              <a:rPr lang="en-GB" dirty="0"/>
              <a:t>Outputs created by the VECTO Trailer Tool including the corresponding Job file*</a:t>
            </a:r>
          </a:p>
        </p:txBody>
      </p:sp>
      <p:sp>
        <p:nvSpPr>
          <p:cNvPr id="12" name="Textfeld 11">
            <a:extLst>
              <a:ext uri="{FF2B5EF4-FFF2-40B4-BE49-F238E27FC236}">
                <a16:creationId xmlns:a16="http://schemas.microsoft.com/office/drawing/2014/main" id="{CC9FB324-9075-455E-8B8E-B629EFB6DE8F}"/>
              </a:ext>
            </a:extLst>
          </p:cNvPr>
          <p:cNvSpPr txBox="1"/>
          <p:nvPr/>
        </p:nvSpPr>
        <p:spPr>
          <a:xfrm>
            <a:off x="827584" y="4663309"/>
            <a:ext cx="6481261" cy="400110"/>
          </a:xfrm>
          <a:prstGeom prst="rect">
            <a:avLst/>
          </a:prstGeom>
          <a:noFill/>
        </p:spPr>
        <p:txBody>
          <a:bodyPr wrap="none" rtlCol="0">
            <a:spAutoFit/>
          </a:bodyPr>
          <a:lstStyle/>
          <a:p>
            <a:r>
              <a:rPr lang="de-AT" sz="1000" dirty="0"/>
              <a:t>* Snapshot </a:t>
            </a:r>
            <a:r>
              <a:rPr lang="de-AT" sz="1000" dirty="0" err="1"/>
              <a:t>doesn't</a:t>
            </a:r>
            <a:r>
              <a:rPr lang="de-AT" sz="1000" dirty="0"/>
              <a:t> </a:t>
            </a:r>
            <a:r>
              <a:rPr lang="de-AT" sz="1000" dirty="0" err="1"/>
              <a:t>show</a:t>
            </a:r>
            <a:r>
              <a:rPr lang="de-AT" sz="1000" dirty="0"/>
              <a:t> all .</a:t>
            </a:r>
            <a:r>
              <a:rPr lang="de-AT" sz="1000" dirty="0" err="1"/>
              <a:t>vmod</a:t>
            </a:r>
            <a:r>
              <a:rPr lang="de-AT" sz="1000" dirty="0"/>
              <a:t> </a:t>
            </a:r>
            <a:r>
              <a:rPr lang="de-AT" sz="1000" dirty="0" err="1"/>
              <a:t>files</a:t>
            </a:r>
            <a:r>
              <a:rPr lang="de-AT" sz="1000" dirty="0"/>
              <a:t> </a:t>
            </a:r>
            <a:r>
              <a:rPr lang="de-AT" sz="1000" dirty="0" err="1"/>
              <a:t>calculated</a:t>
            </a:r>
            <a:r>
              <a:rPr lang="de-AT" sz="1000" dirty="0"/>
              <a:t> </a:t>
            </a:r>
            <a:r>
              <a:rPr lang="de-AT" sz="1000" dirty="0" err="1"/>
              <a:t>for</a:t>
            </a:r>
            <a:r>
              <a:rPr lang="de-AT" sz="1000" dirty="0"/>
              <a:t> </a:t>
            </a:r>
            <a:r>
              <a:rPr lang="de-AT" sz="1000" dirty="0" err="1"/>
              <a:t>this</a:t>
            </a:r>
            <a:r>
              <a:rPr lang="de-AT" sz="1000" dirty="0"/>
              <a:t> </a:t>
            </a:r>
            <a:r>
              <a:rPr lang="de-AT" sz="1000" dirty="0" err="1"/>
              <a:t>particular</a:t>
            </a:r>
            <a:r>
              <a:rPr lang="de-AT" sz="1000" dirty="0"/>
              <a:t> </a:t>
            </a:r>
            <a:r>
              <a:rPr lang="de-AT" sz="1000" dirty="0" err="1"/>
              <a:t>trailer</a:t>
            </a:r>
            <a:r>
              <a:rPr lang="de-AT" sz="1000" dirty="0"/>
              <a:t> </a:t>
            </a:r>
            <a:r>
              <a:rPr lang="de-AT" sz="1000" dirty="0" err="1"/>
              <a:t>configuration</a:t>
            </a:r>
            <a:r>
              <a:rPr lang="de-AT" sz="1000" dirty="0"/>
              <a:t> </a:t>
            </a:r>
            <a:r>
              <a:rPr lang="de-AT" sz="1000" dirty="0" err="1"/>
              <a:t>as</a:t>
            </a:r>
            <a:r>
              <a:rPr lang="de-AT" sz="1000" dirty="0"/>
              <a:t> </a:t>
            </a:r>
            <a:r>
              <a:rPr lang="de-AT" sz="1000" dirty="0" err="1"/>
              <a:t>well</a:t>
            </a:r>
            <a:r>
              <a:rPr lang="de-AT" sz="1000" dirty="0"/>
              <a:t> </a:t>
            </a:r>
            <a:r>
              <a:rPr lang="de-AT" sz="1000" dirty="0" err="1"/>
              <a:t>as</a:t>
            </a:r>
            <a:r>
              <a:rPr lang="de-AT" sz="1000" dirty="0"/>
              <a:t> </a:t>
            </a:r>
            <a:r>
              <a:rPr lang="de-AT" sz="1000" dirty="0" err="1"/>
              <a:t>the</a:t>
            </a:r>
            <a:r>
              <a:rPr lang="de-AT" sz="1000" dirty="0"/>
              <a:t> </a:t>
            </a:r>
            <a:r>
              <a:rPr lang="de-AT" sz="1000" dirty="0" err="1"/>
              <a:t>optionally</a:t>
            </a:r>
            <a:r>
              <a:rPr lang="de-AT" sz="1000" dirty="0"/>
              <a:t> </a:t>
            </a:r>
            <a:r>
              <a:rPr lang="de-AT" sz="1000" dirty="0" err="1"/>
              <a:t>created</a:t>
            </a:r>
            <a:endParaRPr lang="de-AT" sz="1000" dirty="0"/>
          </a:p>
          <a:p>
            <a:r>
              <a:rPr lang="de-AT" sz="1000" dirty="0" err="1"/>
              <a:t>pfd</a:t>
            </a:r>
            <a:r>
              <a:rPr lang="de-AT" sz="1000" dirty="0"/>
              <a:t>-file</a:t>
            </a:r>
          </a:p>
        </p:txBody>
      </p:sp>
      <p:pic>
        <p:nvPicPr>
          <p:cNvPr id="5" name="Grafik 4">
            <a:extLst>
              <a:ext uri="{FF2B5EF4-FFF2-40B4-BE49-F238E27FC236}">
                <a16:creationId xmlns:a16="http://schemas.microsoft.com/office/drawing/2014/main" id="{B3558C83-2C31-491B-9B9A-FB8CECD5D649}"/>
              </a:ext>
            </a:extLst>
          </p:cNvPr>
          <p:cNvPicPr>
            <a:picLocks noChangeAspect="1"/>
          </p:cNvPicPr>
          <p:nvPr/>
        </p:nvPicPr>
        <p:blipFill>
          <a:blip r:embed="rId4"/>
          <a:stretch>
            <a:fillRect/>
          </a:stretch>
        </p:blipFill>
        <p:spPr>
          <a:xfrm>
            <a:off x="1475656" y="1853325"/>
            <a:ext cx="4045815" cy="2725200"/>
          </a:xfrm>
          <a:prstGeom prst="rect">
            <a:avLst/>
          </a:prstGeom>
        </p:spPr>
      </p:pic>
      <p:sp>
        <p:nvSpPr>
          <p:cNvPr id="11" name="Legende mit Linie 2 (ohne Rahmen) 10"/>
          <p:cNvSpPr/>
          <p:nvPr/>
        </p:nvSpPr>
        <p:spPr>
          <a:xfrm>
            <a:off x="5724128" y="1838995"/>
            <a:ext cx="3240360" cy="340275"/>
          </a:xfrm>
          <a:prstGeom prst="callout2">
            <a:avLst>
              <a:gd name="adj1" fmla="val 48828"/>
              <a:gd name="adj2" fmla="val 1014"/>
              <a:gd name="adj3" fmla="val 48828"/>
              <a:gd name="adj4" fmla="val -4620"/>
              <a:gd name="adj5" fmla="val 48756"/>
              <a:gd name="adj6" fmla="val -1526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CIF/ Customer Information File</a:t>
            </a:r>
          </a:p>
        </p:txBody>
      </p:sp>
      <p:sp>
        <p:nvSpPr>
          <p:cNvPr id="15" name="Legende mit Linie 2 (ohne Rahmen) 10">
            <a:extLst>
              <a:ext uri="{FF2B5EF4-FFF2-40B4-BE49-F238E27FC236}">
                <a16:creationId xmlns:a16="http://schemas.microsoft.com/office/drawing/2014/main" id="{09A2A013-0B32-46F0-B685-16428E050E60}"/>
              </a:ext>
            </a:extLst>
          </p:cNvPr>
          <p:cNvSpPr/>
          <p:nvPr/>
        </p:nvSpPr>
        <p:spPr>
          <a:xfrm>
            <a:off x="5724128" y="2168737"/>
            <a:ext cx="3240360" cy="340275"/>
          </a:xfrm>
          <a:prstGeom prst="callout2">
            <a:avLst>
              <a:gd name="adj1" fmla="val 48828"/>
              <a:gd name="adj2" fmla="val 1014"/>
              <a:gd name="adj3" fmla="val 48828"/>
              <a:gd name="adj4" fmla="val -4620"/>
              <a:gd name="adj5" fmla="val 11910"/>
              <a:gd name="adj6" fmla="val -1541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MRF/ Manufacturer’s Records File</a:t>
            </a:r>
          </a:p>
        </p:txBody>
      </p:sp>
      <p:sp>
        <p:nvSpPr>
          <p:cNvPr id="14" name="Legende mit Linie 2 (ohne Rahmen) 11">
            <a:extLst>
              <a:ext uri="{FF2B5EF4-FFF2-40B4-BE49-F238E27FC236}">
                <a16:creationId xmlns:a16="http://schemas.microsoft.com/office/drawing/2014/main" id="{7F02B5F1-94D2-4210-B212-B3A2EF168E7C}"/>
              </a:ext>
            </a:extLst>
          </p:cNvPr>
          <p:cNvSpPr/>
          <p:nvPr/>
        </p:nvSpPr>
        <p:spPr>
          <a:xfrm>
            <a:off x="5724128" y="2514940"/>
            <a:ext cx="2398392" cy="340275"/>
          </a:xfrm>
          <a:prstGeom prst="callout2">
            <a:avLst>
              <a:gd name="adj1" fmla="val 48828"/>
              <a:gd name="adj2" fmla="val 708"/>
              <a:gd name="adj3" fmla="val 48828"/>
              <a:gd name="adj4" fmla="val -4620"/>
              <a:gd name="adj5" fmla="val -26339"/>
              <a:gd name="adj6" fmla="val -2069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err="1">
                <a:solidFill>
                  <a:srgbClr val="0070C0"/>
                </a:solidFill>
              </a:rPr>
              <a:t>vsum</a:t>
            </a:r>
            <a:r>
              <a:rPr lang="en-GB" sz="1400" dirty="0">
                <a:solidFill>
                  <a:srgbClr val="0070C0"/>
                </a:solidFill>
              </a:rPr>
              <a:t> File</a:t>
            </a:r>
          </a:p>
        </p:txBody>
      </p:sp>
      <p:sp>
        <p:nvSpPr>
          <p:cNvPr id="17" name="Legende mit Linie 2 (ohne Rahmen) 11">
            <a:extLst>
              <a:ext uri="{FF2B5EF4-FFF2-40B4-BE49-F238E27FC236}">
                <a16:creationId xmlns:a16="http://schemas.microsoft.com/office/drawing/2014/main" id="{4976210A-7607-45AA-8342-1070B5E59303}"/>
              </a:ext>
            </a:extLst>
          </p:cNvPr>
          <p:cNvSpPr/>
          <p:nvPr/>
        </p:nvSpPr>
        <p:spPr>
          <a:xfrm>
            <a:off x="5724128" y="2838754"/>
            <a:ext cx="2398392" cy="340275"/>
          </a:xfrm>
          <a:prstGeom prst="callout2">
            <a:avLst>
              <a:gd name="adj1" fmla="val 48828"/>
              <a:gd name="adj2" fmla="val 708"/>
              <a:gd name="adj3" fmla="val 48828"/>
              <a:gd name="adj4" fmla="val -4620"/>
              <a:gd name="adj5" fmla="val -63991"/>
              <a:gd name="adj6" fmla="val -20851"/>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Job-File</a:t>
            </a:r>
          </a:p>
        </p:txBody>
      </p:sp>
      <p:sp>
        <p:nvSpPr>
          <p:cNvPr id="13" name="Legende mit Linie 2 (ohne Rahmen) 12"/>
          <p:cNvSpPr/>
          <p:nvPr/>
        </p:nvSpPr>
        <p:spPr>
          <a:xfrm>
            <a:off x="5724128" y="3218849"/>
            <a:ext cx="3189693" cy="649045"/>
          </a:xfrm>
          <a:prstGeom prst="callout2">
            <a:avLst>
              <a:gd name="adj1" fmla="val 48828"/>
              <a:gd name="adj2" fmla="val 708"/>
              <a:gd name="adj3" fmla="val 48828"/>
              <a:gd name="adj4" fmla="val -4620"/>
              <a:gd name="adj5" fmla="val 14122"/>
              <a:gd name="adj6" fmla="val -1558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err="1">
                <a:solidFill>
                  <a:srgbClr val="0070C0"/>
                </a:solidFill>
              </a:rPr>
              <a:t>vmod</a:t>
            </a:r>
            <a:r>
              <a:rPr lang="en-GB" sz="1400" dirty="0">
                <a:solidFill>
                  <a:srgbClr val="0070C0"/>
                </a:solidFill>
              </a:rPr>
              <a:t> File per mission and payload combination for the reference and specific trailer</a:t>
            </a:r>
          </a:p>
        </p:txBody>
      </p:sp>
    </p:spTree>
    <p:extLst>
      <p:ext uri="{BB962C8B-B14F-4D97-AF65-F5344CB8AC3E}">
        <p14:creationId xmlns:p14="http://schemas.microsoft.com/office/powerpoint/2010/main" val="3721863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12347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VECTO Trailer Tool – Result files (2/2)</a:t>
            </a:r>
          </a:p>
        </p:txBody>
      </p:sp>
      <p:graphicFrame>
        <p:nvGraphicFramePr>
          <p:cNvPr id="15" name="Tabelle 14">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737810294"/>
              </p:ext>
            </p:extLst>
          </p:nvPr>
        </p:nvGraphicFramePr>
        <p:xfrm>
          <a:off x="468000" y="1059582"/>
          <a:ext cx="8208000" cy="3458964"/>
        </p:xfrm>
        <a:graphic>
          <a:graphicData uri="http://schemas.openxmlformats.org/drawingml/2006/table">
            <a:tbl>
              <a:tblPr firstRow="1" bandRow="1">
                <a:tableStyleId>{5C22544A-7EE6-4342-B048-85BDC9FD1C3A}</a:tableStyleId>
              </a:tblPr>
              <a:tblGrid>
                <a:gridCol w="1583720">
                  <a:extLst>
                    <a:ext uri="{9D8B030D-6E8A-4147-A177-3AD203B41FA5}">
                      <a16:colId xmlns:a16="http://schemas.microsoft.com/office/drawing/2014/main" val="791925895"/>
                    </a:ext>
                  </a:extLst>
                </a:gridCol>
                <a:gridCol w="6624280">
                  <a:extLst>
                    <a:ext uri="{9D8B030D-6E8A-4147-A177-3AD203B41FA5}">
                      <a16:colId xmlns:a16="http://schemas.microsoft.com/office/drawing/2014/main" val="1869676461"/>
                    </a:ext>
                  </a:extLst>
                </a:gridCol>
              </a:tblGrid>
              <a:tr h="322064">
                <a:tc>
                  <a:txBody>
                    <a:bodyPr/>
                    <a:lstStyle/>
                    <a:p>
                      <a:r>
                        <a:rPr lang="de-AT" sz="1200"/>
                        <a:t>Result file</a:t>
                      </a:r>
                      <a:endParaRPr lang="de-AT" sz="1200" dirty="0"/>
                    </a:p>
                  </a:txBody>
                  <a:tcPr/>
                </a:tc>
                <a:tc>
                  <a:txBody>
                    <a:bodyPr/>
                    <a:lstStyle/>
                    <a:p>
                      <a:r>
                        <a:rPr lang="de-AT" sz="1200" dirty="0"/>
                        <a:t>Description</a:t>
                      </a:r>
                    </a:p>
                  </a:txBody>
                  <a:tcPr/>
                </a:tc>
                <a:extLst>
                  <a:ext uri="{0D108BD9-81ED-4DB2-BD59-A6C34878D82A}">
                    <a16:rowId xmlns:a16="http://schemas.microsoft.com/office/drawing/2014/main" val="52858787"/>
                  </a:ext>
                </a:extLst>
              </a:tr>
              <a:tr h="370840">
                <a:tc>
                  <a:txBody>
                    <a:bodyPr/>
                    <a:lstStyle/>
                    <a:p>
                      <a:r>
                        <a:rPr lang="de-AT" sz="1200" b="1">
                          <a:solidFill>
                            <a:schemeClr val="bg1"/>
                          </a:solidFill>
                        </a:rPr>
                        <a:t>Manufacturer‘s Records</a:t>
                      </a:r>
                      <a:r>
                        <a:rPr lang="de-AT" sz="1200" b="1" baseline="0">
                          <a:solidFill>
                            <a:schemeClr val="bg1"/>
                          </a:solidFill>
                        </a:rPr>
                        <a:t> File (MRF)</a:t>
                      </a:r>
                      <a:endParaRPr lang="de-AT" sz="1200" b="1" dirty="0">
                        <a:solidFill>
                          <a:schemeClr val="bg1"/>
                        </a:solidFill>
                      </a:endParaRPr>
                    </a:p>
                  </a:txBody>
                  <a:tcPr>
                    <a:solidFill>
                      <a:schemeClr val="accent1"/>
                    </a:solidFill>
                  </a:tcPr>
                </a:tc>
                <a:tc>
                  <a:txBody>
                    <a:bodyPr/>
                    <a:lstStyle/>
                    <a:p>
                      <a:r>
                        <a:rPr lang="en-US" sz="1050" b="1"/>
                        <a:t>Output</a:t>
                      </a:r>
                      <a:r>
                        <a:rPr lang="en-US" sz="1050" b="1" baseline="0"/>
                        <a:t> for regulatory purpose in XML format</a:t>
                      </a:r>
                      <a:br>
                        <a:rPr lang="en-US" sz="1050" baseline="0"/>
                      </a:br>
                      <a:r>
                        <a:rPr lang="en-US" sz="1050" baseline="0">
                          <a:solidFill>
                            <a:schemeClr val="tx1"/>
                          </a:solidFill>
                        </a:rPr>
                        <a:t>a file produced by the simulation tool which contains manufacturer related information, a documentation of the input data and input information to the simulation tool, and the performance of the vehicle with regard to its influence on the CO2 emissions and fuel consumption of motor vehicles, and which takes the form of the template laid down in Annex IV, Part I</a:t>
                      </a:r>
                      <a:endParaRPr lang="en-US" sz="1050" dirty="0">
                        <a:solidFill>
                          <a:schemeClr val="tx1"/>
                        </a:solidFill>
                      </a:endParaRPr>
                    </a:p>
                  </a:txBody>
                  <a:tcPr/>
                </a:tc>
                <a:extLst>
                  <a:ext uri="{0D108BD9-81ED-4DB2-BD59-A6C34878D82A}">
                    <a16:rowId xmlns:a16="http://schemas.microsoft.com/office/drawing/2014/main" val="975515952"/>
                  </a:ext>
                </a:extLst>
              </a:tr>
              <a:tr h="370840">
                <a:tc>
                  <a:txBody>
                    <a:bodyPr/>
                    <a:lstStyle/>
                    <a:p>
                      <a:r>
                        <a:rPr lang="de-AT" sz="1200" b="1">
                          <a:solidFill>
                            <a:schemeClr val="bg1"/>
                          </a:solidFill>
                        </a:rPr>
                        <a:t>Customer Information file (CIF)</a:t>
                      </a:r>
                      <a:endParaRPr lang="de-AT" sz="1200" b="1" dirty="0" err="1">
                        <a:solidFill>
                          <a:schemeClr val="bg1"/>
                        </a:solidFill>
                      </a:endParaRPr>
                    </a:p>
                  </a:txBody>
                  <a:tcPr>
                    <a:solidFill>
                      <a:schemeClr val="accent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b="1"/>
                        <a:t>Output</a:t>
                      </a:r>
                      <a:r>
                        <a:rPr lang="en-US" sz="1050" b="1" baseline="0"/>
                        <a:t> for regulatory purpose in XML format</a:t>
                      </a:r>
                      <a:endParaRPr lang="en-GB" sz="1050" b="1" kern="1200" baseline="0">
                        <a:solidFill>
                          <a:srgbClr val="FF0000"/>
                        </a:solidFill>
                        <a:latin typeface="+mn-lt"/>
                        <a:ea typeface="+mn-ea"/>
                        <a:cs typeface="+mn-cs"/>
                      </a:endParaRPr>
                    </a:p>
                    <a:p>
                      <a:pPr marL="0" algn="l" defTabSz="685800" rtl="0" eaLnBrk="1" latinLnBrk="0" hangingPunct="1"/>
                      <a:r>
                        <a:rPr lang="en-US" sz="1050" baseline="0">
                          <a:solidFill>
                            <a:schemeClr val="tx1"/>
                          </a:solidFill>
                        </a:rPr>
                        <a:t>a file produced by the simulation tool which contains a set of vehicle related information and the performance of the vehicle with regard to its influence on CO2 emissions, fuel consumption, of motor vehicles, and which takes the form of the template laid down in Annex IV, Part II</a:t>
                      </a:r>
                      <a:endParaRPr lang="de-AT" sz="1050" dirty="0">
                        <a:solidFill>
                          <a:schemeClr val="tx1"/>
                        </a:solidFill>
                      </a:endParaRPr>
                    </a:p>
                  </a:txBody>
                  <a:tcPr/>
                </a:tc>
                <a:extLst>
                  <a:ext uri="{0D108BD9-81ED-4DB2-BD59-A6C34878D82A}">
                    <a16:rowId xmlns:a16="http://schemas.microsoft.com/office/drawing/2014/main" val="4122913343"/>
                  </a:ext>
                </a:extLst>
              </a:tr>
              <a:tr h="370840">
                <a:tc>
                  <a:txBody>
                    <a:bodyPr/>
                    <a:lstStyle/>
                    <a:p>
                      <a:pPr marL="0" algn="l" defTabSz="685800" rtl="0" eaLnBrk="1" latinLnBrk="0" hangingPunct="1"/>
                      <a:r>
                        <a:rPr lang="de-AT" sz="1200" b="0" kern="1200">
                          <a:solidFill>
                            <a:schemeClr val="bg1"/>
                          </a:solidFill>
                          <a:latin typeface="+mn-lt"/>
                          <a:ea typeface="+mn-ea"/>
                          <a:cs typeface="+mn-cs"/>
                        </a:rPr>
                        <a:t>Pdf-output</a:t>
                      </a:r>
                      <a:endParaRPr lang="de-AT" sz="1200" b="0" kern="1200" dirty="0">
                        <a:solidFill>
                          <a:schemeClr val="bg1"/>
                        </a:solidFill>
                        <a:latin typeface="+mn-lt"/>
                        <a:ea typeface="+mn-ea"/>
                        <a:cs typeface="+mn-cs"/>
                      </a:endParaRPr>
                    </a:p>
                  </a:txBody>
                  <a:tcPr>
                    <a:solidFill>
                      <a:schemeClr val="accent1"/>
                    </a:solidFill>
                  </a:tcPr>
                </a:tc>
                <a:tc>
                  <a:txBody>
                    <a:bodyPr/>
                    <a:lstStyle/>
                    <a:p>
                      <a:pPr marL="0" lvl="1" indent="0" algn="l" defTabSz="685800" rtl="0" eaLnBrk="1" latinLnBrk="0" hangingPunct="1">
                        <a:buFont typeface="Arial" panose="020B0604020202020204" pitchFamily="34" charset="0"/>
                        <a:buNone/>
                      </a:pPr>
                      <a:r>
                        <a:rPr lang="en-US" sz="1050" kern="1200" dirty="0">
                          <a:solidFill>
                            <a:schemeClr val="dk1"/>
                          </a:solidFill>
                          <a:latin typeface="+mn-lt"/>
                          <a:ea typeface="+mn-ea"/>
                          <a:cs typeface="+mn-cs"/>
                        </a:rPr>
                        <a:t>Formatted printable output of the customer information file</a:t>
                      </a:r>
                      <a:r>
                        <a:rPr lang="en-US" sz="1050" kern="1200" baseline="0" dirty="0">
                          <a:solidFill>
                            <a:schemeClr val="dk1"/>
                          </a:solidFill>
                          <a:latin typeface="+mn-lt"/>
                          <a:ea typeface="+mn-ea"/>
                          <a:cs typeface="+mn-cs"/>
                        </a:rPr>
                        <a:t> </a:t>
                      </a:r>
                      <a:endParaRPr lang="de-AT" sz="1050" kern="1200" dirty="0">
                        <a:solidFill>
                          <a:schemeClr val="dk1"/>
                        </a:solidFill>
                        <a:latin typeface="+mn-lt"/>
                        <a:ea typeface="+mn-ea"/>
                        <a:cs typeface="+mn-cs"/>
                      </a:endParaRPr>
                    </a:p>
                  </a:txBody>
                  <a:tcPr anchor="ctr"/>
                </a:tc>
                <a:extLst>
                  <a:ext uri="{0D108BD9-81ED-4DB2-BD59-A6C34878D82A}">
                    <a16:rowId xmlns:a16="http://schemas.microsoft.com/office/drawing/2014/main" val="3760094025"/>
                  </a:ext>
                </a:extLst>
              </a:tr>
              <a:tr h="370840">
                <a:tc>
                  <a:txBody>
                    <a:bodyPr/>
                    <a:lstStyle/>
                    <a:p>
                      <a:r>
                        <a:rPr lang="de-AT" sz="1200" b="0">
                          <a:solidFill>
                            <a:schemeClr val="bg1"/>
                          </a:solidFill>
                        </a:rPr>
                        <a:t>vsum-file*</a:t>
                      </a:r>
                      <a:endParaRPr lang="de-AT" sz="1200" b="0" dirty="0">
                        <a:solidFill>
                          <a:schemeClr val="bg1"/>
                        </a:solidFill>
                      </a:endParaRPr>
                    </a:p>
                  </a:txBody>
                  <a:tcPr>
                    <a:solidFill>
                      <a:schemeClr val="accent1"/>
                    </a:solidFill>
                  </a:tcPr>
                </a:tc>
                <a:tc>
                  <a:txBody>
                    <a:bodyPr/>
                    <a:lstStyle/>
                    <a:p>
                      <a:pPr marL="0" lvl="1" indent="0" algn="l" defTabSz="685800" rtl="0" eaLnBrk="1" latinLnBrk="0" hangingPunct="1">
                        <a:buFont typeface="Arial" panose="020B0604020202020204" pitchFamily="34" charset="0"/>
                        <a:buNone/>
                      </a:pPr>
                      <a:r>
                        <a:rPr lang="de-AT" sz="1050" kern="1200" dirty="0">
                          <a:solidFill>
                            <a:schemeClr val="dk1"/>
                          </a:solidFill>
                          <a:latin typeface="+mn-lt"/>
                          <a:ea typeface="+mn-ea"/>
                          <a:cs typeface="+mn-cs"/>
                        </a:rPr>
                        <a:t>Output </a:t>
                      </a:r>
                      <a:r>
                        <a:rPr lang="de-AT" sz="1050" kern="1200" dirty="0" err="1">
                          <a:solidFill>
                            <a:schemeClr val="dk1"/>
                          </a:solidFill>
                          <a:latin typeface="+mn-lt"/>
                          <a:ea typeface="+mn-ea"/>
                          <a:cs typeface="+mn-cs"/>
                        </a:rPr>
                        <a:t>for</a:t>
                      </a:r>
                      <a:r>
                        <a:rPr lang="de-AT" sz="1050" kern="1200" dirty="0">
                          <a:solidFill>
                            <a:schemeClr val="dk1"/>
                          </a:solidFill>
                          <a:latin typeface="+mn-lt"/>
                          <a:ea typeface="+mn-ea"/>
                          <a:cs typeface="+mn-cs"/>
                        </a:rPr>
                        <a:t> </a:t>
                      </a:r>
                      <a:r>
                        <a:rPr lang="de-AT" sz="1050" kern="1200" dirty="0" err="1">
                          <a:solidFill>
                            <a:schemeClr val="dk1"/>
                          </a:solidFill>
                          <a:latin typeface="+mn-lt"/>
                          <a:ea typeface="+mn-ea"/>
                          <a:cs typeface="+mn-cs"/>
                        </a:rPr>
                        <a:t>engineering</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purposes</a:t>
                      </a:r>
                      <a:r>
                        <a:rPr lang="de-AT" sz="1050" kern="1200" baseline="0" dirty="0">
                          <a:solidFill>
                            <a:schemeClr val="dk1"/>
                          </a:solidFill>
                          <a:latin typeface="+mn-lt"/>
                          <a:ea typeface="+mn-ea"/>
                          <a:cs typeface="+mn-cs"/>
                        </a:rPr>
                        <a:t> in </a:t>
                      </a:r>
                      <a:r>
                        <a:rPr lang="de-AT" sz="1050" kern="1200" baseline="0" dirty="0" err="1">
                          <a:solidFill>
                            <a:schemeClr val="dk1"/>
                          </a:solidFill>
                          <a:latin typeface="+mn-lt"/>
                          <a:ea typeface="+mn-ea"/>
                          <a:cs typeface="+mn-cs"/>
                        </a:rPr>
                        <a:t>csv</a:t>
                      </a:r>
                      <a:r>
                        <a:rPr lang="de-AT" sz="1050" kern="1200" baseline="0" dirty="0">
                          <a:solidFill>
                            <a:schemeClr val="dk1"/>
                          </a:solidFill>
                          <a:latin typeface="+mn-lt"/>
                          <a:ea typeface="+mn-ea"/>
                          <a:cs typeface="+mn-cs"/>
                        </a:rPr>
                        <a:t>-format. </a:t>
                      </a:r>
                    </a:p>
                    <a:p>
                      <a:pPr marL="0" lvl="1" indent="0" algn="l" defTabSz="685800" rtl="0" eaLnBrk="1" latinLnBrk="0" hangingPunct="1">
                        <a:buFont typeface="Arial" panose="020B0604020202020204" pitchFamily="34" charset="0"/>
                        <a:buNone/>
                      </a:pPr>
                      <a:r>
                        <a:rPr lang="de-AT" sz="1050" kern="1200" baseline="0" dirty="0">
                          <a:solidFill>
                            <a:schemeClr val="dk1"/>
                          </a:solidFill>
                          <a:latin typeface="+mn-lt"/>
                          <a:ea typeface="+mn-ea"/>
                          <a:cs typeface="+mn-cs"/>
                        </a:rPr>
                        <a:t>Single </a:t>
                      </a:r>
                      <a:r>
                        <a:rPr lang="de-AT" sz="1050" kern="1200" baseline="0" dirty="0" err="1">
                          <a:solidFill>
                            <a:schemeClr val="dk1"/>
                          </a:solidFill>
                          <a:latin typeface="+mn-lt"/>
                          <a:ea typeface="+mn-ea"/>
                          <a:cs typeface="+mn-cs"/>
                        </a:rPr>
                        <a:t>line</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of</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results</a:t>
                      </a:r>
                      <a:r>
                        <a:rPr lang="de-AT" sz="1050" kern="1200" baseline="0" dirty="0">
                          <a:solidFill>
                            <a:schemeClr val="dk1"/>
                          </a:solidFill>
                          <a:latin typeface="+mn-lt"/>
                          <a:ea typeface="+mn-ea"/>
                          <a:cs typeface="+mn-cs"/>
                        </a:rPr>
                        <a:t> per </a:t>
                      </a:r>
                      <a:r>
                        <a:rPr lang="de-AT" sz="1050" kern="1200" baseline="0" dirty="0" err="1">
                          <a:solidFill>
                            <a:schemeClr val="dk1"/>
                          </a:solidFill>
                          <a:latin typeface="+mn-lt"/>
                          <a:ea typeface="+mn-ea"/>
                          <a:cs typeface="+mn-cs"/>
                        </a:rPr>
                        <a:t>each</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simulated</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combination</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of</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trailer</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mission</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profile</a:t>
                      </a:r>
                      <a:r>
                        <a:rPr lang="de-AT" sz="1050" kern="1200" baseline="0" dirty="0">
                          <a:solidFill>
                            <a:schemeClr val="dk1"/>
                          </a:solidFill>
                          <a:latin typeface="+mn-lt"/>
                          <a:ea typeface="+mn-ea"/>
                          <a:cs typeface="+mn-cs"/>
                        </a:rPr>
                        <a:t> and </a:t>
                      </a:r>
                      <a:r>
                        <a:rPr lang="de-AT" sz="1050" kern="1200" baseline="0" dirty="0" err="1">
                          <a:solidFill>
                            <a:schemeClr val="dk1"/>
                          </a:solidFill>
                          <a:latin typeface="+mn-lt"/>
                          <a:ea typeface="+mn-ea"/>
                          <a:cs typeface="+mn-cs"/>
                        </a:rPr>
                        <a:t>payload</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with</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aggregate</a:t>
                      </a:r>
                      <a:r>
                        <a:rPr lang="de-AT" sz="1050" kern="1200" baseline="0" dirty="0">
                          <a:solidFill>
                            <a:schemeClr val="dk1"/>
                          </a:solidFill>
                          <a:latin typeface="+mn-lt"/>
                          <a:ea typeface="+mn-ea"/>
                          <a:cs typeface="+mn-cs"/>
                        </a:rPr>
                        <a:t> and </a:t>
                      </a:r>
                      <a:r>
                        <a:rPr lang="de-AT" sz="1050" kern="1200" baseline="0" dirty="0" err="1">
                          <a:solidFill>
                            <a:schemeClr val="dk1"/>
                          </a:solidFill>
                          <a:latin typeface="+mn-lt"/>
                          <a:ea typeface="+mn-ea"/>
                          <a:cs typeface="+mn-cs"/>
                        </a:rPr>
                        <a:t>or</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average</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values</a:t>
                      </a:r>
                      <a:endParaRPr lang="de-AT" sz="1050" kern="1200" dirty="0">
                        <a:solidFill>
                          <a:schemeClr val="dk1"/>
                        </a:solidFill>
                        <a:latin typeface="+mn-lt"/>
                        <a:ea typeface="+mn-ea"/>
                        <a:cs typeface="+mn-cs"/>
                      </a:endParaRPr>
                    </a:p>
                  </a:txBody>
                  <a:tcPr/>
                </a:tc>
                <a:extLst>
                  <a:ext uri="{0D108BD9-81ED-4DB2-BD59-A6C34878D82A}">
                    <a16:rowId xmlns:a16="http://schemas.microsoft.com/office/drawing/2014/main" val="3050974637"/>
                  </a:ext>
                </a:extLst>
              </a:tr>
              <a:tr h="370840">
                <a:tc>
                  <a:txBody>
                    <a:bodyPr/>
                    <a:lstStyle/>
                    <a:p>
                      <a:r>
                        <a:rPr lang="de-AT" sz="1200" b="0">
                          <a:solidFill>
                            <a:schemeClr val="bg1"/>
                          </a:solidFill>
                        </a:rPr>
                        <a:t>vmod</a:t>
                      </a:r>
                      <a:r>
                        <a:rPr lang="de-AT" sz="1200" b="0" baseline="0">
                          <a:solidFill>
                            <a:schemeClr val="bg1"/>
                          </a:solidFill>
                        </a:rPr>
                        <a:t>-file*</a:t>
                      </a:r>
                      <a:endParaRPr lang="de-AT" sz="1200" b="0" dirty="0">
                        <a:solidFill>
                          <a:schemeClr val="bg1"/>
                        </a:solidFill>
                      </a:endParaRPr>
                    </a:p>
                  </a:txBody>
                  <a:tcPr>
                    <a:solidFill>
                      <a:schemeClr val="accent1"/>
                    </a:solidFill>
                  </a:tcPr>
                </a:tc>
                <a:tc>
                  <a:txBody>
                    <a:bodyPr/>
                    <a:lstStyle/>
                    <a:p>
                      <a:pPr marL="0" lvl="1" indent="0" algn="l" defTabSz="685800" rtl="0" eaLnBrk="1" latinLnBrk="0" hangingPunct="1">
                        <a:buFont typeface="Arial" panose="020B0604020202020204" pitchFamily="34" charset="0"/>
                        <a:buNone/>
                      </a:pPr>
                      <a:r>
                        <a:rPr lang="de-AT" sz="1050" kern="1200" dirty="0">
                          <a:solidFill>
                            <a:schemeClr val="dk1"/>
                          </a:solidFill>
                          <a:latin typeface="+mn-lt"/>
                          <a:ea typeface="+mn-ea"/>
                          <a:cs typeface="+mn-cs"/>
                        </a:rPr>
                        <a:t>Output </a:t>
                      </a:r>
                      <a:r>
                        <a:rPr lang="de-AT" sz="1050" kern="1200" dirty="0" err="1">
                          <a:solidFill>
                            <a:schemeClr val="dk1"/>
                          </a:solidFill>
                          <a:latin typeface="+mn-lt"/>
                          <a:ea typeface="+mn-ea"/>
                          <a:cs typeface="+mn-cs"/>
                        </a:rPr>
                        <a:t>for</a:t>
                      </a:r>
                      <a:r>
                        <a:rPr lang="de-AT" sz="1050" kern="1200" dirty="0">
                          <a:solidFill>
                            <a:schemeClr val="dk1"/>
                          </a:solidFill>
                          <a:latin typeface="+mn-lt"/>
                          <a:ea typeface="+mn-ea"/>
                          <a:cs typeface="+mn-cs"/>
                        </a:rPr>
                        <a:t> </a:t>
                      </a:r>
                      <a:r>
                        <a:rPr lang="de-AT" sz="1050" kern="1200" dirty="0" err="1">
                          <a:solidFill>
                            <a:schemeClr val="dk1"/>
                          </a:solidFill>
                          <a:latin typeface="+mn-lt"/>
                          <a:ea typeface="+mn-ea"/>
                          <a:cs typeface="+mn-cs"/>
                        </a:rPr>
                        <a:t>engineering</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purposes</a:t>
                      </a:r>
                      <a:r>
                        <a:rPr lang="de-AT" sz="1050" kern="1200" baseline="0" dirty="0">
                          <a:solidFill>
                            <a:schemeClr val="dk1"/>
                          </a:solidFill>
                          <a:latin typeface="+mn-lt"/>
                          <a:ea typeface="+mn-ea"/>
                          <a:cs typeface="+mn-cs"/>
                        </a:rPr>
                        <a:t> in </a:t>
                      </a:r>
                      <a:r>
                        <a:rPr lang="de-AT" sz="1050" kern="1200" baseline="0" dirty="0" err="1">
                          <a:solidFill>
                            <a:schemeClr val="dk1"/>
                          </a:solidFill>
                          <a:latin typeface="+mn-lt"/>
                          <a:ea typeface="+mn-ea"/>
                          <a:cs typeface="+mn-cs"/>
                        </a:rPr>
                        <a:t>csv</a:t>
                      </a:r>
                      <a:r>
                        <a:rPr lang="de-AT" sz="1050" kern="1200" baseline="0" dirty="0">
                          <a:solidFill>
                            <a:schemeClr val="dk1"/>
                          </a:solidFill>
                          <a:latin typeface="+mn-lt"/>
                          <a:ea typeface="+mn-ea"/>
                          <a:cs typeface="+mn-cs"/>
                        </a:rPr>
                        <a:t>-format. </a:t>
                      </a:r>
                    </a:p>
                    <a:p>
                      <a:pPr marL="0" lvl="1" indent="0" algn="l" defTabSz="685800" rtl="0" eaLnBrk="1" latinLnBrk="0" hangingPunct="1">
                        <a:buFont typeface="Arial" panose="020B0604020202020204" pitchFamily="34" charset="0"/>
                        <a:buNone/>
                      </a:pPr>
                      <a:r>
                        <a:rPr lang="de-AT" sz="1050" kern="1200" baseline="0" dirty="0">
                          <a:solidFill>
                            <a:schemeClr val="dk1"/>
                          </a:solidFill>
                          <a:latin typeface="+mn-lt"/>
                          <a:ea typeface="+mn-ea"/>
                          <a:cs typeface="+mn-cs"/>
                        </a:rPr>
                        <a:t>Single </a:t>
                      </a:r>
                      <a:r>
                        <a:rPr lang="de-AT" sz="1050" kern="1200" baseline="0" dirty="0" err="1">
                          <a:solidFill>
                            <a:schemeClr val="dk1"/>
                          </a:solidFill>
                          <a:latin typeface="+mn-lt"/>
                          <a:ea typeface="+mn-ea"/>
                          <a:cs typeface="+mn-cs"/>
                        </a:rPr>
                        <a:t>file</a:t>
                      </a:r>
                      <a:r>
                        <a:rPr lang="de-AT" sz="1050" kern="1200" baseline="0" dirty="0">
                          <a:solidFill>
                            <a:schemeClr val="dk1"/>
                          </a:solidFill>
                          <a:latin typeface="+mn-lt"/>
                          <a:ea typeface="+mn-ea"/>
                          <a:cs typeface="+mn-cs"/>
                        </a:rPr>
                        <a:t> per </a:t>
                      </a:r>
                      <a:r>
                        <a:rPr lang="de-AT" sz="1050" kern="1200" baseline="0" dirty="0" err="1">
                          <a:solidFill>
                            <a:schemeClr val="dk1"/>
                          </a:solidFill>
                          <a:latin typeface="+mn-lt"/>
                          <a:ea typeface="+mn-ea"/>
                          <a:cs typeface="+mn-cs"/>
                        </a:rPr>
                        <a:t>each</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simulated</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combination</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of</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trailer</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mission</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profile</a:t>
                      </a:r>
                      <a:r>
                        <a:rPr lang="de-AT" sz="1050" kern="1200" baseline="0" dirty="0">
                          <a:solidFill>
                            <a:schemeClr val="dk1"/>
                          </a:solidFill>
                          <a:latin typeface="+mn-lt"/>
                          <a:ea typeface="+mn-ea"/>
                          <a:cs typeface="+mn-cs"/>
                        </a:rPr>
                        <a:t> and </a:t>
                      </a:r>
                      <a:r>
                        <a:rPr lang="de-AT" sz="1050" kern="1200" baseline="0" dirty="0" err="1">
                          <a:solidFill>
                            <a:schemeClr val="dk1"/>
                          </a:solidFill>
                          <a:latin typeface="+mn-lt"/>
                          <a:ea typeface="+mn-ea"/>
                          <a:cs typeface="+mn-cs"/>
                        </a:rPr>
                        <a:t>payload</a:t>
                      </a:r>
                      <a:r>
                        <a:rPr lang="de-AT" sz="1050" kern="1200" baseline="0" dirty="0">
                          <a:solidFill>
                            <a:schemeClr val="dk1"/>
                          </a:solidFill>
                          <a:latin typeface="+mn-lt"/>
                          <a:ea typeface="+mn-ea"/>
                          <a:cs typeface="+mn-cs"/>
                        </a:rPr>
                        <a:t> </a:t>
                      </a:r>
                      <a:r>
                        <a:rPr lang="de-AT" sz="1050" kern="1200" baseline="0" dirty="0" err="1">
                          <a:solidFill>
                            <a:schemeClr val="dk1"/>
                          </a:solidFill>
                          <a:latin typeface="+mn-lt"/>
                          <a:ea typeface="+mn-ea"/>
                          <a:cs typeface="+mn-cs"/>
                        </a:rPr>
                        <a:t>with</a:t>
                      </a:r>
                      <a:r>
                        <a:rPr lang="de-AT" sz="1050" kern="1200" baseline="0" dirty="0">
                          <a:solidFill>
                            <a:schemeClr val="dk1"/>
                          </a:solidFill>
                          <a:latin typeface="+mn-lt"/>
                          <a:ea typeface="+mn-ea"/>
                          <a:cs typeface="+mn-cs"/>
                        </a:rPr>
                        <a:t> </a:t>
                      </a:r>
                      <a:r>
                        <a:rPr lang="en-US" sz="1050" kern="1200" baseline="0" dirty="0">
                          <a:solidFill>
                            <a:schemeClr val="dk1"/>
                          </a:solidFill>
                          <a:latin typeface="+mn-lt"/>
                          <a:ea typeface="+mn-ea"/>
                          <a:cs typeface="+mn-cs"/>
                        </a:rPr>
                        <a:t>time-resolved simulation results from the VECTO core.</a:t>
                      </a:r>
                      <a:endParaRPr lang="de-AT" sz="1050" kern="1200" dirty="0">
                        <a:solidFill>
                          <a:schemeClr val="dk1"/>
                        </a:solidFill>
                        <a:latin typeface="+mn-lt"/>
                        <a:ea typeface="+mn-ea"/>
                        <a:cs typeface="+mn-cs"/>
                      </a:endParaRPr>
                    </a:p>
                  </a:txBody>
                  <a:tcPr/>
                </a:tc>
                <a:extLst>
                  <a:ext uri="{0D108BD9-81ED-4DB2-BD59-A6C34878D82A}">
                    <a16:rowId xmlns:a16="http://schemas.microsoft.com/office/drawing/2014/main" val="3283408876"/>
                  </a:ext>
                </a:extLst>
              </a:tr>
            </a:tbl>
          </a:graphicData>
        </a:graphic>
      </p:graphicFrame>
      <p:sp>
        <p:nvSpPr>
          <p:cNvPr id="4" name="Textfeld 3"/>
          <p:cNvSpPr txBox="1"/>
          <p:nvPr/>
        </p:nvSpPr>
        <p:spPr>
          <a:xfrm>
            <a:off x="468000" y="4513354"/>
            <a:ext cx="6408712" cy="400110"/>
          </a:xfrm>
          <a:prstGeom prst="rect">
            <a:avLst/>
          </a:prstGeom>
          <a:noFill/>
        </p:spPr>
        <p:txBody>
          <a:bodyPr wrap="square" rtlCol="0">
            <a:spAutoFit/>
          </a:bodyPr>
          <a:lstStyle/>
          <a:p>
            <a:r>
              <a:rPr lang="en-GB" sz="1000" dirty="0"/>
              <a:t>* A </a:t>
            </a:r>
            <a:r>
              <a:rPr lang="en-US" sz="1000" dirty="0"/>
              <a:t>documentation of the results contained in the </a:t>
            </a:r>
            <a:r>
              <a:rPr lang="en-US" sz="1000" dirty="0" err="1"/>
              <a:t>vsum</a:t>
            </a:r>
            <a:r>
              <a:rPr lang="en-US" sz="1000" dirty="0"/>
              <a:t> and </a:t>
            </a:r>
            <a:r>
              <a:rPr lang="en-US" sz="1000" dirty="0" err="1"/>
              <a:t>vmod</a:t>
            </a:r>
            <a:r>
              <a:rPr lang="en-US" sz="1000" dirty="0"/>
              <a:t> files can be found in the help file for the VECTO calculation core (help.html), which is also included in the VECTO Trailer Tool release. </a:t>
            </a:r>
            <a:endParaRPr lang="en-GB" sz="1000" dirty="0"/>
          </a:p>
        </p:txBody>
      </p:sp>
    </p:spTree>
    <p:extLst>
      <p:ext uri="{BB962C8B-B14F-4D97-AF65-F5344CB8AC3E}">
        <p14:creationId xmlns:p14="http://schemas.microsoft.com/office/powerpoint/2010/main" val="3351149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258713"/>
            <a:ext cx="7993782" cy="702469"/>
          </a:xfrm>
        </p:spPr>
        <p:txBody>
          <a:bodyPr>
            <a:normAutofit/>
          </a:bodyPr>
          <a:lstStyle/>
          <a:p>
            <a:r>
              <a:rPr lang="en-US" dirty="0">
                <a:solidFill>
                  <a:srgbClr val="034EA2"/>
                </a:solidFill>
              </a:rPr>
              <a:t>What is the “Efficiency Ratio”? (1/2)</a:t>
            </a:r>
          </a:p>
        </p:txBody>
      </p:sp>
      <p:sp>
        <p:nvSpPr>
          <p:cNvPr id="3" name="Inhaltsplatzhalter 2"/>
          <p:cNvSpPr>
            <a:spLocks noGrp="1"/>
          </p:cNvSpPr>
          <p:nvPr>
            <p:ph idx="1"/>
          </p:nvPr>
        </p:nvSpPr>
        <p:spPr>
          <a:xfrm>
            <a:off x="626308" y="1059582"/>
            <a:ext cx="8194164" cy="504055"/>
          </a:xfrm>
        </p:spPr>
        <p:txBody>
          <a:bodyPr>
            <a:noAutofit/>
          </a:bodyPr>
          <a:lstStyle/>
          <a:p>
            <a:pPr marL="0" indent="0">
              <a:lnSpc>
                <a:spcPct val="100000"/>
              </a:lnSpc>
              <a:buNone/>
            </a:pPr>
            <a:r>
              <a:rPr lang="en-US" sz="1400" dirty="0">
                <a:solidFill>
                  <a:schemeClr val="tx1"/>
                </a:solidFill>
              </a:rPr>
              <a:t>The Efficiency Ratio (ER) is a dimensionless characteristic value for the rating of a (semi-)trailer with regard to its influence on CO</a:t>
            </a:r>
            <a:r>
              <a:rPr lang="en-US" sz="1400" baseline="-25000" dirty="0">
                <a:solidFill>
                  <a:schemeClr val="tx1"/>
                </a:solidFill>
              </a:rPr>
              <a:t>2</a:t>
            </a:r>
            <a:r>
              <a:rPr lang="en-US" sz="1400" dirty="0">
                <a:solidFill>
                  <a:schemeClr val="tx1"/>
                </a:solidFill>
              </a:rPr>
              <a:t> emissions, fuel emissions and energy consumption of the towing vehicle. </a:t>
            </a:r>
          </a:p>
          <a:p>
            <a:pPr marL="0" indent="0">
              <a:lnSpc>
                <a:spcPct val="100000"/>
              </a:lnSpc>
              <a:spcBef>
                <a:spcPts val="600"/>
              </a:spcBef>
              <a:spcAft>
                <a:spcPts val="600"/>
              </a:spcAft>
              <a:buNone/>
            </a:pPr>
            <a:endParaRPr lang="en-US" sz="1400" dirty="0"/>
          </a:p>
        </p:txBody>
      </p:sp>
      <p:grpSp>
        <p:nvGrpSpPr>
          <p:cNvPr id="9" name="Gruppieren 8"/>
          <p:cNvGrpSpPr/>
          <p:nvPr/>
        </p:nvGrpSpPr>
        <p:grpSpPr>
          <a:xfrm>
            <a:off x="626307" y="1635646"/>
            <a:ext cx="8211313" cy="720080"/>
            <a:chOff x="454088" y="1635645"/>
            <a:chExt cx="8401408" cy="720080"/>
          </a:xfrm>
        </p:grpSpPr>
        <p:sp>
          <p:nvSpPr>
            <p:cNvPr id="7" name="Rechteck 6"/>
            <p:cNvSpPr/>
            <p:nvPr/>
          </p:nvSpPr>
          <p:spPr>
            <a:xfrm>
              <a:off x="457200" y="1635645"/>
              <a:ext cx="8398296" cy="72008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 name="Rechteck 3"/>
                <p:cNvSpPr/>
                <p:nvPr/>
              </p:nvSpPr>
              <p:spPr>
                <a:xfrm>
                  <a:off x="454088" y="1747412"/>
                  <a:ext cx="2175404" cy="4628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sz="1100" b="1" i="0" smtClean="0">
                            <a:solidFill>
                              <a:schemeClr val="accent4">
                                <a:lumMod val="75000"/>
                              </a:schemeClr>
                            </a:solidFill>
                            <a:latin typeface="Cambria Math" panose="02040503050406030204" pitchFamily="18" charset="0"/>
                          </a:rPr>
                          <m:t>𝐄𝐟𝐟𝐢𝐜𝐢𝐞𝐧𝐜𝐲</m:t>
                        </m:r>
                        <m:r>
                          <a:rPr lang="de-AT" sz="1100" b="1" i="0" smtClean="0">
                            <a:solidFill>
                              <a:schemeClr val="accent4">
                                <a:lumMod val="75000"/>
                              </a:schemeClr>
                            </a:solidFill>
                            <a:latin typeface="Cambria Math" panose="02040503050406030204" pitchFamily="18" charset="0"/>
                          </a:rPr>
                          <m:t> </m:t>
                        </m:r>
                        <m:r>
                          <a:rPr lang="de-AT" sz="1100" b="1" i="0" smtClean="0">
                            <a:solidFill>
                              <a:schemeClr val="accent4">
                                <a:lumMod val="75000"/>
                              </a:schemeClr>
                            </a:solidFill>
                            <a:latin typeface="Cambria Math" panose="02040503050406030204" pitchFamily="18" charset="0"/>
                          </a:rPr>
                          <m:t>𝐑𝐚𝐭𝐢𝐨</m:t>
                        </m:r>
                        <m:r>
                          <a:rPr lang="en-US" sz="1100" b="1" i="0">
                            <a:solidFill>
                              <a:schemeClr val="accent4">
                                <a:lumMod val="75000"/>
                              </a:schemeClr>
                            </a:solidFill>
                            <a:latin typeface="Cambria Math" panose="02040503050406030204" pitchFamily="18" charset="0"/>
                          </a:rPr>
                          <m:t>=</m:t>
                        </m:r>
                        <m:f>
                          <m:fPr>
                            <m:ctrlPr>
                              <a:rPr lang="en-US" sz="1100" b="1" i="1">
                                <a:solidFill>
                                  <a:schemeClr val="accent4">
                                    <a:lumMod val="75000"/>
                                  </a:schemeClr>
                                </a:solidFill>
                                <a:latin typeface="Cambria Math" panose="02040503050406030204" pitchFamily="18" charset="0"/>
                              </a:rPr>
                            </m:ctrlPr>
                          </m:fPr>
                          <m:num>
                            <m:sSub>
                              <m:sSubPr>
                                <m:ctrlPr>
                                  <a:rPr lang="en-US" sz="1100" b="1" i="1">
                                    <a:solidFill>
                                      <a:schemeClr val="accent4">
                                        <a:lumMod val="75000"/>
                                      </a:schemeClr>
                                    </a:solidFill>
                                    <a:latin typeface="Cambria Math" panose="02040503050406030204" pitchFamily="18" charset="0"/>
                                  </a:rPr>
                                </m:ctrlPr>
                              </m:sSubPr>
                              <m:e>
                                <m:r>
                                  <a:rPr lang="de-AT" sz="1100" b="1" i="0">
                                    <a:solidFill>
                                      <a:schemeClr val="accent4">
                                        <a:lumMod val="75000"/>
                                      </a:schemeClr>
                                    </a:solidFill>
                                    <a:latin typeface="Cambria Math" panose="02040503050406030204" pitchFamily="18" charset="0"/>
                                  </a:rPr>
                                  <m:t>𝐂𝐎</m:t>
                                </m:r>
                              </m:e>
                              <m:sub>
                                <m:r>
                                  <a:rPr lang="de-AT" sz="1100" b="1" i="0">
                                    <a:solidFill>
                                      <a:schemeClr val="accent4">
                                        <a:lumMod val="75000"/>
                                      </a:schemeClr>
                                    </a:solidFill>
                                    <a:latin typeface="Cambria Math" panose="02040503050406030204" pitchFamily="18" charset="0"/>
                                  </a:rPr>
                                  <m:t>𝟐</m:t>
                                </m:r>
                                <m:r>
                                  <a:rPr lang="de-AT" sz="1100" b="1" i="0">
                                    <a:solidFill>
                                      <a:schemeClr val="accent4">
                                        <a:lumMod val="75000"/>
                                      </a:schemeClr>
                                    </a:solidFill>
                                    <a:latin typeface="Cambria Math" panose="02040503050406030204" pitchFamily="18" charset="0"/>
                                  </a:rPr>
                                  <m:t>,   </m:t>
                                </m:r>
                                <m:r>
                                  <a:rPr lang="de-AT" sz="1100" b="1" i="0">
                                    <a:solidFill>
                                      <a:schemeClr val="accent4">
                                        <a:lumMod val="75000"/>
                                      </a:schemeClr>
                                    </a:solidFill>
                                    <a:latin typeface="Cambria Math" panose="02040503050406030204" pitchFamily="18" charset="0"/>
                                  </a:rPr>
                                  <m:t>𝐬𝐩𝐞𝐜</m:t>
                                </m:r>
                                <m:d>
                                  <m:dPr>
                                    <m:ctrlPr>
                                      <a:rPr lang="de-AT" sz="1100" b="1" i="1">
                                        <a:solidFill>
                                          <a:schemeClr val="accent4">
                                            <a:lumMod val="75000"/>
                                          </a:schemeClr>
                                        </a:solidFill>
                                        <a:latin typeface="Cambria Math" panose="02040503050406030204" pitchFamily="18" charset="0"/>
                                      </a:rPr>
                                    </m:ctrlPr>
                                  </m:dPr>
                                  <m:e>
                                    <m:r>
                                      <a:rPr lang="de-AT" sz="1100" b="1" i="0">
                                        <a:solidFill>
                                          <a:schemeClr val="accent4">
                                            <a:lumMod val="75000"/>
                                          </a:schemeClr>
                                        </a:solidFill>
                                        <a:latin typeface="Cambria Math" panose="02040503050406030204" pitchFamily="18" charset="0"/>
                                      </a:rPr>
                                      <m:t>𝐒</m:t>
                                    </m:r>
                                  </m:e>
                                </m:d>
                                <m:r>
                                  <a:rPr lang="de-AT" sz="1100" b="1" i="0">
                                    <a:solidFill>
                                      <a:schemeClr val="accent4">
                                        <a:lumMod val="75000"/>
                                      </a:schemeClr>
                                    </a:solidFill>
                                    <a:latin typeface="Cambria Math" panose="02040503050406030204" pitchFamily="18" charset="0"/>
                                  </a:rPr>
                                  <m:t>𝐓</m:t>
                                </m:r>
                              </m:sub>
                            </m:sSub>
                          </m:num>
                          <m:den>
                            <m:sSub>
                              <m:sSubPr>
                                <m:ctrlPr>
                                  <a:rPr lang="en-US" sz="1100" b="1" i="1">
                                    <a:solidFill>
                                      <a:schemeClr val="accent4">
                                        <a:lumMod val="75000"/>
                                      </a:schemeClr>
                                    </a:solidFill>
                                    <a:latin typeface="Cambria Math" panose="02040503050406030204" pitchFamily="18" charset="0"/>
                                  </a:rPr>
                                </m:ctrlPr>
                              </m:sSubPr>
                              <m:e>
                                <m:r>
                                  <a:rPr lang="de-AT" sz="1100" b="1" i="0">
                                    <a:solidFill>
                                      <a:schemeClr val="accent4">
                                        <a:lumMod val="75000"/>
                                      </a:schemeClr>
                                    </a:solidFill>
                                    <a:latin typeface="Cambria Math" panose="02040503050406030204" pitchFamily="18" charset="0"/>
                                  </a:rPr>
                                  <m:t>𝐂𝐎</m:t>
                                </m:r>
                              </m:e>
                              <m:sub>
                                <m:r>
                                  <a:rPr lang="de-AT" sz="1100" b="1" i="0">
                                    <a:solidFill>
                                      <a:schemeClr val="accent4">
                                        <a:lumMod val="75000"/>
                                      </a:schemeClr>
                                    </a:solidFill>
                                    <a:latin typeface="Cambria Math" panose="02040503050406030204" pitchFamily="18" charset="0"/>
                                  </a:rPr>
                                  <m:t>𝟐</m:t>
                                </m:r>
                                <m:r>
                                  <a:rPr lang="de-AT" sz="1100" b="1" i="0">
                                    <a:solidFill>
                                      <a:schemeClr val="accent4">
                                        <a:lumMod val="75000"/>
                                      </a:schemeClr>
                                    </a:solidFill>
                                    <a:latin typeface="Cambria Math" panose="02040503050406030204" pitchFamily="18" charset="0"/>
                                  </a:rPr>
                                  <m:t>,   </m:t>
                                </m:r>
                                <m:r>
                                  <a:rPr lang="de-AT" sz="1100" b="1" i="0" smtClean="0">
                                    <a:solidFill>
                                      <a:schemeClr val="accent4">
                                        <a:lumMod val="75000"/>
                                      </a:schemeClr>
                                    </a:solidFill>
                                    <a:latin typeface="Cambria Math" panose="02040503050406030204" pitchFamily="18" charset="0"/>
                                  </a:rPr>
                                  <m:t>𝐫𝐞𝐟</m:t>
                                </m:r>
                                <m:d>
                                  <m:dPr>
                                    <m:ctrlPr>
                                      <a:rPr lang="de-AT" sz="1100" b="1" i="1">
                                        <a:solidFill>
                                          <a:schemeClr val="accent4">
                                            <a:lumMod val="75000"/>
                                          </a:schemeClr>
                                        </a:solidFill>
                                        <a:latin typeface="Cambria Math" panose="02040503050406030204" pitchFamily="18" charset="0"/>
                                      </a:rPr>
                                    </m:ctrlPr>
                                  </m:dPr>
                                  <m:e>
                                    <m:r>
                                      <a:rPr lang="de-AT" sz="1100" b="1" i="0">
                                        <a:solidFill>
                                          <a:schemeClr val="accent4">
                                            <a:lumMod val="75000"/>
                                          </a:schemeClr>
                                        </a:solidFill>
                                        <a:latin typeface="Cambria Math" panose="02040503050406030204" pitchFamily="18" charset="0"/>
                                      </a:rPr>
                                      <m:t>𝐒</m:t>
                                    </m:r>
                                  </m:e>
                                </m:d>
                                <m:r>
                                  <a:rPr lang="de-AT" sz="1100" b="1" i="0">
                                    <a:solidFill>
                                      <a:schemeClr val="accent4">
                                        <a:lumMod val="75000"/>
                                      </a:schemeClr>
                                    </a:solidFill>
                                    <a:latin typeface="Cambria Math" panose="02040503050406030204" pitchFamily="18" charset="0"/>
                                  </a:rPr>
                                  <m:t>𝐓</m:t>
                                </m:r>
                              </m:sub>
                            </m:sSub>
                          </m:den>
                        </m:f>
                      </m:oMath>
                    </m:oMathPara>
                  </a14:m>
                  <a:endParaRPr lang="en-GB" sz="1100" b="1">
                    <a:solidFill>
                      <a:schemeClr val="accent4">
                        <a:lumMod val="75000"/>
                      </a:schemeClr>
                    </a:solidFill>
                  </a:endParaRPr>
                </a:p>
              </p:txBody>
            </p:sp>
          </mc:Choice>
          <mc:Fallback xmlns="">
            <p:sp>
              <p:nvSpPr>
                <p:cNvPr id="4" name="Rechteck 3"/>
                <p:cNvSpPr>
                  <a:spLocks noRot="1" noChangeAspect="1" noMove="1" noResize="1" noEditPoints="1" noAdjustHandles="1" noChangeArrowheads="1" noChangeShapeType="1" noTextEdit="1"/>
                </p:cNvSpPr>
                <p:nvPr/>
              </p:nvSpPr>
              <p:spPr>
                <a:xfrm>
                  <a:off x="454088" y="1747412"/>
                  <a:ext cx="2175404" cy="462819"/>
                </a:xfrm>
                <a:prstGeom prst="rect">
                  <a:avLst/>
                </a:prstGeom>
                <a:blipFill>
                  <a:blip r:embed="rId3"/>
                  <a:stretch>
                    <a:fillRect/>
                  </a:stretch>
                </a:blipFill>
              </p:spPr>
              <p:txBody>
                <a:bodyPr/>
                <a:lstStyle/>
                <a:p>
                  <a:r>
                    <a:rPr lang="en-GB">
                      <a:noFill/>
                    </a:rPr>
                    <a:t> </a:t>
                  </a:r>
                </a:p>
              </p:txBody>
            </p:sp>
          </mc:Fallback>
        </mc:AlternateContent>
        <p:sp>
          <p:nvSpPr>
            <p:cNvPr id="5" name="Textfeld 4"/>
            <p:cNvSpPr txBox="1"/>
            <p:nvPr/>
          </p:nvSpPr>
          <p:spPr>
            <a:xfrm>
              <a:off x="2878832" y="1672519"/>
              <a:ext cx="5976664" cy="600164"/>
            </a:xfrm>
            <a:prstGeom prst="rect">
              <a:avLst/>
            </a:prstGeom>
            <a:noFill/>
          </p:spPr>
          <p:txBody>
            <a:bodyPr wrap="square" rtlCol="0">
              <a:spAutoFit/>
            </a:bodyPr>
            <a:lstStyle/>
            <a:p>
              <a:r>
                <a:rPr lang="en-GB" sz="1100">
                  <a:solidFill>
                    <a:schemeClr val="accent4">
                      <a:lumMod val="75000"/>
                    </a:schemeClr>
                  </a:solidFill>
                  <a:latin typeface="Cambria Math" panose="02040503050406030204" pitchFamily="18" charset="0"/>
                </a:rPr>
                <a:t>Where</a:t>
              </a:r>
              <a:r>
                <a:rPr lang="en-GB" sz="1100">
                  <a:solidFill>
                    <a:schemeClr val="accent4">
                      <a:lumMod val="75000"/>
                    </a:schemeClr>
                  </a:solidFill>
                </a:rPr>
                <a:t>:</a:t>
              </a:r>
              <a:br>
                <a:rPr lang="en-GB" sz="1100">
                  <a:solidFill>
                    <a:schemeClr val="accent4">
                      <a:lumMod val="75000"/>
                    </a:schemeClr>
                  </a:solidFill>
                </a:rPr>
              </a:br>
              <a:r>
                <a:rPr lang="en-GB" sz="1100">
                  <a:solidFill>
                    <a:schemeClr val="accent4">
                      <a:lumMod val="75000"/>
                    </a:schemeClr>
                  </a:solidFill>
                  <a:latin typeface="Cambria Math" panose="02040503050406030204" pitchFamily="18" charset="0"/>
                  <a:ea typeface="Cambria Math" panose="02040503050406030204" pitchFamily="18" charset="0"/>
                </a:rPr>
                <a:t>CO</a:t>
              </a:r>
              <a:r>
                <a:rPr lang="en-GB" sz="1100" baseline="-25000">
                  <a:solidFill>
                    <a:schemeClr val="accent4">
                      <a:lumMod val="75000"/>
                    </a:schemeClr>
                  </a:solidFill>
                  <a:latin typeface="Cambria Math" panose="02040503050406030204" pitchFamily="18" charset="0"/>
                  <a:ea typeface="Cambria Math" panose="02040503050406030204" pitchFamily="18" charset="0"/>
                </a:rPr>
                <a:t>2, spec(S)T </a:t>
              </a:r>
              <a:r>
                <a:rPr lang="en-GB" sz="1100">
                  <a:solidFill>
                    <a:schemeClr val="accent4">
                      <a:lumMod val="75000"/>
                    </a:schemeClr>
                  </a:solidFill>
                  <a:latin typeface="Cambria Math" panose="02040503050406030204" pitchFamily="18" charset="0"/>
                  <a:ea typeface="Cambria Math" panose="02040503050406030204" pitchFamily="18" charset="0"/>
                </a:rPr>
                <a:t>... CO</a:t>
              </a:r>
              <a:r>
                <a:rPr lang="en-GB" sz="1100" baseline="-25000">
                  <a:solidFill>
                    <a:schemeClr val="accent4">
                      <a:lumMod val="75000"/>
                    </a:schemeClr>
                  </a:solidFill>
                  <a:latin typeface="Cambria Math" panose="02040503050406030204" pitchFamily="18" charset="0"/>
                  <a:ea typeface="Cambria Math" panose="02040503050406030204" pitchFamily="18" charset="0"/>
                </a:rPr>
                <a:t>2</a:t>
              </a:r>
              <a:r>
                <a:rPr lang="en-GB" sz="1100">
                  <a:solidFill>
                    <a:schemeClr val="accent4">
                      <a:lumMod val="75000"/>
                    </a:schemeClr>
                  </a:solidFill>
                  <a:latin typeface="Cambria Math" panose="02040503050406030204" pitchFamily="18" charset="0"/>
                  <a:ea typeface="Cambria Math" panose="02040503050406030204" pitchFamily="18" charset="0"/>
                </a:rPr>
                <a:t> emissions with the generic towing vehicle and the </a:t>
              </a:r>
              <a:r>
                <a:rPr lang="en-GB" sz="1100" b="1">
                  <a:solidFill>
                    <a:schemeClr val="accent4">
                      <a:lumMod val="75000"/>
                    </a:schemeClr>
                  </a:solidFill>
                  <a:latin typeface="Cambria Math" panose="02040503050406030204" pitchFamily="18" charset="0"/>
                  <a:ea typeface="Cambria Math" panose="02040503050406030204" pitchFamily="18" charset="0"/>
                </a:rPr>
                <a:t>specific</a:t>
              </a:r>
              <a:r>
                <a:rPr lang="en-GB" sz="1100">
                  <a:solidFill>
                    <a:schemeClr val="accent4">
                      <a:lumMod val="75000"/>
                    </a:schemeClr>
                  </a:solidFill>
                  <a:latin typeface="Cambria Math" panose="02040503050406030204" pitchFamily="18" charset="0"/>
                  <a:ea typeface="Cambria Math" panose="02040503050406030204" pitchFamily="18" charset="0"/>
                </a:rPr>
                <a:t> (semi-)trailer</a:t>
              </a:r>
            </a:p>
            <a:p>
              <a:r>
                <a:rPr lang="en-GB" sz="1100">
                  <a:solidFill>
                    <a:schemeClr val="accent4">
                      <a:lumMod val="75000"/>
                    </a:schemeClr>
                  </a:solidFill>
                  <a:latin typeface="Cambria Math" panose="02040503050406030204" pitchFamily="18" charset="0"/>
                  <a:ea typeface="Cambria Math" panose="02040503050406030204" pitchFamily="18" charset="0"/>
                </a:rPr>
                <a:t>CO</a:t>
              </a:r>
              <a:r>
                <a:rPr lang="en-GB" sz="1100" baseline="-25000">
                  <a:solidFill>
                    <a:schemeClr val="accent4">
                      <a:lumMod val="75000"/>
                    </a:schemeClr>
                  </a:solidFill>
                  <a:latin typeface="Cambria Math" panose="02040503050406030204" pitchFamily="18" charset="0"/>
                  <a:ea typeface="Cambria Math" panose="02040503050406030204" pitchFamily="18" charset="0"/>
                </a:rPr>
                <a:t>2, ref(S)T </a:t>
              </a:r>
              <a:r>
                <a:rPr lang="en-GB" sz="1100">
                  <a:solidFill>
                    <a:schemeClr val="accent4">
                      <a:lumMod val="75000"/>
                    </a:schemeClr>
                  </a:solidFill>
                  <a:latin typeface="Cambria Math" panose="02040503050406030204" pitchFamily="18" charset="0"/>
                  <a:ea typeface="Cambria Math" panose="02040503050406030204" pitchFamily="18" charset="0"/>
                </a:rPr>
                <a:t>... CO</a:t>
              </a:r>
              <a:r>
                <a:rPr lang="en-GB" sz="1100" baseline="-25000">
                  <a:solidFill>
                    <a:schemeClr val="accent4">
                      <a:lumMod val="75000"/>
                    </a:schemeClr>
                  </a:solidFill>
                  <a:latin typeface="Cambria Math" panose="02040503050406030204" pitchFamily="18" charset="0"/>
                  <a:ea typeface="Cambria Math" panose="02040503050406030204" pitchFamily="18" charset="0"/>
                </a:rPr>
                <a:t>2</a:t>
              </a:r>
              <a:r>
                <a:rPr lang="en-GB" sz="1100">
                  <a:solidFill>
                    <a:schemeClr val="accent4">
                      <a:lumMod val="75000"/>
                    </a:schemeClr>
                  </a:solidFill>
                  <a:latin typeface="Cambria Math" panose="02040503050406030204" pitchFamily="18" charset="0"/>
                  <a:ea typeface="Cambria Math" panose="02040503050406030204" pitchFamily="18" charset="0"/>
                </a:rPr>
                <a:t> emissions with the generic towing vehicle and a </a:t>
              </a:r>
              <a:r>
                <a:rPr lang="en-GB" sz="1100" b="1">
                  <a:solidFill>
                    <a:schemeClr val="accent4">
                      <a:lumMod val="75000"/>
                    </a:schemeClr>
                  </a:solidFill>
                  <a:latin typeface="Cambria Math" panose="02040503050406030204" pitchFamily="18" charset="0"/>
                  <a:ea typeface="Cambria Math" panose="02040503050406030204" pitchFamily="18" charset="0"/>
                </a:rPr>
                <a:t>reference</a:t>
              </a:r>
              <a:r>
                <a:rPr lang="en-GB" sz="1100">
                  <a:solidFill>
                    <a:schemeClr val="accent4">
                      <a:lumMod val="75000"/>
                    </a:schemeClr>
                  </a:solidFill>
                  <a:latin typeface="Cambria Math" panose="02040503050406030204" pitchFamily="18" charset="0"/>
                  <a:ea typeface="Cambria Math" panose="02040503050406030204" pitchFamily="18" charset="0"/>
                </a:rPr>
                <a:t> (semi-)trailer</a:t>
              </a:r>
            </a:p>
          </p:txBody>
        </p:sp>
      </p:grpSp>
      <p:sp>
        <p:nvSpPr>
          <p:cNvPr id="6" name="Inhaltsplatzhalter 2"/>
          <p:cNvSpPr txBox="1">
            <a:spLocks/>
          </p:cNvSpPr>
          <p:nvPr/>
        </p:nvSpPr>
        <p:spPr>
          <a:xfrm>
            <a:off x="626307" y="2365941"/>
            <a:ext cx="8211314" cy="1034800"/>
          </a:xfrm>
          <a:prstGeom prst="rect">
            <a:avLst/>
          </a:prstGeom>
        </p:spPr>
        <p:txBody>
          <a:bodyPr vert="horz" lIns="91440" tIns="45720" rIns="91440" bIns="45720" rtlCol="0">
            <a:noAutofit/>
          </a:bodyPr>
          <a:lstStyle>
            <a:lvl1pPr marL="342900" indent="-342900" algn="l" defTabSz="685800" rtl="0" eaLnBrk="1" latinLnBrk="0" hangingPunct="1">
              <a:lnSpc>
                <a:spcPct val="114000"/>
              </a:lnSpc>
              <a:spcBef>
                <a:spcPts val="750"/>
              </a:spcBef>
              <a:buClr>
                <a:schemeClr val="accent4">
                  <a:lumMod val="75000"/>
                </a:schemeClr>
              </a:buClr>
              <a:buFont typeface="Arial" pitchFamily="34" charset="0"/>
              <a:buChar char="•"/>
              <a:defRPr sz="2100" i="0" kern="1200">
                <a:solidFill>
                  <a:schemeClr val="accent4">
                    <a:lumMod val="50000"/>
                  </a:schemeClr>
                </a:solidFill>
                <a:latin typeface="+mn-lt"/>
                <a:ea typeface="+mn-ea"/>
                <a:cs typeface="+mn-cs"/>
              </a:defRPr>
            </a:lvl1pPr>
            <a:lvl2pPr marL="514350" indent="-171450" algn="l" defTabSz="685800" rtl="0" eaLnBrk="1" latinLnBrk="0" hangingPunct="1">
              <a:lnSpc>
                <a:spcPct val="114000"/>
              </a:lnSpc>
              <a:spcBef>
                <a:spcPts val="375"/>
              </a:spcBef>
              <a:buClr>
                <a:schemeClr val="accent4">
                  <a:lumMod val="75000"/>
                </a:schemeClr>
              </a:buClr>
              <a:buFont typeface="Arial" panose="020B0604020202020204" pitchFamily="34" charset="0"/>
              <a:buChar char="•"/>
              <a:defRPr sz="1800" kern="1200">
                <a:solidFill>
                  <a:schemeClr val="accent4">
                    <a:lumMod val="50000"/>
                  </a:schemeClr>
                </a:solidFill>
                <a:latin typeface="+mn-lt"/>
                <a:ea typeface="+mn-ea"/>
                <a:cs typeface="+mn-cs"/>
              </a:defRPr>
            </a:lvl2pPr>
            <a:lvl3pPr marL="857250" indent="-171450" algn="l" defTabSz="685800" rtl="0" eaLnBrk="1" latinLnBrk="0" hangingPunct="1">
              <a:lnSpc>
                <a:spcPct val="114000"/>
              </a:lnSpc>
              <a:spcBef>
                <a:spcPts val="375"/>
              </a:spcBef>
              <a:buClr>
                <a:schemeClr val="accent4">
                  <a:lumMod val="75000"/>
                </a:schemeClr>
              </a:buClr>
              <a:buFont typeface="Arial" panose="020B0604020202020204" pitchFamily="34" charset="0"/>
              <a:buChar char="•"/>
              <a:defRPr sz="1500" kern="1200">
                <a:solidFill>
                  <a:schemeClr val="accent4">
                    <a:lumMod val="50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0000"/>
              </a:lnSpc>
              <a:buNone/>
            </a:pPr>
            <a:r>
              <a:rPr lang="en-US" sz="1400" dirty="0">
                <a:solidFill>
                  <a:schemeClr val="tx1"/>
                </a:solidFill>
              </a:rPr>
              <a:t>Accordingly, an ER of 0.95 indicates that CO</a:t>
            </a:r>
            <a:r>
              <a:rPr lang="en-US" sz="1400" baseline="-25000" dirty="0">
                <a:solidFill>
                  <a:schemeClr val="tx1"/>
                </a:solidFill>
              </a:rPr>
              <a:t>2</a:t>
            </a:r>
            <a:r>
              <a:rPr lang="en-US" sz="1400" dirty="0">
                <a:solidFill>
                  <a:schemeClr val="tx1"/>
                </a:solidFill>
              </a:rPr>
              <a:t> emissions are 5% lower with the specific (semi-)trailer than with the reference trailer. </a:t>
            </a:r>
          </a:p>
          <a:p>
            <a:pPr marL="0" indent="0">
              <a:lnSpc>
                <a:spcPct val="100000"/>
              </a:lnSpc>
              <a:spcBef>
                <a:spcPts val="300"/>
              </a:spcBef>
              <a:buNone/>
            </a:pPr>
            <a:r>
              <a:rPr lang="en-US" sz="1400" dirty="0">
                <a:solidFill>
                  <a:schemeClr val="tx1"/>
                </a:solidFill>
              </a:rPr>
              <a:t>ERs are provided:</a:t>
            </a:r>
          </a:p>
          <a:p>
            <a:pPr marL="444500" indent="-263525">
              <a:lnSpc>
                <a:spcPct val="100000"/>
              </a:lnSpc>
              <a:spcBef>
                <a:spcPts val="300"/>
              </a:spcBef>
            </a:pPr>
            <a:r>
              <a:rPr lang="en-US" sz="1400" dirty="0">
                <a:solidFill>
                  <a:schemeClr val="tx1"/>
                </a:solidFill>
              </a:rPr>
              <a:t>For CO</a:t>
            </a:r>
            <a:r>
              <a:rPr lang="en-US" sz="1400" baseline="-25000" dirty="0">
                <a:solidFill>
                  <a:schemeClr val="tx1"/>
                </a:solidFill>
              </a:rPr>
              <a:t>2</a:t>
            </a:r>
            <a:r>
              <a:rPr lang="en-US" sz="1400" dirty="0">
                <a:solidFill>
                  <a:schemeClr val="tx1"/>
                </a:solidFill>
              </a:rPr>
              <a:t> emissions in the units “grams per km”, “grams per ton-km” and “grams per m³-km”</a:t>
            </a:r>
          </a:p>
          <a:p>
            <a:pPr marL="444500" indent="-263525">
              <a:lnSpc>
                <a:spcPct val="100000"/>
              </a:lnSpc>
              <a:spcBef>
                <a:spcPts val="300"/>
              </a:spcBef>
            </a:pPr>
            <a:r>
              <a:rPr lang="en-US" sz="1400" dirty="0">
                <a:solidFill>
                  <a:schemeClr val="tx1"/>
                </a:solidFill>
              </a:rPr>
              <a:t>For each relevant mission profile and payload combination and for the weighted-mix of mission profiles and payloads</a:t>
            </a:r>
          </a:p>
          <a:p>
            <a:pPr marL="0" indent="0">
              <a:lnSpc>
                <a:spcPct val="100000"/>
              </a:lnSpc>
              <a:spcBef>
                <a:spcPts val="300"/>
              </a:spcBef>
              <a:buNone/>
            </a:pPr>
            <a:r>
              <a:rPr lang="en-US" sz="1400" dirty="0">
                <a:solidFill>
                  <a:schemeClr val="tx1"/>
                </a:solidFill>
              </a:rPr>
              <a:t>Reference (semi-)trailers are defined for all vehicle groups currently covered by the Regulation and represent typical configurations (mass, dimensions, rolling resistance) as of approx. the year 2020. The specifications of these reference (semi-)trailers are documented in the VECTO Trailer Tool </a:t>
            </a:r>
            <a:r>
              <a:rPr lang="en-US" sz="1400" dirty="0" err="1">
                <a:solidFill>
                  <a:schemeClr val="tx1"/>
                </a:solidFill>
              </a:rPr>
              <a:t>Masterexcel</a:t>
            </a:r>
            <a:r>
              <a:rPr lang="en-US" sz="1400" dirty="0">
                <a:solidFill>
                  <a:schemeClr val="tx1"/>
                </a:solidFill>
              </a:rPr>
              <a:t>. However, their knowledge is not essential for the interpretation of the ERs. </a:t>
            </a:r>
          </a:p>
          <a:p>
            <a:pPr marL="0" indent="0">
              <a:lnSpc>
                <a:spcPct val="100000"/>
              </a:lnSpc>
              <a:spcBef>
                <a:spcPts val="300"/>
              </a:spcBef>
              <a:buNone/>
            </a:pPr>
            <a:endParaRPr lang="en-US" sz="1400" dirty="0"/>
          </a:p>
          <a:p>
            <a:pPr marL="0" indent="0">
              <a:lnSpc>
                <a:spcPct val="100000"/>
              </a:lnSpc>
              <a:spcBef>
                <a:spcPts val="300"/>
              </a:spcBef>
              <a:buNone/>
            </a:pPr>
            <a:endParaRPr lang="en-US" sz="1400" dirty="0"/>
          </a:p>
          <a:p>
            <a:pPr marL="0" indent="0">
              <a:lnSpc>
                <a:spcPct val="100000"/>
              </a:lnSpc>
              <a:spcBef>
                <a:spcPts val="300"/>
              </a:spcBef>
              <a:buNone/>
            </a:pPr>
            <a:endParaRPr lang="en-US" sz="1400" dirty="0"/>
          </a:p>
        </p:txBody>
      </p:sp>
    </p:spTree>
    <p:extLst>
      <p:ext uri="{BB962C8B-B14F-4D97-AF65-F5344CB8AC3E}">
        <p14:creationId xmlns:p14="http://schemas.microsoft.com/office/powerpoint/2010/main" val="198393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285105"/>
            <a:ext cx="7993782" cy="702469"/>
          </a:xfrm>
        </p:spPr>
        <p:txBody>
          <a:bodyPr>
            <a:normAutofit/>
          </a:bodyPr>
          <a:lstStyle/>
          <a:p>
            <a:r>
              <a:rPr lang="en-US" dirty="0">
                <a:solidFill>
                  <a:srgbClr val="034EA2"/>
                </a:solidFill>
              </a:rPr>
              <a:t>What is the “Efficiency Ratio”? (2/2)</a:t>
            </a:r>
          </a:p>
        </p:txBody>
      </p:sp>
      <p:sp>
        <p:nvSpPr>
          <p:cNvPr id="6" name="Inhaltsplatzhalter 2"/>
          <p:cNvSpPr txBox="1">
            <a:spLocks/>
          </p:cNvSpPr>
          <p:nvPr/>
        </p:nvSpPr>
        <p:spPr>
          <a:xfrm>
            <a:off x="626307" y="1203598"/>
            <a:ext cx="8250135" cy="1034800"/>
          </a:xfrm>
          <a:prstGeom prst="rect">
            <a:avLst/>
          </a:prstGeom>
        </p:spPr>
        <p:txBody>
          <a:bodyPr vert="horz" lIns="91440" tIns="45720" rIns="91440" bIns="45720" rtlCol="0">
            <a:noAutofit/>
          </a:bodyPr>
          <a:lstStyle>
            <a:lvl1pPr marL="342900" indent="-342900" algn="l" defTabSz="685800" rtl="0" eaLnBrk="1" latinLnBrk="0" hangingPunct="1">
              <a:lnSpc>
                <a:spcPct val="114000"/>
              </a:lnSpc>
              <a:spcBef>
                <a:spcPts val="750"/>
              </a:spcBef>
              <a:buClr>
                <a:schemeClr val="accent4">
                  <a:lumMod val="75000"/>
                </a:schemeClr>
              </a:buClr>
              <a:buFont typeface="Arial" pitchFamily="34" charset="0"/>
              <a:buChar char="•"/>
              <a:defRPr sz="2100" i="0" kern="1200">
                <a:solidFill>
                  <a:schemeClr val="accent4">
                    <a:lumMod val="50000"/>
                  </a:schemeClr>
                </a:solidFill>
                <a:latin typeface="+mn-lt"/>
                <a:ea typeface="+mn-ea"/>
                <a:cs typeface="+mn-cs"/>
              </a:defRPr>
            </a:lvl1pPr>
            <a:lvl2pPr marL="514350" indent="-171450" algn="l" defTabSz="685800" rtl="0" eaLnBrk="1" latinLnBrk="0" hangingPunct="1">
              <a:lnSpc>
                <a:spcPct val="114000"/>
              </a:lnSpc>
              <a:spcBef>
                <a:spcPts val="375"/>
              </a:spcBef>
              <a:buClr>
                <a:schemeClr val="accent4">
                  <a:lumMod val="75000"/>
                </a:schemeClr>
              </a:buClr>
              <a:buFont typeface="Arial" panose="020B0604020202020204" pitchFamily="34" charset="0"/>
              <a:buChar char="•"/>
              <a:defRPr sz="1800" kern="1200">
                <a:solidFill>
                  <a:schemeClr val="accent4">
                    <a:lumMod val="50000"/>
                  </a:schemeClr>
                </a:solidFill>
                <a:latin typeface="+mn-lt"/>
                <a:ea typeface="+mn-ea"/>
                <a:cs typeface="+mn-cs"/>
              </a:defRPr>
            </a:lvl2pPr>
            <a:lvl3pPr marL="857250" indent="-171450" algn="l" defTabSz="685800" rtl="0" eaLnBrk="1" latinLnBrk="0" hangingPunct="1">
              <a:lnSpc>
                <a:spcPct val="114000"/>
              </a:lnSpc>
              <a:spcBef>
                <a:spcPts val="375"/>
              </a:spcBef>
              <a:buClr>
                <a:schemeClr val="accent4">
                  <a:lumMod val="75000"/>
                </a:schemeClr>
              </a:buClr>
              <a:buFont typeface="Arial" panose="020B0604020202020204" pitchFamily="34" charset="0"/>
              <a:buChar char="•"/>
              <a:defRPr sz="1500" kern="1200">
                <a:solidFill>
                  <a:schemeClr val="accent4">
                    <a:lumMod val="50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0000"/>
              </a:lnSpc>
              <a:spcBef>
                <a:spcPts val="600"/>
              </a:spcBef>
              <a:buNone/>
            </a:pPr>
            <a:r>
              <a:rPr lang="en-US" sz="1400" dirty="0">
                <a:solidFill>
                  <a:schemeClr val="tx1"/>
                </a:solidFill>
              </a:rPr>
              <a:t>Further information for individual use of the results from the VECTO Trailer Tool: </a:t>
            </a:r>
          </a:p>
          <a:p>
            <a:pPr>
              <a:lnSpc>
                <a:spcPct val="100000"/>
              </a:lnSpc>
              <a:spcBef>
                <a:spcPts val="600"/>
              </a:spcBef>
              <a:buClr>
                <a:srgbClr val="034EA2"/>
              </a:buClr>
            </a:pPr>
            <a:r>
              <a:rPr lang="en-US" sz="1400" dirty="0">
                <a:solidFill>
                  <a:schemeClr val="tx1"/>
                </a:solidFill>
              </a:rPr>
              <a:t>Since fuel consumption and CO</a:t>
            </a:r>
            <a:r>
              <a:rPr lang="en-US" sz="1400" baseline="-25000" dirty="0">
                <a:solidFill>
                  <a:schemeClr val="tx1"/>
                </a:solidFill>
              </a:rPr>
              <a:t>2</a:t>
            </a:r>
            <a:r>
              <a:rPr lang="en-US" sz="1400" dirty="0">
                <a:solidFill>
                  <a:schemeClr val="tx1"/>
                </a:solidFill>
              </a:rPr>
              <a:t> emissions correlate linearly, the results as indicated by the ERs also apply to fuel consumption. For energy consumption of fully electric vehicles, at least similar trends apply. </a:t>
            </a:r>
          </a:p>
          <a:p>
            <a:pPr>
              <a:lnSpc>
                <a:spcPct val="100000"/>
              </a:lnSpc>
              <a:spcBef>
                <a:spcPts val="600"/>
              </a:spcBef>
              <a:buClr>
                <a:srgbClr val="034EA2"/>
              </a:buClr>
            </a:pPr>
            <a:r>
              <a:rPr lang="en-US" sz="1400" dirty="0">
                <a:solidFill>
                  <a:schemeClr val="tx1"/>
                </a:solidFill>
              </a:rPr>
              <a:t>If (semi-)trailers in different groups are to be compared with each other (e.g. a standard variant with a volume-oriented variant), this cannot be done using the ER, as the reference (semi-)trailers are different. Such a comparison can be made using the results for fuel consumption (lit./100km, g/km) or CO</a:t>
            </a:r>
            <a:r>
              <a:rPr lang="en-US" sz="1400" baseline="-25000" dirty="0">
                <a:solidFill>
                  <a:schemeClr val="tx1"/>
                </a:solidFill>
              </a:rPr>
              <a:t>2</a:t>
            </a:r>
            <a:r>
              <a:rPr lang="en-US" sz="1400" dirty="0">
                <a:solidFill>
                  <a:schemeClr val="tx1"/>
                </a:solidFill>
              </a:rPr>
              <a:t> emissions (g/km). For a direct comparison, it must be ensured that the assigned generic towing vehicles are also identical on the basis of Annex I. </a:t>
            </a:r>
          </a:p>
          <a:p>
            <a:pPr>
              <a:lnSpc>
                <a:spcPct val="100000"/>
              </a:lnSpc>
              <a:spcBef>
                <a:spcPts val="600"/>
              </a:spcBef>
              <a:buClr>
                <a:srgbClr val="034EA2"/>
              </a:buClr>
            </a:pPr>
            <a:r>
              <a:rPr lang="en-US" sz="1400" dirty="0">
                <a:solidFill>
                  <a:schemeClr val="tx1"/>
                </a:solidFill>
              </a:rPr>
              <a:t>Results for fuel consumption in the units lit./100km, g/km and CO</a:t>
            </a:r>
            <a:r>
              <a:rPr lang="en-US" sz="1400" baseline="-25000" dirty="0">
                <a:solidFill>
                  <a:schemeClr val="tx1"/>
                </a:solidFill>
              </a:rPr>
              <a:t>2</a:t>
            </a:r>
            <a:r>
              <a:rPr lang="en-US" sz="1400" dirty="0">
                <a:solidFill>
                  <a:schemeClr val="tx1"/>
                </a:solidFill>
              </a:rPr>
              <a:t> emissions in the unit g/km can be interpolated or extrapolated to </a:t>
            </a:r>
            <a:r>
              <a:rPr lang="en-US" sz="1400" u="sng" dirty="0">
                <a:solidFill>
                  <a:schemeClr val="tx1"/>
                </a:solidFill>
              </a:rPr>
              <a:t>other</a:t>
            </a:r>
            <a:r>
              <a:rPr lang="en-US" sz="1400" dirty="0">
                <a:solidFill>
                  <a:schemeClr val="tx1"/>
                </a:solidFill>
              </a:rPr>
              <a:t> payload conditions in a specific mission profile in a very good approximation via the linear trend established by the results for the two fixed payloads as provided by the VECTO Trailer tool. </a:t>
            </a:r>
          </a:p>
          <a:p>
            <a:pPr marL="0" indent="0">
              <a:lnSpc>
                <a:spcPct val="100000"/>
              </a:lnSpc>
              <a:spcBef>
                <a:spcPts val="600"/>
              </a:spcBef>
              <a:buNone/>
            </a:pPr>
            <a:endParaRPr lang="en-US" sz="1400" dirty="0"/>
          </a:p>
          <a:p>
            <a:pPr marL="0" indent="0">
              <a:lnSpc>
                <a:spcPct val="100000"/>
              </a:lnSpc>
              <a:spcBef>
                <a:spcPts val="600"/>
              </a:spcBef>
              <a:buNone/>
            </a:pPr>
            <a:endParaRPr lang="en-US" sz="1400" dirty="0"/>
          </a:p>
          <a:p>
            <a:pPr marL="0" indent="0">
              <a:lnSpc>
                <a:spcPct val="100000"/>
              </a:lnSpc>
              <a:spcBef>
                <a:spcPts val="600"/>
              </a:spcBef>
              <a:buNone/>
            </a:pPr>
            <a:endParaRPr lang="en-US" sz="1400" dirty="0"/>
          </a:p>
        </p:txBody>
      </p:sp>
    </p:spTree>
    <p:extLst>
      <p:ext uri="{BB962C8B-B14F-4D97-AF65-F5344CB8AC3E}">
        <p14:creationId xmlns:p14="http://schemas.microsoft.com/office/powerpoint/2010/main" val="495195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4"/>
          <p:cNvSpPr>
            <a:spLocks noGrp="1"/>
          </p:cNvSpPr>
          <p:nvPr>
            <p:ph idx="1"/>
          </p:nvPr>
        </p:nvSpPr>
        <p:spPr/>
        <p:txBody>
          <a:bodyPr>
            <a:noAutofit/>
          </a:bodyPr>
          <a:lstStyle/>
          <a:p>
            <a:pPr>
              <a:lnSpc>
                <a:spcPct val="100000"/>
              </a:lnSpc>
              <a:spcBef>
                <a:spcPts val="600"/>
              </a:spcBef>
            </a:pPr>
            <a:r>
              <a:rPr lang="en-US" sz="1400">
                <a:solidFill>
                  <a:schemeClr val="tx1"/>
                </a:solidFill>
              </a:rPr>
              <a:t>The "reference ratio" is the ratio between two CO</a:t>
            </a:r>
            <a:r>
              <a:rPr lang="en-US" sz="1400" baseline="-25000">
                <a:solidFill>
                  <a:schemeClr val="tx1"/>
                </a:solidFill>
              </a:rPr>
              <a:t>2</a:t>
            </a:r>
            <a:r>
              <a:rPr lang="en-US" sz="1400">
                <a:solidFill>
                  <a:schemeClr val="tx1"/>
                </a:solidFill>
              </a:rPr>
              <a:t> emission values simulated with a generic towing vehicle, once coupled to the reference trailer as defined for each trailer vehicle group and once coupled to the standard trailer as defined for the towing vehicle group in Regulation (EU) 2017/2400. </a:t>
            </a:r>
          </a:p>
          <a:p>
            <a:pPr>
              <a:lnSpc>
                <a:spcPct val="100000"/>
              </a:lnSpc>
              <a:spcBef>
                <a:spcPts val="600"/>
              </a:spcBef>
            </a:pPr>
            <a:endParaRPr lang="en-US" sz="1400">
              <a:solidFill>
                <a:schemeClr val="tx1"/>
              </a:solidFill>
            </a:endParaRPr>
          </a:p>
          <a:p>
            <a:pPr>
              <a:lnSpc>
                <a:spcPct val="100000"/>
              </a:lnSpc>
              <a:spcBef>
                <a:spcPts val="600"/>
              </a:spcBef>
            </a:pPr>
            <a:endParaRPr lang="en-US" sz="1400">
              <a:solidFill>
                <a:schemeClr val="tx1"/>
              </a:solidFill>
            </a:endParaRPr>
          </a:p>
          <a:p>
            <a:pPr>
              <a:lnSpc>
                <a:spcPct val="100000"/>
              </a:lnSpc>
              <a:spcBef>
                <a:spcPts val="600"/>
              </a:spcBef>
            </a:pPr>
            <a:endParaRPr lang="en-US" sz="1400">
              <a:solidFill>
                <a:schemeClr val="tx1"/>
              </a:solidFill>
            </a:endParaRPr>
          </a:p>
          <a:p>
            <a:pPr>
              <a:lnSpc>
                <a:spcPct val="100000"/>
              </a:lnSpc>
              <a:spcBef>
                <a:spcPts val="600"/>
              </a:spcBef>
            </a:pPr>
            <a:r>
              <a:rPr lang="en-US" sz="1400">
                <a:solidFill>
                  <a:schemeClr val="tx1"/>
                </a:solidFill>
              </a:rPr>
              <a:t>The reference ratio is a numerical value that allows a vehicle operator to combine the results from the motor vehicle VECTO for the towing vehicle with the results from the VECTO Trailer Tool for the trailer to produce specific results for the combination of both. How this is done is explained on the following slides. </a:t>
            </a:r>
          </a:p>
          <a:p>
            <a:pPr>
              <a:lnSpc>
                <a:spcPct val="100000"/>
              </a:lnSpc>
              <a:spcBef>
                <a:spcPts val="600"/>
              </a:spcBef>
            </a:pPr>
            <a:r>
              <a:rPr lang="en-US" sz="1400">
                <a:solidFill>
                  <a:schemeClr val="tx1"/>
                </a:solidFill>
              </a:rPr>
              <a:t>The reference ratio is a fixed numerical value per trailer vehicle group, mission profile and payload and completely independent of the inputs for a specific trailer. </a:t>
            </a:r>
          </a:p>
          <a:p>
            <a:pPr>
              <a:lnSpc>
                <a:spcPct val="100000"/>
              </a:lnSpc>
              <a:spcBef>
                <a:spcPts val="600"/>
              </a:spcBef>
            </a:pPr>
            <a:r>
              <a:rPr lang="en-US" sz="1400">
                <a:solidFill>
                  <a:schemeClr val="tx1"/>
                </a:solidFill>
              </a:rPr>
              <a:t>The reference ratio is purely a "service" for a vehicle operator and has yet no application within the framework of a Regulation.</a:t>
            </a:r>
          </a:p>
          <a:p>
            <a:pPr>
              <a:lnSpc>
                <a:spcPct val="100000"/>
              </a:lnSpc>
              <a:spcBef>
                <a:spcPts val="600"/>
              </a:spcBef>
            </a:pPr>
            <a:endParaRPr lang="en-US" sz="1400"/>
          </a:p>
          <a:p>
            <a:pPr>
              <a:lnSpc>
                <a:spcPct val="100000"/>
              </a:lnSpc>
              <a:spcBef>
                <a:spcPts val="600"/>
              </a:spcBef>
            </a:pPr>
            <a:endParaRPr lang="en-US" sz="1400"/>
          </a:p>
        </p:txBody>
      </p:sp>
      <p:sp>
        <p:nvSpPr>
          <p:cNvPr id="2" name="Titel 1"/>
          <p:cNvSpPr>
            <a:spLocks noGrp="1"/>
          </p:cNvSpPr>
          <p:nvPr>
            <p:ph type="title"/>
          </p:nvPr>
        </p:nvSpPr>
        <p:spPr>
          <a:xfrm>
            <a:off x="728042" y="285105"/>
            <a:ext cx="7993782" cy="702469"/>
          </a:xfrm>
        </p:spPr>
        <p:txBody>
          <a:bodyPr>
            <a:normAutofit/>
          </a:bodyPr>
          <a:lstStyle/>
          <a:p>
            <a:r>
              <a:rPr lang="en-US" dirty="0">
                <a:solidFill>
                  <a:srgbClr val="034EA2"/>
                </a:solidFill>
              </a:rPr>
              <a:t>What is the “Reference Ratio”? </a:t>
            </a:r>
            <a:r>
              <a:rPr lang="en-US">
                <a:solidFill>
                  <a:srgbClr val="034EA2"/>
                </a:solidFill>
              </a:rPr>
              <a:t>(1/4)</a:t>
            </a:r>
            <a:br>
              <a:rPr lang="en-US">
                <a:solidFill>
                  <a:srgbClr val="034EA2"/>
                </a:solidFill>
              </a:rPr>
            </a:br>
            <a:r>
              <a:rPr lang="en-US">
                <a:solidFill>
                  <a:srgbClr val="034EA2"/>
                </a:solidFill>
              </a:rPr>
              <a:t>Basics</a:t>
            </a:r>
            <a:endParaRPr lang="en-US" dirty="0">
              <a:solidFill>
                <a:srgbClr val="034EA2"/>
              </a:solidFill>
            </a:endParaRPr>
          </a:p>
        </p:txBody>
      </p:sp>
      <p:grpSp>
        <p:nvGrpSpPr>
          <p:cNvPr id="6" name="Gruppieren 5"/>
          <p:cNvGrpSpPr/>
          <p:nvPr/>
        </p:nvGrpSpPr>
        <p:grpSpPr>
          <a:xfrm>
            <a:off x="899592" y="1995686"/>
            <a:ext cx="7905118" cy="720080"/>
            <a:chOff x="454088" y="1635645"/>
            <a:chExt cx="8401408" cy="720080"/>
          </a:xfrm>
        </p:grpSpPr>
        <p:sp>
          <p:nvSpPr>
            <p:cNvPr id="7" name="Rechteck 6"/>
            <p:cNvSpPr/>
            <p:nvPr/>
          </p:nvSpPr>
          <p:spPr>
            <a:xfrm>
              <a:off x="457200" y="1635645"/>
              <a:ext cx="8398296" cy="72008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Rechteck 7"/>
                <p:cNvSpPr/>
                <p:nvPr/>
              </p:nvSpPr>
              <p:spPr>
                <a:xfrm>
                  <a:off x="454088" y="1747412"/>
                  <a:ext cx="2241126" cy="4595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sz="1100" b="1" i="0" smtClean="0">
                            <a:solidFill>
                              <a:schemeClr val="accent4">
                                <a:lumMod val="75000"/>
                              </a:schemeClr>
                            </a:solidFill>
                            <a:latin typeface="Cambria Math" panose="02040503050406030204" pitchFamily="18" charset="0"/>
                          </a:rPr>
                          <m:t>𝐑𝐞𝐟𝐞𝐫𝐞𝐧𝐜𝐞</m:t>
                        </m:r>
                        <m:r>
                          <a:rPr lang="de-AT" sz="1100" b="1" i="0" smtClean="0">
                            <a:solidFill>
                              <a:schemeClr val="accent4">
                                <a:lumMod val="75000"/>
                              </a:schemeClr>
                            </a:solidFill>
                            <a:latin typeface="Cambria Math" panose="02040503050406030204" pitchFamily="18" charset="0"/>
                          </a:rPr>
                          <m:t> </m:t>
                        </m:r>
                        <m:r>
                          <a:rPr lang="de-AT" sz="1100" b="1" i="0" smtClean="0">
                            <a:solidFill>
                              <a:schemeClr val="accent4">
                                <a:lumMod val="75000"/>
                              </a:schemeClr>
                            </a:solidFill>
                            <a:latin typeface="Cambria Math" panose="02040503050406030204" pitchFamily="18" charset="0"/>
                          </a:rPr>
                          <m:t>𝐑𝐚𝐭𝐢𝐨</m:t>
                        </m:r>
                        <m:r>
                          <a:rPr lang="en-US" sz="1100" b="1" i="0">
                            <a:solidFill>
                              <a:schemeClr val="accent4">
                                <a:lumMod val="75000"/>
                              </a:schemeClr>
                            </a:solidFill>
                            <a:latin typeface="Cambria Math" panose="02040503050406030204" pitchFamily="18" charset="0"/>
                          </a:rPr>
                          <m:t>=</m:t>
                        </m:r>
                        <m:f>
                          <m:fPr>
                            <m:ctrlPr>
                              <a:rPr lang="en-US" sz="1100" b="1" i="1">
                                <a:solidFill>
                                  <a:schemeClr val="accent4">
                                    <a:lumMod val="75000"/>
                                  </a:schemeClr>
                                </a:solidFill>
                                <a:latin typeface="Cambria Math" panose="02040503050406030204" pitchFamily="18" charset="0"/>
                              </a:rPr>
                            </m:ctrlPr>
                          </m:fPr>
                          <m:num>
                            <m:sSub>
                              <m:sSubPr>
                                <m:ctrlPr>
                                  <a:rPr lang="en-US" sz="1100" b="1" i="1">
                                    <a:solidFill>
                                      <a:schemeClr val="accent4">
                                        <a:lumMod val="75000"/>
                                      </a:schemeClr>
                                    </a:solidFill>
                                    <a:latin typeface="Cambria Math" panose="02040503050406030204" pitchFamily="18" charset="0"/>
                                  </a:rPr>
                                </m:ctrlPr>
                              </m:sSubPr>
                              <m:e>
                                <m:r>
                                  <a:rPr lang="de-AT" sz="1100" b="1" i="0">
                                    <a:solidFill>
                                      <a:schemeClr val="accent4">
                                        <a:lumMod val="75000"/>
                                      </a:schemeClr>
                                    </a:solidFill>
                                    <a:latin typeface="Cambria Math" panose="02040503050406030204" pitchFamily="18" charset="0"/>
                                  </a:rPr>
                                  <m:t>𝐂𝐎</m:t>
                                </m:r>
                              </m:e>
                              <m:sub>
                                <m:r>
                                  <a:rPr lang="de-AT" sz="1100" b="1" i="0">
                                    <a:solidFill>
                                      <a:schemeClr val="accent4">
                                        <a:lumMod val="75000"/>
                                      </a:schemeClr>
                                    </a:solidFill>
                                    <a:latin typeface="Cambria Math" panose="02040503050406030204" pitchFamily="18" charset="0"/>
                                  </a:rPr>
                                  <m:t>𝟐</m:t>
                                </m:r>
                                <m:r>
                                  <a:rPr lang="de-AT" sz="1100" b="1" i="0">
                                    <a:solidFill>
                                      <a:schemeClr val="accent4">
                                        <a:lumMod val="75000"/>
                                      </a:schemeClr>
                                    </a:solidFill>
                                    <a:latin typeface="Cambria Math" panose="02040503050406030204" pitchFamily="18" charset="0"/>
                                  </a:rPr>
                                  <m:t>,   </m:t>
                                </m:r>
                                <m:r>
                                  <a:rPr lang="de-AT" sz="1100" b="1" i="0" smtClean="0">
                                    <a:solidFill>
                                      <a:schemeClr val="accent4">
                                        <a:lumMod val="75000"/>
                                      </a:schemeClr>
                                    </a:solidFill>
                                    <a:latin typeface="Cambria Math" panose="02040503050406030204" pitchFamily="18" charset="0"/>
                                  </a:rPr>
                                  <m:t>𝐫𝐞𝐟</m:t>
                                </m:r>
                                <m:d>
                                  <m:dPr>
                                    <m:ctrlPr>
                                      <a:rPr lang="de-AT" sz="1100" b="1" i="1">
                                        <a:solidFill>
                                          <a:schemeClr val="accent4">
                                            <a:lumMod val="75000"/>
                                          </a:schemeClr>
                                        </a:solidFill>
                                        <a:latin typeface="Cambria Math" panose="02040503050406030204" pitchFamily="18" charset="0"/>
                                      </a:rPr>
                                    </m:ctrlPr>
                                  </m:dPr>
                                  <m:e>
                                    <m:r>
                                      <a:rPr lang="de-AT" sz="1100" b="1" i="0">
                                        <a:solidFill>
                                          <a:schemeClr val="accent4">
                                            <a:lumMod val="75000"/>
                                          </a:schemeClr>
                                        </a:solidFill>
                                        <a:latin typeface="Cambria Math" panose="02040503050406030204" pitchFamily="18" charset="0"/>
                                      </a:rPr>
                                      <m:t>𝐒</m:t>
                                    </m:r>
                                  </m:e>
                                </m:d>
                                <m:r>
                                  <a:rPr lang="de-AT" sz="1100" b="1" i="0">
                                    <a:solidFill>
                                      <a:schemeClr val="accent4">
                                        <a:lumMod val="75000"/>
                                      </a:schemeClr>
                                    </a:solidFill>
                                    <a:latin typeface="Cambria Math" panose="02040503050406030204" pitchFamily="18" charset="0"/>
                                  </a:rPr>
                                  <m:t>𝐓</m:t>
                                </m:r>
                              </m:sub>
                            </m:sSub>
                          </m:num>
                          <m:den>
                            <m:sSub>
                              <m:sSubPr>
                                <m:ctrlPr>
                                  <a:rPr lang="en-US" sz="1100" b="1" i="1">
                                    <a:solidFill>
                                      <a:schemeClr val="accent4">
                                        <a:lumMod val="75000"/>
                                      </a:schemeClr>
                                    </a:solidFill>
                                    <a:latin typeface="Cambria Math" panose="02040503050406030204" pitchFamily="18" charset="0"/>
                                  </a:rPr>
                                </m:ctrlPr>
                              </m:sSubPr>
                              <m:e>
                                <m:r>
                                  <a:rPr lang="de-AT" sz="1100" b="1" i="0">
                                    <a:solidFill>
                                      <a:schemeClr val="accent4">
                                        <a:lumMod val="75000"/>
                                      </a:schemeClr>
                                    </a:solidFill>
                                    <a:latin typeface="Cambria Math" panose="02040503050406030204" pitchFamily="18" charset="0"/>
                                  </a:rPr>
                                  <m:t>𝐂𝐎</m:t>
                                </m:r>
                              </m:e>
                              <m:sub>
                                <m:r>
                                  <a:rPr lang="de-AT" sz="1100" b="1" i="0">
                                    <a:solidFill>
                                      <a:schemeClr val="accent4">
                                        <a:lumMod val="75000"/>
                                      </a:schemeClr>
                                    </a:solidFill>
                                    <a:latin typeface="Cambria Math" panose="02040503050406030204" pitchFamily="18" charset="0"/>
                                  </a:rPr>
                                  <m:t>𝟐</m:t>
                                </m:r>
                                <m:r>
                                  <a:rPr lang="de-AT" sz="1100" b="1" i="0">
                                    <a:solidFill>
                                      <a:schemeClr val="accent4">
                                        <a:lumMod val="75000"/>
                                      </a:schemeClr>
                                    </a:solidFill>
                                    <a:latin typeface="Cambria Math" panose="02040503050406030204" pitchFamily="18" charset="0"/>
                                  </a:rPr>
                                  <m:t>,   </m:t>
                                </m:r>
                                <m:r>
                                  <a:rPr lang="de-AT" sz="1100" b="1" i="0" smtClean="0">
                                    <a:solidFill>
                                      <a:schemeClr val="accent4">
                                        <a:lumMod val="75000"/>
                                      </a:schemeClr>
                                    </a:solidFill>
                                    <a:latin typeface="Cambria Math" panose="02040503050406030204" pitchFamily="18" charset="0"/>
                                  </a:rPr>
                                  <m:t>𝐬𝐭𝐚𝐧𝐝</m:t>
                                </m:r>
                                <m:d>
                                  <m:dPr>
                                    <m:ctrlPr>
                                      <a:rPr lang="de-AT" sz="1100" b="1" i="1">
                                        <a:solidFill>
                                          <a:schemeClr val="accent4">
                                            <a:lumMod val="75000"/>
                                          </a:schemeClr>
                                        </a:solidFill>
                                        <a:latin typeface="Cambria Math" panose="02040503050406030204" pitchFamily="18" charset="0"/>
                                      </a:rPr>
                                    </m:ctrlPr>
                                  </m:dPr>
                                  <m:e>
                                    <m:r>
                                      <a:rPr lang="de-AT" sz="1100" b="1" i="0">
                                        <a:solidFill>
                                          <a:schemeClr val="accent4">
                                            <a:lumMod val="75000"/>
                                          </a:schemeClr>
                                        </a:solidFill>
                                        <a:latin typeface="Cambria Math" panose="02040503050406030204" pitchFamily="18" charset="0"/>
                                      </a:rPr>
                                      <m:t>𝐒</m:t>
                                    </m:r>
                                  </m:e>
                                </m:d>
                                <m:r>
                                  <a:rPr lang="de-AT" sz="1100" b="1" i="0">
                                    <a:solidFill>
                                      <a:schemeClr val="accent4">
                                        <a:lumMod val="75000"/>
                                      </a:schemeClr>
                                    </a:solidFill>
                                    <a:latin typeface="Cambria Math" panose="02040503050406030204" pitchFamily="18" charset="0"/>
                                  </a:rPr>
                                  <m:t>𝐓</m:t>
                                </m:r>
                              </m:sub>
                            </m:sSub>
                          </m:den>
                        </m:f>
                      </m:oMath>
                    </m:oMathPara>
                  </a14:m>
                  <a:endParaRPr lang="en-GB" sz="1100" b="1" dirty="0">
                    <a:solidFill>
                      <a:schemeClr val="accent4">
                        <a:lumMod val="75000"/>
                      </a:schemeClr>
                    </a:solidFill>
                  </a:endParaRPr>
                </a:p>
              </p:txBody>
            </p:sp>
          </mc:Choice>
          <mc:Fallback xmlns="">
            <p:sp>
              <p:nvSpPr>
                <p:cNvPr id="13" name="Rechteck 12"/>
                <p:cNvSpPr>
                  <a:spLocks noRot="1" noChangeAspect="1" noMove="1" noResize="1" noEditPoints="1" noAdjustHandles="1" noChangeArrowheads="1" noChangeShapeType="1" noTextEdit="1"/>
                </p:cNvSpPr>
                <p:nvPr/>
              </p:nvSpPr>
              <p:spPr>
                <a:xfrm>
                  <a:off x="454088" y="1747412"/>
                  <a:ext cx="2241126" cy="459549"/>
                </a:xfrm>
                <a:prstGeom prst="rect">
                  <a:avLst/>
                </a:prstGeom>
                <a:blipFill>
                  <a:blip r:embed="rId3"/>
                  <a:stretch>
                    <a:fillRect/>
                  </a:stretch>
                </a:blipFill>
              </p:spPr>
              <p:txBody>
                <a:bodyPr/>
                <a:lstStyle/>
                <a:p>
                  <a:r>
                    <a:rPr lang="en-GB">
                      <a:noFill/>
                    </a:rPr>
                    <a:t> </a:t>
                  </a:r>
                </a:p>
              </p:txBody>
            </p:sp>
          </mc:Fallback>
        </mc:AlternateContent>
        <p:sp>
          <p:nvSpPr>
            <p:cNvPr id="9" name="Textfeld 8"/>
            <p:cNvSpPr txBox="1"/>
            <p:nvPr/>
          </p:nvSpPr>
          <p:spPr>
            <a:xfrm>
              <a:off x="2878832" y="1672519"/>
              <a:ext cx="5976664" cy="600164"/>
            </a:xfrm>
            <a:prstGeom prst="rect">
              <a:avLst/>
            </a:prstGeom>
            <a:noFill/>
          </p:spPr>
          <p:txBody>
            <a:bodyPr wrap="square" rtlCol="0">
              <a:spAutoFit/>
            </a:bodyPr>
            <a:lstStyle/>
            <a:p>
              <a:r>
                <a:rPr lang="en-GB" sz="1100" dirty="0">
                  <a:solidFill>
                    <a:schemeClr val="accent4">
                      <a:lumMod val="75000"/>
                    </a:schemeClr>
                  </a:solidFill>
                  <a:latin typeface="Cambria Math" panose="02040503050406030204" pitchFamily="18" charset="0"/>
                </a:rPr>
                <a:t>Where</a:t>
              </a:r>
              <a:r>
                <a:rPr lang="en-GB" sz="1100" dirty="0">
                  <a:solidFill>
                    <a:schemeClr val="accent4">
                      <a:lumMod val="75000"/>
                    </a:schemeClr>
                  </a:solidFill>
                </a:rPr>
                <a:t>:</a:t>
              </a:r>
              <a:br>
                <a:rPr lang="en-GB" sz="1100" dirty="0">
                  <a:solidFill>
                    <a:schemeClr val="accent4">
                      <a:lumMod val="75000"/>
                    </a:schemeClr>
                  </a:solidFill>
                </a:rPr>
              </a:br>
              <a:r>
                <a:rPr lang="en-GB" sz="1100" dirty="0">
                  <a:solidFill>
                    <a:schemeClr val="accent4">
                      <a:lumMod val="75000"/>
                    </a:schemeClr>
                  </a:solidFill>
                  <a:latin typeface="Cambria Math" panose="02040503050406030204" pitchFamily="18" charset="0"/>
                  <a:ea typeface="Cambria Math" panose="02040503050406030204" pitchFamily="18" charset="0"/>
                </a:rPr>
                <a:t>CO</a:t>
              </a:r>
              <a:r>
                <a:rPr lang="en-GB" sz="1100" baseline="-25000" dirty="0">
                  <a:solidFill>
                    <a:schemeClr val="accent4">
                      <a:lumMod val="75000"/>
                    </a:schemeClr>
                  </a:solidFill>
                  <a:latin typeface="Cambria Math" panose="02040503050406030204" pitchFamily="18" charset="0"/>
                  <a:ea typeface="Cambria Math" panose="02040503050406030204" pitchFamily="18" charset="0"/>
                </a:rPr>
                <a:t>2, ref(S)T </a:t>
              </a:r>
              <a:r>
                <a:rPr lang="en-GB" sz="1100" dirty="0">
                  <a:solidFill>
                    <a:schemeClr val="accent4">
                      <a:lumMod val="75000"/>
                    </a:schemeClr>
                  </a:solidFill>
                  <a:latin typeface="Cambria Math" panose="02040503050406030204" pitchFamily="18" charset="0"/>
                  <a:ea typeface="Cambria Math" panose="02040503050406030204" pitchFamily="18" charset="0"/>
                </a:rPr>
                <a:t>... CO</a:t>
              </a:r>
              <a:r>
                <a:rPr lang="en-GB" sz="1100" baseline="-25000" dirty="0">
                  <a:solidFill>
                    <a:schemeClr val="accent4">
                      <a:lumMod val="75000"/>
                    </a:schemeClr>
                  </a:solidFill>
                  <a:latin typeface="Cambria Math" panose="02040503050406030204" pitchFamily="18" charset="0"/>
                  <a:ea typeface="Cambria Math" panose="02040503050406030204" pitchFamily="18" charset="0"/>
                </a:rPr>
                <a:t>2</a:t>
              </a:r>
              <a:r>
                <a:rPr lang="en-GB" sz="1100" dirty="0">
                  <a:solidFill>
                    <a:schemeClr val="accent4">
                      <a:lumMod val="75000"/>
                    </a:schemeClr>
                  </a:solidFill>
                  <a:latin typeface="Cambria Math" panose="02040503050406030204" pitchFamily="18" charset="0"/>
                  <a:ea typeface="Cambria Math" panose="02040503050406030204" pitchFamily="18" charset="0"/>
                </a:rPr>
                <a:t> emissions with the generic towing vehicle and the </a:t>
              </a:r>
              <a:r>
                <a:rPr lang="en-GB" sz="1100" b="1" dirty="0">
                  <a:solidFill>
                    <a:schemeClr val="accent4">
                      <a:lumMod val="75000"/>
                    </a:schemeClr>
                  </a:solidFill>
                  <a:latin typeface="Cambria Math" panose="02040503050406030204" pitchFamily="18" charset="0"/>
                  <a:ea typeface="Cambria Math" panose="02040503050406030204" pitchFamily="18" charset="0"/>
                </a:rPr>
                <a:t>reference</a:t>
              </a:r>
              <a:r>
                <a:rPr lang="en-GB" sz="1100" dirty="0">
                  <a:solidFill>
                    <a:schemeClr val="accent4">
                      <a:lumMod val="75000"/>
                    </a:schemeClr>
                  </a:solidFill>
                  <a:latin typeface="Cambria Math" panose="02040503050406030204" pitchFamily="18" charset="0"/>
                  <a:ea typeface="Cambria Math" panose="02040503050406030204" pitchFamily="18" charset="0"/>
                </a:rPr>
                <a:t> (semi-)trailer</a:t>
              </a:r>
            </a:p>
            <a:p>
              <a:r>
                <a:rPr lang="en-GB" sz="1100" dirty="0">
                  <a:solidFill>
                    <a:schemeClr val="accent4">
                      <a:lumMod val="75000"/>
                    </a:schemeClr>
                  </a:solidFill>
                  <a:latin typeface="Cambria Math" panose="02040503050406030204" pitchFamily="18" charset="0"/>
                  <a:ea typeface="Cambria Math" panose="02040503050406030204" pitchFamily="18" charset="0"/>
                </a:rPr>
                <a:t>CO</a:t>
              </a:r>
              <a:r>
                <a:rPr lang="en-GB" sz="1100" baseline="-25000" dirty="0">
                  <a:solidFill>
                    <a:schemeClr val="accent4">
                      <a:lumMod val="75000"/>
                    </a:schemeClr>
                  </a:solidFill>
                  <a:latin typeface="Cambria Math" panose="02040503050406030204" pitchFamily="18" charset="0"/>
                  <a:ea typeface="Cambria Math" panose="02040503050406030204" pitchFamily="18" charset="0"/>
                </a:rPr>
                <a:t>2, stand(S)T </a:t>
              </a:r>
              <a:r>
                <a:rPr lang="en-GB" sz="1100" dirty="0">
                  <a:solidFill>
                    <a:schemeClr val="accent4">
                      <a:lumMod val="75000"/>
                    </a:schemeClr>
                  </a:solidFill>
                  <a:latin typeface="Cambria Math" panose="02040503050406030204" pitchFamily="18" charset="0"/>
                  <a:ea typeface="Cambria Math" panose="02040503050406030204" pitchFamily="18" charset="0"/>
                </a:rPr>
                <a:t>... CO</a:t>
              </a:r>
              <a:r>
                <a:rPr lang="en-GB" sz="1100" baseline="-25000" dirty="0">
                  <a:solidFill>
                    <a:schemeClr val="accent4">
                      <a:lumMod val="75000"/>
                    </a:schemeClr>
                  </a:solidFill>
                  <a:latin typeface="Cambria Math" panose="02040503050406030204" pitchFamily="18" charset="0"/>
                  <a:ea typeface="Cambria Math" panose="02040503050406030204" pitchFamily="18" charset="0"/>
                </a:rPr>
                <a:t>2</a:t>
              </a:r>
              <a:r>
                <a:rPr lang="en-GB" sz="1100" dirty="0">
                  <a:solidFill>
                    <a:schemeClr val="accent4">
                      <a:lumMod val="75000"/>
                    </a:schemeClr>
                  </a:solidFill>
                  <a:latin typeface="Cambria Math" panose="02040503050406030204" pitchFamily="18" charset="0"/>
                  <a:ea typeface="Cambria Math" panose="02040503050406030204" pitchFamily="18" charset="0"/>
                </a:rPr>
                <a:t> emissions with the generic towing vehicle and a </a:t>
              </a:r>
              <a:r>
                <a:rPr lang="en-GB" sz="1100" b="1" dirty="0">
                  <a:solidFill>
                    <a:schemeClr val="accent4">
                      <a:lumMod val="75000"/>
                    </a:schemeClr>
                  </a:solidFill>
                  <a:latin typeface="Cambria Math" panose="02040503050406030204" pitchFamily="18" charset="0"/>
                  <a:ea typeface="Cambria Math" panose="02040503050406030204" pitchFamily="18" charset="0"/>
                </a:rPr>
                <a:t>standard</a:t>
              </a:r>
              <a:r>
                <a:rPr lang="en-GB" sz="1100" dirty="0">
                  <a:solidFill>
                    <a:schemeClr val="accent4">
                      <a:lumMod val="75000"/>
                    </a:schemeClr>
                  </a:solidFill>
                  <a:latin typeface="Cambria Math" panose="02040503050406030204" pitchFamily="18" charset="0"/>
                  <a:ea typeface="Cambria Math" panose="02040503050406030204" pitchFamily="18" charset="0"/>
                </a:rPr>
                <a:t> (semi-)trailer</a:t>
              </a:r>
            </a:p>
          </p:txBody>
        </p:sp>
      </p:grpSp>
    </p:spTree>
    <p:extLst>
      <p:ext uri="{BB962C8B-B14F-4D97-AF65-F5344CB8AC3E}">
        <p14:creationId xmlns:p14="http://schemas.microsoft.com/office/powerpoint/2010/main" val="2107371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285105"/>
            <a:ext cx="7993782" cy="702469"/>
          </a:xfrm>
        </p:spPr>
        <p:txBody>
          <a:bodyPr>
            <a:normAutofit/>
          </a:bodyPr>
          <a:lstStyle/>
          <a:p>
            <a:r>
              <a:rPr lang="en-US" dirty="0">
                <a:solidFill>
                  <a:srgbClr val="034EA2"/>
                </a:solidFill>
              </a:rPr>
              <a:t>What is the “Reference Ratio</a:t>
            </a:r>
            <a:r>
              <a:rPr lang="en-US">
                <a:solidFill>
                  <a:srgbClr val="034EA2"/>
                </a:solidFill>
              </a:rPr>
              <a:t>”? (2/4)</a:t>
            </a:r>
            <a:br>
              <a:rPr lang="en-US">
                <a:solidFill>
                  <a:srgbClr val="034EA2"/>
                </a:solidFill>
              </a:rPr>
            </a:br>
            <a:r>
              <a:rPr lang="en-US">
                <a:solidFill>
                  <a:srgbClr val="034EA2"/>
                </a:solidFill>
              </a:rPr>
              <a:t>Basics</a:t>
            </a:r>
            <a:endParaRPr lang="en-US" dirty="0">
              <a:solidFill>
                <a:srgbClr val="034EA2"/>
              </a:solidFill>
            </a:endParaRPr>
          </a:p>
        </p:txBody>
      </p:sp>
      <p:sp>
        <p:nvSpPr>
          <p:cNvPr id="3" name="Inhaltsplatzhalter 2"/>
          <p:cNvSpPr>
            <a:spLocks noGrp="1"/>
          </p:cNvSpPr>
          <p:nvPr>
            <p:ph idx="1"/>
          </p:nvPr>
        </p:nvSpPr>
        <p:spPr>
          <a:xfrm>
            <a:off x="626308" y="1203599"/>
            <a:ext cx="8060492" cy="504055"/>
          </a:xfrm>
        </p:spPr>
        <p:txBody>
          <a:bodyPr vert="horz" lIns="91440" tIns="45720" rIns="91440" bIns="45720" rtlCol="0">
            <a:noAutofit/>
          </a:bodyPr>
          <a:lstStyle/>
          <a:p>
            <a:pPr marL="0" indent="0">
              <a:lnSpc>
                <a:spcPct val="100000"/>
              </a:lnSpc>
              <a:buNone/>
            </a:pPr>
            <a:r>
              <a:rPr lang="en-US" sz="1400">
                <a:solidFill>
                  <a:schemeClr val="tx1"/>
                </a:solidFill>
              </a:rPr>
              <a:t>Calculation of </a:t>
            </a:r>
            <a:r>
              <a:rPr lang="en-US" sz="1400" dirty="0">
                <a:solidFill>
                  <a:schemeClr val="tx1"/>
                </a:solidFill>
              </a:rPr>
              <a:t>fuel consumption and CO</a:t>
            </a:r>
            <a:r>
              <a:rPr lang="en-US" sz="1400" baseline="-25000" dirty="0">
                <a:solidFill>
                  <a:schemeClr val="tx1"/>
                </a:solidFill>
              </a:rPr>
              <a:t>2</a:t>
            </a:r>
            <a:r>
              <a:rPr lang="en-US" sz="1400" dirty="0">
                <a:solidFill>
                  <a:schemeClr val="tx1"/>
                </a:solidFill>
              </a:rPr>
              <a:t> emissions </a:t>
            </a:r>
            <a:r>
              <a:rPr lang="en-US" sz="1400">
                <a:solidFill>
                  <a:schemeClr val="tx1"/>
                </a:solidFill>
              </a:rPr>
              <a:t>for a specific vehicle combination </a:t>
            </a:r>
            <a:r>
              <a:rPr lang="en-US" sz="1400" dirty="0">
                <a:solidFill>
                  <a:schemeClr val="tx1"/>
                </a:solidFill>
              </a:rPr>
              <a:t>for which VECTO results for both the towing vehicle and for the (semi-)trailer </a:t>
            </a:r>
            <a:r>
              <a:rPr lang="en-US" sz="1400">
                <a:solidFill>
                  <a:schemeClr val="tx1"/>
                </a:solidFill>
              </a:rPr>
              <a:t>are available:</a:t>
            </a:r>
            <a:endParaRPr lang="en-US" sz="1400" dirty="0">
              <a:solidFill>
                <a:schemeClr val="tx1"/>
              </a:solidFill>
            </a:endParaRPr>
          </a:p>
        </p:txBody>
      </p:sp>
      <p:sp>
        <p:nvSpPr>
          <p:cNvPr id="4" name="Rechteck 3"/>
          <p:cNvSpPr/>
          <p:nvPr/>
        </p:nvSpPr>
        <p:spPr>
          <a:xfrm>
            <a:off x="1259632" y="1945556"/>
            <a:ext cx="6192689" cy="100811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6" name="Textfeld 5"/>
          <p:cNvSpPr txBox="1"/>
          <p:nvPr/>
        </p:nvSpPr>
        <p:spPr>
          <a:xfrm>
            <a:off x="680165" y="2067694"/>
            <a:ext cx="8082045" cy="338554"/>
          </a:xfrm>
          <a:prstGeom prst="rect">
            <a:avLst/>
          </a:prstGeom>
          <a:noFill/>
        </p:spPr>
        <p:txBody>
          <a:bodyPr wrap="square" rtlCol="0">
            <a:spAutoFit/>
          </a:bodyPr>
          <a:lstStyle/>
          <a:p>
            <a:pPr algn="ctr"/>
            <a:r>
              <a:rPr lang="en-GB" sz="1600" dirty="0">
                <a:solidFill>
                  <a:schemeClr val="accent4">
                    <a:lumMod val="75000"/>
                  </a:schemeClr>
                </a:solidFill>
                <a:latin typeface="Cambria Math" panose="02040503050406030204" pitchFamily="18" charset="0"/>
                <a:ea typeface="Cambria Math" panose="02040503050406030204" pitchFamily="18" charset="0"/>
              </a:rPr>
              <a:t>FC or CO</a:t>
            </a:r>
            <a:r>
              <a:rPr lang="en-GB" sz="1600" baseline="-25000" dirty="0">
                <a:solidFill>
                  <a:schemeClr val="accent4">
                    <a:lumMod val="75000"/>
                  </a:schemeClr>
                </a:solidFill>
                <a:latin typeface="Cambria Math" panose="02040503050406030204" pitchFamily="18" charset="0"/>
                <a:ea typeface="Cambria Math" panose="02040503050406030204" pitchFamily="18" charset="0"/>
              </a:rPr>
              <a:t>2</a:t>
            </a:r>
            <a:r>
              <a:rPr lang="en-GB" sz="1600" dirty="0">
                <a:solidFill>
                  <a:schemeClr val="accent4">
                    <a:lumMod val="75000"/>
                  </a:schemeClr>
                </a:solidFill>
                <a:latin typeface="Cambria Math" panose="02040503050406030204" pitchFamily="18" charset="0"/>
                <a:ea typeface="Cambria Math" panose="02040503050406030204" pitchFamily="18" charset="0"/>
              </a:rPr>
              <a:t>    =    FC or CO</a:t>
            </a:r>
            <a:r>
              <a:rPr lang="en-GB" sz="1600" baseline="-25000" dirty="0">
                <a:solidFill>
                  <a:schemeClr val="accent4">
                    <a:lumMod val="75000"/>
                  </a:schemeClr>
                </a:solidFill>
                <a:latin typeface="Cambria Math" panose="02040503050406030204" pitchFamily="18" charset="0"/>
                <a:ea typeface="Cambria Math" panose="02040503050406030204" pitchFamily="18" charset="0"/>
              </a:rPr>
              <a:t>2</a:t>
            </a:r>
            <a:r>
              <a:rPr lang="en-GB" sz="1600" dirty="0">
                <a:solidFill>
                  <a:schemeClr val="accent4">
                    <a:lumMod val="75000"/>
                  </a:schemeClr>
                </a:solidFill>
                <a:latin typeface="Cambria Math" panose="02040503050406030204" pitchFamily="18" charset="0"/>
                <a:ea typeface="Cambria Math" panose="02040503050406030204" pitchFamily="18" charset="0"/>
              </a:rPr>
              <a:t> · Reference Ratio · Efficiency Ratio  </a:t>
            </a:r>
          </a:p>
        </p:txBody>
      </p:sp>
      <p:sp>
        <p:nvSpPr>
          <p:cNvPr id="7" name="Textfeld 6"/>
          <p:cNvSpPr txBox="1"/>
          <p:nvPr/>
        </p:nvSpPr>
        <p:spPr>
          <a:xfrm>
            <a:off x="1547664" y="2398384"/>
            <a:ext cx="1512168" cy="553998"/>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1000"/>
              <a:t>For the specific vehicle combination</a:t>
            </a:r>
            <a:br>
              <a:rPr lang="en-GB" sz="1000"/>
            </a:br>
            <a:r>
              <a:rPr lang="en-GB" sz="1000"/>
              <a:t>Units: lit./100km; g/km</a:t>
            </a:r>
          </a:p>
        </p:txBody>
      </p:sp>
      <p:sp>
        <p:nvSpPr>
          <p:cNvPr id="8" name="Textfeld 7"/>
          <p:cNvSpPr txBox="1"/>
          <p:nvPr/>
        </p:nvSpPr>
        <p:spPr>
          <a:xfrm>
            <a:off x="3022848" y="2398384"/>
            <a:ext cx="1584176" cy="553998"/>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1000"/>
              <a:t>VECTO result for the specific towing vehicle</a:t>
            </a:r>
            <a:br>
              <a:rPr lang="en-GB" sz="1000"/>
            </a:br>
            <a:r>
              <a:rPr lang="en-GB" sz="1000"/>
              <a:t>Units: lit./100km; g/km</a:t>
            </a:r>
          </a:p>
        </p:txBody>
      </p:sp>
      <p:sp>
        <p:nvSpPr>
          <p:cNvPr id="9" name="Textfeld 8"/>
          <p:cNvSpPr txBox="1"/>
          <p:nvPr/>
        </p:nvSpPr>
        <p:spPr>
          <a:xfrm>
            <a:off x="5004048" y="2398384"/>
            <a:ext cx="1800200" cy="400110"/>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1000"/>
              <a:t>VECTO Trailer Tool results for the specific (semi-)trailer</a:t>
            </a:r>
          </a:p>
        </p:txBody>
      </p:sp>
      <p:sp>
        <p:nvSpPr>
          <p:cNvPr id="10" name="Rechteck 9"/>
          <p:cNvSpPr/>
          <p:nvPr/>
        </p:nvSpPr>
        <p:spPr>
          <a:xfrm>
            <a:off x="626308" y="3102108"/>
            <a:ext cx="8086880" cy="1347560"/>
          </a:xfrm>
          <a:prstGeom prst="rect">
            <a:avLst/>
          </a:prstGeom>
        </p:spPr>
        <p:txBody>
          <a:bodyPr vert="horz" lIns="91440" tIns="45720" rIns="91440" bIns="45720" rtlCol="0">
            <a:noAutofit/>
          </a:bodyPr>
          <a:lstStyle/>
          <a:p>
            <a:pPr defTabSz="685800">
              <a:spcBef>
                <a:spcPts val="300"/>
              </a:spcBef>
              <a:buClr>
                <a:schemeClr val="accent4">
                  <a:lumMod val="75000"/>
                </a:schemeClr>
              </a:buClr>
              <a:buFont typeface="Arial" pitchFamily="34" charset="0"/>
              <a:buNone/>
            </a:pPr>
            <a:r>
              <a:rPr lang="en-US" sz="1400" dirty="0"/>
              <a:t>The following constraints need to be considered:</a:t>
            </a:r>
          </a:p>
          <a:p>
            <a:pPr marL="285750" indent="-285750" defTabSz="685800">
              <a:spcBef>
                <a:spcPts val="300"/>
              </a:spcBef>
              <a:buClr>
                <a:srgbClr val="034EA2"/>
              </a:buClr>
              <a:buFont typeface="Arial" panose="020B0604020202020204" pitchFamily="34" charset="0"/>
              <a:buChar char="•"/>
            </a:pPr>
            <a:r>
              <a:rPr lang="en-US" sz="1400" dirty="0"/>
              <a:t>The towing vehicle must be of the same vehicle </a:t>
            </a:r>
            <a:r>
              <a:rPr lang="en-US" sz="1400"/>
              <a:t>group (e.g. “9”) as </a:t>
            </a:r>
            <a:r>
              <a:rPr lang="en-US" sz="1400" dirty="0"/>
              <a:t>the generic towing vehicle defined in Annex I for the (semi-)trailer.</a:t>
            </a:r>
          </a:p>
          <a:p>
            <a:pPr marL="285750" indent="-285750" defTabSz="685800">
              <a:spcBef>
                <a:spcPts val="300"/>
              </a:spcBef>
              <a:buClr>
                <a:srgbClr val="034EA2"/>
              </a:buClr>
              <a:buFont typeface="Arial" panose="020B0604020202020204" pitchFamily="34" charset="0"/>
              <a:buChar char="•"/>
            </a:pPr>
            <a:r>
              <a:rPr lang="en-US" sz="1400" dirty="0"/>
              <a:t>The calculation must be carried out separately for each combination of mission profile and </a:t>
            </a:r>
            <a:r>
              <a:rPr lang="en-US" sz="1400" dirty="0" err="1"/>
              <a:t>paylaod</a:t>
            </a:r>
            <a:r>
              <a:rPr lang="en-US" sz="1400" dirty="0"/>
              <a:t>.</a:t>
            </a:r>
          </a:p>
          <a:p>
            <a:pPr marL="285750" indent="-285750" defTabSz="685800">
              <a:spcBef>
                <a:spcPts val="300"/>
              </a:spcBef>
              <a:buClr>
                <a:srgbClr val="034EA2"/>
              </a:buClr>
              <a:buFont typeface="Arial" panose="020B0604020202020204" pitchFamily="34" charset="0"/>
              <a:buChar char="•"/>
            </a:pPr>
            <a:r>
              <a:rPr lang="en-US" sz="1400" dirty="0"/>
              <a:t>The calculation can only be performed for the units specified above. For the Efficiency Ratio the "</a:t>
            </a:r>
            <a:r>
              <a:rPr lang="en-US" sz="1400" dirty="0" err="1"/>
              <a:t>kilometre</a:t>
            </a:r>
            <a:r>
              <a:rPr lang="en-US" sz="1400" dirty="0"/>
              <a:t>-based" value is to be used. </a:t>
            </a:r>
            <a:endParaRPr lang="en-GB" sz="1400" dirty="0"/>
          </a:p>
        </p:txBody>
      </p:sp>
    </p:spTree>
    <p:extLst>
      <p:ext uri="{BB962C8B-B14F-4D97-AF65-F5344CB8AC3E}">
        <p14:creationId xmlns:p14="http://schemas.microsoft.com/office/powerpoint/2010/main" val="2583913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285105"/>
            <a:ext cx="7993782" cy="702469"/>
          </a:xfrm>
        </p:spPr>
        <p:txBody>
          <a:bodyPr>
            <a:normAutofit/>
          </a:bodyPr>
          <a:lstStyle/>
          <a:p>
            <a:r>
              <a:rPr lang="en-US" dirty="0">
                <a:solidFill>
                  <a:srgbClr val="034EA2"/>
                </a:solidFill>
              </a:rPr>
              <a:t>What is the “Reference Ratio</a:t>
            </a:r>
            <a:r>
              <a:rPr lang="en-US">
                <a:solidFill>
                  <a:srgbClr val="034EA2"/>
                </a:solidFill>
              </a:rPr>
              <a:t>”? (3/4)</a:t>
            </a:r>
            <a:br>
              <a:rPr lang="en-US">
                <a:solidFill>
                  <a:srgbClr val="034EA2"/>
                </a:solidFill>
              </a:rPr>
            </a:br>
            <a:r>
              <a:rPr lang="en-US">
                <a:solidFill>
                  <a:srgbClr val="034EA2"/>
                </a:solidFill>
              </a:rPr>
              <a:t>Application example</a:t>
            </a:r>
            <a:endParaRPr lang="en-US" dirty="0">
              <a:solidFill>
                <a:srgbClr val="034EA2"/>
              </a:solidFill>
            </a:endParaRPr>
          </a:p>
        </p:txBody>
      </p:sp>
      <p:sp>
        <p:nvSpPr>
          <p:cNvPr id="6" name="Inhaltsplatzhalter 5"/>
          <p:cNvSpPr>
            <a:spLocks noGrp="1"/>
          </p:cNvSpPr>
          <p:nvPr>
            <p:ph idx="1"/>
          </p:nvPr>
        </p:nvSpPr>
        <p:spPr>
          <a:xfrm>
            <a:off x="457200" y="1181999"/>
            <a:ext cx="8229600" cy="3445422"/>
          </a:xfrm>
        </p:spPr>
        <p:txBody>
          <a:bodyPr>
            <a:normAutofit/>
          </a:bodyPr>
          <a:lstStyle/>
          <a:p>
            <a:r>
              <a:rPr lang="en-GB" sz="2000" dirty="0">
                <a:solidFill>
                  <a:schemeClr val="tx1"/>
                </a:solidFill>
              </a:rPr>
              <a:t>Vehicle configuration: </a:t>
            </a:r>
            <a:r>
              <a:rPr lang="en-GB" sz="2000" b="1" dirty="0">
                <a:solidFill>
                  <a:schemeClr val="tx1"/>
                </a:solidFill>
              </a:rPr>
              <a:t>Group 9 lorry </a:t>
            </a:r>
            <a:r>
              <a:rPr lang="en-GB" sz="2000" dirty="0">
                <a:solidFill>
                  <a:schemeClr val="tx1"/>
                </a:solidFill>
              </a:rPr>
              <a:t>with </a:t>
            </a:r>
            <a:r>
              <a:rPr lang="en-GB" sz="2000" b="1" dirty="0">
                <a:solidFill>
                  <a:schemeClr val="tx1"/>
                </a:solidFill>
              </a:rPr>
              <a:t>drawbar trailer</a:t>
            </a:r>
          </a:p>
        </p:txBody>
      </p:sp>
      <p:graphicFrame>
        <p:nvGraphicFramePr>
          <p:cNvPr id="10" name="Tabelle 9"/>
          <p:cNvGraphicFramePr>
            <a:graphicFrameLocks noGrp="1"/>
          </p:cNvGraphicFramePr>
          <p:nvPr>
            <p:extLst>
              <p:ext uri="{D42A27DB-BD31-4B8C-83A1-F6EECF244321}">
                <p14:modId xmlns:p14="http://schemas.microsoft.com/office/powerpoint/2010/main" val="3525539169"/>
              </p:ext>
            </p:extLst>
          </p:nvPr>
        </p:nvGraphicFramePr>
        <p:xfrm>
          <a:off x="457200" y="1984725"/>
          <a:ext cx="8507291" cy="2387600"/>
        </p:xfrm>
        <a:graphic>
          <a:graphicData uri="http://schemas.openxmlformats.org/drawingml/2006/table">
            <a:tbl>
              <a:tblPr firstRow="1" bandRow="1">
                <a:tableStyleId>{5C22544A-7EE6-4342-B048-85BDC9FD1C3A}</a:tableStyleId>
              </a:tblPr>
              <a:tblGrid>
                <a:gridCol w="730424">
                  <a:extLst>
                    <a:ext uri="{9D8B030D-6E8A-4147-A177-3AD203B41FA5}">
                      <a16:colId xmlns:a16="http://schemas.microsoft.com/office/drawing/2014/main" val="2472225897"/>
                    </a:ext>
                  </a:extLst>
                </a:gridCol>
                <a:gridCol w="1333272">
                  <a:extLst>
                    <a:ext uri="{9D8B030D-6E8A-4147-A177-3AD203B41FA5}">
                      <a16:colId xmlns:a16="http://schemas.microsoft.com/office/drawing/2014/main" val="592220587"/>
                    </a:ext>
                  </a:extLst>
                </a:gridCol>
                <a:gridCol w="1230935">
                  <a:extLst>
                    <a:ext uri="{9D8B030D-6E8A-4147-A177-3AD203B41FA5}">
                      <a16:colId xmlns:a16="http://schemas.microsoft.com/office/drawing/2014/main" val="1522618867"/>
                    </a:ext>
                  </a:extLst>
                </a:gridCol>
                <a:gridCol w="1042532">
                  <a:extLst>
                    <a:ext uri="{9D8B030D-6E8A-4147-A177-3AD203B41FA5}">
                      <a16:colId xmlns:a16="http://schemas.microsoft.com/office/drawing/2014/main" val="565864625"/>
                    </a:ext>
                  </a:extLst>
                </a:gridCol>
                <a:gridCol w="1042532">
                  <a:extLst>
                    <a:ext uri="{9D8B030D-6E8A-4147-A177-3AD203B41FA5}">
                      <a16:colId xmlns:a16="http://schemas.microsoft.com/office/drawing/2014/main" val="2644405762"/>
                    </a:ext>
                  </a:extLst>
                </a:gridCol>
                <a:gridCol w="1042532">
                  <a:extLst>
                    <a:ext uri="{9D8B030D-6E8A-4147-A177-3AD203B41FA5}">
                      <a16:colId xmlns:a16="http://schemas.microsoft.com/office/drawing/2014/main" val="3806298699"/>
                    </a:ext>
                  </a:extLst>
                </a:gridCol>
                <a:gridCol w="1042532">
                  <a:extLst>
                    <a:ext uri="{9D8B030D-6E8A-4147-A177-3AD203B41FA5}">
                      <a16:colId xmlns:a16="http://schemas.microsoft.com/office/drawing/2014/main" val="1612874931"/>
                    </a:ext>
                  </a:extLst>
                </a:gridCol>
                <a:gridCol w="1042532">
                  <a:extLst>
                    <a:ext uri="{9D8B030D-6E8A-4147-A177-3AD203B41FA5}">
                      <a16:colId xmlns:a16="http://schemas.microsoft.com/office/drawing/2014/main" val="1659152163"/>
                    </a:ext>
                  </a:extLst>
                </a:gridCol>
              </a:tblGrid>
              <a:tr h="720080">
                <a:tc>
                  <a:txBody>
                    <a:bodyPr/>
                    <a:lstStyle/>
                    <a:p>
                      <a:r>
                        <a:rPr lang="en-GB" sz="1200"/>
                        <a:t>Mission profile</a:t>
                      </a:r>
                    </a:p>
                  </a:txBody>
                  <a:tcPr anchor="b"/>
                </a:tc>
                <a:tc>
                  <a:txBody>
                    <a:bodyPr/>
                    <a:lstStyle/>
                    <a:p>
                      <a:pPr algn="ctr"/>
                      <a:r>
                        <a:rPr lang="en-GB" sz="1200"/>
                        <a:t>Vehicle configuration</a:t>
                      </a:r>
                      <a:r>
                        <a:rPr lang="en-GB" sz="1200" baseline="0"/>
                        <a:t> as in VECTO for motor vehicles</a:t>
                      </a:r>
                      <a:endParaRPr lang="en-GB" sz="1200"/>
                    </a:p>
                  </a:txBody>
                  <a:tcPr anchor="b"/>
                </a:tc>
                <a:tc>
                  <a:txBody>
                    <a:bodyPr/>
                    <a:lstStyle/>
                    <a:p>
                      <a:pPr algn="ctr"/>
                      <a:r>
                        <a:rPr lang="en-GB" sz="1200"/>
                        <a:t>Vehicle configuration</a:t>
                      </a:r>
                      <a:r>
                        <a:rPr lang="en-GB" sz="1200" baseline="0"/>
                        <a:t> as in VECTO Trailer Tool</a:t>
                      </a:r>
                      <a:endParaRPr lang="en-GB" sz="1200"/>
                    </a:p>
                  </a:txBody>
                  <a:tcPr anchor="b"/>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kern="1200">
                          <a:solidFill>
                            <a:schemeClr val="lt1"/>
                          </a:solidFill>
                          <a:latin typeface="+mn-lt"/>
                          <a:ea typeface="+mn-ea"/>
                          <a:cs typeface="+mn-cs"/>
                        </a:rPr>
                        <a:t>Payload</a:t>
                      </a:r>
                    </a:p>
                  </a:txBody>
                  <a:tcPr anchor="b"/>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kern="1200">
                          <a:solidFill>
                            <a:schemeClr val="lt1"/>
                          </a:solidFill>
                          <a:latin typeface="+mn-lt"/>
                          <a:ea typeface="+mn-ea"/>
                          <a:cs typeface="+mn-cs"/>
                        </a:rPr>
                        <a:t>FC (l/100km) towing vehicle</a:t>
                      </a:r>
                    </a:p>
                  </a:txBody>
                  <a:tcPr anchor="b"/>
                </a:tc>
                <a:tc>
                  <a:txBody>
                    <a:bodyPr/>
                    <a:lstStyle/>
                    <a:p>
                      <a:pPr algn="ctr"/>
                      <a:r>
                        <a:rPr lang="en-GB" sz="1200"/>
                        <a:t>Reference</a:t>
                      </a:r>
                      <a:r>
                        <a:rPr lang="en-GB" sz="1200" baseline="0"/>
                        <a:t> ratio</a:t>
                      </a:r>
                      <a:endParaRPr lang="en-GB" sz="1200"/>
                    </a:p>
                  </a:txBody>
                  <a:tcPr anchor="b"/>
                </a:tc>
                <a:tc>
                  <a:txBody>
                    <a:bodyPr/>
                    <a:lstStyle/>
                    <a:p>
                      <a:pPr algn="ctr"/>
                      <a:r>
                        <a:rPr lang="en-GB" sz="1200"/>
                        <a:t>Efficiency ratio</a:t>
                      </a:r>
                    </a:p>
                  </a:txBody>
                  <a:tcPr anchor="b"/>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kern="1200">
                          <a:solidFill>
                            <a:schemeClr val="lt1"/>
                          </a:solidFill>
                          <a:latin typeface="+mn-lt"/>
                          <a:ea typeface="+mn-ea"/>
                          <a:cs typeface="+mn-cs"/>
                        </a:rPr>
                        <a:t>FC (l/100km) specific combination</a:t>
                      </a:r>
                      <a:endParaRPr lang="en-GB" sz="1200"/>
                    </a:p>
                  </a:txBody>
                  <a:tcPr anchor="b"/>
                </a:tc>
                <a:extLst>
                  <a:ext uri="{0D108BD9-81ED-4DB2-BD59-A6C34878D82A}">
                    <a16:rowId xmlns:a16="http://schemas.microsoft.com/office/drawing/2014/main" val="1997510815"/>
                  </a:ext>
                </a:extLst>
              </a:tr>
              <a:tr h="370840">
                <a:tc rowSpan="2">
                  <a:txBody>
                    <a:bodyPr/>
                    <a:lstStyle/>
                    <a:p>
                      <a:r>
                        <a:rPr lang="en-GB" sz="1200"/>
                        <a:t>Long haul</a:t>
                      </a:r>
                    </a:p>
                  </a:txBody>
                  <a:tcPr/>
                </a:tc>
                <a:tc rowSpan="2">
                  <a:txBody>
                    <a:bodyPr/>
                    <a:lstStyle/>
                    <a:p>
                      <a:pPr algn="ctr"/>
                      <a:r>
                        <a:rPr lang="en-GB" sz="1200" b="1">
                          <a:solidFill>
                            <a:srgbClr val="0070C0"/>
                          </a:solidFill>
                        </a:rPr>
                        <a:t>Specific group 9</a:t>
                      </a:r>
                      <a:r>
                        <a:rPr lang="en-GB" sz="1200" b="1" baseline="0">
                          <a:solidFill>
                            <a:srgbClr val="0070C0"/>
                          </a:solidFill>
                        </a:rPr>
                        <a:t> </a:t>
                      </a:r>
                      <a:r>
                        <a:rPr lang="en-GB" sz="1200" b="1">
                          <a:solidFill>
                            <a:srgbClr val="0070C0"/>
                          </a:solidFill>
                        </a:rPr>
                        <a:t>lorry</a:t>
                      </a:r>
                      <a:r>
                        <a:rPr lang="en-GB" sz="1200" b="1" baseline="0">
                          <a:solidFill>
                            <a:srgbClr val="0070C0"/>
                          </a:solidFill>
                        </a:rPr>
                        <a:t> </a:t>
                      </a:r>
                      <a:r>
                        <a:rPr lang="en-GB" sz="1200" baseline="0"/>
                        <a:t>+ </a:t>
                      </a:r>
                      <a:r>
                        <a:rPr lang="en-GB" sz="1200" b="0" baseline="0">
                          <a:solidFill>
                            <a:schemeClr val="bg1">
                              <a:lumMod val="50000"/>
                            </a:schemeClr>
                          </a:solidFill>
                        </a:rPr>
                        <a:t>T2 standard trailer (type DC)</a:t>
                      </a:r>
                      <a:endParaRPr lang="en-GB" sz="1200" b="0">
                        <a:solidFill>
                          <a:schemeClr val="bg1">
                            <a:lumMod val="50000"/>
                          </a:schemeClr>
                        </a:solidFill>
                      </a:endParaRPr>
                    </a:p>
                  </a:txBody>
                  <a:tcPr anchor="ct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bg1">
                              <a:lumMod val="50000"/>
                            </a:schemeClr>
                          </a:solidFill>
                        </a:rPr>
                        <a:t>Generic group 9 lorry</a:t>
                      </a:r>
                      <a:r>
                        <a:rPr lang="en-GB" sz="1200" baseline="0">
                          <a:solidFill>
                            <a:schemeClr val="bg1">
                              <a:lumMod val="50000"/>
                            </a:schemeClr>
                          </a:solidFill>
                        </a:rPr>
                        <a:t> </a:t>
                      </a:r>
                      <a:r>
                        <a:rPr lang="en-GB" sz="1200" baseline="0"/>
                        <a:t>+ </a:t>
                      </a:r>
                      <a:r>
                        <a:rPr lang="en-GB" sz="1200" b="1" baseline="0">
                          <a:solidFill>
                            <a:srgbClr val="0070C0"/>
                          </a:solidFill>
                        </a:rPr>
                        <a:t>specific DB trailer</a:t>
                      </a:r>
                      <a:endParaRPr lang="en-GB" sz="1200" b="1">
                        <a:solidFill>
                          <a:srgbClr val="0070C0"/>
                        </a:solidFill>
                      </a:endParaRPr>
                    </a:p>
                  </a:txBody>
                  <a:tcPr/>
                </a:tc>
                <a:tc>
                  <a:txBody>
                    <a:bodyPr/>
                    <a:lstStyle/>
                    <a:p>
                      <a:pPr algn="ctr"/>
                      <a:r>
                        <a:rPr lang="en-GB" sz="1200">
                          <a:solidFill>
                            <a:schemeClr val="tx1"/>
                          </a:solidFill>
                        </a:rPr>
                        <a:t>low</a:t>
                      </a:r>
                      <a:endParaRPr lang="en-GB" sz="1200" dirty="0">
                        <a:solidFill>
                          <a:schemeClr val="tx1"/>
                        </a:solidFill>
                      </a:endParaRPr>
                    </a:p>
                  </a:txBody>
                  <a:tcPr anchor="ctr"/>
                </a:tc>
                <a:tc>
                  <a:txBody>
                    <a:bodyPr/>
                    <a:lstStyle/>
                    <a:p>
                      <a:pPr algn="ctr"/>
                      <a:r>
                        <a:rPr lang="en-GB" sz="1200" dirty="0">
                          <a:solidFill>
                            <a:schemeClr val="tx1"/>
                          </a:solidFill>
                        </a:rPr>
                        <a:t>26.8</a:t>
                      </a:r>
                    </a:p>
                  </a:txBody>
                  <a:tcPr anchor="ctr"/>
                </a:tc>
                <a:tc>
                  <a:txBody>
                    <a:bodyPr/>
                    <a:lstStyle/>
                    <a:p>
                      <a:pPr algn="ctr"/>
                      <a:r>
                        <a:rPr lang="en-GB" sz="1200" dirty="0">
                          <a:solidFill>
                            <a:schemeClr val="tx1"/>
                          </a:solidFill>
                        </a:rPr>
                        <a:t>0.929</a:t>
                      </a:r>
                    </a:p>
                  </a:txBody>
                  <a:tcPr anchor="ctr"/>
                </a:tc>
                <a:tc>
                  <a:txBody>
                    <a:bodyPr/>
                    <a:lstStyle/>
                    <a:p>
                      <a:pPr algn="ctr"/>
                      <a:r>
                        <a:rPr lang="en-GB" sz="1200" dirty="0">
                          <a:solidFill>
                            <a:schemeClr val="tx1"/>
                          </a:solidFill>
                        </a:rPr>
                        <a:t>0.973</a:t>
                      </a:r>
                    </a:p>
                  </a:txBody>
                  <a:tcPr anchor="ctr"/>
                </a:tc>
                <a:tc>
                  <a:txBody>
                    <a:bodyPr/>
                    <a:lstStyle/>
                    <a:p>
                      <a:pPr algn="ctr"/>
                      <a:r>
                        <a:rPr lang="en-GB" sz="1200" dirty="0">
                          <a:solidFill>
                            <a:schemeClr val="tx1"/>
                          </a:solidFill>
                        </a:rPr>
                        <a:t>24.2</a:t>
                      </a:r>
                    </a:p>
                  </a:txBody>
                  <a:tcPr anchor="ctr"/>
                </a:tc>
                <a:extLst>
                  <a:ext uri="{0D108BD9-81ED-4DB2-BD59-A6C34878D82A}">
                    <a16:rowId xmlns:a16="http://schemas.microsoft.com/office/drawing/2014/main" val="3276991762"/>
                  </a:ext>
                </a:extLst>
              </a:tr>
              <a:tr h="401337">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Calibri" panose="020F0502020204030204"/>
                          <a:ea typeface="+mn-ea"/>
                          <a:cs typeface="+mn-cs"/>
                        </a:rPr>
                        <a:t>rep.</a:t>
                      </a:r>
                      <a:endPar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34.8</a:t>
                      </a:r>
                    </a:p>
                  </a:txBody>
                  <a:tcPr anchor="ctr"/>
                </a:tc>
                <a:tc>
                  <a:txBody>
                    <a:bodyPr/>
                    <a:lstStyle/>
                    <a:p>
                      <a:pPr algn="ctr"/>
                      <a:r>
                        <a:rPr lang="en-GB" sz="1200" dirty="0">
                          <a:solidFill>
                            <a:schemeClr val="tx1"/>
                          </a:solidFill>
                        </a:rPr>
                        <a:t>0.949</a:t>
                      </a:r>
                    </a:p>
                  </a:txBody>
                  <a:tcPr anchor="ctr"/>
                </a:tc>
                <a:tc>
                  <a:txBody>
                    <a:bodyPr/>
                    <a:lstStyle/>
                    <a:p>
                      <a:pPr algn="ctr"/>
                      <a:r>
                        <a:rPr lang="en-GB" sz="1200" dirty="0">
                          <a:solidFill>
                            <a:schemeClr val="tx1"/>
                          </a:solidFill>
                        </a:rPr>
                        <a:t>0.965</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31.9</a:t>
                      </a:r>
                    </a:p>
                  </a:txBody>
                  <a:tcPr anchor="ctr"/>
                </a:tc>
                <a:extLst>
                  <a:ext uri="{0D108BD9-81ED-4DB2-BD59-A6C34878D82A}">
                    <a16:rowId xmlns:a16="http://schemas.microsoft.com/office/drawing/2014/main" val="200289911"/>
                  </a:ext>
                </a:extLst>
              </a:tr>
              <a:tr h="370840">
                <a:tc rowSpan="2">
                  <a:txBody>
                    <a:bodyPr/>
                    <a:lstStyle/>
                    <a:p>
                      <a:r>
                        <a:rPr lang="en-GB" sz="1200"/>
                        <a:t>Regional delivery</a:t>
                      </a:r>
                      <a:br>
                        <a:rPr lang="en-GB" sz="1200"/>
                      </a:br>
                      <a:endParaRPr lang="en-GB" sz="1200"/>
                    </a:p>
                  </a:txBody>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a:solidFill>
                            <a:srgbClr val="0070C0"/>
                          </a:solidFill>
                        </a:rPr>
                        <a:t>Specific lorry</a:t>
                      </a:r>
                      <a:r>
                        <a:rPr lang="en-GB" sz="1200" b="1" baseline="0">
                          <a:solidFill>
                            <a:srgbClr val="0070C0"/>
                          </a:solidFill>
                        </a:rPr>
                        <a:t> as “r</a:t>
                      </a:r>
                      <a:r>
                        <a:rPr lang="en-GB" sz="1200" b="1">
                          <a:solidFill>
                            <a:srgbClr val="0070C0"/>
                          </a:solidFill>
                        </a:rPr>
                        <a:t>igid</a:t>
                      </a:r>
                      <a:r>
                        <a:rPr lang="en-GB" sz="1200" b="1" baseline="0">
                          <a:solidFill>
                            <a:srgbClr val="0070C0"/>
                          </a:solidFill>
                        </a:rPr>
                        <a:t> solo”</a:t>
                      </a:r>
                      <a:endParaRPr lang="en-GB" sz="1200" b="1">
                        <a:solidFill>
                          <a:srgbClr val="0070C0"/>
                        </a:solidFill>
                      </a:endParaRPr>
                    </a:p>
                  </a:txBody>
                  <a:tcPr anchor="ct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bg1">
                              <a:lumMod val="50000"/>
                            </a:schemeClr>
                          </a:solidFill>
                        </a:rPr>
                        <a:t>Generic group 9 lorry</a:t>
                      </a:r>
                      <a:r>
                        <a:rPr lang="en-GB" sz="1200" baseline="0">
                          <a:solidFill>
                            <a:schemeClr val="bg1">
                              <a:lumMod val="50000"/>
                            </a:schemeClr>
                          </a:solidFill>
                        </a:rPr>
                        <a:t> </a:t>
                      </a:r>
                      <a:r>
                        <a:rPr lang="en-GB" sz="1200" baseline="0"/>
                        <a:t>+ </a:t>
                      </a:r>
                      <a:r>
                        <a:rPr lang="en-GB" sz="1200" b="1" baseline="0">
                          <a:solidFill>
                            <a:srgbClr val="0070C0"/>
                          </a:solidFill>
                        </a:rPr>
                        <a:t>specific DB trailer</a:t>
                      </a:r>
                      <a:endParaRPr lang="en-GB" sz="1200" b="1">
                        <a:solidFill>
                          <a:srgbClr val="0070C0"/>
                        </a:solidFill>
                      </a:endParaRPr>
                    </a:p>
                  </a:txBody>
                  <a:tcPr/>
                </a:tc>
                <a:tc>
                  <a:txBody>
                    <a:bodyPr/>
                    <a:lstStyle/>
                    <a:p>
                      <a:pPr algn="ctr"/>
                      <a:r>
                        <a:rPr lang="en-GB" sz="1200">
                          <a:solidFill>
                            <a:schemeClr val="tx1"/>
                          </a:solidFill>
                        </a:rPr>
                        <a:t>low</a:t>
                      </a:r>
                      <a:endParaRPr lang="en-GB" sz="1200" dirty="0">
                        <a:solidFill>
                          <a:schemeClr val="tx1"/>
                        </a:solidFill>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20.1</a:t>
                      </a:r>
                    </a:p>
                  </a:txBody>
                  <a:tcPr anchor="ctr"/>
                </a:tc>
                <a:tc>
                  <a:txBody>
                    <a:bodyPr/>
                    <a:lstStyle/>
                    <a:p>
                      <a:pPr algn="ctr"/>
                      <a:r>
                        <a:rPr lang="en-GB" sz="1200" dirty="0">
                          <a:solidFill>
                            <a:schemeClr val="tx1"/>
                          </a:solidFill>
                        </a:rPr>
                        <a:t>1.282</a:t>
                      </a:r>
                    </a:p>
                  </a:txBody>
                  <a:tcPr anchor="ctr"/>
                </a:tc>
                <a:tc>
                  <a:txBody>
                    <a:bodyPr/>
                    <a:lstStyle/>
                    <a:p>
                      <a:pPr algn="ctr"/>
                      <a:r>
                        <a:rPr lang="en-GB" sz="1200" dirty="0">
                          <a:solidFill>
                            <a:schemeClr val="tx1"/>
                          </a:solidFill>
                        </a:rPr>
                        <a:t>0.976</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25.1</a:t>
                      </a:r>
                    </a:p>
                  </a:txBody>
                  <a:tcPr anchor="ctr"/>
                </a:tc>
                <a:extLst>
                  <a:ext uri="{0D108BD9-81ED-4DB2-BD59-A6C34878D82A}">
                    <a16:rowId xmlns:a16="http://schemas.microsoft.com/office/drawing/2014/main" val="878572542"/>
                  </a:ext>
                </a:extLst>
              </a:tr>
              <a:tr h="370840">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Calibri" panose="020F0502020204030204"/>
                          <a:ea typeface="+mn-ea"/>
                          <a:cs typeface="+mn-cs"/>
                        </a:rPr>
                        <a:t>rep.</a:t>
                      </a:r>
                      <a:endPar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23.5</a:t>
                      </a:r>
                    </a:p>
                  </a:txBody>
                  <a:tcPr anchor="ctr"/>
                </a:tc>
                <a:tc>
                  <a:txBody>
                    <a:bodyPr/>
                    <a:lstStyle/>
                    <a:p>
                      <a:pPr algn="ctr"/>
                      <a:r>
                        <a:rPr lang="en-GB" sz="1200" dirty="0">
                          <a:solidFill>
                            <a:schemeClr val="tx1"/>
                          </a:solidFill>
                        </a:rPr>
                        <a:t>1.368</a:t>
                      </a:r>
                    </a:p>
                  </a:txBody>
                  <a:tcPr anchor="ctr"/>
                </a:tc>
                <a:tc>
                  <a:txBody>
                    <a:bodyPr/>
                    <a:lstStyle/>
                    <a:p>
                      <a:pPr algn="ctr"/>
                      <a:r>
                        <a:rPr lang="en-GB" sz="1200" dirty="0">
                          <a:solidFill>
                            <a:schemeClr val="tx1"/>
                          </a:solidFill>
                        </a:rPr>
                        <a:t>0.972</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31.2</a:t>
                      </a:r>
                    </a:p>
                  </a:txBody>
                  <a:tcPr anchor="ctr"/>
                </a:tc>
                <a:extLst>
                  <a:ext uri="{0D108BD9-81ED-4DB2-BD59-A6C34878D82A}">
                    <a16:rowId xmlns:a16="http://schemas.microsoft.com/office/drawing/2014/main" val="133739299"/>
                  </a:ext>
                </a:extLst>
              </a:tr>
            </a:tbl>
          </a:graphicData>
        </a:graphic>
      </p:graphicFrame>
      <p:sp>
        <p:nvSpPr>
          <p:cNvPr id="16" name="Textfeld 15"/>
          <p:cNvSpPr txBox="1"/>
          <p:nvPr/>
        </p:nvSpPr>
        <p:spPr>
          <a:xfrm>
            <a:off x="457064" y="4403381"/>
            <a:ext cx="8435280" cy="461665"/>
          </a:xfrm>
          <a:prstGeom prst="rect">
            <a:avLst/>
          </a:prstGeom>
          <a:noFill/>
        </p:spPr>
        <p:txBody>
          <a:bodyPr wrap="square" rtlCol="0">
            <a:spAutoFit/>
          </a:bodyPr>
          <a:lstStyle/>
          <a:p>
            <a:r>
              <a:rPr lang="en-GB" sz="1200"/>
              <a:t>Other mission profiles are not of relevance (urban delivery is not simulated for group 9 vehicles by motor vehicle VECTO, municipal cycle is not relevant for trailers)</a:t>
            </a:r>
          </a:p>
        </p:txBody>
      </p:sp>
      <p:sp>
        <p:nvSpPr>
          <p:cNvPr id="19" name="Textfeld 18"/>
          <p:cNvSpPr txBox="1"/>
          <p:nvPr/>
        </p:nvSpPr>
        <p:spPr>
          <a:xfrm>
            <a:off x="4572000" y="1559467"/>
            <a:ext cx="1440160" cy="461665"/>
          </a:xfrm>
          <a:prstGeom prst="rect">
            <a:avLst/>
          </a:prstGeom>
          <a:noFill/>
        </p:spPr>
        <p:txBody>
          <a:bodyPr wrap="square" rtlCol="0">
            <a:spAutoFit/>
          </a:bodyPr>
          <a:lstStyle/>
          <a:p>
            <a:pPr algn="ctr"/>
            <a:r>
              <a:rPr lang="en-GB" sz="1200">
                <a:solidFill>
                  <a:srgbClr val="034EA2"/>
                </a:solidFill>
              </a:rPr>
              <a:t>Results motor vehicle VECTO</a:t>
            </a:r>
          </a:p>
        </p:txBody>
      </p:sp>
      <p:sp>
        <p:nvSpPr>
          <p:cNvPr id="20" name="Textfeld 19"/>
          <p:cNvSpPr txBox="1"/>
          <p:nvPr/>
        </p:nvSpPr>
        <p:spPr>
          <a:xfrm>
            <a:off x="6156176" y="1563638"/>
            <a:ext cx="1440160" cy="461665"/>
          </a:xfrm>
          <a:prstGeom prst="rect">
            <a:avLst/>
          </a:prstGeom>
          <a:noFill/>
        </p:spPr>
        <p:txBody>
          <a:bodyPr wrap="square" rtlCol="0">
            <a:spAutoFit/>
          </a:bodyPr>
          <a:lstStyle/>
          <a:p>
            <a:pPr algn="ctr"/>
            <a:r>
              <a:rPr lang="en-GB" sz="1200">
                <a:solidFill>
                  <a:srgbClr val="034EA2"/>
                </a:solidFill>
              </a:rPr>
              <a:t>Results VECTO Trailer Tool</a:t>
            </a:r>
          </a:p>
        </p:txBody>
      </p:sp>
    </p:spTree>
    <p:extLst>
      <p:ext uri="{BB962C8B-B14F-4D97-AF65-F5344CB8AC3E}">
        <p14:creationId xmlns:p14="http://schemas.microsoft.com/office/powerpoint/2010/main" val="829678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hteck 19"/>
          <p:cNvSpPr/>
          <p:nvPr/>
        </p:nvSpPr>
        <p:spPr>
          <a:xfrm>
            <a:off x="626451" y="2470710"/>
            <a:ext cx="6081036" cy="90990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2" name="Titel 1"/>
          <p:cNvSpPr>
            <a:spLocks noGrp="1"/>
          </p:cNvSpPr>
          <p:nvPr>
            <p:ph type="title"/>
          </p:nvPr>
        </p:nvSpPr>
        <p:spPr>
          <a:xfrm>
            <a:off x="728042" y="285105"/>
            <a:ext cx="7993782" cy="702469"/>
          </a:xfrm>
        </p:spPr>
        <p:txBody>
          <a:bodyPr>
            <a:normAutofit/>
          </a:bodyPr>
          <a:lstStyle/>
          <a:p>
            <a:r>
              <a:rPr lang="en-US" dirty="0">
                <a:solidFill>
                  <a:srgbClr val="034EA2"/>
                </a:solidFill>
              </a:rPr>
              <a:t>What is the “Reference Ratio</a:t>
            </a:r>
            <a:r>
              <a:rPr lang="en-US">
                <a:solidFill>
                  <a:srgbClr val="034EA2"/>
                </a:solidFill>
              </a:rPr>
              <a:t>”? (4/4)</a:t>
            </a:r>
            <a:br>
              <a:rPr lang="en-US" dirty="0">
                <a:solidFill>
                  <a:srgbClr val="034EA2"/>
                </a:solidFill>
              </a:rPr>
            </a:br>
            <a:r>
              <a:rPr lang="en-US">
                <a:solidFill>
                  <a:srgbClr val="034EA2"/>
                </a:solidFill>
              </a:rPr>
              <a:t>Background information: Formulas and validation</a:t>
            </a:r>
            <a:endParaRPr lang="en-US" dirty="0">
              <a:solidFill>
                <a:srgbClr val="034EA2"/>
              </a:solidFill>
            </a:endParaRPr>
          </a:p>
        </p:txBody>
      </p:sp>
      <p:sp>
        <p:nvSpPr>
          <p:cNvPr id="4" name="Rechteck 3"/>
          <p:cNvSpPr/>
          <p:nvPr/>
        </p:nvSpPr>
        <p:spPr>
          <a:xfrm>
            <a:off x="626451" y="1324048"/>
            <a:ext cx="6081036" cy="115402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7" name="Textfeld 6"/>
          <p:cNvSpPr txBox="1"/>
          <p:nvPr/>
        </p:nvSpPr>
        <p:spPr>
          <a:xfrm>
            <a:off x="811057" y="1595879"/>
            <a:ext cx="1512168" cy="461665"/>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800" dirty="0"/>
              <a:t>For the specific vehicle combination</a:t>
            </a:r>
            <a:br>
              <a:rPr lang="en-GB" sz="800" dirty="0"/>
            </a:br>
            <a:r>
              <a:rPr lang="en-GB" sz="800" dirty="0"/>
              <a:t>Units: lit./100km; g/km</a:t>
            </a:r>
          </a:p>
        </p:txBody>
      </p:sp>
      <p:sp>
        <p:nvSpPr>
          <p:cNvPr id="8" name="Textfeld 7"/>
          <p:cNvSpPr txBox="1"/>
          <p:nvPr/>
        </p:nvSpPr>
        <p:spPr>
          <a:xfrm>
            <a:off x="2276150" y="1576466"/>
            <a:ext cx="1649942" cy="584775"/>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800" dirty="0"/>
              <a:t>VECTO result for the specific towing vehicle and standard (semi-)trailer</a:t>
            </a:r>
            <a:br>
              <a:rPr lang="en-GB" sz="800" dirty="0"/>
            </a:br>
            <a:r>
              <a:rPr lang="en-GB" sz="800" dirty="0"/>
              <a:t>Units: lit./100km; g/km</a:t>
            </a:r>
          </a:p>
        </p:txBody>
      </p:sp>
      <p:sp>
        <p:nvSpPr>
          <p:cNvPr id="9" name="Textfeld 8"/>
          <p:cNvSpPr txBox="1"/>
          <p:nvPr/>
        </p:nvSpPr>
        <p:spPr>
          <a:xfrm>
            <a:off x="4351343" y="1690839"/>
            <a:ext cx="1800200" cy="338554"/>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800" dirty="0"/>
              <a:t>VECTO Trailer Tool results for the specific (semi-)trailer</a:t>
            </a:r>
          </a:p>
        </p:txBody>
      </p:sp>
      <mc:AlternateContent xmlns:mc="http://schemas.openxmlformats.org/markup-compatibility/2006" xmlns:a14="http://schemas.microsoft.com/office/drawing/2010/main">
        <mc:Choice Requires="a14">
          <p:sp>
            <p:nvSpPr>
              <p:cNvPr id="13" name="Rechteck 12"/>
              <p:cNvSpPr/>
              <p:nvPr/>
            </p:nvSpPr>
            <p:spPr>
              <a:xfrm>
                <a:off x="5166895" y="2427734"/>
                <a:ext cx="1274708" cy="26161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de-AT" sz="1100" b="1" i="0" smtClean="0">
                          <a:solidFill>
                            <a:srgbClr val="C00000"/>
                          </a:solidFill>
                          <a:latin typeface="Cambria Math" panose="02040503050406030204" pitchFamily="18" charset="0"/>
                        </a:rPr>
                        <m:t>𝐄𝐟𝐟𝐢𝐜𝐢𝐞𝐧𝐜𝐲</m:t>
                      </m:r>
                      <m:r>
                        <a:rPr lang="de-AT" sz="1100" b="1" i="0" smtClean="0">
                          <a:solidFill>
                            <a:srgbClr val="C00000"/>
                          </a:solidFill>
                          <a:latin typeface="Cambria Math" panose="02040503050406030204" pitchFamily="18" charset="0"/>
                        </a:rPr>
                        <m:t> </m:t>
                      </m:r>
                      <m:r>
                        <a:rPr lang="de-AT" sz="1100" b="1" i="0" smtClean="0">
                          <a:solidFill>
                            <a:srgbClr val="C00000"/>
                          </a:solidFill>
                          <a:latin typeface="Cambria Math" panose="02040503050406030204" pitchFamily="18" charset="0"/>
                        </a:rPr>
                        <m:t>𝐑𝐚𝐭𝐢𝐨</m:t>
                      </m:r>
                    </m:oMath>
                  </m:oMathPara>
                </a14:m>
                <a:endParaRPr lang="en-GB" sz="1100" b="1" dirty="0">
                  <a:solidFill>
                    <a:srgbClr val="C00000"/>
                  </a:solidFill>
                </a:endParaRPr>
              </a:p>
            </p:txBody>
          </p:sp>
        </mc:Choice>
        <mc:Fallback xmlns="">
          <p:sp>
            <p:nvSpPr>
              <p:cNvPr id="13" name="Rechteck 12"/>
              <p:cNvSpPr>
                <a:spLocks noRot="1" noChangeAspect="1" noMove="1" noResize="1" noEditPoints="1" noAdjustHandles="1" noChangeArrowheads="1" noChangeShapeType="1" noTextEdit="1"/>
              </p:cNvSpPr>
              <p:nvPr/>
            </p:nvSpPr>
            <p:spPr>
              <a:xfrm>
                <a:off x="5166895" y="2427734"/>
                <a:ext cx="1274708" cy="261610"/>
              </a:xfrm>
              <a:prstGeom prst="rect">
                <a:avLst/>
              </a:prstGeom>
              <a:blipFill>
                <a:blip r:embed="rId3"/>
                <a:stretch>
                  <a:fillRect b="-69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feld 4">
                <a:extLst>
                  <a:ext uri="{FF2B5EF4-FFF2-40B4-BE49-F238E27FC236}">
                    <a16:creationId xmlns:a16="http://schemas.microsoft.com/office/drawing/2014/main" id="{9F2C8862-F5AA-4AFF-80CE-72C1AA442533}"/>
                  </a:ext>
                </a:extLst>
              </p:cNvPr>
              <p:cNvSpPr txBox="1"/>
              <p:nvPr/>
            </p:nvSpPr>
            <p:spPr>
              <a:xfrm>
                <a:off x="1115760" y="1395318"/>
                <a:ext cx="565706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de-AT" sz="1400" b="0" i="0" smtClean="0">
                          <a:solidFill>
                            <a:schemeClr val="accent4">
                              <a:lumMod val="75000"/>
                            </a:schemeClr>
                          </a:solidFill>
                          <a:latin typeface="Cambria Math" panose="02040503050406030204" pitchFamily="18" charset="0"/>
                        </a:rPr>
                        <m:t>FC</m:t>
                      </m:r>
                      <m:r>
                        <a:rPr lang="de-AT" sz="1400" b="0" i="0" smtClean="0">
                          <a:solidFill>
                            <a:schemeClr val="accent4">
                              <a:lumMod val="75000"/>
                            </a:schemeClr>
                          </a:solidFill>
                          <a:latin typeface="Cambria Math" panose="02040503050406030204" pitchFamily="18" charset="0"/>
                        </a:rPr>
                        <m:t> </m:t>
                      </m:r>
                      <m:r>
                        <m:rPr>
                          <m:sty m:val="p"/>
                        </m:rPr>
                        <a:rPr lang="de-AT" sz="1400" b="0" i="0" smtClean="0">
                          <a:solidFill>
                            <a:schemeClr val="accent4">
                              <a:lumMod val="75000"/>
                            </a:schemeClr>
                          </a:solidFill>
                          <a:latin typeface="Cambria Math" panose="02040503050406030204" pitchFamily="18" charset="0"/>
                        </a:rPr>
                        <m:t>or</m:t>
                      </m:r>
                      <m:r>
                        <a:rPr lang="de-AT" sz="1400" b="0" i="0" smtClean="0">
                          <a:solidFill>
                            <a:schemeClr val="accent4">
                              <a:lumMod val="75000"/>
                            </a:schemeClr>
                          </a:solidFill>
                          <a:latin typeface="Cambria Math" panose="02040503050406030204" pitchFamily="18" charset="0"/>
                        </a:rPr>
                        <m:t> </m:t>
                      </m:r>
                      <m:sSub>
                        <m:sSubPr>
                          <m:ctrlPr>
                            <a:rPr lang="de-AT" sz="1400" i="1" smtClean="0">
                              <a:solidFill>
                                <a:schemeClr val="accent4">
                                  <a:lumMod val="75000"/>
                                </a:schemeClr>
                              </a:solidFill>
                              <a:latin typeface="Cambria Math" panose="02040503050406030204" pitchFamily="18" charset="0"/>
                            </a:rPr>
                          </m:ctrlPr>
                        </m:sSubPr>
                        <m:e>
                          <m:r>
                            <m:rPr>
                              <m:sty m:val="p"/>
                            </m:rPr>
                            <a:rPr lang="de-AT" sz="1400" b="0" i="0" smtClean="0">
                              <a:solidFill>
                                <a:schemeClr val="accent4">
                                  <a:lumMod val="75000"/>
                                </a:schemeClr>
                              </a:solidFill>
                              <a:latin typeface="Cambria Math" panose="02040503050406030204" pitchFamily="18" charset="0"/>
                            </a:rPr>
                            <m:t>CO</m:t>
                          </m:r>
                        </m:e>
                        <m:sub>
                          <m:r>
                            <a:rPr lang="de-AT" sz="1400" b="0" i="0" smtClean="0">
                              <a:solidFill>
                                <a:schemeClr val="accent4">
                                  <a:lumMod val="75000"/>
                                </a:schemeClr>
                              </a:solidFill>
                              <a:latin typeface="Cambria Math" panose="02040503050406030204" pitchFamily="18" charset="0"/>
                            </a:rPr>
                            <m:t>2</m:t>
                          </m:r>
                        </m:sub>
                      </m:sSub>
                      <m:r>
                        <a:rPr lang="de-AT" sz="1400" b="0" i="0" smtClean="0">
                          <a:solidFill>
                            <a:schemeClr val="accent4">
                              <a:lumMod val="75000"/>
                            </a:schemeClr>
                          </a:solidFill>
                          <a:latin typeface="Cambria Math" panose="02040503050406030204" pitchFamily="18" charset="0"/>
                        </a:rPr>
                        <m:t>      =      </m:t>
                      </m:r>
                      <m:r>
                        <m:rPr>
                          <m:sty m:val="p"/>
                        </m:rPr>
                        <a:rPr lang="de-AT" sz="1400" b="0" i="0" smtClean="0">
                          <a:solidFill>
                            <a:schemeClr val="accent4">
                              <a:lumMod val="75000"/>
                            </a:schemeClr>
                          </a:solidFill>
                          <a:latin typeface="Cambria Math" panose="02040503050406030204" pitchFamily="18" charset="0"/>
                        </a:rPr>
                        <m:t>FC</m:t>
                      </m:r>
                      <m:r>
                        <a:rPr lang="de-AT" sz="1400" b="0" i="0" smtClean="0">
                          <a:solidFill>
                            <a:schemeClr val="accent4">
                              <a:lumMod val="75000"/>
                            </a:schemeClr>
                          </a:solidFill>
                          <a:latin typeface="Cambria Math" panose="02040503050406030204" pitchFamily="18" charset="0"/>
                        </a:rPr>
                        <m:t> </m:t>
                      </m:r>
                      <m:r>
                        <m:rPr>
                          <m:sty m:val="p"/>
                        </m:rPr>
                        <a:rPr lang="de-AT" sz="1400" b="0" i="0" smtClean="0">
                          <a:solidFill>
                            <a:schemeClr val="accent4">
                              <a:lumMod val="75000"/>
                            </a:schemeClr>
                          </a:solidFill>
                          <a:latin typeface="Cambria Math" panose="02040503050406030204" pitchFamily="18" charset="0"/>
                        </a:rPr>
                        <m:t>or</m:t>
                      </m:r>
                      <m:r>
                        <a:rPr lang="de-AT" sz="1400" b="0" i="0" smtClean="0">
                          <a:solidFill>
                            <a:schemeClr val="accent4">
                              <a:lumMod val="75000"/>
                            </a:schemeClr>
                          </a:solidFill>
                          <a:latin typeface="Cambria Math" panose="02040503050406030204" pitchFamily="18" charset="0"/>
                        </a:rPr>
                        <m:t> </m:t>
                      </m:r>
                      <m:sSub>
                        <m:sSubPr>
                          <m:ctrlPr>
                            <a:rPr lang="de-AT" sz="1400" i="1" smtClean="0">
                              <a:solidFill>
                                <a:schemeClr val="accent4">
                                  <a:lumMod val="75000"/>
                                </a:schemeClr>
                              </a:solidFill>
                              <a:latin typeface="Cambria Math" panose="02040503050406030204" pitchFamily="18" charset="0"/>
                            </a:rPr>
                          </m:ctrlPr>
                        </m:sSubPr>
                        <m:e>
                          <m:r>
                            <m:rPr>
                              <m:sty m:val="p"/>
                            </m:rPr>
                            <a:rPr lang="de-AT" sz="1400" b="0" i="0" smtClean="0">
                              <a:solidFill>
                                <a:schemeClr val="accent4">
                                  <a:lumMod val="75000"/>
                                </a:schemeClr>
                              </a:solidFill>
                              <a:latin typeface="Cambria Math" panose="02040503050406030204" pitchFamily="18" charset="0"/>
                            </a:rPr>
                            <m:t>CO</m:t>
                          </m:r>
                        </m:e>
                        <m:sub>
                          <m:r>
                            <a:rPr lang="de-AT" sz="1400" b="0" i="0" smtClean="0">
                              <a:solidFill>
                                <a:schemeClr val="accent4">
                                  <a:lumMod val="75000"/>
                                </a:schemeClr>
                              </a:solidFill>
                              <a:latin typeface="Cambria Math" panose="02040503050406030204" pitchFamily="18" charset="0"/>
                            </a:rPr>
                            <m:t>2     </m:t>
                          </m:r>
                        </m:sub>
                      </m:sSub>
                      <m:r>
                        <a:rPr lang="de-AT" sz="1400" b="0" i="1" smtClean="0">
                          <a:solidFill>
                            <a:schemeClr val="accent4">
                              <a:lumMod val="75000"/>
                            </a:schemeClr>
                          </a:solidFill>
                          <a:latin typeface="Cambria Math" panose="02040503050406030204" pitchFamily="18" charset="0"/>
                        </a:rPr>
                        <m:t>   </m:t>
                      </m:r>
                      <m:r>
                        <a:rPr lang="de-AT" sz="1400" b="0" i="0" smtClean="0">
                          <a:solidFill>
                            <a:schemeClr val="accent4">
                              <a:lumMod val="75000"/>
                            </a:schemeClr>
                          </a:solidFill>
                          <a:latin typeface="Cambria Math" panose="02040503050406030204" pitchFamily="18" charset="0"/>
                        </a:rPr>
                        <m:t>∗</m:t>
                      </m:r>
                      <m:r>
                        <m:rPr>
                          <m:nor/>
                        </m:rPr>
                        <a:rPr lang="de-AT" sz="1400" b="0" i="0" smtClean="0">
                          <a:solidFill>
                            <a:schemeClr val="accent4">
                              <a:lumMod val="75000"/>
                            </a:schemeClr>
                          </a:solidFill>
                          <a:latin typeface="Cambria Math" panose="02040503050406030204" pitchFamily="18" charset="0"/>
                        </a:rPr>
                        <m:t>      </m:t>
                      </m:r>
                      <m:r>
                        <m:rPr>
                          <m:nor/>
                        </m:rPr>
                        <a:rPr lang="en-GB" sz="1400" dirty="0">
                          <a:solidFill>
                            <a:schemeClr val="accent4">
                              <a:lumMod val="75000"/>
                            </a:schemeClr>
                          </a:solidFill>
                          <a:latin typeface="Cambria Math" panose="02040503050406030204" pitchFamily="18" charset="0"/>
                          <a:ea typeface="Cambria Math" panose="02040503050406030204" pitchFamily="18" charset="0"/>
                        </a:rPr>
                        <m:t>Reference</m:t>
                      </m:r>
                      <m:r>
                        <m:rPr>
                          <m:nor/>
                        </m:rPr>
                        <a:rPr lang="en-GB" sz="1400" dirty="0">
                          <a:solidFill>
                            <a:schemeClr val="accent4">
                              <a:lumMod val="75000"/>
                            </a:schemeClr>
                          </a:solidFill>
                          <a:latin typeface="Cambria Math" panose="02040503050406030204" pitchFamily="18" charset="0"/>
                          <a:ea typeface="Cambria Math" panose="02040503050406030204" pitchFamily="18" charset="0"/>
                        </a:rPr>
                        <m:t> </m:t>
                      </m:r>
                      <m:r>
                        <m:rPr>
                          <m:nor/>
                        </m:rPr>
                        <a:rPr lang="en-GB" sz="1400" dirty="0">
                          <a:solidFill>
                            <a:schemeClr val="accent4">
                              <a:lumMod val="75000"/>
                            </a:schemeClr>
                          </a:solidFill>
                          <a:latin typeface="Cambria Math" panose="02040503050406030204" pitchFamily="18" charset="0"/>
                          <a:ea typeface="Cambria Math" panose="02040503050406030204" pitchFamily="18" charset="0"/>
                        </a:rPr>
                        <m:t>Ratio</m:t>
                      </m:r>
                      <m:r>
                        <a:rPr lang="de-AT" sz="1400">
                          <a:solidFill>
                            <a:schemeClr val="accent4">
                              <a:lumMod val="75000"/>
                            </a:schemeClr>
                          </a:solidFill>
                          <a:latin typeface="Cambria Math" panose="02040503050406030204" pitchFamily="18" charset="0"/>
                        </a:rPr>
                        <m:t>∗</m:t>
                      </m:r>
                      <m:r>
                        <m:rPr>
                          <m:nor/>
                        </m:rPr>
                        <a:rPr lang="en-GB" sz="1400" dirty="0">
                          <a:solidFill>
                            <a:schemeClr val="accent4">
                              <a:lumMod val="75000"/>
                            </a:schemeClr>
                          </a:solidFill>
                          <a:latin typeface="Cambria Math" panose="02040503050406030204" pitchFamily="18" charset="0"/>
                          <a:ea typeface="Cambria Math" panose="02040503050406030204" pitchFamily="18" charset="0"/>
                        </a:rPr>
                        <m:t>Efficiency</m:t>
                      </m:r>
                      <m:r>
                        <m:rPr>
                          <m:nor/>
                        </m:rPr>
                        <a:rPr lang="en-GB" sz="1400" dirty="0">
                          <a:solidFill>
                            <a:schemeClr val="accent4">
                              <a:lumMod val="75000"/>
                            </a:schemeClr>
                          </a:solidFill>
                          <a:latin typeface="Cambria Math" panose="02040503050406030204" pitchFamily="18" charset="0"/>
                          <a:ea typeface="Cambria Math" panose="02040503050406030204" pitchFamily="18" charset="0"/>
                        </a:rPr>
                        <m:t> </m:t>
                      </m:r>
                      <m:r>
                        <m:rPr>
                          <m:nor/>
                        </m:rPr>
                        <a:rPr lang="en-GB" sz="1400" dirty="0">
                          <a:solidFill>
                            <a:schemeClr val="accent4">
                              <a:lumMod val="75000"/>
                            </a:schemeClr>
                          </a:solidFill>
                          <a:latin typeface="Cambria Math" panose="02040503050406030204" pitchFamily="18" charset="0"/>
                          <a:ea typeface="Cambria Math" panose="02040503050406030204" pitchFamily="18" charset="0"/>
                        </a:rPr>
                        <m:t>Ratio</m:t>
                      </m:r>
                    </m:oMath>
                  </m:oMathPara>
                </a14:m>
                <a:endParaRPr lang="de-AT" sz="1400" dirty="0"/>
              </a:p>
            </p:txBody>
          </p:sp>
        </mc:Choice>
        <mc:Fallback xmlns="">
          <p:sp>
            <p:nvSpPr>
              <p:cNvPr id="5" name="Textfeld 4">
                <a:extLst>
                  <a:ext uri="{FF2B5EF4-FFF2-40B4-BE49-F238E27FC236}">
                    <a16:creationId xmlns:a16="http://schemas.microsoft.com/office/drawing/2014/main" id="{9F2C8862-F5AA-4AFF-80CE-72C1AA442533}"/>
                  </a:ext>
                </a:extLst>
              </p:cNvPr>
              <p:cNvSpPr txBox="1">
                <a:spLocks noRot="1" noChangeAspect="1" noMove="1" noResize="1" noEditPoints="1" noAdjustHandles="1" noChangeArrowheads="1" noChangeShapeType="1" noTextEdit="1"/>
              </p:cNvSpPr>
              <p:nvPr/>
            </p:nvSpPr>
            <p:spPr>
              <a:xfrm>
                <a:off x="1115760" y="1395318"/>
                <a:ext cx="5657061" cy="215444"/>
              </a:xfrm>
              <a:prstGeom prst="rect">
                <a:avLst/>
              </a:prstGeom>
              <a:blipFill>
                <a:blip r:embed="rId4"/>
                <a:stretch>
                  <a:fillRect b="-314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Rechteck 17"/>
              <p:cNvSpPr/>
              <p:nvPr/>
            </p:nvSpPr>
            <p:spPr>
              <a:xfrm>
                <a:off x="4035026" y="2432834"/>
                <a:ext cx="1287532"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sz="1100" b="1" i="0" smtClean="0">
                          <a:solidFill>
                            <a:srgbClr val="7030A0"/>
                          </a:solidFill>
                          <a:latin typeface="Cambria Math" panose="02040503050406030204" pitchFamily="18" charset="0"/>
                        </a:rPr>
                        <m:t>𝐑𝐞𝐟𝐞𝐫𝐞𝐧𝐜𝐞</m:t>
                      </m:r>
                      <m:r>
                        <a:rPr lang="de-AT" sz="1100" b="1" i="0" smtClean="0">
                          <a:solidFill>
                            <a:srgbClr val="7030A0"/>
                          </a:solidFill>
                          <a:latin typeface="Cambria Math" panose="02040503050406030204" pitchFamily="18" charset="0"/>
                        </a:rPr>
                        <m:t> </m:t>
                      </m:r>
                      <m:r>
                        <a:rPr lang="de-AT" sz="1100" b="1" i="0" smtClean="0">
                          <a:solidFill>
                            <a:srgbClr val="7030A0"/>
                          </a:solidFill>
                          <a:latin typeface="Cambria Math" panose="02040503050406030204" pitchFamily="18" charset="0"/>
                        </a:rPr>
                        <m:t>𝐑𝐚𝐭𝐢𝐨</m:t>
                      </m:r>
                    </m:oMath>
                  </m:oMathPara>
                </a14:m>
                <a:endParaRPr lang="en-GB" sz="1100" b="1">
                  <a:solidFill>
                    <a:srgbClr val="7030A0"/>
                  </a:solidFill>
                </a:endParaRPr>
              </a:p>
            </p:txBody>
          </p:sp>
        </mc:Choice>
        <mc:Fallback xmlns="">
          <p:sp>
            <p:nvSpPr>
              <p:cNvPr id="18" name="Rechteck 17"/>
              <p:cNvSpPr>
                <a:spLocks noRot="1" noChangeAspect="1" noMove="1" noResize="1" noEditPoints="1" noAdjustHandles="1" noChangeArrowheads="1" noChangeShapeType="1" noTextEdit="1"/>
              </p:cNvSpPr>
              <p:nvPr/>
            </p:nvSpPr>
            <p:spPr>
              <a:xfrm>
                <a:off x="4035026" y="2432834"/>
                <a:ext cx="1287532" cy="261610"/>
              </a:xfrm>
              <a:prstGeom prst="rect">
                <a:avLst/>
              </a:prstGeom>
              <a:blipFill>
                <a:blip r:embed="rId5"/>
                <a:stretch>
                  <a:fillRect/>
                </a:stretch>
              </a:blipFill>
            </p:spPr>
            <p:txBody>
              <a:bodyPr/>
              <a:lstStyle/>
              <a:p>
                <a:r>
                  <a:rPr lang="en-GB">
                    <a:noFill/>
                  </a:rPr>
                  <a:t> </a:t>
                </a:r>
              </a:p>
            </p:txBody>
          </p:sp>
        </mc:Fallback>
      </mc:AlternateContent>
      <p:sp>
        <p:nvSpPr>
          <p:cNvPr id="10" name="Flussdiagramm: Alternativer Prozess 9"/>
          <p:cNvSpPr/>
          <p:nvPr/>
        </p:nvSpPr>
        <p:spPr>
          <a:xfrm>
            <a:off x="4154351" y="2722407"/>
            <a:ext cx="990943" cy="517531"/>
          </a:xfrm>
          <a:prstGeom prst="flowChartAlternateProcess">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lussdiagramm: Alternativer Prozess 18"/>
          <p:cNvSpPr/>
          <p:nvPr/>
        </p:nvSpPr>
        <p:spPr>
          <a:xfrm>
            <a:off x="5264734" y="2729043"/>
            <a:ext cx="990943" cy="517531"/>
          </a:xfrm>
          <a:prstGeom prst="flowChartAlternateProcess">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C00000"/>
              </a:solidFill>
            </a:endParaRPr>
          </a:p>
        </p:txBody>
      </p:sp>
      <mc:AlternateContent xmlns:mc="http://schemas.openxmlformats.org/markup-compatibility/2006" xmlns:a14="http://schemas.microsoft.com/office/drawing/2010/main">
        <mc:Choice Requires="a14">
          <p:sp>
            <p:nvSpPr>
              <p:cNvPr id="25" name="Textfeld 24">
                <a:extLst>
                  <a:ext uri="{FF2B5EF4-FFF2-40B4-BE49-F238E27FC236}">
                    <a16:creationId xmlns:a16="http://schemas.microsoft.com/office/drawing/2014/main" id="{9F2C8862-F5AA-4AFF-80CE-72C1AA442533}"/>
                  </a:ext>
                </a:extLst>
              </p:cNvPr>
              <p:cNvSpPr txBox="1"/>
              <p:nvPr/>
            </p:nvSpPr>
            <p:spPr>
              <a:xfrm>
                <a:off x="1115760" y="2743014"/>
                <a:ext cx="5163850" cy="438133"/>
              </a:xfrm>
              <a:prstGeom prst="rect">
                <a:avLst/>
              </a:prstGeom>
              <a:noFill/>
            </p:spPr>
            <p:txBody>
              <a:bodyPr wrap="none" lIns="0" tIns="0" rIns="0" bIns="0" rtlCol="0">
                <a:spAutoFit/>
              </a:bodyPr>
              <a:lstStyle/>
              <a:p>
                <a14:m>
                  <m:oMath xmlns:m="http://schemas.openxmlformats.org/officeDocument/2006/math">
                    <m:r>
                      <m:rPr>
                        <m:sty m:val="p"/>
                      </m:rPr>
                      <a:rPr lang="de-AT" sz="1600" b="0" i="0" smtClean="0">
                        <a:solidFill>
                          <a:schemeClr val="accent4">
                            <a:lumMod val="75000"/>
                          </a:schemeClr>
                        </a:solidFill>
                        <a:latin typeface="Cambria Math" panose="02040503050406030204" pitchFamily="18" charset="0"/>
                      </a:rPr>
                      <m:t>FC</m:t>
                    </m:r>
                    <m:r>
                      <a:rPr lang="de-AT" sz="1600" b="0" i="0" smtClean="0">
                        <a:solidFill>
                          <a:schemeClr val="accent4">
                            <a:lumMod val="75000"/>
                          </a:schemeClr>
                        </a:solidFill>
                        <a:latin typeface="Cambria Math" panose="02040503050406030204" pitchFamily="18" charset="0"/>
                      </a:rPr>
                      <m:t> </m:t>
                    </m:r>
                    <m:r>
                      <m:rPr>
                        <m:sty m:val="p"/>
                      </m:rPr>
                      <a:rPr lang="de-AT" sz="1600" b="0" i="0" smtClean="0">
                        <a:solidFill>
                          <a:schemeClr val="accent4">
                            <a:lumMod val="75000"/>
                          </a:schemeClr>
                        </a:solidFill>
                        <a:latin typeface="Cambria Math" panose="02040503050406030204" pitchFamily="18" charset="0"/>
                      </a:rPr>
                      <m:t>or</m:t>
                    </m:r>
                    <m:r>
                      <a:rPr lang="de-AT" sz="1600" b="0" i="0" smtClean="0">
                        <a:solidFill>
                          <a:schemeClr val="accent4">
                            <a:lumMod val="75000"/>
                          </a:schemeClr>
                        </a:solidFill>
                        <a:latin typeface="Cambria Math" panose="02040503050406030204" pitchFamily="18" charset="0"/>
                      </a:rPr>
                      <m:t> </m:t>
                    </m:r>
                    <m:sSub>
                      <m:sSubPr>
                        <m:ctrlPr>
                          <a:rPr lang="de-AT" sz="1600" i="1" smtClean="0">
                            <a:solidFill>
                              <a:schemeClr val="accent4">
                                <a:lumMod val="75000"/>
                              </a:schemeClr>
                            </a:solidFill>
                            <a:latin typeface="Cambria Math" panose="02040503050406030204" pitchFamily="18" charset="0"/>
                          </a:rPr>
                        </m:ctrlPr>
                      </m:sSubPr>
                      <m:e>
                        <m:r>
                          <m:rPr>
                            <m:sty m:val="p"/>
                          </m:rPr>
                          <a:rPr lang="de-AT" sz="1600" b="0" i="0" smtClean="0">
                            <a:solidFill>
                              <a:schemeClr val="accent4">
                                <a:lumMod val="75000"/>
                              </a:schemeClr>
                            </a:solidFill>
                            <a:latin typeface="Cambria Math" panose="02040503050406030204" pitchFamily="18" charset="0"/>
                          </a:rPr>
                          <m:t>CO</m:t>
                        </m:r>
                      </m:e>
                      <m:sub>
                        <m:r>
                          <a:rPr lang="de-AT" sz="1600" b="0" i="0" smtClean="0">
                            <a:solidFill>
                              <a:schemeClr val="accent4">
                                <a:lumMod val="75000"/>
                              </a:schemeClr>
                            </a:solidFill>
                            <a:latin typeface="Cambria Math" panose="02040503050406030204" pitchFamily="18" charset="0"/>
                          </a:rPr>
                          <m:t>2</m:t>
                        </m:r>
                      </m:sub>
                    </m:sSub>
                    <m:r>
                      <a:rPr lang="de-AT" sz="1600" b="0" i="0" smtClean="0">
                        <a:solidFill>
                          <a:schemeClr val="accent4">
                            <a:lumMod val="75000"/>
                          </a:schemeClr>
                        </a:solidFill>
                        <a:latin typeface="Cambria Math" panose="02040503050406030204" pitchFamily="18" charset="0"/>
                      </a:rPr>
                      <m:t>      =      </m:t>
                    </m:r>
                    <m:r>
                      <m:rPr>
                        <m:sty m:val="p"/>
                      </m:rPr>
                      <a:rPr lang="de-AT" sz="1600" b="0" i="0" smtClean="0">
                        <a:solidFill>
                          <a:schemeClr val="accent4">
                            <a:lumMod val="75000"/>
                          </a:schemeClr>
                        </a:solidFill>
                        <a:latin typeface="Cambria Math" panose="02040503050406030204" pitchFamily="18" charset="0"/>
                      </a:rPr>
                      <m:t>FC</m:t>
                    </m:r>
                    <m:r>
                      <a:rPr lang="de-AT" sz="1600" b="0" i="0" smtClean="0">
                        <a:solidFill>
                          <a:schemeClr val="accent4">
                            <a:lumMod val="75000"/>
                          </a:schemeClr>
                        </a:solidFill>
                        <a:latin typeface="Cambria Math" panose="02040503050406030204" pitchFamily="18" charset="0"/>
                      </a:rPr>
                      <m:t> </m:t>
                    </m:r>
                    <m:r>
                      <m:rPr>
                        <m:sty m:val="p"/>
                      </m:rPr>
                      <a:rPr lang="de-AT" sz="1600" b="0" i="0" smtClean="0">
                        <a:solidFill>
                          <a:schemeClr val="accent4">
                            <a:lumMod val="75000"/>
                          </a:schemeClr>
                        </a:solidFill>
                        <a:latin typeface="Cambria Math" panose="02040503050406030204" pitchFamily="18" charset="0"/>
                      </a:rPr>
                      <m:t>or</m:t>
                    </m:r>
                    <m:r>
                      <a:rPr lang="de-AT" sz="1600" b="0" i="0" smtClean="0">
                        <a:solidFill>
                          <a:schemeClr val="accent4">
                            <a:lumMod val="75000"/>
                          </a:schemeClr>
                        </a:solidFill>
                        <a:latin typeface="Cambria Math" panose="02040503050406030204" pitchFamily="18" charset="0"/>
                      </a:rPr>
                      <m:t> </m:t>
                    </m:r>
                    <m:sSub>
                      <m:sSubPr>
                        <m:ctrlPr>
                          <a:rPr lang="de-AT" sz="1600" i="1" smtClean="0">
                            <a:solidFill>
                              <a:schemeClr val="accent4">
                                <a:lumMod val="75000"/>
                              </a:schemeClr>
                            </a:solidFill>
                            <a:latin typeface="Cambria Math" panose="02040503050406030204" pitchFamily="18" charset="0"/>
                          </a:rPr>
                        </m:ctrlPr>
                      </m:sSubPr>
                      <m:e>
                        <m:r>
                          <m:rPr>
                            <m:sty m:val="p"/>
                          </m:rPr>
                          <a:rPr lang="de-AT" sz="1600" b="0" i="0" smtClean="0">
                            <a:solidFill>
                              <a:schemeClr val="accent4">
                                <a:lumMod val="75000"/>
                              </a:schemeClr>
                            </a:solidFill>
                            <a:latin typeface="Cambria Math" panose="02040503050406030204" pitchFamily="18" charset="0"/>
                          </a:rPr>
                          <m:t>CO</m:t>
                        </m:r>
                      </m:e>
                      <m:sub>
                        <m:r>
                          <a:rPr lang="de-AT" sz="1600" b="0" i="0" smtClean="0">
                            <a:solidFill>
                              <a:schemeClr val="accent4">
                                <a:lumMod val="75000"/>
                              </a:schemeClr>
                            </a:solidFill>
                            <a:latin typeface="Cambria Math" panose="02040503050406030204" pitchFamily="18" charset="0"/>
                          </a:rPr>
                          <m:t>2     </m:t>
                        </m:r>
                      </m:sub>
                    </m:sSub>
                    <m:r>
                      <a:rPr lang="de-AT" sz="1600" b="0" i="0" smtClean="0">
                        <a:solidFill>
                          <a:schemeClr val="accent4">
                            <a:lumMod val="75000"/>
                          </a:schemeClr>
                        </a:solidFill>
                        <a:latin typeface="Cambria Math" panose="02040503050406030204" pitchFamily="18" charset="0"/>
                      </a:rPr>
                      <m:t>∗     </m:t>
                    </m:r>
                    <m:f>
                      <m:fPr>
                        <m:ctrlPr>
                          <a:rPr lang="de-AT" sz="1600" i="1" smtClean="0">
                            <a:solidFill>
                              <a:schemeClr val="accent4">
                                <a:lumMod val="75000"/>
                              </a:schemeClr>
                            </a:solidFill>
                            <a:latin typeface="Cambria Math" panose="02040503050406030204" pitchFamily="18" charset="0"/>
                          </a:rPr>
                        </m:ctrlPr>
                      </m:fPr>
                      <m:num>
                        <m:sSub>
                          <m:sSubPr>
                            <m:ctrlPr>
                              <a:rPr lang="de-AT" sz="1600" i="1" smtClean="0">
                                <a:solidFill>
                                  <a:schemeClr val="accent4">
                                    <a:lumMod val="75000"/>
                                  </a:schemeClr>
                                </a:solidFill>
                                <a:latin typeface="Cambria Math" panose="02040503050406030204" pitchFamily="18" charset="0"/>
                              </a:rPr>
                            </m:ctrlPr>
                          </m:sSubPr>
                          <m:e>
                            <m:r>
                              <m:rPr>
                                <m:sty m:val="p"/>
                              </m:rPr>
                              <a:rPr lang="de-AT" sz="1600" b="0" i="0" smtClean="0">
                                <a:solidFill>
                                  <a:schemeClr val="accent4">
                                    <a:lumMod val="75000"/>
                                  </a:schemeClr>
                                </a:solidFill>
                                <a:latin typeface="Cambria Math" panose="02040503050406030204" pitchFamily="18" charset="0"/>
                              </a:rPr>
                              <m:t>CO</m:t>
                            </m:r>
                          </m:e>
                          <m:sub>
                            <m:r>
                              <a:rPr lang="de-AT" sz="1600" b="0" i="0" smtClean="0">
                                <a:solidFill>
                                  <a:schemeClr val="accent4">
                                    <a:lumMod val="75000"/>
                                  </a:schemeClr>
                                </a:solidFill>
                                <a:latin typeface="Cambria Math" panose="02040503050406030204" pitchFamily="18" charset="0"/>
                              </a:rPr>
                              <m:t>2,</m:t>
                            </m:r>
                            <m:r>
                              <m:rPr>
                                <m:sty m:val="p"/>
                              </m:rPr>
                              <a:rPr lang="de-AT" sz="1600" b="0" i="0" smtClean="0">
                                <a:solidFill>
                                  <a:schemeClr val="accent4">
                                    <a:lumMod val="75000"/>
                                  </a:schemeClr>
                                </a:solidFill>
                                <a:latin typeface="Cambria Math" panose="02040503050406030204" pitchFamily="18" charset="0"/>
                              </a:rPr>
                              <m:t>ref</m:t>
                            </m:r>
                            <m:d>
                              <m:dPr>
                                <m:ctrlPr>
                                  <a:rPr lang="de-AT" sz="1600" i="1" smtClean="0">
                                    <a:solidFill>
                                      <a:schemeClr val="accent4">
                                        <a:lumMod val="75000"/>
                                      </a:schemeClr>
                                    </a:solidFill>
                                    <a:latin typeface="Cambria Math" panose="02040503050406030204" pitchFamily="18" charset="0"/>
                                  </a:rPr>
                                </m:ctrlPr>
                              </m:dPr>
                              <m:e>
                                <m:r>
                                  <m:rPr>
                                    <m:sty m:val="p"/>
                                  </m:rPr>
                                  <a:rPr lang="de-AT" sz="1600" b="0" i="0" smtClean="0">
                                    <a:solidFill>
                                      <a:schemeClr val="accent4">
                                        <a:lumMod val="75000"/>
                                      </a:schemeClr>
                                    </a:solidFill>
                                    <a:latin typeface="Cambria Math" panose="02040503050406030204" pitchFamily="18" charset="0"/>
                                  </a:rPr>
                                  <m:t>S</m:t>
                                </m:r>
                              </m:e>
                            </m:d>
                            <m:r>
                              <m:rPr>
                                <m:sty m:val="p"/>
                              </m:rPr>
                              <a:rPr lang="de-AT" sz="1600" b="0" i="0" smtClean="0">
                                <a:solidFill>
                                  <a:schemeClr val="accent4">
                                    <a:lumMod val="75000"/>
                                  </a:schemeClr>
                                </a:solidFill>
                                <a:latin typeface="Cambria Math" panose="02040503050406030204" pitchFamily="18" charset="0"/>
                              </a:rPr>
                              <m:t>T</m:t>
                            </m:r>
                          </m:sub>
                        </m:sSub>
                      </m:num>
                      <m:den>
                        <m:sSub>
                          <m:sSubPr>
                            <m:ctrlPr>
                              <a:rPr lang="de-AT" sz="1600" i="1">
                                <a:solidFill>
                                  <a:schemeClr val="accent4">
                                    <a:lumMod val="75000"/>
                                  </a:schemeClr>
                                </a:solidFill>
                                <a:latin typeface="Cambria Math" panose="02040503050406030204" pitchFamily="18" charset="0"/>
                              </a:rPr>
                            </m:ctrlPr>
                          </m:sSubPr>
                          <m:e>
                            <m:r>
                              <m:rPr>
                                <m:sty m:val="p"/>
                              </m:rPr>
                              <a:rPr lang="de-AT" sz="1600" b="0" i="0">
                                <a:solidFill>
                                  <a:schemeClr val="accent4">
                                    <a:lumMod val="75000"/>
                                  </a:schemeClr>
                                </a:solidFill>
                                <a:latin typeface="Cambria Math" panose="02040503050406030204" pitchFamily="18" charset="0"/>
                              </a:rPr>
                              <m:t>CO</m:t>
                            </m:r>
                          </m:e>
                          <m:sub>
                            <m:r>
                              <a:rPr lang="de-AT" sz="1600" b="0" i="0">
                                <a:solidFill>
                                  <a:schemeClr val="accent4">
                                    <a:lumMod val="75000"/>
                                  </a:schemeClr>
                                </a:solidFill>
                                <a:latin typeface="Cambria Math" panose="02040503050406030204" pitchFamily="18" charset="0"/>
                              </a:rPr>
                              <m:t>2,</m:t>
                            </m:r>
                            <m:r>
                              <m:rPr>
                                <m:sty m:val="p"/>
                              </m:rPr>
                              <a:rPr lang="de-AT" sz="1600" b="0" i="0" smtClean="0">
                                <a:solidFill>
                                  <a:schemeClr val="accent4">
                                    <a:lumMod val="75000"/>
                                  </a:schemeClr>
                                </a:solidFill>
                                <a:latin typeface="Cambria Math" panose="02040503050406030204" pitchFamily="18" charset="0"/>
                              </a:rPr>
                              <m:t>stand</m:t>
                            </m:r>
                            <m:d>
                              <m:dPr>
                                <m:ctrlPr>
                                  <a:rPr lang="de-AT" sz="1600" i="1">
                                    <a:solidFill>
                                      <a:schemeClr val="accent4">
                                        <a:lumMod val="75000"/>
                                      </a:schemeClr>
                                    </a:solidFill>
                                    <a:latin typeface="Cambria Math" panose="02040503050406030204" pitchFamily="18" charset="0"/>
                                  </a:rPr>
                                </m:ctrlPr>
                              </m:dPr>
                              <m:e>
                                <m:r>
                                  <m:rPr>
                                    <m:sty m:val="p"/>
                                  </m:rPr>
                                  <a:rPr lang="de-AT" sz="1600" b="0" i="0">
                                    <a:solidFill>
                                      <a:schemeClr val="accent4">
                                        <a:lumMod val="75000"/>
                                      </a:schemeClr>
                                    </a:solidFill>
                                    <a:latin typeface="Cambria Math" panose="02040503050406030204" pitchFamily="18" charset="0"/>
                                  </a:rPr>
                                  <m:t>S</m:t>
                                </m:r>
                              </m:e>
                            </m:d>
                            <m:r>
                              <m:rPr>
                                <m:sty m:val="p"/>
                              </m:rPr>
                              <a:rPr lang="de-AT" sz="1600" b="0" i="0">
                                <a:solidFill>
                                  <a:schemeClr val="accent4">
                                    <a:lumMod val="75000"/>
                                  </a:schemeClr>
                                </a:solidFill>
                                <a:latin typeface="Cambria Math" panose="02040503050406030204" pitchFamily="18" charset="0"/>
                              </a:rPr>
                              <m:t>T</m:t>
                            </m:r>
                          </m:sub>
                        </m:sSub>
                      </m:den>
                    </m:f>
                    <m:r>
                      <a:rPr lang="de-AT" sz="1600" b="0" i="0" smtClean="0">
                        <a:solidFill>
                          <a:schemeClr val="accent4">
                            <a:lumMod val="75000"/>
                          </a:schemeClr>
                        </a:solidFill>
                        <a:latin typeface="Cambria Math" panose="02040503050406030204" pitchFamily="18" charset="0"/>
                      </a:rPr>
                      <m:t>∗</m:t>
                    </m:r>
                  </m:oMath>
                </a14:m>
                <a:r>
                  <a:rPr lang="de-AT" sz="1600" dirty="0">
                    <a:solidFill>
                      <a:schemeClr val="accent4">
                        <a:lumMod val="75000"/>
                      </a:schemeClr>
                    </a:solidFill>
                  </a:rPr>
                  <a:t> </a:t>
                </a:r>
                <a14:m>
                  <m:oMath xmlns:m="http://schemas.openxmlformats.org/officeDocument/2006/math">
                    <m:f>
                      <m:fPr>
                        <m:ctrlPr>
                          <a:rPr lang="de-AT" sz="1600" i="1">
                            <a:solidFill>
                              <a:schemeClr val="accent4">
                                <a:lumMod val="75000"/>
                              </a:schemeClr>
                            </a:solidFill>
                            <a:latin typeface="Cambria Math" panose="02040503050406030204" pitchFamily="18" charset="0"/>
                          </a:rPr>
                        </m:ctrlPr>
                      </m:fPr>
                      <m:num>
                        <m:sSub>
                          <m:sSubPr>
                            <m:ctrlPr>
                              <a:rPr lang="de-AT" sz="1600" i="1">
                                <a:solidFill>
                                  <a:schemeClr val="accent4">
                                    <a:lumMod val="75000"/>
                                  </a:schemeClr>
                                </a:solidFill>
                                <a:latin typeface="Cambria Math" panose="02040503050406030204" pitchFamily="18" charset="0"/>
                              </a:rPr>
                            </m:ctrlPr>
                          </m:sSubPr>
                          <m:e>
                            <m:r>
                              <m:rPr>
                                <m:sty m:val="p"/>
                              </m:rPr>
                              <a:rPr lang="de-AT" sz="1600" b="0" i="0">
                                <a:solidFill>
                                  <a:schemeClr val="accent4">
                                    <a:lumMod val="75000"/>
                                  </a:schemeClr>
                                </a:solidFill>
                                <a:latin typeface="Cambria Math" panose="02040503050406030204" pitchFamily="18" charset="0"/>
                              </a:rPr>
                              <m:t>CO</m:t>
                            </m:r>
                          </m:e>
                          <m:sub>
                            <m:r>
                              <a:rPr lang="de-AT" sz="1600" b="0" i="0">
                                <a:solidFill>
                                  <a:schemeClr val="accent4">
                                    <a:lumMod val="75000"/>
                                  </a:schemeClr>
                                </a:solidFill>
                                <a:latin typeface="Cambria Math" panose="02040503050406030204" pitchFamily="18" charset="0"/>
                              </a:rPr>
                              <m:t>2,</m:t>
                            </m:r>
                            <m:r>
                              <m:rPr>
                                <m:sty m:val="p"/>
                              </m:rPr>
                              <a:rPr lang="de-AT" sz="1600" b="0" i="0" smtClean="0">
                                <a:solidFill>
                                  <a:schemeClr val="accent4">
                                    <a:lumMod val="75000"/>
                                  </a:schemeClr>
                                </a:solidFill>
                                <a:latin typeface="Cambria Math" panose="02040503050406030204" pitchFamily="18" charset="0"/>
                              </a:rPr>
                              <m:t>spec</m:t>
                            </m:r>
                            <m:d>
                              <m:dPr>
                                <m:ctrlPr>
                                  <a:rPr lang="de-AT" sz="1600" i="1">
                                    <a:solidFill>
                                      <a:schemeClr val="accent4">
                                        <a:lumMod val="75000"/>
                                      </a:schemeClr>
                                    </a:solidFill>
                                    <a:latin typeface="Cambria Math" panose="02040503050406030204" pitchFamily="18" charset="0"/>
                                  </a:rPr>
                                </m:ctrlPr>
                              </m:dPr>
                              <m:e>
                                <m:r>
                                  <m:rPr>
                                    <m:sty m:val="p"/>
                                  </m:rPr>
                                  <a:rPr lang="de-AT" sz="1600" b="0" i="0">
                                    <a:solidFill>
                                      <a:schemeClr val="accent4">
                                        <a:lumMod val="75000"/>
                                      </a:schemeClr>
                                    </a:solidFill>
                                    <a:latin typeface="Cambria Math" panose="02040503050406030204" pitchFamily="18" charset="0"/>
                                  </a:rPr>
                                  <m:t>S</m:t>
                                </m:r>
                              </m:e>
                            </m:d>
                            <m:r>
                              <m:rPr>
                                <m:sty m:val="p"/>
                              </m:rPr>
                              <a:rPr lang="de-AT" sz="1600" b="0" i="0">
                                <a:solidFill>
                                  <a:schemeClr val="accent4">
                                    <a:lumMod val="75000"/>
                                  </a:schemeClr>
                                </a:solidFill>
                                <a:latin typeface="Cambria Math" panose="02040503050406030204" pitchFamily="18" charset="0"/>
                              </a:rPr>
                              <m:t>T</m:t>
                            </m:r>
                          </m:sub>
                        </m:sSub>
                      </m:num>
                      <m:den>
                        <m:sSub>
                          <m:sSubPr>
                            <m:ctrlPr>
                              <a:rPr lang="de-AT" sz="1600" i="1">
                                <a:solidFill>
                                  <a:schemeClr val="accent4">
                                    <a:lumMod val="75000"/>
                                  </a:schemeClr>
                                </a:solidFill>
                                <a:latin typeface="Cambria Math" panose="02040503050406030204" pitchFamily="18" charset="0"/>
                              </a:rPr>
                            </m:ctrlPr>
                          </m:sSubPr>
                          <m:e>
                            <m:r>
                              <m:rPr>
                                <m:sty m:val="p"/>
                              </m:rPr>
                              <a:rPr lang="de-AT" sz="1600" b="0" i="0">
                                <a:solidFill>
                                  <a:schemeClr val="accent4">
                                    <a:lumMod val="75000"/>
                                  </a:schemeClr>
                                </a:solidFill>
                                <a:latin typeface="Cambria Math" panose="02040503050406030204" pitchFamily="18" charset="0"/>
                              </a:rPr>
                              <m:t>CO</m:t>
                            </m:r>
                          </m:e>
                          <m:sub>
                            <m:r>
                              <a:rPr lang="de-AT" sz="1600" b="0" i="0">
                                <a:solidFill>
                                  <a:schemeClr val="accent4">
                                    <a:lumMod val="75000"/>
                                  </a:schemeClr>
                                </a:solidFill>
                                <a:latin typeface="Cambria Math" panose="02040503050406030204" pitchFamily="18" charset="0"/>
                              </a:rPr>
                              <m:t>2,</m:t>
                            </m:r>
                            <m:r>
                              <m:rPr>
                                <m:sty m:val="p"/>
                              </m:rPr>
                              <a:rPr lang="de-AT" sz="1600" b="0" i="0" smtClean="0">
                                <a:solidFill>
                                  <a:schemeClr val="accent4">
                                    <a:lumMod val="75000"/>
                                  </a:schemeClr>
                                </a:solidFill>
                                <a:latin typeface="Cambria Math" panose="02040503050406030204" pitchFamily="18" charset="0"/>
                              </a:rPr>
                              <m:t>ref</m:t>
                            </m:r>
                            <m:d>
                              <m:dPr>
                                <m:ctrlPr>
                                  <a:rPr lang="de-AT" sz="1600" i="1">
                                    <a:solidFill>
                                      <a:schemeClr val="accent4">
                                        <a:lumMod val="75000"/>
                                      </a:schemeClr>
                                    </a:solidFill>
                                    <a:latin typeface="Cambria Math" panose="02040503050406030204" pitchFamily="18" charset="0"/>
                                  </a:rPr>
                                </m:ctrlPr>
                              </m:dPr>
                              <m:e>
                                <m:r>
                                  <m:rPr>
                                    <m:sty m:val="p"/>
                                  </m:rPr>
                                  <a:rPr lang="de-AT" sz="1600" b="0" i="0">
                                    <a:solidFill>
                                      <a:schemeClr val="accent4">
                                        <a:lumMod val="75000"/>
                                      </a:schemeClr>
                                    </a:solidFill>
                                    <a:latin typeface="Cambria Math" panose="02040503050406030204" pitchFamily="18" charset="0"/>
                                  </a:rPr>
                                  <m:t>S</m:t>
                                </m:r>
                              </m:e>
                            </m:d>
                            <m:r>
                              <m:rPr>
                                <m:sty m:val="p"/>
                              </m:rPr>
                              <a:rPr lang="de-AT" sz="1600" b="0" i="0">
                                <a:solidFill>
                                  <a:schemeClr val="accent4">
                                    <a:lumMod val="75000"/>
                                  </a:schemeClr>
                                </a:solidFill>
                                <a:latin typeface="Cambria Math" panose="02040503050406030204" pitchFamily="18" charset="0"/>
                              </a:rPr>
                              <m:t>T</m:t>
                            </m:r>
                          </m:sub>
                        </m:sSub>
                      </m:den>
                    </m:f>
                  </m:oMath>
                </a14:m>
                <a:endParaRPr lang="de-AT" sz="1600" dirty="0"/>
              </a:p>
            </p:txBody>
          </p:sp>
        </mc:Choice>
        <mc:Fallback xmlns="">
          <p:sp>
            <p:nvSpPr>
              <p:cNvPr id="25" name="Textfeld 24">
                <a:extLst>
                  <a:ext uri="{FF2B5EF4-FFF2-40B4-BE49-F238E27FC236}">
                    <a16:creationId xmlns:a16="http://schemas.microsoft.com/office/drawing/2014/main" id="{9F2C8862-F5AA-4AFF-80CE-72C1AA442533}"/>
                  </a:ext>
                </a:extLst>
              </p:cNvPr>
              <p:cNvSpPr txBox="1">
                <a:spLocks noRot="1" noChangeAspect="1" noMove="1" noResize="1" noEditPoints="1" noAdjustHandles="1" noChangeArrowheads="1" noChangeShapeType="1" noTextEdit="1"/>
              </p:cNvSpPr>
              <p:nvPr/>
            </p:nvSpPr>
            <p:spPr>
              <a:xfrm>
                <a:off x="1115760" y="2743014"/>
                <a:ext cx="5163850" cy="438133"/>
              </a:xfrm>
              <a:prstGeom prst="rect">
                <a:avLst/>
              </a:prstGeom>
              <a:blipFill>
                <a:blip r:embed="rId6"/>
                <a:stretch>
                  <a:fillRect l="-1299" b="-4167"/>
                </a:stretch>
              </a:blipFill>
            </p:spPr>
            <p:txBody>
              <a:bodyPr/>
              <a:lstStyle/>
              <a:p>
                <a:r>
                  <a:rPr lang="en-GB">
                    <a:noFill/>
                  </a:rPr>
                  <a:t> </a:t>
                </a:r>
              </a:p>
            </p:txBody>
          </p:sp>
        </mc:Fallback>
      </mc:AlternateContent>
      <p:cxnSp>
        <p:nvCxnSpPr>
          <p:cNvPr id="30" name="Gerader Verbinder 29"/>
          <p:cNvCxnSpPr/>
          <p:nvPr/>
        </p:nvCxnSpPr>
        <p:spPr>
          <a:xfrm flipV="1">
            <a:off x="4139952" y="2722407"/>
            <a:ext cx="1019743" cy="1629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Gerader Verbinder 32"/>
          <p:cNvCxnSpPr/>
          <p:nvPr/>
        </p:nvCxnSpPr>
        <p:spPr>
          <a:xfrm flipV="1">
            <a:off x="5237685" y="2974342"/>
            <a:ext cx="918491" cy="1458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hteck 37"/>
          <p:cNvSpPr/>
          <p:nvPr/>
        </p:nvSpPr>
        <p:spPr>
          <a:xfrm>
            <a:off x="626451" y="3457222"/>
            <a:ext cx="6081036" cy="105874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39" name="Textfeld 38"/>
          <p:cNvSpPr txBox="1"/>
          <p:nvPr/>
        </p:nvSpPr>
        <p:spPr>
          <a:xfrm>
            <a:off x="802831" y="3931190"/>
            <a:ext cx="1512168" cy="461665"/>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800" dirty="0"/>
              <a:t>For the specific vehicle combination</a:t>
            </a:r>
            <a:br>
              <a:rPr lang="en-GB" sz="800" dirty="0"/>
            </a:br>
            <a:r>
              <a:rPr lang="en-GB" sz="800" dirty="0"/>
              <a:t>Units: lit./100km; g/km</a:t>
            </a:r>
          </a:p>
        </p:txBody>
      </p:sp>
      <p:sp>
        <p:nvSpPr>
          <p:cNvPr id="40" name="Textfeld 39"/>
          <p:cNvSpPr txBox="1"/>
          <p:nvPr/>
        </p:nvSpPr>
        <p:spPr>
          <a:xfrm>
            <a:off x="2346138" y="3931190"/>
            <a:ext cx="1649942" cy="584775"/>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800" dirty="0"/>
              <a:t>VECTO result for the specific towing vehicle and standard (semi-)trailer</a:t>
            </a:r>
            <a:br>
              <a:rPr lang="en-GB" sz="800" dirty="0"/>
            </a:br>
            <a:r>
              <a:rPr lang="en-GB" sz="800" dirty="0"/>
              <a:t>Units: lit./100km; g/km</a:t>
            </a:r>
          </a:p>
        </p:txBody>
      </p:sp>
      <mc:AlternateContent xmlns:mc="http://schemas.openxmlformats.org/markup-compatibility/2006" xmlns:a14="http://schemas.microsoft.com/office/drawing/2010/main">
        <mc:Choice Requires="a14">
          <p:sp>
            <p:nvSpPr>
              <p:cNvPr id="42" name="Textfeld 41">
                <a:extLst>
                  <a:ext uri="{FF2B5EF4-FFF2-40B4-BE49-F238E27FC236}">
                    <a16:creationId xmlns:a16="http://schemas.microsoft.com/office/drawing/2014/main" id="{9F2C8862-F5AA-4AFF-80CE-72C1AA442533}"/>
                  </a:ext>
                </a:extLst>
              </p:cNvPr>
              <p:cNvSpPr txBox="1"/>
              <p:nvPr/>
            </p:nvSpPr>
            <p:spPr>
              <a:xfrm>
                <a:off x="1115760" y="3528492"/>
                <a:ext cx="4130683" cy="433965"/>
              </a:xfrm>
              <a:prstGeom prst="rect">
                <a:avLst/>
              </a:prstGeom>
              <a:noFill/>
            </p:spPr>
            <p:txBody>
              <a:bodyPr wrap="none" lIns="0" tIns="0" rIns="0" bIns="0" rtlCol="0">
                <a:spAutoFit/>
              </a:bodyPr>
              <a:lstStyle/>
              <a:p>
                <a14:m>
                  <m:oMath xmlns:m="http://schemas.openxmlformats.org/officeDocument/2006/math">
                    <m:r>
                      <m:rPr>
                        <m:sty m:val="p"/>
                      </m:rPr>
                      <a:rPr lang="de-AT" sz="1600" b="0" i="0" smtClean="0">
                        <a:solidFill>
                          <a:schemeClr val="accent4">
                            <a:lumMod val="75000"/>
                          </a:schemeClr>
                        </a:solidFill>
                        <a:latin typeface="Cambria Math" panose="02040503050406030204" pitchFamily="18" charset="0"/>
                      </a:rPr>
                      <m:t>FC</m:t>
                    </m:r>
                    <m:r>
                      <a:rPr lang="de-AT" sz="1600" b="0" i="0" smtClean="0">
                        <a:solidFill>
                          <a:schemeClr val="accent4">
                            <a:lumMod val="75000"/>
                          </a:schemeClr>
                        </a:solidFill>
                        <a:latin typeface="Cambria Math" panose="02040503050406030204" pitchFamily="18" charset="0"/>
                      </a:rPr>
                      <m:t> </m:t>
                    </m:r>
                    <m:r>
                      <m:rPr>
                        <m:sty m:val="p"/>
                      </m:rPr>
                      <a:rPr lang="de-AT" sz="1600" b="0" i="0" smtClean="0">
                        <a:solidFill>
                          <a:schemeClr val="accent4">
                            <a:lumMod val="75000"/>
                          </a:schemeClr>
                        </a:solidFill>
                        <a:latin typeface="Cambria Math" panose="02040503050406030204" pitchFamily="18" charset="0"/>
                      </a:rPr>
                      <m:t>or</m:t>
                    </m:r>
                    <m:r>
                      <a:rPr lang="de-AT" sz="1600" b="0" i="0" smtClean="0">
                        <a:solidFill>
                          <a:schemeClr val="accent4">
                            <a:lumMod val="75000"/>
                          </a:schemeClr>
                        </a:solidFill>
                        <a:latin typeface="Cambria Math" panose="02040503050406030204" pitchFamily="18" charset="0"/>
                      </a:rPr>
                      <m:t> </m:t>
                    </m:r>
                    <m:sSub>
                      <m:sSubPr>
                        <m:ctrlPr>
                          <a:rPr lang="de-AT" sz="1600" i="1" smtClean="0">
                            <a:solidFill>
                              <a:schemeClr val="accent4">
                                <a:lumMod val="75000"/>
                              </a:schemeClr>
                            </a:solidFill>
                            <a:latin typeface="Cambria Math" panose="02040503050406030204" pitchFamily="18" charset="0"/>
                          </a:rPr>
                        </m:ctrlPr>
                      </m:sSubPr>
                      <m:e>
                        <m:r>
                          <m:rPr>
                            <m:sty m:val="p"/>
                          </m:rPr>
                          <a:rPr lang="de-AT" sz="1600" b="0" i="0" smtClean="0">
                            <a:solidFill>
                              <a:schemeClr val="accent4">
                                <a:lumMod val="75000"/>
                              </a:schemeClr>
                            </a:solidFill>
                            <a:latin typeface="Cambria Math" panose="02040503050406030204" pitchFamily="18" charset="0"/>
                          </a:rPr>
                          <m:t>CO</m:t>
                        </m:r>
                      </m:e>
                      <m:sub>
                        <m:r>
                          <a:rPr lang="de-AT" sz="1600" b="0" i="0" smtClean="0">
                            <a:solidFill>
                              <a:schemeClr val="accent4">
                                <a:lumMod val="75000"/>
                              </a:schemeClr>
                            </a:solidFill>
                            <a:latin typeface="Cambria Math" panose="02040503050406030204" pitchFamily="18" charset="0"/>
                          </a:rPr>
                          <m:t>2</m:t>
                        </m:r>
                      </m:sub>
                    </m:sSub>
                    <m:r>
                      <a:rPr lang="de-AT" sz="1600" b="0" i="0" smtClean="0">
                        <a:solidFill>
                          <a:schemeClr val="accent4">
                            <a:lumMod val="75000"/>
                          </a:schemeClr>
                        </a:solidFill>
                        <a:latin typeface="Cambria Math" panose="02040503050406030204" pitchFamily="18" charset="0"/>
                      </a:rPr>
                      <m:t>      =      </m:t>
                    </m:r>
                    <m:r>
                      <m:rPr>
                        <m:sty m:val="p"/>
                      </m:rPr>
                      <a:rPr lang="de-AT" sz="1600" b="0" i="0" smtClean="0">
                        <a:solidFill>
                          <a:schemeClr val="accent4">
                            <a:lumMod val="75000"/>
                          </a:schemeClr>
                        </a:solidFill>
                        <a:latin typeface="Cambria Math" panose="02040503050406030204" pitchFamily="18" charset="0"/>
                      </a:rPr>
                      <m:t>FC</m:t>
                    </m:r>
                    <m:r>
                      <a:rPr lang="de-AT" sz="1600" b="0" i="0" smtClean="0">
                        <a:solidFill>
                          <a:schemeClr val="accent4">
                            <a:lumMod val="75000"/>
                          </a:schemeClr>
                        </a:solidFill>
                        <a:latin typeface="Cambria Math" panose="02040503050406030204" pitchFamily="18" charset="0"/>
                      </a:rPr>
                      <m:t> </m:t>
                    </m:r>
                    <m:r>
                      <m:rPr>
                        <m:sty m:val="p"/>
                      </m:rPr>
                      <a:rPr lang="de-AT" sz="1600" b="0" i="0" smtClean="0">
                        <a:solidFill>
                          <a:schemeClr val="accent4">
                            <a:lumMod val="75000"/>
                          </a:schemeClr>
                        </a:solidFill>
                        <a:latin typeface="Cambria Math" panose="02040503050406030204" pitchFamily="18" charset="0"/>
                      </a:rPr>
                      <m:t>or</m:t>
                    </m:r>
                    <m:r>
                      <a:rPr lang="de-AT" sz="1600" b="0" i="0" smtClean="0">
                        <a:solidFill>
                          <a:schemeClr val="accent4">
                            <a:lumMod val="75000"/>
                          </a:schemeClr>
                        </a:solidFill>
                        <a:latin typeface="Cambria Math" panose="02040503050406030204" pitchFamily="18" charset="0"/>
                      </a:rPr>
                      <m:t> </m:t>
                    </m:r>
                    <m:sSub>
                      <m:sSubPr>
                        <m:ctrlPr>
                          <a:rPr lang="de-AT" sz="1600" i="1" smtClean="0">
                            <a:solidFill>
                              <a:schemeClr val="accent4">
                                <a:lumMod val="75000"/>
                              </a:schemeClr>
                            </a:solidFill>
                            <a:latin typeface="Cambria Math" panose="02040503050406030204" pitchFamily="18" charset="0"/>
                          </a:rPr>
                        </m:ctrlPr>
                      </m:sSubPr>
                      <m:e>
                        <m:r>
                          <m:rPr>
                            <m:sty m:val="p"/>
                          </m:rPr>
                          <a:rPr lang="de-AT" sz="1600" b="0" i="0" smtClean="0">
                            <a:solidFill>
                              <a:schemeClr val="accent4">
                                <a:lumMod val="75000"/>
                              </a:schemeClr>
                            </a:solidFill>
                            <a:latin typeface="Cambria Math" panose="02040503050406030204" pitchFamily="18" charset="0"/>
                          </a:rPr>
                          <m:t>CO</m:t>
                        </m:r>
                      </m:e>
                      <m:sub>
                        <m:r>
                          <a:rPr lang="de-AT" sz="1600" b="0" i="0" smtClean="0">
                            <a:solidFill>
                              <a:schemeClr val="accent4">
                                <a:lumMod val="75000"/>
                              </a:schemeClr>
                            </a:solidFill>
                            <a:latin typeface="Cambria Math" panose="02040503050406030204" pitchFamily="18" charset="0"/>
                          </a:rPr>
                          <m:t>2     </m:t>
                        </m:r>
                      </m:sub>
                    </m:sSub>
                    <m:r>
                      <a:rPr lang="de-AT" sz="1600" b="0" i="0" smtClean="0">
                        <a:solidFill>
                          <a:schemeClr val="accent4">
                            <a:lumMod val="75000"/>
                          </a:schemeClr>
                        </a:solidFill>
                        <a:latin typeface="Cambria Math" panose="02040503050406030204" pitchFamily="18" charset="0"/>
                      </a:rPr>
                      <m:t>∗     </m:t>
                    </m:r>
                  </m:oMath>
                </a14:m>
                <a:r>
                  <a:rPr lang="de-AT" sz="1600" dirty="0">
                    <a:solidFill>
                      <a:schemeClr val="accent4">
                        <a:lumMod val="75000"/>
                      </a:schemeClr>
                    </a:solidFill>
                  </a:rPr>
                  <a:t> </a:t>
                </a:r>
                <a14:m>
                  <m:oMath xmlns:m="http://schemas.openxmlformats.org/officeDocument/2006/math">
                    <m:f>
                      <m:fPr>
                        <m:ctrlPr>
                          <a:rPr lang="de-AT" sz="1600" i="1">
                            <a:solidFill>
                              <a:schemeClr val="accent4">
                                <a:lumMod val="75000"/>
                              </a:schemeClr>
                            </a:solidFill>
                            <a:latin typeface="Cambria Math" panose="02040503050406030204" pitchFamily="18" charset="0"/>
                          </a:rPr>
                        </m:ctrlPr>
                      </m:fPr>
                      <m:num>
                        <m:sSub>
                          <m:sSubPr>
                            <m:ctrlPr>
                              <a:rPr lang="de-AT" sz="1600" i="1">
                                <a:solidFill>
                                  <a:schemeClr val="accent4">
                                    <a:lumMod val="75000"/>
                                  </a:schemeClr>
                                </a:solidFill>
                                <a:latin typeface="Cambria Math" panose="02040503050406030204" pitchFamily="18" charset="0"/>
                              </a:rPr>
                            </m:ctrlPr>
                          </m:sSubPr>
                          <m:e>
                            <m:r>
                              <m:rPr>
                                <m:sty m:val="p"/>
                              </m:rPr>
                              <a:rPr lang="de-AT" sz="1600" b="0" i="0">
                                <a:solidFill>
                                  <a:schemeClr val="accent4">
                                    <a:lumMod val="75000"/>
                                  </a:schemeClr>
                                </a:solidFill>
                                <a:latin typeface="Cambria Math" panose="02040503050406030204" pitchFamily="18" charset="0"/>
                              </a:rPr>
                              <m:t>CO</m:t>
                            </m:r>
                          </m:e>
                          <m:sub>
                            <m:r>
                              <a:rPr lang="de-AT" sz="1600" b="0" i="0">
                                <a:solidFill>
                                  <a:schemeClr val="accent4">
                                    <a:lumMod val="75000"/>
                                  </a:schemeClr>
                                </a:solidFill>
                                <a:latin typeface="Cambria Math" panose="02040503050406030204" pitchFamily="18" charset="0"/>
                              </a:rPr>
                              <m:t>2,</m:t>
                            </m:r>
                            <m:r>
                              <m:rPr>
                                <m:sty m:val="p"/>
                              </m:rPr>
                              <a:rPr lang="de-AT" sz="1600" b="0" i="0" smtClean="0">
                                <a:solidFill>
                                  <a:schemeClr val="accent4">
                                    <a:lumMod val="75000"/>
                                  </a:schemeClr>
                                </a:solidFill>
                                <a:latin typeface="Cambria Math" panose="02040503050406030204" pitchFamily="18" charset="0"/>
                              </a:rPr>
                              <m:t>spec</m:t>
                            </m:r>
                            <m:d>
                              <m:dPr>
                                <m:ctrlPr>
                                  <a:rPr lang="de-AT" sz="1600" i="1">
                                    <a:solidFill>
                                      <a:schemeClr val="accent4">
                                        <a:lumMod val="75000"/>
                                      </a:schemeClr>
                                    </a:solidFill>
                                    <a:latin typeface="Cambria Math" panose="02040503050406030204" pitchFamily="18" charset="0"/>
                                  </a:rPr>
                                </m:ctrlPr>
                              </m:dPr>
                              <m:e>
                                <m:r>
                                  <m:rPr>
                                    <m:sty m:val="p"/>
                                  </m:rPr>
                                  <a:rPr lang="de-AT" sz="1600" b="0" i="0">
                                    <a:solidFill>
                                      <a:schemeClr val="accent4">
                                        <a:lumMod val="75000"/>
                                      </a:schemeClr>
                                    </a:solidFill>
                                    <a:latin typeface="Cambria Math" panose="02040503050406030204" pitchFamily="18" charset="0"/>
                                  </a:rPr>
                                  <m:t>S</m:t>
                                </m:r>
                              </m:e>
                            </m:d>
                            <m:r>
                              <m:rPr>
                                <m:sty m:val="p"/>
                              </m:rPr>
                              <a:rPr lang="de-AT" sz="1600" b="0" i="0">
                                <a:solidFill>
                                  <a:schemeClr val="accent4">
                                    <a:lumMod val="75000"/>
                                  </a:schemeClr>
                                </a:solidFill>
                                <a:latin typeface="Cambria Math" panose="02040503050406030204" pitchFamily="18" charset="0"/>
                              </a:rPr>
                              <m:t>T</m:t>
                            </m:r>
                          </m:sub>
                        </m:sSub>
                      </m:num>
                      <m:den>
                        <m:sSub>
                          <m:sSubPr>
                            <m:ctrlPr>
                              <a:rPr lang="de-AT" sz="1600" i="1">
                                <a:solidFill>
                                  <a:schemeClr val="accent4">
                                    <a:lumMod val="75000"/>
                                  </a:schemeClr>
                                </a:solidFill>
                                <a:latin typeface="Cambria Math" panose="02040503050406030204" pitchFamily="18" charset="0"/>
                              </a:rPr>
                            </m:ctrlPr>
                          </m:sSubPr>
                          <m:e>
                            <m:r>
                              <m:rPr>
                                <m:sty m:val="p"/>
                              </m:rPr>
                              <a:rPr lang="de-AT" sz="1600" b="0" i="0">
                                <a:solidFill>
                                  <a:schemeClr val="accent4">
                                    <a:lumMod val="75000"/>
                                  </a:schemeClr>
                                </a:solidFill>
                                <a:latin typeface="Cambria Math" panose="02040503050406030204" pitchFamily="18" charset="0"/>
                              </a:rPr>
                              <m:t>CO</m:t>
                            </m:r>
                          </m:e>
                          <m:sub>
                            <m:r>
                              <a:rPr lang="de-AT" sz="1600" b="0" i="0">
                                <a:solidFill>
                                  <a:schemeClr val="accent4">
                                    <a:lumMod val="75000"/>
                                  </a:schemeClr>
                                </a:solidFill>
                                <a:latin typeface="Cambria Math" panose="02040503050406030204" pitchFamily="18" charset="0"/>
                              </a:rPr>
                              <m:t>2,</m:t>
                            </m:r>
                            <m:r>
                              <m:rPr>
                                <m:sty m:val="p"/>
                              </m:rPr>
                              <a:rPr lang="de-AT" sz="1600" b="0" i="0" smtClean="0">
                                <a:solidFill>
                                  <a:schemeClr val="accent4">
                                    <a:lumMod val="75000"/>
                                  </a:schemeClr>
                                </a:solidFill>
                                <a:latin typeface="Cambria Math" panose="02040503050406030204" pitchFamily="18" charset="0"/>
                              </a:rPr>
                              <m:t>stand</m:t>
                            </m:r>
                            <m:d>
                              <m:dPr>
                                <m:ctrlPr>
                                  <a:rPr lang="de-AT" sz="1600" i="1">
                                    <a:solidFill>
                                      <a:schemeClr val="accent4">
                                        <a:lumMod val="75000"/>
                                      </a:schemeClr>
                                    </a:solidFill>
                                    <a:latin typeface="Cambria Math" panose="02040503050406030204" pitchFamily="18" charset="0"/>
                                  </a:rPr>
                                </m:ctrlPr>
                              </m:dPr>
                              <m:e>
                                <m:r>
                                  <m:rPr>
                                    <m:sty m:val="p"/>
                                  </m:rPr>
                                  <a:rPr lang="de-AT" sz="1600" b="0" i="0">
                                    <a:solidFill>
                                      <a:schemeClr val="accent4">
                                        <a:lumMod val="75000"/>
                                      </a:schemeClr>
                                    </a:solidFill>
                                    <a:latin typeface="Cambria Math" panose="02040503050406030204" pitchFamily="18" charset="0"/>
                                  </a:rPr>
                                  <m:t>S</m:t>
                                </m:r>
                              </m:e>
                            </m:d>
                            <m:r>
                              <m:rPr>
                                <m:sty m:val="p"/>
                              </m:rPr>
                              <a:rPr lang="de-AT" sz="1600" b="0" i="0">
                                <a:solidFill>
                                  <a:schemeClr val="accent4">
                                    <a:lumMod val="75000"/>
                                  </a:schemeClr>
                                </a:solidFill>
                                <a:latin typeface="Cambria Math" panose="02040503050406030204" pitchFamily="18" charset="0"/>
                              </a:rPr>
                              <m:t>T</m:t>
                            </m:r>
                          </m:sub>
                        </m:sSub>
                      </m:den>
                    </m:f>
                  </m:oMath>
                </a14:m>
                <a:endParaRPr lang="de-AT" sz="1600" dirty="0"/>
              </a:p>
            </p:txBody>
          </p:sp>
        </mc:Choice>
        <mc:Fallback xmlns="">
          <p:sp>
            <p:nvSpPr>
              <p:cNvPr id="42" name="Textfeld 41">
                <a:extLst>
                  <a:ext uri="{FF2B5EF4-FFF2-40B4-BE49-F238E27FC236}">
                    <a16:creationId xmlns:a16="http://schemas.microsoft.com/office/drawing/2014/main" id="{9F2C8862-F5AA-4AFF-80CE-72C1AA442533}"/>
                  </a:ext>
                </a:extLst>
              </p:cNvPr>
              <p:cNvSpPr txBox="1">
                <a:spLocks noRot="1" noChangeAspect="1" noMove="1" noResize="1" noEditPoints="1" noAdjustHandles="1" noChangeArrowheads="1" noChangeShapeType="1" noTextEdit="1"/>
              </p:cNvSpPr>
              <p:nvPr/>
            </p:nvSpPr>
            <p:spPr>
              <a:xfrm>
                <a:off x="1115760" y="3528492"/>
                <a:ext cx="4130683" cy="433965"/>
              </a:xfrm>
              <a:prstGeom prst="rect">
                <a:avLst/>
              </a:prstGeom>
              <a:blipFill>
                <a:blip r:embed="rId7"/>
                <a:stretch>
                  <a:fillRect l="-1622" b="-4225"/>
                </a:stretch>
              </a:blipFill>
            </p:spPr>
            <p:txBody>
              <a:bodyPr/>
              <a:lstStyle/>
              <a:p>
                <a:r>
                  <a:rPr lang="en-GB">
                    <a:noFill/>
                  </a:rPr>
                  <a:t> </a:t>
                </a:r>
              </a:p>
            </p:txBody>
          </p:sp>
        </mc:Fallback>
      </mc:AlternateContent>
      <p:sp>
        <p:nvSpPr>
          <p:cNvPr id="45" name="Pfeil nach unten 44"/>
          <p:cNvSpPr/>
          <p:nvPr/>
        </p:nvSpPr>
        <p:spPr>
          <a:xfrm>
            <a:off x="6575637" y="2016611"/>
            <a:ext cx="288032" cy="5470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Pfeil nach unten 45"/>
          <p:cNvSpPr/>
          <p:nvPr/>
        </p:nvSpPr>
        <p:spPr>
          <a:xfrm>
            <a:off x="6556365" y="3266413"/>
            <a:ext cx="288032" cy="3816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Flussdiagramm: Alternativer Prozess 46"/>
          <p:cNvSpPr/>
          <p:nvPr/>
        </p:nvSpPr>
        <p:spPr>
          <a:xfrm>
            <a:off x="4132990" y="3508829"/>
            <a:ext cx="1033905" cy="517531"/>
          </a:xfrm>
          <a:prstGeom prst="flowChartAlternateProcess">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C00000"/>
              </a:solidFill>
            </a:endParaRPr>
          </a:p>
        </p:txBody>
      </p:sp>
      <p:sp>
        <p:nvSpPr>
          <p:cNvPr id="48" name="Textfeld 47"/>
          <p:cNvSpPr txBox="1"/>
          <p:nvPr/>
        </p:nvSpPr>
        <p:spPr>
          <a:xfrm>
            <a:off x="4095492" y="4040330"/>
            <a:ext cx="2512582" cy="461665"/>
          </a:xfrm>
          <a:prstGeom prst="rect">
            <a:avLst/>
          </a:prstGeom>
          <a:noFill/>
        </p:spPr>
        <p:txBody>
          <a:bodyPr wrap="square" rtlCol="0">
            <a:spAutoFit/>
          </a:bodyPr>
          <a:lstStyle>
            <a:defPPr>
              <a:defRPr lang="en-US"/>
            </a:defPPr>
            <a:lvl1pPr algn="ctr">
              <a:defRPr>
                <a:solidFill>
                  <a:schemeClr val="accent4">
                    <a:lumMod val="75000"/>
                  </a:schemeClr>
                </a:solidFill>
                <a:latin typeface="Cambria Math" panose="02040503050406030204" pitchFamily="18" charset="0"/>
                <a:ea typeface="Cambria Math" panose="02040503050406030204" pitchFamily="18" charset="0"/>
              </a:defRPr>
            </a:lvl1pPr>
          </a:lstStyle>
          <a:p>
            <a:r>
              <a:rPr lang="en-GB" sz="800">
                <a:solidFill>
                  <a:srgbClr val="00B050"/>
                </a:solidFill>
              </a:rPr>
              <a:t>Correction factor, how much FC / CO2 of the specific towing vehicle changes as the specific trailer and not the standard trailer is coupled</a:t>
            </a:r>
            <a:endParaRPr lang="en-GB" sz="800" dirty="0">
              <a:solidFill>
                <a:srgbClr val="00B050"/>
              </a:solidFill>
            </a:endParaRPr>
          </a:p>
        </p:txBody>
      </p:sp>
      <p:sp>
        <p:nvSpPr>
          <p:cNvPr id="50" name="Textfeld 49"/>
          <p:cNvSpPr txBox="1"/>
          <p:nvPr/>
        </p:nvSpPr>
        <p:spPr>
          <a:xfrm>
            <a:off x="6806899" y="3686387"/>
            <a:ext cx="510712" cy="584775"/>
          </a:xfrm>
          <a:prstGeom prst="rect">
            <a:avLst/>
          </a:prstGeom>
          <a:noFill/>
        </p:spPr>
        <p:txBody>
          <a:bodyPr wrap="square" rtlCol="0">
            <a:spAutoFit/>
          </a:bodyPr>
          <a:lstStyle/>
          <a:p>
            <a:r>
              <a:rPr lang="en-GB" sz="3200">
                <a:solidFill>
                  <a:srgbClr val="00B050"/>
                </a:solidFill>
                <a:sym typeface="Wingdings" panose="05000000000000000000" pitchFamily="2" charset="2"/>
              </a:rPr>
              <a:t></a:t>
            </a:r>
            <a:endParaRPr lang="en-GB" sz="3200">
              <a:solidFill>
                <a:srgbClr val="00B050"/>
              </a:solidFill>
            </a:endParaRPr>
          </a:p>
        </p:txBody>
      </p:sp>
      <p:sp>
        <p:nvSpPr>
          <p:cNvPr id="3" name="Textfeld 2"/>
          <p:cNvSpPr txBox="1"/>
          <p:nvPr/>
        </p:nvSpPr>
        <p:spPr>
          <a:xfrm>
            <a:off x="7204167" y="1107897"/>
            <a:ext cx="1656184" cy="3554819"/>
          </a:xfrm>
          <a:prstGeom prst="rect">
            <a:avLst/>
          </a:prstGeom>
          <a:noFill/>
        </p:spPr>
        <p:txBody>
          <a:bodyPr wrap="square" rtlCol="0">
            <a:spAutoFit/>
          </a:bodyPr>
          <a:lstStyle/>
          <a:p>
            <a:r>
              <a:rPr lang="en-US" sz="900" dirty="0"/>
              <a:t>With this approach one does not get exactly the same result as if one would have the specifications of both the specific towing vehicle and the specific trailer available with a single VECTO simulation. The reason is that the "correction factor" (in green, calculated by the VECTO trailer tool via the reference and efficiency ratios) can only be determined based on the specifications of the generic towing vehicle. This results in principle-related deviations, which are also accepted in the factor method used for heavy buses in VECTO.</a:t>
            </a:r>
          </a:p>
          <a:p>
            <a:endParaRPr lang="en-US" sz="900" dirty="0"/>
          </a:p>
          <a:p>
            <a:r>
              <a:rPr lang="en-US" sz="900" dirty="0"/>
              <a:t>The calculation example shown on slide 25 was compared with results from a single VECTO simulation for validation purposes. The deviations were below 1%.</a:t>
            </a:r>
            <a:endParaRPr lang="en-GB" sz="900" dirty="0">
              <a:solidFill>
                <a:srgbClr val="FF0000"/>
              </a:solidFill>
            </a:endParaRPr>
          </a:p>
        </p:txBody>
      </p:sp>
    </p:spTree>
    <p:extLst>
      <p:ext uri="{BB962C8B-B14F-4D97-AF65-F5344CB8AC3E}">
        <p14:creationId xmlns:p14="http://schemas.microsoft.com/office/powerpoint/2010/main" val="3949504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285105"/>
            <a:ext cx="7993782" cy="702469"/>
          </a:xfrm>
        </p:spPr>
        <p:txBody>
          <a:bodyPr>
            <a:normAutofit/>
          </a:bodyPr>
          <a:lstStyle/>
          <a:p>
            <a:r>
              <a:rPr lang="en-US">
                <a:solidFill>
                  <a:srgbClr val="034EA2"/>
                </a:solidFill>
              </a:rPr>
              <a:t>Hashing (1/2) </a:t>
            </a:r>
            <a:endParaRPr lang="en-US" dirty="0">
              <a:solidFill>
                <a:srgbClr val="034EA2"/>
              </a:solidFill>
            </a:endParaRPr>
          </a:p>
        </p:txBody>
      </p:sp>
      <p:sp>
        <p:nvSpPr>
          <p:cNvPr id="3" name="Inhaltsplatzhalter 2"/>
          <p:cNvSpPr>
            <a:spLocks noGrp="1"/>
          </p:cNvSpPr>
          <p:nvPr>
            <p:ph idx="1"/>
          </p:nvPr>
        </p:nvSpPr>
        <p:spPr>
          <a:xfrm>
            <a:off x="626308" y="1203599"/>
            <a:ext cx="8095516" cy="1872207"/>
          </a:xfrm>
        </p:spPr>
        <p:txBody>
          <a:bodyPr vert="horz" lIns="91440" tIns="45720" rIns="91440" bIns="45720" rtlCol="0">
            <a:noAutofit/>
          </a:bodyPr>
          <a:lstStyle/>
          <a:p>
            <a:pPr marL="0" indent="0">
              <a:lnSpc>
                <a:spcPct val="100000"/>
              </a:lnSpc>
              <a:buNone/>
            </a:pPr>
            <a:r>
              <a:rPr lang="en-US" sz="1600">
                <a:solidFill>
                  <a:schemeClr val="tx1"/>
                </a:solidFill>
              </a:rPr>
              <a:t>The following hashing functions are integrated into the automated programme sequence of the VECTO Trailer Tool:</a:t>
            </a:r>
          </a:p>
          <a:p>
            <a:pPr>
              <a:lnSpc>
                <a:spcPct val="100000"/>
              </a:lnSpc>
              <a:spcBef>
                <a:spcPts val="600"/>
              </a:spcBef>
            </a:pPr>
            <a:r>
              <a:rPr lang="en-US" sz="1600">
                <a:solidFill>
                  <a:schemeClr val="tx1"/>
                </a:solidFill>
              </a:rPr>
              <a:t>The trailer input XML is hashed before the simulation and the hash is written to the MRF. </a:t>
            </a:r>
          </a:p>
          <a:p>
            <a:pPr>
              <a:lnSpc>
                <a:spcPct val="100000"/>
              </a:lnSpc>
              <a:spcBef>
                <a:spcPts val="600"/>
              </a:spcBef>
            </a:pPr>
            <a:r>
              <a:rPr lang="en-US" sz="1600">
                <a:solidFill>
                  <a:schemeClr val="tx1"/>
                </a:solidFill>
              </a:rPr>
              <a:t>The hash of the trailer MRF is calculated and written to the CIF. </a:t>
            </a:r>
          </a:p>
          <a:p>
            <a:pPr>
              <a:lnSpc>
                <a:spcPct val="100000"/>
              </a:lnSpc>
              <a:spcBef>
                <a:spcPts val="600"/>
              </a:spcBef>
            </a:pPr>
            <a:r>
              <a:rPr lang="en-US" sz="1600">
                <a:solidFill>
                  <a:schemeClr val="tx1"/>
                </a:solidFill>
              </a:rPr>
              <a:t>The hash of the trailer CIF is calculated and written to the CIF.</a:t>
            </a:r>
          </a:p>
          <a:p>
            <a:pPr marL="176213" indent="0">
              <a:lnSpc>
                <a:spcPct val="100000"/>
              </a:lnSpc>
              <a:spcBef>
                <a:spcPts val="600"/>
              </a:spcBef>
              <a:buNone/>
            </a:pPr>
            <a:r>
              <a:rPr lang="en-US" sz="1600">
                <a:solidFill>
                  <a:schemeClr val="tx1"/>
                </a:solidFill>
                <a:sym typeface="Wingdings" panose="05000000000000000000" pitchFamily="2" charset="2"/>
              </a:rPr>
              <a:t> </a:t>
            </a:r>
            <a:r>
              <a:rPr lang="en-US" sz="1600" b="1">
                <a:solidFill>
                  <a:schemeClr val="tx1"/>
                </a:solidFill>
                <a:sym typeface="Wingdings" panose="05000000000000000000" pitchFamily="2" charset="2"/>
              </a:rPr>
              <a:t>This means that in the official application of the tool for calculating the "</a:t>
            </a:r>
            <a:r>
              <a:rPr lang="en-US" sz="1600" b="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Performance of new vehicles with regard to their influence on CO</a:t>
            </a:r>
            <a:r>
              <a:rPr lang="en-US" sz="1600" b="1" baseline="-2500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2</a:t>
            </a:r>
            <a:r>
              <a:rPr lang="en-US" sz="1600" b="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emissions and fuel consumption</a:t>
            </a:r>
            <a:r>
              <a:rPr lang="en-US" sz="1600" b="1">
                <a:solidFill>
                  <a:schemeClr val="tx1"/>
                </a:solidFill>
                <a:sym typeface="Wingdings" panose="05000000000000000000" pitchFamily="2" charset="2"/>
              </a:rPr>
              <a:t>“ all steps with regard to hashing are automated. The separate VECTO Hashing Tool is not used. </a:t>
            </a:r>
          </a:p>
          <a:p>
            <a:pPr marL="176213" indent="0">
              <a:lnSpc>
                <a:spcPct val="100000"/>
              </a:lnSpc>
              <a:spcBef>
                <a:spcPts val="600"/>
              </a:spcBef>
              <a:buNone/>
            </a:pPr>
            <a:endParaRPr lang="en-US" sz="1600">
              <a:solidFill>
                <a:schemeClr val="tx1"/>
              </a:solidFill>
              <a:sym typeface="Wingdings" panose="05000000000000000000" pitchFamily="2" charset="2"/>
            </a:endParaRPr>
          </a:p>
          <a:p>
            <a:pPr marL="0" indent="0">
              <a:lnSpc>
                <a:spcPct val="100000"/>
              </a:lnSpc>
              <a:buNone/>
            </a:pPr>
            <a:endParaRPr lang="en-US" sz="1800" dirty="0">
              <a:solidFill>
                <a:schemeClr val="tx1"/>
              </a:solidFill>
            </a:endParaRPr>
          </a:p>
        </p:txBody>
      </p:sp>
    </p:spTree>
    <p:extLst>
      <p:ext uri="{BB962C8B-B14F-4D97-AF65-F5344CB8AC3E}">
        <p14:creationId xmlns:p14="http://schemas.microsoft.com/office/powerpoint/2010/main" val="1933408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285105"/>
            <a:ext cx="7993782" cy="702469"/>
          </a:xfrm>
        </p:spPr>
        <p:txBody>
          <a:bodyPr>
            <a:normAutofit/>
          </a:bodyPr>
          <a:lstStyle/>
          <a:p>
            <a:r>
              <a:rPr lang="en-US">
                <a:solidFill>
                  <a:srgbClr val="034EA2"/>
                </a:solidFill>
              </a:rPr>
              <a:t>Hashing (2/2) </a:t>
            </a:r>
            <a:endParaRPr lang="en-US" dirty="0">
              <a:solidFill>
                <a:srgbClr val="034EA2"/>
              </a:solidFill>
            </a:endParaRPr>
          </a:p>
        </p:txBody>
      </p:sp>
      <p:sp>
        <p:nvSpPr>
          <p:cNvPr id="3" name="Inhaltsplatzhalter 2"/>
          <p:cNvSpPr>
            <a:spLocks noGrp="1"/>
          </p:cNvSpPr>
          <p:nvPr>
            <p:ph idx="1"/>
          </p:nvPr>
        </p:nvSpPr>
        <p:spPr>
          <a:xfrm>
            <a:off x="626308" y="1203599"/>
            <a:ext cx="8095516" cy="1872207"/>
          </a:xfrm>
        </p:spPr>
        <p:txBody>
          <a:bodyPr vert="horz" lIns="91440" tIns="45720" rIns="91440" bIns="45720" rtlCol="0">
            <a:noAutofit/>
          </a:bodyPr>
          <a:lstStyle/>
          <a:p>
            <a:pPr marL="0" indent="0">
              <a:lnSpc>
                <a:spcPct val="100000"/>
              </a:lnSpc>
              <a:buNone/>
            </a:pPr>
            <a:r>
              <a:rPr lang="en-US" sz="1600">
                <a:solidFill>
                  <a:schemeClr val="tx1"/>
                </a:solidFill>
              </a:rPr>
              <a:t>The VECTO Hashing Tool shall be used in the context of certified input XMLs:</a:t>
            </a:r>
          </a:p>
          <a:p>
            <a:pPr>
              <a:lnSpc>
                <a:spcPct val="100000"/>
              </a:lnSpc>
            </a:pPr>
            <a:r>
              <a:rPr lang="en-US" sz="1600">
                <a:solidFill>
                  <a:schemeClr val="tx1"/>
                </a:solidFill>
              </a:rPr>
              <a:t>Creation of the component hash</a:t>
            </a:r>
          </a:p>
          <a:p>
            <a:pPr>
              <a:lnSpc>
                <a:spcPct val="100000"/>
              </a:lnSpc>
            </a:pPr>
            <a:r>
              <a:rPr lang="en-US" sz="1600">
                <a:solidFill>
                  <a:schemeClr val="tx1"/>
                </a:solidFill>
              </a:rPr>
              <a:t>Verification of the component hash</a:t>
            </a:r>
          </a:p>
          <a:p>
            <a:pPr marL="0" indent="0">
              <a:lnSpc>
                <a:spcPct val="100000"/>
              </a:lnSpc>
              <a:buNone/>
            </a:pPr>
            <a:r>
              <a:rPr lang="en-US" sz="1600">
                <a:solidFill>
                  <a:schemeClr val="tx1"/>
                </a:solidFill>
              </a:rPr>
              <a:t>This process is demonstrated on subsequent slides on the example of certified aerodynamic device input XML.</a:t>
            </a:r>
          </a:p>
          <a:p>
            <a:pPr marL="0" indent="0">
              <a:lnSpc>
                <a:spcPct val="100000"/>
              </a:lnSpc>
              <a:buNone/>
            </a:pPr>
            <a:r>
              <a:rPr lang="en-US" sz="1600">
                <a:solidFill>
                  <a:schemeClr val="tx1"/>
                </a:solidFill>
              </a:rPr>
              <a:t>For tyre input XMLs, the entire process is completely identical to Regulation (EU) 2017/2400. </a:t>
            </a:r>
          </a:p>
          <a:p>
            <a:pPr marL="0" indent="0">
              <a:lnSpc>
                <a:spcPct val="100000"/>
              </a:lnSpc>
              <a:buNone/>
            </a:pPr>
            <a:endParaRPr lang="en-US" sz="1600">
              <a:solidFill>
                <a:schemeClr val="tx1"/>
              </a:solidFill>
            </a:endParaRPr>
          </a:p>
          <a:p>
            <a:pPr>
              <a:lnSpc>
                <a:spcPct val="100000"/>
              </a:lnSpc>
            </a:pPr>
            <a:endParaRPr lang="en-US" sz="1600">
              <a:solidFill>
                <a:schemeClr val="tx1"/>
              </a:solidFill>
              <a:sym typeface="Wingdings" panose="05000000000000000000" pitchFamily="2" charset="2"/>
            </a:endParaRPr>
          </a:p>
          <a:p>
            <a:pPr marL="0" indent="0">
              <a:lnSpc>
                <a:spcPct val="100000"/>
              </a:lnSpc>
              <a:buNone/>
            </a:pPr>
            <a:endParaRPr lang="en-US" sz="1800" dirty="0">
              <a:solidFill>
                <a:schemeClr val="tx1"/>
              </a:solidFill>
            </a:endParaRPr>
          </a:p>
        </p:txBody>
      </p:sp>
    </p:spTree>
    <p:extLst>
      <p:ext uri="{BB962C8B-B14F-4D97-AF65-F5344CB8AC3E}">
        <p14:creationId xmlns:p14="http://schemas.microsoft.com/office/powerpoint/2010/main" val="318104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285105"/>
            <a:ext cx="7993782" cy="702469"/>
          </a:xfrm>
        </p:spPr>
        <p:txBody>
          <a:bodyPr>
            <a:normAutofit/>
          </a:bodyPr>
          <a:lstStyle/>
          <a:p>
            <a:r>
              <a:rPr lang="en-US">
                <a:solidFill>
                  <a:srgbClr val="034EA2"/>
                </a:solidFill>
              </a:rPr>
              <a:t>Plausibility checks for input data</a:t>
            </a:r>
            <a:endParaRPr lang="en-US" dirty="0">
              <a:solidFill>
                <a:srgbClr val="034EA2"/>
              </a:solidFill>
            </a:endParaRPr>
          </a:p>
        </p:txBody>
      </p:sp>
      <p:graphicFrame>
        <p:nvGraphicFramePr>
          <p:cNvPr id="3" name="Inhaltsplatzhalter 2">
            <a:extLst>
              <a:ext uri="{FF2B5EF4-FFF2-40B4-BE49-F238E27FC236}">
                <a16:creationId xmlns:a16="http://schemas.microsoft.com/office/drawing/2014/main" id="{A79A0C10-BED8-42E8-A9E4-0146C0BC892C}"/>
              </a:ext>
            </a:extLst>
          </p:cNvPr>
          <p:cNvGraphicFramePr>
            <a:graphicFrameLocks noGrp="1"/>
          </p:cNvGraphicFramePr>
          <p:nvPr>
            <p:ph idx="1"/>
            <p:extLst>
              <p:ext uri="{D42A27DB-BD31-4B8C-83A1-F6EECF244321}">
                <p14:modId xmlns:p14="http://schemas.microsoft.com/office/powerpoint/2010/main" val="147192507"/>
              </p:ext>
            </p:extLst>
          </p:nvPr>
        </p:nvGraphicFramePr>
        <p:xfrm>
          <a:off x="611560" y="992735"/>
          <a:ext cx="4176000" cy="3810000"/>
        </p:xfrm>
        <a:graphic>
          <a:graphicData uri="http://schemas.openxmlformats.org/drawingml/2006/table">
            <a:tbl>
              <a:tblPr firstRow="1" firstCol="1" bandRow="1"/>
              <a:tblGrid>
                <a:gridCol w="2167465">
                  <a:extLst>
                    <a:ext uri="{9D8B030D-6E8A-4147-A177-3AD203B41FA5}">
                      <a16:colId xmlns:a16="http://schemas.microsoft.com/office/drawing/2014/main" val="2145740578"/>
                    </a:ext>
                  </a:extLst>
                </a:gridCol>
                <a:gridCol w="2008535">
                  <a:extLst>
                    <a:ext uri="{9D8B030D-6E8A-4147-A177-3AD203B41FA5}">
                      <a16:colId xmlns:a16="http://schemas.microsoft.com/office/drawing/2014/main" val="2982100643"/>
                    </a:ext>
                  </a:extLst>
                </a:gridCol>
              </a:tblGrid>
              <a:tr h="150441">
                <a:tc>
                  <a:txBody>
                    <a:bodyPr/>
                    <a:lstStyle/>
                    <a:p>
                      <a:pPr algn="l">
                        <a:spcAft>
                          <a:spcPts val="0"/>
                        </a:spcAft>
                      </a:pPr>
                      <a:r>
                        <a:rPr lang="de-AT" sz="1000" b="1"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IF</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b="1"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THEN</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extLst>
                  <a:ext uri="{0D108BD9-81ED-4DB2-BD59-A6C34878D82A}">
                    <a16:rowId xmlns:a16="http://schemas.microsoft.com/office/drawing/2014/main" val="1376492604"/>
                  </a:ext>
                </a:extLst>
              </a:tr>
              <a:tr h="143603">
                <a:tc>
                  <a:txBody>
                    <a:bodyPr/>
                    <a:lstStyle/>
                    <a:p>
                      <a:pPr algn="l">
                        <a:spcAft>
                          <a:spcPts val="0"/>
                        </a:spcAft>
                      </a:pPr>
                      <a:r>
                        <a:rPr lang="de-AT" sz="1000" kern="0"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Number</a:t>
                      </a:r>
                      <a:r>
                        <a:rPr lang="de-AT"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of</a:t>
                      </a:r>
                      <a:r>
                        <a:rPr lang="de-AT"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Axles</a:t>
                      </a:r>
                      <a:r>
                        <a:rPr lang="de-AT"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 1</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 Type DB allowed</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162146684"/>
                  </a:ext>
                </a:extLst>
              </a:tr>
              <a:tr h="287205">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DB + Number of Axles = 2</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en-GB"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 1: steered and not liftable </a:t>
                      </a:r>
                      <a:br>
                        <a:rPr lang="en-GB"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en-GB"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 2: not liftable and not steered</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24884299"/>
                  </a:ext>
                </a:extLst>
              </a:tr>
              <a:tr h="430808">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DB + Number of Axles = 3</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 1: </a:t>
                      </a:r>
                      <a:r>
                        <a:rPr lang="en-GB"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steered and not liftable</a:t>
                      </a:r>
                      <a:b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 2: not steered</a:t>
                      </a:r>
                      <a:b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Maximum 1 axle is liftable</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417000610"/>
                  </a:ext>
                </a:extLst>
              </a:tr>
              <a:tr h="143603">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DC + Number of Axles = 1</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rowSpan="2">
                  <a:txBody>
                    <a:bodyPr/>
                    <a:lstStyle/>
                    <a:p>
                      <a:pPr algn="l">
                        <a:spcAft>
                          <a:spcPts val="0"/>
                        </a:spcAft>
                      </a:pPr>
                      <a:r>
                        <a:rPr lang="de-AT"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Legislative Category = O3</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3111629546"/>
                  </a:ext>
                </a:extLst>
              </a:tr>
              <a:tr h="143603">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DA + Number of Axles = 1</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vMerge="1">
                  <a:txBody>
                    <a:bodyPr/>
                    <a:lstStyle/>
                    <a:p>
                      <a:endParaRPr lang="de-AT"/>
                    </a:p>
                  </a:txBody>
                  <a:tcPr/>
                </a:tc>
                <a:extLst>
                  <a:ext uri="{0D108BD9-81ED-4DB2-BD59-A6C34878D82A}">
                    <a16:rowId xmlns:a16="http://schemas.microsoft.com/office/drawing/2014/main" val="737536633"/>
                  </a:ext>
                </a:extLst>
              </a:tr>
              <a:tr h="143603">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DC + Number of Axles = 1</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 1: not liftable and not steered</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3842777574"/>
                  </a:ext>
                </a:extLst>
              </a:tr>
              <a:tr h="143603">
                <a:tc>
                  <a:txBody>
                    <a:bodyPr/>
                    <a:lstStyle/>
                    <a:p>
                      <a:pPr algn="l">
                        <a:spcAft>
                          <a:spcPts val="0"/>
                        </a:spcAft>
                      </a:pPr>
                      <a:r>
                        <a:rPr lang="en-US"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DC + Number of Axles = 2</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1: not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steered</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1849333263"/>
                  </a:ext>
                </a:extLst>
              </a:tr>
              <a:tr h="287205">
                <a:tc>
                  <a:txBody>
                    <a:bodyPr/>
                    <a:lstStyle/>
                    <a:p>
                      <a:pPr algn="l">
                        <a:spcAft>
                          <a:spcPts val="0"/>
                        </a:spcAft>
                      </a:pPr>
                      <a:r>
                        <a:rPr lang="en-US"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DC + Number of Axles = 3</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 1: not steered</a:t>
                      </a:r>
                      <a:b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 2: not liftable and not steered</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1007253235"/>
                  </a:ext>
                </a:extLst>
              </a:tr>
              <a:tr h="143603">
                <a:tc>
                  <a:txBody>
                    <a:bodyPr/>
                    <a:lstStyle/>
                    <a:p>
                      <a:pPr algn="l">
                        <a:spcAft>
                          <a:spcPts val="0"/>
                        </a:spcAft>
                      </a:pPr>
                      <a:r>
                        <a:rPr lang="en-US"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DA + Number of Axles = 1</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1: not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liftable</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2464255277"/>
                  </a:ext>
                </a:extLst>
              </a:tr>
              <a:tr h="143603">
                <a:tc>
                  <a:txBody>
                    <a:bodyPr/>
                    <a:lstStyle/>
                    <a:p>
                      <a:pPr algn="l">
                        <a:spcAft>
                          <a:spcPts val="0"/>
                        </a:spcAft>
                      </a:pPr>
                      <a:r>
                        <a:rPr lang="en-US"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DA + Number of Axles = 2</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Axle</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1: not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steered</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2322656032"/>
                  </a:ext>
                </a:extLst>
              </a:tr>
              <a:tr h="143603">
                <a:tc>
                  <a:txBody>
                    <a:bodyPr/>
                    <a:lstStyle/>
                    <a:p>
                      <a:pPr algn="l">
                        <a:spcAft>
                          <a:spcPts val="0"/>
                        </a:spcAft>
                      </a:pPr>
                      <a:r>
                        <a:rPr lang="de-AT"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Side covers short</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Side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covers</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long</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1752005719"/>
                  </a:ext>
                </a:extLst>
              </a:tr>
              <a:tr h="143603">
                <a:tc>
                  <a:txBody>
                    <a:bodyPr/>
                    <a:lstStyle/>
                    <a:p>
                      <a:pPr algn="l">
                        <a:spcAft>
                          <a:spcPts val="0"/>
                        </a:spcAft>
                      </a:pPr>
                      <a:r>
                        <a:rPr lang="de-AT"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Side covers long</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Side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covers</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short</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3214716977"/>
                  </a:ext>
                </a:extLst>
              </a:tr>
              <a:tr h="143603">
                <a:tc>
                  <a:txBody>
                    <a:bodyPr/>
                    <a:lstStyle/>
                    <a:p>
                      <a:pPr algn="l">
                        <a:spcAft>
                          <a:spcPts val="0"/>
                        </a:spcAft>
                      </a:pPr>
                      <a:r>
                        <a:rPr lang="de-AT"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DB</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Side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covers</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long</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3166081031"/>
                  </a:ext>
                </a:extLst>
              </a:tr>
              <a:tr h="143603">
                <a:tc>
                  <a:txBody>
                    <a:bodyPr/>
                    <a:lstStyle/>
                    <a:p>
                      <a:pPr algn="l">
                        <a:spcAft>
                          <a:spcPts val="0"/>
                        </a:spcAft>
                      </a:pPr>
                      <a:r>
                        <a:rPr lang="de-AT"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DC</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Side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covers</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long</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2235919502"/>
                  </a:ext>
                </a:extLst>
              </a:tr>
              <a:tr h="143603">
                <a:tc>
                  <a:txBody>
                    <a:bodyPr/>
                    <a:lstStyle/>
                    <a:p>
                      <a:pPr algn="l">
                        <a:spcAft>
                          <a:spcPts val="0"/>
                        </a:spcAft>
                      </a:pPr>
                      <a:r>
                        <a:rPr lang="de-AT"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Rear flaps short</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Rear</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flaps</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long</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1337442958"/>
                  </a:ext>
                </a:extLst>
              </a:tr>
              <a:tr h="143603">
                <a:tc>
                  <a:txBody>
                    <a:bodyPr/>
                    <a:lstStyle/>
                    <a:p>
                      <a:pPr algn="l">
                        <a:spcAft>
                          <a:spcPts val="0"/>
                        </a:spcAft>
                      </a:pPr>
                      <a:r>
                        <a:rPr lang="de-AT"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Rear flaps long</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Rear</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flaps</a:t>
                      </a: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short</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352026204"/>
                  </a:ext>
                </a:extLst>
              </a:tr>
              <a:tr h="143603">
                <a:tc>
                  <a:txBody>
                    <a:bodyPr/>
                    <a:lstStyle/>
                    <a:p>
                      <a:pPr algn="l">
                        <a:spcAft>
                          <a:spcPts val="0"/>
                        </a:spcAft>
                      </a:pPr>
                      <a:r>
                        <a:rPr lang="de-AT"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DC</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TPMLM Axle Assembly ≤ TPMLM Trailer</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509611843"/>
                  </a:ext>
                </a:extLst>
              </a:tr>
              <a:tr h="143603">
                <a:tc>
                  <a:txBody>
                    <a:bodyPr/>
                    <a:lstStyle/>
                    <a:p>
                      <a:pPr algn="l">
                        <a:spcAft>
                          <a:spcPts val="0"/>
                        </a:spcAft>
                      </a:pPr>
                      <a:r>
                        <a:rPr lang="de-AT"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Trailer Type = DA</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TPMLM Axle Assembly &lt; TPMLM Trailer</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1912" marR="3191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958659549"/>
                  </a:ext>
                </a:extLst>
              </a:tr>
            </a:tbl>
          </a:graphicData>
        </a:graphic>
      </p:graphicFrame>
      <p:graphicFrame>
        <p:nvGraphicFramePr>
          <p:cNvPr id="6" name="Tabelle 5">
            <a:extLst>
              <a:ext uri="{FF2B5EF4-FFF2-40B4-BE49-F238E27FC236}">
                <a16:creationId xmlns:a16="http://schemas.microsoft.com/office/drawing/2014/main" id="{E9F9F5BD-31B3-4425-AF30-6D7B1C6BF455}"/>
              </a:ext>
            </a:extLst>
          </p:cNvPr>
          <p:cNvGraphicFramePr>
            <a:graphicFrameLocks noGrp="1"/>
          </p:cNvGraphicFramePr>
          <p:nvPr>
            <p:extLst>
              <p:ext uri="{D42A27DB-BD31-4B8C-83A1-F6EECF244321}">
                <p14:modId xmlns:p14="http://schemas.microsoft.com/office/powerpoint/2010/main" val="2398956939"/>
              </p:ext>
            </p:extLst>
          </p:nvPr>
        </p:nvGraphicFramePr>
        <p:xfrm>
          <a:off x="5028052" y="987574"/>
          <a:ext cx="3882262" cy="2019300"/>
        </p:xfrm>
        <a:graphic>
          <a:graphicData uri="http://schemas.openxmlformats.org/drawingml/2006/table">
            <a:tbl>
              <a:tblPr firstRow="1" firstCol="1" bandRow="1"/>
              <a:tblGrid>
                <a:gridCol w="2298262">
                  <a:extLst>
                    <a:ext uri="{9D8B030D-6E8A-4147-A177-3AD203B41FA5}">
                      <a16:colId xmlns:a16="http://schemas.microsoft.com/office/drawing/2014/main" val="4247662446"/>
                    </a:ext>
                  </a:extLst>
                </a:gridCol>
                <a:gridCol w="1584000">
                  <a:extLst>
                    <a:ext uri="{9D8B030D-6E8A-4147-A177-3AD203B41FA5}">
                      <a16:colId xmlns:a16="http://schemas.microsoft.com/office/drawing/2014/main" val="969114014"/>
                    </a:ext>
                  </a:extLst>
                </a:gridCol>
              </a:tblGrid>
              <a:tr h="209550">
                <a:tc>
                  <a:txBody>
                    <a:bodyPr/>
                    <a:lstStyle/>
                    <a:p>
                      <a:pPr algn="l">
                        <a:spcAft>
                          <a:spcPts val="0"/>
                        </a:spcAft>
                      </a:pPr>
                      <a:r>
                        <a:rPr lang="de-AT" sz="1000" b="1"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Parameter</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b="1" kern="0"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Requirements</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extLst>
                  <a:ext uri="{0D108BD9-81ED-4DB2-BD59-A6C34878D82A}">
                    <a16:rowId xmlns:a16="http://schemas.microsoft.com/office/drawing/2014/main" val="1116682207"/>
                  </a:ext>
                </a:extLst>
              </a:tr>
              <a:tr h="200025">
                <a:tc>
                  <a:txBody>
                    <a:bodyPr/>
                    <a:lstStyle/>
                    <a:p>
                      <a:pPr algn="l">
                        <a:spcAft>
                          <a:spcPts val="0"/>
                        </a:spcAft>
                      </a:pPr>
                      <a:r>
                        <a:rPr lang="de-AT"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VIN</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 </a:t>
                      </a:r>
                      <a:r>
                        <a:rPr lang="de-AT" sz="1000" kern="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characters</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3422913947"/>
                  </a:ext>
                </a:extLst>
              </a:tr>
              <a:tr h="400050">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Mass in running order, TPMLM Trailer and TPMLM Axle Assembly</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&gt;1.000kg</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3742532267"/>
                  </a:ext>
                </a:extLst>
              </a:tr>
              <a:tr h="200025">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External width of the body</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1000 mm&lt; x ≤ 2.600mm</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2561794048"/>
                  </a:ext>
                </a:extLst>
              </a:tr>
              <a:tr h="200025">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Total Height of the Trailer</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de-AT"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1000 mm&lt; x ≤ 4.000mm</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1519489685"/>
                  </a:ext>
                </a:extLst>
              </a:tr>
              <a:tr h="200025">
                <a:tc>
                  <a:txBody>
                    <a:bodyPr/>
                    <a:lstStyle/>
                    <a:p>
                      <a:pPr algn="l">
                        <a:spcAft>
                          <a:spcPts val="0"/>
                        </a:spcAft>
                      </a:pPr>
                      <a:r>
                        <a:rPr lang="en-US" sz="1000" kern="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External height of the body</a:t>
                      </a:r>
                      <a:endParaRPr lang="de-AT" sz="1000" kern="140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&lt; Total height of the Trailer</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ED6"/>
                    </a:solidFill>
                  </a:tcPr>
                </a:tc>
                <a:extLst>
                  <a:ext uri="{0D108BD9-81ED-4DB2-BD59-A6C34878D82A}">
                    <a16:rowId xmlns:a16="http://schemas.microsoft.com/office/drawing/2014/main" val="1428093772"/>
                  </a:ext>
                </a:extLst>
              </a:tr>
              <a:tr h="68932">
                <a:tc>
                  <a:txBody>
                    <a:bodyPr/>
                    <a:lstStyle/>
                    <a:p>
                      <a:pPr algn="l">
                        <a:spcAft>
                          <a:spcPts val="0"/>
                        </a:spcAft>
                      </a:pPr>
                      <a:r>
                        <a:rPr lang="en-US"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External length of the body</a:t>
                      </a:r>
                      <a:endParaRPr lang="de-AT" sz="1000" kern="0"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D9A78"/>
                    </a:solidFill>
                  </a:tcPr>
                </a:tc>
                <a:tc>
                  <a:txBody>
                    <a:bodyPr/>
                    <a:lstStyle/>
                    <a:p>
                      <a:pPr algn="l">
                        <a:spcAft>
                          <a:spcPts val="0"/>
                        </a:spcAft>
                      </a:pP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&lt; Max. length per type:</a:t>
                      </a:r>
                      <a:b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Body DA ≤ 14.000mm</a:t>
                      </a:r>
                      <a:b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Body DC ≤ 12.000mm</a:t>
                      </a:r>
                      <a:b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en-US" sz="1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Body DB ≤ 12.000mm</a:t>
                      </a:r>
                      <a:endParaRPr lang="de-AT" sz="1000" kern="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FEC"/>
                    </a:solidFill>
                  </a:tcPr>
                </a:tc>
                <a:extLst>
                  <a:ext uri="{0D108BD9-81ED-4DB2-BD59-A6C34878D82A}">
                    <a16:rowId xmlns:a16="http://schemas.microsoft.com/office/drawing/2014/main" val="4223493065"/>
                  </a:ext>
                </a:extLst>
              </a:tr>
            </a:tbl>
          </a:graphicData>
        </a:graphic>
      </p:graphicFrame>
      <p:sp>
        <p:nvSpPr>
          <p:cNvPr id="5" name="Inhaltsplatzhalter 2"/>
          <p:cNvSpPr txBox="1">
            <a:spLocks/>
          </p:cNvSpPr>
          <p:nvPr/>
        </p:nvSpPr>
        <p:spPr>
          <a:xfrm>
            <a:off x="5104349" y="3147815"/>
            <a:ext cx="3729668" cy="1512168"/>
          </a:xfrm>
          <a:prstGeom prst="rect">
            <a:avLst/>
          </a:prstGeom>
        </p:spPr>
        <p:txBody>
          <a:bodyPr vert="horz" lIns="91440" tIns="45720" rIns="91440" bIns="45720" rtlCol="0">
            <a:noAutofit/>
          </a:bodyPr>
          <a:lstStyle>
            <a:lvl1pPr marL="342900" indent="-342900" algn="l" defTabSz="685800" rtl="0" eaLnBrk="1" latinLnBrk="0" hangingPunct="1">
              <a:lnSpc>
                <a:spcPct val="114000"/>
              </a:lnSpc>
              <a:spcBef>
                <a:spcPts val="750"/>
              </a:spcBef>
              <a:buClr>
                <a:schemeClr val="accent4">
                  <a:lumMod val="75000"/>
                </a:schemeClr>
              </a:buClr>
              <a:buFont typeface="Arial" pitchFamily="34" charset="0"/>
              <a:buChar char="•"/>
              <a:defRPr sz="2100" i="0" kern="1200">
                <a:solidFill>
                  <a:schemeClr val="accent4">
                    <a:lumMod val="50000"/>
                  </a:schemeClr>
                </a:solidFill>
                <a:latin typeface="+mn-lt"/>
                <a:ea typeface="+mn-ea"/>
                <a:cs typeface="+mn-cs"/>
              </a:defRPr>
            </a:lvl1pPr>
            <a:lvl2pPr marL="514350" indent="-171450" algn="l" defTabSz="685800" rtl="0" eaLnBrk="1" latinLnBrk="0" hangingPunct="1">
              <a:lnSpc>
                <a:spcPct val="114000"/>
              </a:lnSpc>
              <a:spcBef>
                <a:spcPts val="375"/>
              </a:spcBef>
              <a:buClr>
                <a:schemeClr val="accent4">
                  <a:lumMod val="75000"/>
                </a:schemeClr>
              </a:buClr>
              <a:buFont typeface="Arial" panose="020B0604020202020204" pitchFamily="34" charset="0"/>
              <a:buChar char="•"/>
              <a:defRPr sz="1800" kern="1200">
                <a:solidFill>
                  <a:schemeClr val="accent4">
                    <a:lumMod val="50000"/>
                  </a:schemeClr>
                </a:solidFill>
                <a:latin typeface="+mn-lt"/>
                <a:ea typeface="+mn-ea"/>
                <a:cs typeface="+mn-cs"/>
              </a:defRPr>
            </a:lvl2pPr>
            <a:lvl3pPr marL="857250" indent="-171450" algn="l" defTabSz="685800" rtl="0" eaLnBrk="1" latinLnBrk="0" hangingPunct="1">
              <a:lnSpc>
                <a:spcPct val="114000"/>
              </a:lnSpc>
              <a:spcBef>
                <a:spcPts val="375"/>
              </a:spcBef>
              <a:buClr>
                <a:schemeClr val="accent4">
                  <a:lumMod val="75000"/>
                </a:schemeClr>
              </a:buClr>
              <a:buFont typeface="Arial" panose="020B0604020202020204" pitchFamily="34" charset="0"/>
              <a:buChar char="•"/>
              <a:defRPr sz="1500" kern="1200">
                <a:solidFill>
                  <a:schemeClr val="accent4">
                    <a:lumMod val="50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0000"/>
              </a:lnSpc>
              <a:buFont typeface="Arial" pitchFamily="34" charset="0"/>
              <a:buNone/>
            </a:pPr>
            <a:r>
              <a:rPr lang="en-US" sz="1050" b="1" dirty="0">
                <a:solidFill>
                  <a:schemeClr val="tx1"/>
                </a:solidFill>
              </a:rPr>
              <a:t>Important note:</a:t>
            </a:r>
          </a:p>
          <a:p>
            <a:pPr marL="0" indent="0">
              <a:lnSpc>
                <a:spcPct val="100000"/>
              </a:lnSpc>
              <a:buFont typeface="Arial" pitchFamily="34" charset="0"/>
              <a:buNone/>
            </a:pPr>
            <a:r>
              <a:rPr lang="en-US" sz="1050" dirty="0">
                <a:solidFill>
                  <a:schemeClr val="tx1"/>
                </a:solidFill>
              </a:rPr>
              <a:t>The listed checks can only catch gross </a:t>
            </a:r>
            <a:r>
              <a:rPr lang="en-US" sz="1050" dirty="0" err="1">
                <a:solidFill>
                  <a:schemeClr val="tx1"/>
                </a:solidFill>
              </a:rPr>
              <a:t>implausibilities</a:t>
            </a:r>
            <a:r>
              <a:rPr lang="en-US" sz="1050" dirty="0">
                <a:solidFill>
                  <a:schemeClr val="tx1"/>
                </a:solidFill>
              </a:rPr>
              <a:t> in the inputs to the tool. More subtle errors, e.g. typos in the numbers, in the input will remain undetected. In any case, within the scope of the official application of the tool, the user of the tool must be responsible for the correctness of the entries. Compliance with the corresponding quality standards is the subject of the process certification according to Annex II of the regulation.</a:t>
            </a:r>
            <a:endParaRPr lang="en-US" sz="1050" dirty="0">
              <a:solidFill>
                <a:srgbClr val="FF0000"/>
              </a:solidFill>
              <a:sym typeface="Wingdings" panose="05000000000000000000" pitchFamily="2" charset="2"/>
            </a:endParaRPr>
          </a:p>
          <a:p>
            <a:pPr marL="0" indent="0">
              <a:lnSpc>
                <a:spcPct val="100000"/>
              </a:lnSpc>
              <a:buFont typeface="Arial" pitchFamily="34" charset="0"/>
              <a:buNone/>
            </a:pPr>
            <a:endParaRPr lang="en-US" sz="1100" dirty="0">
              <a:solidFill>
                <a:srgbClr val="FF0000"/>
              </a:solidFill>
            </a:endParaRPr>
          </a:p>
        </p:txBody>
      </p:sp>
    </p:spTree>
    <p:extLst>
      <p:ext uri="{BB962C8B-B14F-4D97-AF65-F5344CB8AC3E}">
        <p14:creationId xmlns:p14="http://schemas.microsoft.com/office/powerpoint/2010/main" val="2311411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p:cNvPicPr>
            <a:picLocks noChangeAspect="1"/>
          </p:cNvPicPr>
          <p:nvPr/>
        </p:nvPicPr>
        <p:blipFill>
          <a:blip r:embed="rId2"/>
          <a:stretch>
            <a:fillRect/>
          </a:stretch>
        </p:blipFill>
        <p:spPr>
          <a:xfrm>
            <a:off x="5940152" y="609411"/>
            <a:ext cx="3049064" cy="4435002"/>
          </a:xfrm>
          <a:prstGeom prst="rect">
            <a:avLst/>
          </a:prstGeom>
        </p:spPr>
      </p:pic>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Options for automation</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3" name="Inhaltsplatzhalter 2">
            <a:extLst>
              <a:ext uri="{FF2B5EF4-FFF2-40B4-BE49-F238E27FC236}">
                <a16:creationId xmlns:a16="http://schemas.microsoft.com/office/drawing/2014/main" id="{20F1468C-183F-44AC-AB1B-AF050DD8EA2C}"/>
              </a:ext>
            </a:extLst>
          </p:cNvPr>
          <p:cNvSpPr>
            <a:spLocks noGrp="1"/>
          </p:cNvSpPr>
          <p:nvPr>
            <p:ph idx="1"/>
          </p:nvPr>
        </p:nvSpPr>
        <p:spPr>
          <a:xfrm>
            <a:off x="628650" y="1203598"/>
            <a:ext cx="5959574" cy="3429125"/>
          </a:xfrm>
        </p:spPr>
        <p:txBody>
          <a:bodyPr>
            <a:normAutofit lnSpcReduction="10000"/>
          </a:bodyPr>
          <a:lstStyle/>
          <a:p>
            <a:pPr marL="0" indent="0">
              <a:buClr>
                <a:srgbClr val="034EA2"/>
              </a:buClr>
              <a:buNone/>
            </a:pPr>
            <a:r>
              <a:rPr lang="en-US" sz="1800" dirty="0"/>
              <a:t>The process for generating official results of the VECTO Trailer Tool can also be fully automated.</a:t>
            </a:r>
            <a:endParaRPr lang="de-AT" dirty="0"/>
          </a:p>
          <a:p>
            <a:pPr marL="571500" indent="-285750" algn="just">
              <a:spcBef>
                <a:spcPts val="1200"/>
              </a:spcBef>
              <a:buClr>
                <a:srgbClr val="034EA2"/>
              </a:buClr>
              <a:buSzPct val="85000"/>
            </a:pPr>
            <a:r>
              <a:rPr lang="en-US" sz="1600" dirty="0"/>
              <a:t>Generation of input XMLs</a:t>
            </a:r>
          </a:p>
          <a:p>
            <a:pPr marL="1060450" lvl="1" indent="-342900">
              <a:spcBef>
                <a:spcPts val="600"/>
              </a:spcBef>
              <a:buClr>
                <a:srgbClr val="034EA2"/>
              </a:buClr>
              <a:buSzPct val="85000"/>
            </a:pPr>
            <a:r>
              <a:rPr lang="en-US" sz="1400" dirty="0"/>
              <a:t>E.g. create it out of your product database system</a:t>
            </a:r>
          </a:p>
          <a:p>
            <a:pPr marL="1060450" lvl="1" indent="-342900">
              <a:spcBef>
                <a:spcPts val="600"/>
              </a:spcBef>
              <a:buClr>
                <a:srgbClr val="034EA2"/>
              </a:buClr>
              <a:buSzPct val="85000"/>
            </a:pPr>
            <a:r>
              <a:rPr lang="en-US" sz="1400" dirty="0"/>
              <a:t>XML schema files are distributed with the tools</a:t>
            </a:r>
            <a:br>
              <a:rPr lang="en-US" sz="1400" dirty="0"/>
            </a:br>
            <a:r>
              <a:rPr lang="en-US" sz="1400" dirty="0"/>
              <a:t>(see snapshot)</a:t>
            </a:r>
          </a:p>
          <a:p>
            <a:pPr marL="649288" lvl="1" indent="-285750">
              <a:spcBef>
                <a:spcPts val="1200"/>
              </a:spcBef>
              <a:buClr>
                <a:srgbClr val="034EA2"/>
              </a:buClr>
              <a:buSzPct val="85000"/>
            </a:pPr>
            <a:r>
              <a:rPr lang="en-US" sz="1600" dirty="0"/>
              <a:t>Running the simulation</a:t>
            </a:r>
          </a:p>
          <a:p>
            <a:pPr marL="1003300" lvl="1" indent="-285750">
              <a:spcBef>
                <a:spcPts val="600"/>
              </a:spcBef>
              <a:buClr>
                <a:srgbClr val="034EA2"/>
              </a:buClr>
              <a:buSzPct val="85000"/>
            </a:pPr>
            <a:r>
              <a:rPr lang="en-US" sz="1400" dirty="0"/>
              <a:t>Use the “background worker” feature as shown in the live demonstration and described in the User Manual</a:t>
            </a:r>
          </a:p>
          <a:p>
            <a:pPr marL="1003300" lvl="1" indent="-285750">
              <a:spcBef>
                <a:spcPts val="600"/>
              </a:spcBef>
              <a:buClr>
                <a:srgbClr val="034EA2"/>
              </a:buClr>
              <a:buSzPct val="85000"/>
            </a:pPr>
            <a:r>
              <a:rPr lang="en-US" sz="1400" dirty="0"/>
              <a:t>Use the command-line tool  </a:t>
            </a:r>
            <a:r>
              <a:rPr lang="en-US" sz="1600" b="1" dirty="0">
                <a:latin typeface="Courier New" panose="02070309020205020404" pitchFamily="49" charset="0"/>
                <a:cs typeface="Courier New" panose="02070309020205020404" pitchFamily="49" charset="0"/>
              </a:rPr>
              <a:t>vectocmd.exe </a:t>
            </a:r>
            <a:r>
              <a:rPr lang="en-US" sz="1400" dirty="0"/>
              <a:t>as distributed with the archive. </a:t>
            </a:r>
            <a:br>
              <a:rPr lang="en-US" sz="1400" dirty="0"/>
            </a:br>
            <a:r>
              <a:rPr lang="en-US" sz="1400" dirty="0">
                <a:sym typeface="Wingdings" panose="05000000000000000000" pitchFamily="2" charset="2"/>
              </a:rPr>
              <a:t> </a:t>
            </a:r>
            <a:r>
              <a:rPr lang="en-US" sz="1600" b="1" dirty="0">
                <a:latin typeface="Courier New" panose="02070309020205020404" pitchFamily="49" charset="0"/>
                <a:cs typeface="Courier New" panose="02070309020205020404" pitchFamily="49" charset="0"/>
              </a:rPr>
              <a:t>vectocmd.exe –q &lt;XML-File&gt;</a:t>
            </a:r>
          </a:p>
          <a:p>
            <a:pPr marL="1003300" lvl="1" indent="-285750">
              <a:spcBef>
                <a:spcPts val="600"/>
              </a:spcBef>
              <a:buClr>
                <a:srgbClr val="034EA2"/>
              </a:buClr>
              <a:buSzPct val="85000"/>
            </a:pPr>
            <a:r>
              <a:rPr lang="en-US" sz="1400" dirty="0"/>
              <a:t>Calling VECTO from your own application is also possible. </a:t>
            </a:r>
          </a:p>
        </p:txBody>
      </p:sp>
    </p:spTree>
    <p:extLst>
      <p:ext uri="{BB962C8B-B14F-4D97-AF65-F5344CB8AC3E}">
        <p14:creationId xmlns:p14="http://schemas.microsoft.com/office/powerpoint/2010/main" val="2790193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Generation of input XML for a certified aero device (1/4) </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3" name="Inhaltsplatzhalter 2">
            <a:extLst>
              <a:ext uri="{FF2B5EF4-FFF2-40B4-BE49-F238E27FC236}">
                <a16:creationId xmlns:a16="http://schemas.microsoft.com/office/drawing/2014/main" id="{20F1468C-183F-44AC-AB1B-AF050DD8EA2C}"/>
              </a:ext>
            </a:extLst>
          </p:cNvPr>
          <p:cNvSpPr>
            <a:spLocks noGrp="1"/>
          </p:cNvSpPr>
          <p:nvPr>
            <p:ph idx="1"/>
          </p:nvPr>
        </p:nvSpPr>
        <p:spPr/>
        <p:txBody>
          <a:bodyPr/>
          <a:lstStyle/>
          <a:p>
            <a:pPr>
              <a:buClr>
                <a:srgbClr val="034EA2"/>
              </a:buClr>
            </a:pPr>
            <a:r>
              <a:rPr lang="de-AT" dirty="0"/>
              <a:t>The XML </a:t>
            </a:r>
            <a:r>
              <a:rPr lang="de-AT" dirty="0" err="1"/>
              <a:t>needs</a:t>
            </a:r>
            <a:r>
              <a:rPr lang="de-AT" dirty="0"/>
              <a:t> </a:t>
            </a:r>
            <a:r>
              <a:rPr lang="de-AT" dirty="0" err="1"/>
              <a:t>to</a:t>
            </a:r>
            <a:r>
              <a:rPr lang="de-AT" dirty="0"/>
              <a:t> </a:t>
            </a:r>
            <a:r>
              <a:rPr lang="de-AT" dirty="0" err="1"/>
              <a:t>be</a:t>
            </a:r>
            <a:r>
              <a:rPr lang="de-AT" dirty="0"/>
              <a:t> </a:t>
            </a:r>
            <a:r>
              <a:rPr lang="de-AT" dirty="0" err="1"/>
              <a:t>created</a:t>
            </a:r>
            <a:r>
              <a:rPr lang="de-AT" dirty="0"/>
              <a:t> </a:t>
            </a:r>
            <a:r>
              <a:rPr lang="de-AT" dirty="0" err="1"/>
              <a:t>by</a:t>
            </a:r>
            <a:r>
              <a:rPr lang="de-AT" dirty="0"/>
              <a:t> </a:t>
            </a:r>
            <a:r>
              <a:rPr lang="de-AT" dirty="0" err="1"/>
              <a:t>the</a:t>
            </a:r>
            <a:r>
              <a:rPr lang="de-AT" dirty="0"/>
              <a:t> supplier </a:t>
            </a:r>
            <a:r>
              <a:rPr lang="de-AT" dirty="0" err="1"/>
              <a:t>within</a:t>
            </a:r>
            <a:r>
              <a:rPr lang="de-AT" dirty="0"/>
              <a:t> a separate </a:t>
            </a:r>
            <a:r>
              <a:rPr lang="de-AT" dirty="0" err="1"/>
              <a:t>certification</a:t>
            </a:r>
            <a:r>
              <a:rPr lang="de-AT" dirty="0"/>
              <a:t> </a:t>
            </a:r>
            <a:r>
              <a:rPr lang="de-AT" dirty="0" err="1"/>
              <a:t>process</a:t>
            </a:r>
            <a:endParaRPr lang="de-AT" dirty="0"/>
          </a:p>
          <a:p>
            <a:pPr>
              <a:buClr>
                <a:srgbClr val="034EA2"/>
              </a:buClr>
            </a:pPr>
            <a:r>
              <a:rPr lang="de-AT" dirty="0"/>
              <a:t>A </a:t>
            </a:r>
            <a:r>
              <a:rPr lang="de-AT" dirty="0" err="1"/>
              <a:t>template</a:t>
            </a:r>
            <a:r>
              <a:rPr lang="de-AT" dirty="0"/>
              <a:t> </a:t>
            </a:r>
            <a:r>
              <a:rPr lang="de-AT" dirty="0" err="1"/>
              <a:t>of</a:t>
            </a:r>
            <a:r>
              <a:rPr lang="de-AT" dirty="0"/>
              <a:t> </a:t>
            </a:r>
            <a:r>
              <a:rPr lang="de-AT" dirty="0" err="1"/>
              <a:t>the</a:t>
            </a:r>
            <a:r>
              <a:rPr lang="de-AT" dirty="0"/>
              <a:t> XML </a:t>
            </a:r>
            <a:r>
              <a:rPr lang="de-AT" dirty="0" err="1"/>
              <a:t>is</a:t>
            </a:r>
            <a:r>
              <a:rPr lang="de-AT" dirty="0"/>
              <a:t> </a:t>
            </a:r>
            <a:r>
              <a:rPr lang="de-AT" dirty="0" err="1"/>
              <a:t>located</a:t>
            </a:r>
            <a:r>
              <a:rPr lang="de-AT" dirty="0"/>
              <a:t> in </a:t>
            </a:r>
            <a:r>
              <a:rPr lang="de-AT" dirty="0" err="1"/>
              <a:t>the</a:t>
            </a:r>
            <a:r>
              <a:rPr lang="de-AT" dirty="0"/>
              <a:t> </a:t>
            </a:r>
            <a:r>
              <a:rPr lang="de-AT" dirty="0" err="1"/>
              <a:t>downloadable</a:t>
            </a:r>
            <a:r>
              <a:rPr lang="de-AT" dirty="0"/>
              <a:t> </a:t>
            </a:r>
            <a:r>
              <a:rPr lang="en-GB" dirty="0"/>
              <a:t>VECTO Trailer Tool package in the “Generic vehicles” folder</a:t>
            </a:r>
            <a:endParaRPr lang="de-AT" dirty="0"/>
          </a:p>
          <a:p>
            <a:pPr>
              <a:buClr>
                <a:srgbClr val="034EA2"/>
              </a:buClr>
            </a:pPr>
            <a:r>
              <a:rPr lang="de-AT" dirty="0"/>
              <a:t>The XSD </a:t>
            </a:r>
            <a:r>
              <a:rPr lang="de-AT" dirty="0" err="1"/>
              <a:t>file</a:t>
            </a:r>
            <a:r>
              <a:rPr lang="de-AT" dirty="0"/>
              <a:t> </a:t>
            </a:r>
            <a:r>
              <a:rPr lang="de-AT" dirty="0" err="1"/>
              <a:t>is</a:t>
            </a:r>
            <a:r>
              <a:rPr lang="de-AT" dirty="0"/>
              <a:t> </a:t>
            </a:r>
            <a:r>
              <a:rPr lang="de-AT" dirty="0" err="1"/>
              <a:t>located</a:t>
            </a:r>
            <a:r>
              <a:rPr lang="de-AT" dirty="0"/>
              <a:t> in </a:t>
            </a:r>
            <a:r>
              <a:rPr lang="de-AT" dirty="0" err="1"/>
              <a:t>the</a:t>
            </a:r>
            <a:r>
              <a:rPr lang="de-AT" dirty="0"/>
              <a:t> </a:t>
            </a:r>
            <a:r>
              <a:rPr lang="de-AT" dirty="0" err="1"/>
              <a:t>downloadable</a:t>
            </a:r>
            <a:r>
              <a:rPr lang="de-AT" dirty="0"/>
              <a:t> </a:t>
            </a:r>
            <a:r>
              <a:rPr lang="en-GB" dirty="0"/>
              <a:t>VECTO Trailer Tool package in the “XML” folder</a:t>
            </a:r>
            <a:endParaRPr lang="de-AT" dirty="0"/>
          </a:p>
          <a:p>
            <a:endParaRPr lang="de-AT" dirty="0"/>
          </a:p>
        </p:txBody>
      </p:sp>
    </p:spTree>
    <p:extLst>
      <p:ext uri="{BB962C8B-B14F-4D97-AF65-F5344CB8AC3E}">
        <p14:creationId xmlns:p14="http://schemas.microsoft.com/office/powerpoint/2010/main" val="1590887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Generation of input XML for a certified aero device (2/4) </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3" name="Inhaltsplatzhalter 2">
            <a:extLst>
              <a:ext uri="{FF2B5EF4-FFF2-40B4-BE49-F238E27FC236}">
                <a16:creationId xmlns:a16="http://schemas.microsoft.com/office/drawing/2014/main" id="{20F1468C-183F-44AC-AB1B-AF050DD8EA2C}"/>
              </a:ext>
            </a:extLst>
          </p:cNvPr>
          <p:cNvSpPr>
            <a:spLocks noGrp="1"/>
          </p:cNvSpPr>
          <p:nvPr>
            <p:ph idx="1"/>
          </p:nvPr>
        </p:nvSpPr>
        <p:spPr>
          <a:xfrm>
            <a:off x="628650" y="987574"/>
            <a:ext cx="7886700" cy="3263504"/>
          </a:xfrm>
        </p:spPr>
        <p:txBody>
          <a:bodyPr/>
          <a:lstStyle/>
          <a:p>
            <a:pPr>
              <a:buClr>
                <a:srgbClr val="034EA2"/>
              </a:buClr>
            </a:pPr>
            <a:r>
              <a:rPr lang="de-AT" dirty="0"/>
              <a:t>At </a:t>
            </a:r>
            <a:r>
              <a:rPr lang="de-AT" dirty="0" err="1"/>
              <a:t>the</a:t>
            </a:r>
            <a:r>
              <a:rPr lang="de-AT" dirty="0"/>
              <a:t> </a:t>
            </a:r>
            <a:r>
              <a:rPr lang="de-AT" dirty="0" err="1"/>
              <a:t>start</a:t>
            </a:r>
            <a:r>
              <a:rPr lang="de-AT" dirty="0"/>
              <a:t> screen </a:t>
            </a:r>
            <a:r>
              <a:rPr lang="de-AT" dirty="0" err="1"/>
              <a:t>click</a:t>
            </a:r>
            <a:r>
              <a:rPr lang="de-AT" dirty="0"/>
              <a:t> „Hash </a:t>
            </a:r>
            <a:r>
              <a:rPr lang="de-AT" dirty="0" err="1"/>
              <a:t>Component</a:t>
            </a:r>
            <a:r>
              <a:rPr lang="de-AT" dirty="0"/>
              <a:t> Data“</a:t>
            </a:r>
          </a:p>
          <a:p>
            <a:pPr lvl="1">
              <a:buClr>
                <a:srgbClr val="034EA2"/>
              </a:buClr>
            </a:pPr>
            <a:r>
              <a:rPr lang="de-AT" dirty="0" err="1"/>
              <a:t>then</a:t>
            </a:r>
            <a:r>
              <a:rPr lang="de-AT" dirty="0"/>
              <a:t> </a:t>
            </a:r>
            <a:r>
              <a:rPr lang="de-AT" dirty="0" err="1"/>
              <a:t>click</a:t>
            </a:r>
            <a:r>
              <a:rPr lang="de-AT" dirty="0"/>
              <a:t> </a:t>
            </a:r>
            <a:r>
              <a:rPr lang="de-AT" dirty="0" err="1"/>
              <a:t>the</a:t>
            </a:r>
            <a:r>
              <a:rPr lang="de-AT" dirty="0"/>
              <a:t> browse </a:t>
            </a:r>
            <a:r>
              <a:rPr lang="de-AT" dirty="0" err="1"/>
              <a:t>button</a:t>
            </a:r>
            <a:r>
              <a:rPr lang="de-AT" dirty="0"/>
              <a:t> </a:t>
            </a:r>
            <a:r>
              <a:rPr lang="de-AT" dirty="0" err="1"/>
              <a:t>to</a:t>
            </a:r>
            <a:r>
              <a:rPr lang="de-AT" dirty="0"/>
              <a:t> </a:t>
            </a:r>
            <a:r>
              <a:rPr lang="de-AT" dirty="0" err="1"/>
              <a:t>search</a:t>
            </a:r>
            <a:r>
              <a:rPr lang="de-AT" dirty="0"/>
              <a:t> </a:t>
            </a:r>
            <a:r>
              <a:rPr lang="de-AT" dirty="0" err="1"/>
              <a:t>for</a:t>
            </a:r>
            <a:r>
              <a:rPr lang="de-AT" dirty="0"/>
              <a:t> a non </a:t>
            </a:r>
            <a:r>
              <a:rPr lang="de-AT" dirty="0" err="1"/>
              <a:t>hashed</a:t>
            </a:r>
            <a:r>
              <a:rPr lang="de-AT" dirty="0"/>
              <a:t> XML </a:t>
            </a:r>
            <a:r>
              <a:rPr lang="de-AT" dirty="0">
                <a:sym typeface="Wingdings" panose="05000000000000000000" pitchFamily="2" charset="2"/>
              </a:rPr>
              <a:t> XML will </a:t>
            </a:r>
            <a:r>
              <a:rPr lang="de-AT" dirty="0" err="1">
                <a:sym typeface="Wingdings" panose="05000000000000000000" pitchFamily="2" charset="2"/>
              </a:rPr>
              <a:t>be</a:t>
            </a:r>
            <a:r>
              <a:rPr lang="de-AT" dirty="0">
                <a:sym typeface="Wingdings" panose="05000000000000000000" pitchFamily="2" charset="2"/>
              </a:rPr>
              <a:t> </a:t>
            </a:r>
            <a:r>
              <a:rPr lang="de-AT" dirty="0" err="1">
                <a:sym typeface="Wingdings" panose="05000000000000000000" pitchFamily="2" charset="2"/>
              </a:rPr>
              <a:t>hashed</a:t>
            </a:r>
            <a:r>
              <a:rPr lang="de-AT" dirty="0">
                <a:sym typeface="Wingdings" panose="05000000000000000000" pitchFamily="2" charset="2"/>
              </a:rPr>
              <a:t> </a:t>
            </a:r>
            <a:r>
              <a:rPr lang="de-AT" dirty="0" err="1">
                <a:sym typeface="Wingdings" panose="05000000000000000000" pitchFamily="2" charset="2"/>
              </a:rPr>
              <a:t>automatically</a:t>
            </a:r>
            <a:r>
              <a:rPr lang="de-AT" dirty="0">
                <a:sym typeface="Wingdings" panose="05000000000000000000" pitchFamily="2" charset="2"/>
              </a:rPr>
              <a:t> </a:t>
            </a:r>
            <a:r>
              <a:rPr lang="de-AT" dirty="0" err="1">
                <a:sym typeface="Wingdings" panose="05000000000000000000" pitchFamily="2" charset="2"/>
              </a:rPr>
              <a:t>once</a:t>
            </a:r>
            <a:r>
              <a:rPr lang="de-AT" dirty="0">
                <a:sym typeface="Wingdings" panose="05000000000000000000" pitchFamily="2" charset="2"/>
              </a:rPr>
              <a:t> </a:t>
            </a:r>
            <a:r>
              <a:rPr lang="de-AT" dirty="0" err="1">
                <a:sym typeface="Wingdings" panose="05000000000000000000" pitchFamily="2" charset="2"/>
              </a:rPr>
              <a:t>loaded</a:t>
            </a:r>
            <a:r>
              <a:rPr lang="de-AT" dirty="0">
                <a:sym typeface="Wingdings" panose="05000000000000000000" pitchFamily="2" charset="2"/>
              </a:rPr>
              <a:t> </a:t>
            </a:r>
            <a:r>
              <a:rPr lang="de-AT" dirty="0" err="1">
                <a:sym typeface="Wingdings" panose="05000000000000000000" pitchFamily="2" charset="2"/>
              </a:rPr>
              <a:t>to</a:t>
            </a:r>
            <a:r>
              <a:rPr lang="de-AT" dirty="0">
                <a:sym typeface="Wingdings" panose="05000000000000000000" pitchFamily="2" charset="2"/>
              </a:rPr>
              <a:t> </a:t>
            </a:r>
            <a:r>
              <a:rPr lang="de-AT" dirty="0" err="1">
                <a:sym typeface="Wingdings" panose="05000000000000000000" pitchFamily="2" charset="2"/>
              </a:rPr>
              <a:t>the</a:t>
            </a:r>
            <a:r>
              <a:rPr lang="de-AT" dirty="0">
                <a:sym typeface="Wingdings" panose="05000000000000000000" pitchFamily="2" charset="2"/>
              </a:rPr>
              <a:t> </a:t>
            </a:r>
            <a:r>
              <a:rPr lang="de-AT" dirty="0" err="1">
                <a:sym typeface="Wingdings" panose="05000000000000000000" pitchFamily="2" charset="2"/>
              </a:rPr>
              <a:t>hashing</a:t>
            </a:r>
            <a:r>
              <a:rPr lang="de-AT" dirty="0">
                <a:sym typeface="Wingdings" panose="05000000000000000000" pitchFamily="2" charset="2"/>
              </a:rPr>
              <a:t> </a:t>
            </a:r>
            <a:r>
              <a:rPr lang="de-AT" dirty="0" err="1">
                <a:sym typeface="Wingdings" panose="05000000000000000000" pitchFamily="2" charset="2"/>
              </a:rPr>
              <a:t>tool</a:t>
            </a:r>
            <a:r>
              <a:rPr lang="de-AT" dirty="0">
                <a:sym typeface="Wingdings" panose="05000000000000000000" pitchFamily="2" charset="2"/>
              </a:rPr>
              <a:t> </a:t>
            </a:r>
            <a:endParaRPr lang="de-AT" dirty="0"/>
          </a:p>
          <a:p>
            <a:endParaRPr lang="de-AT" dirty="0"/>
          </a:p>
        </p:txBody>
      </p:sp>
      <p:pic>
        <p:nvPicPr>
          <p:cNvPr id="4" name="Grafik 3">
            <a:extLst>
              <a:ext uri="{FF2B5EF4-FFF2-40B4-BE49-F238E27FC236}">
                <a16:creationId xmlns:a16="http://schemas.microsoft.com/office/drawing/2014/main" id="{CC827E58-FD9E-4F95-8885-47894ECD96A0}"/>
              </a:ext>
            </a:extLst>
          </p:cNvPr>
          <p:cNvPicPr>
            <a:picLocks noChangeAspect="1"/>
          </p:cNvPicPr>
          <p:nvPr/>
        </p:nvPicPr>
        <p:blipFill>
          <a:blip r:embed="rId2"/>
          <a:stretch>
            <a:fillRect/>
          </a:stretch>
        </p:blipFill>
        <p:spPr>
          <a:xfrm>
            <a:off x="881107" y="2050652"/>
            <a:ext cx="3352134" cy="2537321"/>
          </a:xfrm>
          <a:prstGeom prst="rect">
            <a:avLst/>
          </a:prstGeom>
        </p:spPr>
      </p:pic>
      <p:pic>
        <p:nvPicPr>
          <p:cNvPr id="5" name="Grafik 4">
            <a:extLst>
              <a:ext uri="{FF2B5EF4-FFF2-40B4-BE49-F238E27FC236}">
                <a16:creationId xmlns:a16="http://schemas.microsoft.com/office/drawing/2014/main" id="{F7D1D680-0D01-4B0A-8C25-705EAE9ABC67}"/>
              </a:ext>
            </a:extLst>
          </p:cNvPr>
          <p:cNvPicPr>
            <a:picLocks noChangeAspect="1"/>
          </p:cNvPicPr>
          <p:nvPr/>
        </p:nvPicPr>
        <p:blipFill>
          <a:blip r:embed="rId3"/>
          <a:stretch>
            <a:fillRect/>
          </a:stretch>
        </p:blipFill>
        <p:spPr>
          <a:xfrm>
            <a:off x="4917670" y="2050651"/>
            <a:ext cx="3345223" cy="2537321"/>
          </a:xfrm>
          <a:prstGeom prst="rect">
            <a:avLst/>
          </a:prstGeom>
        </p:spPr>
      </p:pic>
      <p:sp>
        <p:nvSpPr>
          <p:cNvPr id="6" name="Pfeil: nach rechts 5">
            <a:extLst>
              <a:ext uri="{FF2B5EF4-FFF2-40B4-BE49-F238E27FC236}">
                <a16:creationId xmlns:a16="http://schemas.microsoft.com/office/drawing/2014/main" id="{5DE6A47B-0936-4382-9D56-9A0E708CAC33}"/>
              </a:ext>
            </a:extLst>
          </p:cNvPr>
          <p:cNvSpPr/>
          <p:nvPr/>
        </p:nvSpPr>
        <p:spPr>
          <a:xfrm>
            <a:off x="4233240" y="3111810"/>
            <a:ext cx="684429"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FC00AA59-B1FF-43DF-8381-8D9421345E26}"/>
              </a:ext>
            </a:extLst>
          </p:cNvPr>
          <p:cNvSpPr/>
          <p:nvPr/>
        </p:nvSpPr>
        <p:spPr>
          <a:xfrm>
            <a:off x="1339260" y="2819968"/>
            <a:ext cx="1170000" cy="54006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8" name="Rechteck 7">
            <a:extLst>
              <a:ext uri="{FF2B5EF4-FFF2-40B4-BE49-F238E27FC236}">
                <a16:creationId xmlns:a16="http://schemas.microsoft.com/office/drawing/2014/main" id="{B0A156D7-1CC3-40D2-8A75-C7FFA95B2163}"/>
              </a:ext>
            </a:extLst>
          </p:cNvPr>
          <p:cNvSpPr/>
          <p:nvPr/>
        </p:nvSpPr>
        <p:spPr>
          <a:xfrm>
            <a:off x="7520518" y="2927980"/>
            <a:ext cx="295200" cy="11160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65960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DB24503-D46F-4D73-BEE2-02519E25D389}"/>
              </a:ext>
            </a:extLst>
          </p:cNvPr>
          <p:cNvPicPr>
            <a:picLocks noChangeAspect="1"/>
          </p:cNvPicPr>
          <p:nvPr/>
        </p:nvPicPr>
        <p:blipFill>
          <a:blip r:embed="rId2"/>
          <a:stretch>
            <a:fillRect/>
          </a:stretch>
        </p:blipFill>
        <p:spPr>
          <a:xfrm>
            <a:off x="251521" y="1088142"/>
            <a:ext cx="7643327" cy="2106000"/>
          </a:xfrm>
          <a:prstGeom prst="rect">
            <a:avLst/>
          </a:prstGeom>
        </p:spPr>
      </p:pic>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Generation of input XML for a certified aero device (3/4)</a:t>
            </a:r>
            <a:b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br>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Hashing example </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12" name="Pfeil: nach rechts 11">
            <a:extLst>
              <a:ext uri="{FF2B5EF4-FFF2-40B4-BE49-F238E27FC236}">
                <a16:creationId xmlns:a16="http://schemas.microsoft.com/office/drawing/2014/main" id="{64B3083F-5D7B-4073-B876-550F1F0C925D}"/>
              </a:ext>
            </a:extLst>
          </p:cNvPr>
          <p:cNvSpPr/>
          <p:nvPr/>
        </p:nvSpPr>
        <p:spPr>
          <a:xfrm>
            <a:off x="4569160" y="2574640"/>
            <a:ext cx="722920" cy="504056"/>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14" name="Gerader Verbinder 13">
            <a:extLst>
              <a:ext uri="{FF2B5EF4-FFF2-40B4-BE49-F238E27FC236}">
                <a16:creationId xmlns:a16="http://schemas.microsoft.com/office/drawing/2014/main" id="{D9FCAEF2-E50F-44BF-9772-F649D297870A}"/>
              </a:ext>
            </a:extLst>
          </p:cNvPr>
          <p:cNvCxnSpPr/>
          <p:nvPr/>
        </p:nvCxnSpPr>
        <p:spPr>
          <a:xfrm flipV="1">
            <a:off x="4572000" y="1779661"/>
            <a:ext cx="0" cy="139948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D8285524-3BC3-47E8-9158-AFB79F5F3102}"/>
              </a:ext>
            </a:extLst>
          </p:cNvPr>
          <p:cNvCxnSpPr>
            <a:cxnSpLocks/>
          </p:cNvCxnSpPr>
          <p:nvPr/>
        </p:nvCxnSpPr>
        <p:spPr>
          <a:xfrm>
            <a:off x="4569159" y="1779661"/>
            <a:ext cx="424563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BCE6A6F3-1D8A-42FA-9002-CAACD8C8EAA9}"/>
              </a:ext>
            </a:extLst>
          </p:cNvPr>
          <p:cNvCxnSpPr>
            <a:cxnSpLocks/>
          </p:cNvCxnSpPr>
          <p:nvPr/>
        </p:nvCxnSpPr>
        <p:spPr>
          <a:xfrm>
            <a:off x="251520" y="3179142"/>
            <a:ext cx="432048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04944F28-818A-4C0F-9006-FC656B409BE4}"/>
              </a:ext>
            </a:extLst>
          </p:cNvPr>
          <p:cNvCxnSpPr>
            <a:cxnSpLocks/>
          </p:cNvCxnSpPr>
          <p:nvPr/>
        </p:nvCxnSpPr>
        <p:spPr>
          <a:xfrm flipV="1">
            <a:off x="251520" y="1072381"/>
            <a:ext cx="0" cy="210676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63805C13-E0F9-4F92-9E83-DC18D2147A5F}"/>
              </a:ext>
            </a:extLst>
          </p:cNvPr>
          <p:cNvCxnSpPr>
            <a:cxnSpLocks/>
          </p:cNvCxnSpPr>
          <p:nvPr/>
        </p:nvCxnSpPr>
        <p:spPr>
          <a:xfrm flipH="1">
            <a:off x="251520" y="1072381"/>
            <a:ext cx="85632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76651FB6-AA1C-437C-997D-5B59133AF531}"/>
              </a:ext>
            </a:extLst>
          </p:cNvPr>
          <p:cNvCxnSpPr>
            <a:cxnSpLocks/>
          </p:cNvCxnSpPr>
          <p:nvPr/>
        </p:nvCxnSpPr>
        <p:spPr>
          <a:xfrm flipV="1">
            <a:off x="8814790" y="1072383"/>
            <a:ext cx="0" cy="70727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Inhaltsplatzhalter 2">
            <a:extLst>
              <a:ext uri="{FF2B5EF4-FFF2-40B4-BE49-F238E27FC236}">
                <a16:creationId xmlns:a16="http://schemas.microsoft.com/office/drawing/2014/main" id="{FB411F1C-B23C-4904-8A0A-763BE583378E}"/>
              </a:ext>
            </a:extLst>
          </p:cNvPr>
          <p:cNvSpPr>
            <a:spLocks noGrp="1"/>
          </p:cNvSpPr>
          <p:nvPr>
            <p:ph idx="1"/>
          </p:nvPr>
        </p:nvSpPr>
        <p:spPr>
          <a:xfrm>
            <a:off x="626308" y="3374776"/>
            <a:ext cx="3942851" cy="1257947"/>
          </a:xfrm>
        </p:spPr>
        <p:txBody>
          <a:bodyPr>
            <a:normAutofit/>
          </a:bodyPr>
          <a:lstStyle/>
          <a:p>
            <a:pPr marL="0" indent="0">
              <a:buNone/>
            </a:pPr>
            <a:r>
              <a:rPr lang="de-AT" dirty="0"/>
              <a:t>After </a:t>
            </a:r>
            <a:r>
              <a:rPr lang="de-AT" dirty="0" err="1"/>
              <a:t>succesfull</a:t>
            </a:r>
            <a:r>
              <a:rPr lang="de-AT" dirty="0"/>
              <a:t> </a:t>
            </a:r>
            <a:r>
              <a:rPr lang="de-AT" dirty="0" err="1"/>
              <a:t>hashing</a:t>
            </a:r>
            <a:r>
              <a:rPr lang="de-AT" dirty="0"/>
              <a:t> </a:t>
            </a:r>
            <a:r>
              <a:rPr lang="de-AT" dirty="0" err="1"/>
              <a:t>of</a:t>
            </a:r>
            <a:r>
              <a:rPr lang="de-AT" dirty="0"/>
              <a:t> </a:t>
            </a:r>
            <a:r>
              <a:rPr lang="de-AT" dirty="0" err="1"/>
              <a:t>the</a:t>
            </a:r>
            <a:r>
              <a:rPr lang="de-AT" dirty="0"/>
              <a:t> </a:t>
            </a:r>
            <a:r>
              <a:rPr lang="de-AT" dirty="0" err="1"/>
              <a:t>component</a:t>
            </a:r>
            <a:r>
              <a:rPr lang="de-AT" dirty="0"/>
              <a:t> XML </a:t>
            </a:r>
            <a:r>
              <a:rPr lang="de-AT" dirty="0" err="1"/>
              <a:t>click</a:t>
            </a:r>
            <a:r>
              <a:rPr lang="de-AT" dirty="0"/>
              <a:t> „Save </a:t>
            </a:r>
            <a:r>
              <a:rPr lang="de-AT" dirty="0" err="1"/>
              <a:t>Component</a:t>
            </a:r>
            <a:r>
              <a:rPr lang="de-AT" dirty="0"/>
              <a:t> Data“ </a:t>
            </a:r>
          </a:p>
          <a:p>
            <a:endParaRPr lang="de-AT" dirty="0"/>
          </a:p>
        </p:txBody>
      </p:sp>
      <p:pic>
        <p:nvPicPr>
          <p:cNvPr id="6" name="Grafik 5">
            <a:extLst>
              <a:ext uri="{FF2B5EF4-FFF2-40B4-BE49-F238E27FC236}">
                <a16:creationId xmlns:a16="http://schemas.microsoft.com/office/drawing/2014/main" id="{A67A5C18-6608-446F-B89A-A5DA5082CD45}"/>
              </a:ext>
            </a:extLst>
          </p:cNvPr>
          <p:cNvPicPr>
            <a:picLocks noChangeAspect="1"/>
          </p:cNvPicPr>
          <p:nvPr/>
        </p:nvPicPr>
        <p:blipFill>
          <a:blip r:embed="rId3"/>
          <a:stretch>
            <a:fillRect/>
          </a:stretch>
        </p:blipFill>
        <p:spPr>
          <a:xfrm>
            <a:off x="5292080" y="1839942"/>
            <a:ext cx="3528191" cy="2678400"/>
          </a:xfrm>
          <a:prstGeom prst="rect">
            <a:avLst/>
          </a:prstGeom>
        </p:spPr>
      </p:pic>
    </p:spTree>
    <p:extLst>
      <p:ext uri="{BB962C8B-B14F-4D97-AF65-F5344CB8AC3E}">
        <p14:creationId xmlns:p14="http://schemas.microsoft.com/office/powerpoint/2010/main" val="4109008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332F6EF-0520-4D96-96EE-AD76C169F0DA}"/>
              </a:ext>
            </a:extLst>
          </p:cNvPr>
          <p:cNvPicPr>
            <a:picLocks noChangeAspect="1"/>
          </p:cNvPicPr>
          <p:nvPr/>
        </p:nvPicPr>
        <p:blipFill>
          <a:blip r:embed="rId2"/>
          <a:stretch>
            <a:fillRect/>
          </a:stretch>
        </p:blipFill>
        <p:spPr>
          <a:xfrm>
            <a:off x="1025859" y="1563637"/>
            <a:ext cx="7031676" cy="2890800"/>
          </a:xfrm>
          <a:prstGeom prst="rect">
            <a:avLst/>
          </a:prstGeom>
        </p:spPr>
      </p:pic>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Generation of input XML for a certified aero device (4/4)</a:t>
            </a:r>
            <a:b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br>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Hashing example </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Inhaltsplatzhalter 2">
            <a:extLst>
              <a:ext uri="{FF2B5EF4-FFF2-40B4-BE49-F238E27FC236}">
                <a16:creationId xmlns:a16="http://schemas.microsoft.com/office/drawing/2014/main" id="{4322C5B7-EE2B-43E3-AD8A-1D921A478984}"/>
              </a:ext>
            </a:extLst>
          </p:cNvPr>
          <p:cNvSpPr>
            <a:spLocks noGrp="1"/>
          </p:cNvSpPr>
          <p:nvPr>
            <p:ph idx="1"/>
          </p:nvPr>
        </p:nvSpPr>
        <p:spPr>
          <a:xfrm>
            <a:off x="628650" y="1131590"/>
            <a:ext cx="7886700" cy="3119488"/>
          </a:xfrm>
        </p:spPr>
        <p:txBody>
          <a:bodyPr/>
          <a:lstStyle/>
          <a:p>
            <a:pPr>
              <a:buClr>
                <a:srgbClr val="034EA2"/>
              </a:buClr>
            </a:pPr>
            <a:r>
              <a:rPr lang="de-AT" dirty="0" err="1"/>
              <a:t>Hashed</a:t>
            </a:r>
            <a:r>
              <a:rPr lang="de-AT" dirty="0"/>
              <a:t> </a:t>
            </a:r>
            <a:r>
              <a:rPr lang="de-AT" dirty="0" err="1"/>
              <a:t>component</a:t>
            </a:r>
            <a:r>
              <a:rPr lang="de-AT" dirty="0"/>
              <a:t> File</a:t>
            </a:r>
          </a:p>
          <a:p>
            <a:endParaRPr lang="de-AT" dirty="0"/>
          </a:p>
        </p:txBody>
      </p:sp>
      <p:sp>
        <p:nvSpPr>
          <p:cNvPr id="4" name="Rechteck 3">
            <a:extLst>
              <a:ext uri="{FF2B5EF4-FFF2-40B4-BE49-F238E27FC236}">
                <a16:creationId xmlns:a16="http://schemas.microsoft.com/office/drawing/2014/main" id="{FF84D403-7E62-4AE5-A6F5-9CEDBCA8E46B}"/>
              </a:ext>
            </a:extLst>
          </p:cNvPr>
          <p:cNvSpPr/>
          <p:nvPr/>
        </p:nvSpPr>
        <p:spPr>
          <a:xfrm>
            <a:off x="1403648" y="3257813"/>
            <a:ext cx="4032448" cy="97200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951984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Verification of component hash for a certified aero device (1/3) </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3" name="Inhaltsplatzhalter 2">
            <a:extLst>
              <a:ext uri="{FF2B5EF4-FFF2-40B4-BE49-F238E27FC236}">
                <a16:creationId xmlns:a16="http://schemas.microsoft.com/office/drawing/2014/main" id="{20F1468C-183F-44AC-AB1B-AF050DD8EA2C}"/>
              </a:ext>
            </a:extLst>
          </p:cNvPr>
          <p:cNvSpPr>
            <a:spLocks noGrp="1"/>
          </p:cNvSpPr>
          <p:nvPr>
            <p:ph idx="1"/>
          </p:nvPr>
        </p:nvSpPr>
        <p:spPr>
          <a:xfrm>
            <a:off x="628650" y="987574"/>
            <a:ext cx="7886700" cy="3263504"/>
          </a:xfrm>
        </p:spPr>
        <p:txBody>
          <a:bodyPr/>
          <a:lstStyle/>
          <a:p>
            <a:pPr>
              <a:buClr>
                <a:srgbClr val="034EA2"/>
              </a:buClr>
            </a:pPr>
            <a:r>
              <a:rPr lang="de-AT" dirty="0"/>
              <a:t>At </a:t>
            </a:r>
            <a:r>
              <a:rPr lang="de-AT" dirty="0" err="1"/>
              <a:t>the</a:t>
            </a:r>
            <a:r>
              <a:rPr lang="de-AT" dirty="0"/>
              <a:t> </a:t>
            </a:r>
            <a:r>
              <a:rPr lang="de-AT" dirty="0" err="1"/>
              <a:t>start</a:t>
            </a:r>
            <a:r>
              <a:rPr lang="de-AT" dirty="0"/>
              <a:t> screen </a:t>
            </a:r>
            <a:r>
              <a:rPr lang="de-AT" dirty="0" err="1"/>
              <a:t>click</a:t>
            </a:r>
            <a:r>
              <a:rPr lang="de-AT" dirty="0"/>
              <a:t> „</a:t>
            </a:r>
            <a:r>
              <a:rPr lang="de-AT" dirty="0" err="1"/>
              <a:t>Verify</a:t>
            </a:r>
            <a:r>
              <a:rPr lang="de-AT" dirty="0"/>
              <a:t> </a:t>
            </a:r>
            <a:r>
              <a:rPr lang="de-AT" dirty="0" err="1"/>
              <a:t>Component</a:t>
            </a:r>
            <a:r>
              <a:rPr lang="de-AT" dirty="0"/>
              <a:t> Data“</a:t>
            </a:r>
          </a:p>
          <a:p>
            <a:pPr lvl="1">
              <a:buClr>
                <a:srgbClr val="034EA2"/>
              </a:buClr>
            </a:pPr>
            <a:r>
              <a:rPr lang="de-AT" dirty="0" err="1"/>
              <a:t>then</a:t>
            </a:r>
            <a:r>
              <a:rPr lang="de-AT" dirty="0"/>
              <a:t> </a:t>
            </a:r>
            <a:r>
              <a:rPr lang="de-AT" dirty="0" err="1"/>
              <a:t>click</a:t>
            </a:r>
            <a:r>
              <a:rPr lang="de-AT" dirty="0"/>
              <a:t> </a:t>
            </a:r>
            <a:r>
              <a:rPr lang="de-AT" dirty="0" err="1"/>
              <a:t>the</a:t>
            </a:r>
            <a:r>
              <a:rPr lang="de-AT" dirty="0"/>
              <a:t> browse </a:t>
            </a:r>
            <a:r>
              <a:rPr lang="de-AT" dirty="0" err="1"/>
              <a:t>button</a:t>
            </a:r>
            <a:r>
              <a:rPr lang="de-AT" dirty="0"/>
              <a:t> </a:t>
            </a:r>
            <a:r>
              <a:rPr lang="de-AT" dirty="0" err="1"/>
              <a:t>to</a:t>
            </a:r>
            <a:r>
              <a:rPr lang="de-AT" dirty="0"/>
              <a:t> </a:t>
            </a:r>
            <a:r>
              <a:rPr lang="de-AT" dirty="0" err="1"/>
              <a:t>search</a:t>
            </a:r>
            <a:r>
              <a:rPr lang="de-AT" dirty="0"/>
              <a:t> </a:t>
            </a:r>
            <a:r>
              <a:rPr lang="de-AT" dirty="0" err="1"/>
              <a:t>for</a:t>
            </a:r>
            <a:r>
              <a:rPr lang="de-AT" dirty="0"/>
              <a:t> a </a:t>
            </a:r>
            <a:r>
              <a:rPr lang="de-AT" dirty="0" err="1"/>
              <a:t>hashed</a:t>
            </a:r>
            <a:r>
              <a:rPr lang="de-AT" dirty="0"/>
              <a:t> XML </a:t>
            </a:r>
            <a:r>
              <a:rPr lang="de-AT" dirty="0">
                <a:sym typeface="Wingdings" panose="05000000000000000000" pitchFamily="2" charset="2"/>
              </a:rPr>
              <a:t> Digest </a:t>
            </a:r>
            <a:r>
              <a:rPr lang="de-AT" dirty="0" err="1">
                <a:sym typeface="Wingdings" panose="05000000000000000000" pitchFamily="2" charset="2"/>
              </a:rPr>
              <a:t>values</a:t>
            </a:r>
            <a:r>
              <a:rPr lang="de-AT" dirty="0">
                <a:sym typeface="Wingdings" panose="05000000000000000000" pitchFamily="2" charset="2"/>
              </a:rPr>
              <a:t> will </a:t>
            </a:r>
            <a:r>
              <a:rPr lang="de-AT" dirty="0" err="1">
                <a:sym typeface="Wingdings" panose="05000000000000000000" pitchFamily="2" charset="2"/>
              </a:rPr>
              <a:t>only</a:t>
            </a:r>
            <a:r>
              <a:rPr lang="de-AT" dirty="0">
                <a:sym typeface="Wingdings" panose="05000000000000000000" pitchFamily="2" charset="2"/>
              </a:rPr>
              <a:t> </a:t>
            </a:r>
            <a:r>
              <a:rPr lang="de-AT" dirty="0" err="1">
                <a:sym typeface="Wingdings" panose="05000000000000000000" pitchFamily="2" charset="2"/>
              </a:rPr>
              <a:t>match</a:t>
            </a:r>
            <a:r>
              <a:rPr lang="de-AT" dirty="0">
                <a:sym typeface="Wingdings" panose="05000000000000000000" pitchFamily="2" charset="2"/>
              </a:rPr>
              <a:t> </a:t>
            </a:r>
            <a:r>
              <a:rPr lang="de-AT" dirty="0" err="1">
                <a:sym typeface="Wingdings" panose="05000000000000000000" pitchFamily="2" charset="2"/>
              </a:rPr>
              <a:t>if</a:t>
            </a:r>
            <a:r>
              <a:rPr lang="de-AT" dirty="0">
                <a:sym typeface="Wingdings" panose="05000000000000000000" pitchFamily="2" charset="2"/>
              </a:rPr>
              <a:t> </a:t>
            </a:r>
            <a:r>
              <a:rPr lang="de-AT" dirty="0" err="1">
                <a:sym typeface="Wingdings" panose="05000000000000000000" pitchFamily="2" charset="2"/>
              </a:rPr>
              <a:t>nothing</a:t>
            </a:r>
            <a:r>
              <a:rPr lang="de-AT" dirty="0">
                <a:sym typeface="Wingdings" panose="05000000000000000000" pitchFamily="2" charset="2"/>
              </a:rPr>
              <a:t> was </a:t>
            </a:r>
            <a:r>
              <a:rPr lang="de-AT" dirty="0" err="1">
                <a:sym typeface="Wingdings" panose="05000000000000000000" pitchFamily="2" charset="2"/>
              </a:rPr>
              <a:t>changed</a:t>
            </a:r>
            <a:r>
              <a:rPr lang="de-AT" dirty="0">
                <a:sym typeface="Wingdings" panose="05000000000000000000" pitchFamily="2" charset="2"/>
              </a:rPr>
              <a:t> after </a:t>
            </a:r>
            <a:r>
              <a:rPr lang="de-AT" dirty="0" err="1">
                <a:sym typeface="Wingdings" panose="05000000000000000000" pitchFamily="2" charset="2"/>
              </a:rPr>
              <a:t>hashing</a:t>
            </a:r>
            <a:endParaRPr lang="de-AT" dirty="0"/>
          </a:p>
          <a:p>
            <a:endParaRPr lang="de-AT" dirty="0"/>
          </a:p>
        </p:txBody>
      </p:sp>
      <p:pic>
        <p:nvPicPr>
          <p:cNvPr id="4" name="Grafik 3">
            <a:extLst>
              <a:ext uri="{FF2B5EF4-FFF2-40B4-BE49-F238E27FC236}">
                <a16:creationId xmlns:a16="http://schemas.microsoft.com/office/drawing/2014/main" id="{CC827E58-FD9E-4F95-8885-47894ECD96A0}"/>
              </a:ext>
            </a:extLst>
          </p:cNvPr>
          <p:cNvPicPr>
            <a:picLocks noChangeAspect="1"/>
          </p:cNvPicPr>
          <p:nvPr/>
        </p:nvPicPr>
        <p:blipFill>
          <a:blip r:embed="rId2"/>
          <a:stretch>
            <a:fillRect/>
          </a:stretch>
        </p:blipFill>
        <p:spPr>
          <a:xfrm>
            <a:off x="881107" y="2050652"/>
            <a:ext cx="3352134" cy="2537321"/>
          </a:xfrm>
          <a:prstGeom prst="rect">
            <a:avLst/>
          </a:prstGeom>
        </p:spPr>
      </p:pic>
      <p:sp>
        <p:nvSpPr>
          <p:cNvPr id="6" name="Pfeil: nach rechts 5">
            <a:extLst>
              <a:ext uri="{FF2B5EF4-FFF2-40B4-BE49-F238E27FC236}">
                <a16:creationId xmlns:a16="http://schemas.microsoft.com/office/drawing/2014/main" id="{5DE6A47B-0936-4382-9D56-9A0E708CAC33}"/>
              </a:ext>
            </a:extLst>
          </p:cNvPr>
          <p:cNvSpPr/>
          <p:nvPr/>
        </p:nvSpPr>
        <p:spPr>
          <a:xfrm>
            <a:off x="4233240" y="3111810"/>
            <a:ext cx="684429"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FC00AA59-B1FF-43DF-8381-8D9421345E26}"/>
              </a:ext>
            </a:extLst>
          </p:cNvPr>
          <p:cNvSpPr/>
          <p:nvPr/>
        </p:nvSpPr>
        <p:spPr>
          <a:xfrm>
            <a:off x="2604470" y="2808397"/>
            <a:ext cx="1170000" cy="54006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8" name="Rechteck 7">
            <a:extLst>
              <a:ext uri="{FF2B5EF4-FFF2-40B4-BE49-F238E27FC236}">
                <a16:creationId xmlns:a16="http://schemas.microsoft.com/office/drawing/2014/main" id="{B0A156D7-1CC3-40D2-8A75-C7FFA95B2163}"/>
              </a:ext>
            </a:extLst>
          </p:cNvPr>
          <p:cNvSpPr/>
          <p:nvPr/>
        </p:nvSpPr>
        <p:spPr>
          <a:xfrm>
            <a:off x="7520518" y="2927980"/>
            <a:ext cx="295200" cy="11160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10" name="Grafik 9">
            <a:extLst>
              <a:ext uri="{FF2B5EF4-FFF2-40B4-BE49-F238E27FC236}">
                <a16:creationId xmlns:a16="http://schemas.microsoft.com/office/drawing/2014/main" id="{50A50037-0DA0-46D9-8F82-97F2CD4C379C}"/>
              </a:ext>
            </a:extLst>
          </p:cNvPr>
          <p:cNvPicPr>
            <a:picLocks noChangeAspect="1"/>
          </p:cNvPicPr>
          <p:nvPr/>
        </p:nvPicPr>
        <p:blipFill>
          <a:blip r:embed="rId3"/>
          <a:stretch>
            <a:fillRect/>
          </a:stretch>
        </p:blipFill>
        <p:spPr>
          <a:xfrm>
            <a:off x="4917669" y="2039204"/>
            <a:ext cx="3352134" cy="2649267"/>
          </a:xfrm>
          <a:prstGeom prst="rect">
            <a:avLst/>
          </a:prstGeom>
        </p:spPr>
      </p:pic>
      <p:sp>
        <p:nvSpPr>
          <p:cNvPr id="11" name="Rechteck 10">
            <a:extLst>
              <a:ext uri="{FF2B5EF4-FFF2-40B4-BE49-F238E27FC236}">
                <a16:creationId xmlns:a16="http://schemas.microsoft.com/office/drawing/2014/main" id="{C18A3C31-80D1-48C1-B578-EFD78331B2A4}"/>
              </a:ext>
            </a:extLst>
          </p:cNvPr>
          <p:cNvSpPr/>
          <p:nvPr/>
        </p:nvSpPr>
        <p:spPr>
          <a:xfrm>
            <a:off x="7701271" y="2853552"/>
            <a:ext cx="295200" cy="10080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14913669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23E9CD8-22B5-4987-AF7B-62FC96747ADA}"/>
              </a:ext>
            </a:extLst>
          </p:cNvPr>
          <p:cNvPicPr>
            <a:picLocks noChangeAspect="1"/>
          </p:cNvPicPr>
          <p:nvPr/>
        </p:nvPicPr>
        <p:blipFill>
          <a:blip r:embed="rId2"/>
          <a:stretch>
            <a:fillRect/>
          </a:stretch>
        </p:blipFill>
        <p:spPr>
          <a:xfrm>
            <a:off x="310474" y="1405904"/>
            <a:ext cx="6768680" cy="2700937"/>
          </a:xfrm>
          <a:prstGeom prst="rect">
            <a:avLst/>
          </a:prstGeom>
        </p:spPr>
      </p:pic>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Verification of component hash for a certified aero device (2/3)</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Inhaltsplatzhalter 2">
            <a:extLst>
              <a:ext uri="{FF2B5EF4-FFF2-40B4-BE49-F238E27FC236}">
                <a16:creationId xmlns:a16="http://schemas.microsoft.com/office/drawing/2014/main" id="{4322C5B7-EE2B-43E3-AD8A-1D921A478984}"/>
              </a:ext>
            </a:extLst>
          </p:cNvPr>
          <p:cNvSpPr>
            <a:spLocks noGrp="1"/>
          </p:cNvSpPr>
          <p:nvPr>
            <p:ph idx="1"/>
          </p:nvPr>
        </p:nvSpPr>
        <p:spPr>
          <a:xfrm>
            <a:off x="628650" y="987572"/>
            <a:ext cx="7886700" cy="3263506"/>
          </a:xfrm>
        </p:spPr>
        <p:txBody>
          <a:bodyPr/>
          <a:lstStyle/>
          <a:p>
            <a:pPr>
              <a:buClr>
                <a:srgbClr val="034EA2"/>
              </a:buClr>
            </a:pPr>
            <a:r>
              <a:rPr lang="de-AT" dirty="0" err="1"/>
              <a:t>Example</a:t>
            </a:r>
            <a:r>
              <a:rPr lang="de-AT" dirty="0"/>
              <a:t> </a:t>
            </a:r>
            <a:r>
              <a:rPr lang="de-AT" dirty="0" err="1"/>
              <a:t>verification</a:t>
            </a:r>
            <a:r>
              <a:rPr lang="de-AT" dirty="0"/>
              <a:t> </a:t>
            </a:r>
            <a:r>
              <a:rPr lang="de-AT" dirty="0" err="1"/>
              <a:t>of</a:t>
            </a:r>
            <a:r>
              <a:rPr lang="de-AT" dirty="0"/>
              <a:t> an </a:t>
            </a:r>
            <a:r>
              <a:rPr lang="de-AT" dirty="0" err="1"/>
              <a:t>unchanged</a:t>
            </a:r>
            <a:r>
              <a:rPr lang="de-AT" dirty="0"/>
              <a:t> XML</a:t>
            </a:r>
          </a:p>
          <a:p>
            <a:endParaRPr lang="de-AT" dirty="0"/>
          </a:p>
        </p:txBody>
      </p:sp>
      <p:pic>
        <p:nvPicPr>
          <p:cNvPr id="5" name="Grafik 4">
            <a:extLst>
              <a:ext uri="{FF2B5EF4-FFF2-40B4-BE49-F238E27FC236}">
                <a16:creationId xmlns:a16="http://schemas.microsoft.com/office/drawing/2014/main" id="{CC66D280-95CD-4556-AAE9-873629979CC1}"/>
              </a:ext>
            </a:extLst>
          </p:cNvPr>
          <p:cNvPicPr>
            <a:picLocks noChangeAspect="1"/>
          </p:cNvPicPr>
          <p:nvPr/>
        </p:nvPicPr>
        <p:blipFill>
          <a:blip r:embed="rId3"/>
          <a:stretch>
            <a:fillRect/>
          </a:stretch>
        </p:blipFill>
        <p:spPr>
          <a:xfrm>
            <a:off x="5140665" y="1727058"/>
            <a:ext cx="3692861" cy="2912499"/>
          </a:xfrm>
          <a:prstGeom prst="rect">
            <a:avLst/>
          </a:prstGeom>
        </p:spPr>
      </p:pic>
      <p:cxnSp>
        <p:nvCxnSpPr>
          <p:cNvPr id="8" name="Gerader Verbinder 7">
            <a:extLst>
              <a:ext uri="{FF2B5EF4-FFF2-40B4-BE49-F238E27FC236}">
                <a16:creationId xmlns:a16="http://schemas.microsoft.com/office/drawing/2014/main" id="{8CE86FB3-B641-467F-8A79-3193E5CBF7AA}"/>
              </a:ext>
            </a:extLst>
          </p:cNvPr>
          <p:cNvCxnSpPr>
            <a:cxnSpLocks/>
          </p:cNvCxnSpPr>
          <p:nvPr/>
        </p:nvCxnSpPr>
        <p:spPr>
          <a:xfrm flipV="1">
            <a:off x="4572000" y="1635647"/>
            <a:ext cx="0" cy="252028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C5385120-5425-440C-A9EB-A2AA968C6695}"/>
              </a:ext>
            </a:extLst>
          </p:cNvPr>
          <p:cNvCxnSpPr>
            <a:cxnSpLocks/>
          </p:cNvCxnSpPr>
          <p:nvPr/>
        </p:nvCxnSpPr>
        <p:spPr>
          <a:xfrm>
            <a:off x="4569159" y="1635647"/>
            <a:ext cx="424563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F6B8DC90-7829-4E92-BFD3-FFAE67786737}"/>
              </a:ext>
            </a:extLst>
          </p:cNvPr>
          <p:cNvCxnSpPr>
            <a:cxnSpLocks/>
          </p:cNvCxnSpPr>
          <p:nvPr/>
        </p:nvCxnSpPr>
        <p:spPr>
          <a:xfrm>
            <a:off x="251520" y="4155927"/>
            <a:ext cx="432048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B000AD58-3B8B-4273-9286-245BE39EAB77}"/>
              </a:ext>
            </a:extLst>
          </p:cNvPr>
          <p:cNvCxnSpPr>
            <a:cxnSpLocks/>
          </p:cNvCxnSpPr>
          <p:nvPr/>
        </p:nvCxnSpPr>
        <p:spPr>
          <a:xfrm flipV="1">
            <a:off x="251520" y="1347614"/>
            <a:ext cx="0" cy="280831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3647311A-86F4-4DCF-BDB5-A7A5ED449DBD}"/>
              </a:ext>
            </a:extLst>
          </p:cNvPr>
          <p:cNvCxnSpPr>
            <a:cxnSpLocks/>
          </p:cNvCxnSpPr>
          <p:nvPr/>
        </p:nvCxnSpPr>
        <p:spPr>
          <a:xfrm flipH="1">
            <a:off x="251520" y="1347615"/>
            <a:ext cx="85632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4F6391FE-AA63-4F43-B2EE-075C8B7EB97F}"/>
              </a:ext>
            </a:extLst>
          </p:cNvPr>
          <p:cNvCxnSpPr>
            <a:cxnSpLocks/>
          </p:cNvCxnSpPr>
          <p:nvPr/>
        </p:nvCxnSpPr>
        <p:spPr>
          <a:xfrm flipV="1">
            <a:off x="8814790" y="1347617"/>
            <a:ext cx="0" cy="28803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Pfeil: nach rechts 17">
            <a:extLst>
              <a:ext uri="{FF2B5EF4-FFF2-40B4-BE49-F238E27FC236}">
                <a16:creationId xmlns:a16="http://schemas.microsoft.com/office/drawing/2014/main" id="{70394B11-FF8B-4BE4-B972-121E71C90CAF}"/>
              </a:ext>
            </a:extLst>
          </p:cNvPr>
          <p:cNvSpPr/>
          <p:nvPr/>
        </p:nvSpPr>
        <p:spPr>
          <a:xfrm>
            <a:off x="4569160" y="2646649"/>
            <a:ext cx="571505" cy="504056"/>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1571317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3DE13A0-A1DD-4920-8CE0-A4D0A8BC2A56}"/>
              </a:ext>
            </a:extLst>
          </p:cNvPr>
          <p:cNvPicPr>
            <a:picLocks noChangeAspect="1"/>
          </p:cNvPicPr>
          <p:nvPr/>
        </p:nvPicPr>
        <p:blipFill>
          <a:blip r:embed="rId2"/>
          <a:stretch>
            <a:fillRect/>
          </a:stretch>
        </p:blipFill>
        <p:spPr>
          <a:xfrm>
            <a:off x="316154" y="1410413"/>
            <a:ext cx="6777218" cy="2700000"/>
          </a:xfrm>
          <a:prstGeom prst="rect">
            <a:avLst/>
          </a:prstGeom>
        </p:spPr>
      </p:pic>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Verification of component hash for a certified aero device (3/3)</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Inhaltsplatzhalter 2">
            <a:extLst>
              <a:ext uri="{FF2B5EF4-FFF2-40B4-BE49-F238E27FC236}">
                <a16:creationId xmlns:a16="http://schemas.microsoft.com/office/drawing/2014/main" id="{4322C5B7-EE2B-43E3-AD8A-1D921A478984}"/>
              </a:ext>
            </a:extLst>
          </p:cNvPr>
          <p:cNvSpPr>
            <a:spLocks noGrp="1"/>
          </p:cNvSpPr>
          <p:nvPr>
            <p:ph idx="1"/>
          </p:nvPr>
        </p:nvSpPr>
        <p:spPr>
          <a:xfrm>
            <a:off x="628650" y="987572"/>
            <a:ext cx="7886700" cy="3263506"/>
          </a:xfrm>
        </p:spPr>
        <p:txBody>
          <a:bodyPr/>
          <a:lstStyle/>
          <a:p>
            <a:pPr>
              <a:buClr>
                <a:srgbClr val="034EA2"/>
              </a:buClr>
            </a:pPr>
            <a:r>
              <a:rPr lang="de-AT" dirty="0" err="1"/>
              <a:t>Example</a:t>
            </a:r>
            <a:r>
              <a:rPr lang="de-AT" dirty="0"/>
              <a:t> </a:t>
            </a:r>
            <a:r>
              <a:rPr lang="de-AT" dirty="0" err="1"/>
              <a:t>verification</a:t>
            </a:r>
            <a:r>
              <a:rPr lang="de-AT" dirty="0"/>
              <a:t> </a:t>
            </a:r>
            <a:r>
              <a:rPr lang="de-AT" dirty="0" err="1"/>
              <a:t>of</a:t>
            </a:r>
            <a:r>
              <a:rPr lang="de-AT" dirty="0"/>
              <a:t> a </a:t>
            </a:r>
            <a:r>
              <a:rPr lang="de-AT" dirty="0" err="1"/>
              <a:t>modified</a:t>
            </a:r>
            <a:r>
              <a:rPr lang="de-AT" dirty="0"/>
              <a:t> XML</a:t>
            </a:r>
          </a:p>
          <a:p>
            <a:pPr marL="0" indent="0">
              <a:buNone/>
            </a:pPr>
            <a:endParaRPr lang="de-AT" dirty="0"/>
          </a:p>
        </p:txBody>
      </p:sp>
      <p:pic>
        <p:nvPicPr>
          <p:cNvPr id="3" name="Grafik 2">
            <a:extLst>
              <a:ext uri="{FF2B5EF4-FFF2-40B4-BE49-F238E27FC236}">
                <a16:creationId xmlns:a16="http://schemas.microsoft.com/office/drawing/2014/main" id="{036B6EF5-88BE-42B0-916D-03E12E94B289}"/>
              </a:ext>
            </a:extLst>
          </p:cNvPr>
          <p:cNvPicPr>
            <a:picLocks noChangeAspect="1"/>
          </p:cNvPicPr>
          <p:nvPr/>
        </p:nvPicPr>
        <p:blipFill>
          <a:blip r:embed="rId3"/>
          <a:stretch>
            <a:fillRect/>
          </a:stretch>
        </p:blipFill>
        <p:spPr>
          <a:xfrm>
            <a:off x="5141339" y="1726676"/>
            <a:ext cx="3673451" cy="2912400"/>
          </a:xfrm>
          <a:prstGeom prst="rect">
            <a:avLst/>
          </a:prstGeom>
        </p:spPr>
      </p:pic>
      <p:cxnSp>
        <p:nvCxnSpPr>
          <p:cNvPr id="9" name="Gerader Verbinder 8">
            <a:extLst>
              <a:ext uri="{FF2B5EF4-FFF2-40B4-BE49-F238E27FC236}">
                <a16:creationId xmlns:a16="http://schemas.microsoft.com/office/drawing/2014/main" id="{1BC73146-292F-4D95-B09B-01323736D3A8}"/>
              </a:ext>
            </a:extLst>
          </p:cNvPr>
          <p:cNvCxnSpPr>
            <a:cxnSpLocks/>
          </p:cNvCxnSpPr>
          <p:nvPr/>
        </p:nvCxnSpPr>
        <p:spPr>
          <a:xfrm flipV="1">
            <a:off x="4572000" y="1635647"/>
            <a:ext cx="0" cy="252028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010D120C-7326-46BC-AEE9-2A6872F6FD89}"/>
              </a:ext>
            </a:extLst>
          </p:cNvPr>
          <p:cNvCxnSpPr>
            <a:cxnSpLocks/>
          </p:cNvCxnSpPr>
          <p:nvPr/>
        </p:nvCxnSpPr>
        <p:spPr>
          <a:xfrm>
            <a:off x="4569159" y="1635647"/>
            <a:ext cx="424563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3A0582D8-1499-4AE7-9898-C62D29F3D3AE}"/>
              </a:ext>
            </a:extLst>
          </p:cNvPr>
          <p:cNvCxnSpPr>
            <a:cxnSpLocks/>
          </p:cNvCxnSpPr>
          <p:nvPr/>
        </p:nvCxnSpPr>
        <p:spPr>
          <a:xfrm>
            <a:off x="251520" y="4155927"/>
            <a:ext cx="432048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13133000-5130-46AB-9D0F-C1DC7C786B01}"/>
              </a:ext>
            </a:extLst>
          </p:cNvPr>
          <p:cNvCxnSpPr>
            <a:cxnSpLocks/>
          </p:cNvCxnSpPr>
          <p:nvPr/>
        </p:nvCxnSpPr>
        <p:spPr>
          <a:xfrm flipV="1">
            <a:off x="251520" y="1347614"/>
            <a:ext cx="0" cy="280831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ECDE66A4-1355-44D2-A0EB-C37D1E9401FD}"/>
              </a:ext>
            </a:extLst>
          </p:cNvPr>
          <p:cNvCxnSpPr>
            <a:cxnSpLocks/>
          </p:cNvCxnSpPr>
          <p:nvPr/>
        </p:nvCxnSpPr>
        <p:spPr>
          <a:xfrm flipH="1">
            <a:off x="251520" y="1347615"/>
            <a:ext cx="85632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420E7E81-2FE0-437C-A704-19CEA521300B}"/>
              </a:ext>
            </a:extLst>
          </p:cNvPr>
          <p:cNvCxnSpPr>
            <a:cxnSpLocks/>
          </p:cNvCxnSpPr>
          <p:nvPr/>
        </p:nvCxnSpPr>
        <p:spPr>
          <a:xfrm flipV="1">
            <a:off x="8814790" y="1347617"/>
            <a:ext cx="0" cy="28803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Pfeil: nach rechts 14">
            <a:extLst>
              <a:ext uri="{FF2B5EF4-FFF2-40B4-BE49-F238E27FC236}">
                <a16:creationId xmlns:a16="http://schemas.microsoft.com/office/drawing/2014/main" id="{E380A3AD-86F8-4238-8E43-90389C930B9A}"/>
              </a:ext>
            </a:extLst>
          </p:cNvPr>
          <p:cNvSpPr/>
          <p:nvPr/>
        </p:nvSpPr>
        <p:spPr>
          <a:xfrm>
            <a:off x="4569160" y="2646649"/>
            <a:ext cx="571505" cy="504056"/>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E4070789-C588-48DA-A22A-C9C987FDD733}"/>
              </a:ext>
            </a:extLst>
          </p:cNvPr>
          <p:cNvSpPr/>
          <p:nvPr/>
        </p:nvSpPr>
        <p:spPr>
          <a:xfrm>
            <a:off x="2101644" y="2139703"/>
            <a:ext cx="191729" cy="87304"/>
          </a:xfrm>
          <a:prstGeom prst="rect">
            <a:avLst/>
          </a:prstGeom>
          <a:solidFill>
            <a:srgbClr val="1D9A78">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15605104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Standard aerodynamic devices – for DA trailers</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pic>
        <p:nvPicPr>
          <p:cNvPr id="5" name="Grafik 4"/>
          <p:cNvPicPr>
            <a:picLocks noChangeAspect="1"/>
          </p:cNvPicPr>
          <p:nvPr/>
        </p:nvPicPr>
        <p:blipFill>
          <a:blip r:embed="rId2"/>
          <a:stretch>
            <a:fillRect/>
          </a:stretch>
        </p:blipFill>
        <p:spPr>
          <a:xfrm>
            <a:off x="790575" y="987574"/>
            <a:ext cx="7562850" cy="3667125"/>
          </a:xfrm>
          <a:prstGeom prst="rect">
            <a:avLst/>
          </a:prstGeom>
        </p:spPr>
      </p:pic>
    </p:spTree>
    <p:extLst>
      <p:ext uri="{BB962C8B-B14F-4D97-AF65-F5344CB8AC3E}">
        <p14:creationId xmlns:p14="http://schemas.microsoft.com/office/powerpoint/2010/main" val="279098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Standard aerodynamic devices – for DB trailers</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sp>
        <p:nvSpPr>
          <p:cNvPr id="5" name="Textfeld 4">
            <a:extLst>
              <a:ext uri="{FF2B5EF4-FFF2-40B4-BE49-F238E27FC236}">
                <a16:creationId xmlns:a16="http://schemas.microsoft.com/office/drawing/2014/main" id="{F375F761-4331-47FC-954A-EAED4757A514}"/>
              </a:ext>
            </a:extLst>
          </p:cNvPr>
          <p:cNvSpPr txBox="1"/>
          <p:nvPr/>
        </p:nvSpPr>
        <p:spPr>
          <a:xfrm>
            <a:off x="728042" y="4040530"/>
            <a:ext cx="8199617" cy="954107"/>
          </a:xfrm>
          <a:prstGeom prst="rect">
            <a:avLst/>
          </a:prstGeom>
          <a:noFill/>
        </p:spPr>
        <p:txBody>
          <a:bodyPr wrap="none" rtlCol="0">
            <a:spAutoFit/>
          </a:bodyPr>
          <a:lstStyle/>
          <a:p>
            <a:pPr marL="285750" indent="-285750">
              <a:buFont typeface="Arial" panose="020B0604020202020204" pitchFamily="34" charset="0"/>
              <a:buChar char="•"/>
            </a:pPr>
            <a:r>
              <a:rPr lang="en-US" sz="1400">
                <a:solidFill>
                  <a:schemeClr val="accent6">
                    <a:lumMod val="75000"/>
                  </a:schemeClr>
                </a:solidFill>
              </a:rPr>
              <a:t>Missing values to </a:t>
            </a:r>
            <a:r>
              <a:rPr lang="en-US" sz="1400" dirty="0">
                <a:solidFill>
                  <a:schemeClr val="accent6">
                    <a:lumMod val="75000"/>
                  </a:schemeClr>
                </a:solidFill>
              </a:rPr>
              <a:t>be completed via CFD in second half </a:t>
            </a:r>
            <a:r>
              <a:rPr lang="en-US" sz="1400">
                <a:solidFill>
                  <a:schemeClr val="accent6">
                    <a:lumMod val="75000"/>
                  </a:schemeClr>
                </a:solidFill>
              </a:rPr>
              <a:t>of 2022</a:t>
            </a:r>
          </a:p>
          <a:p>
            <a:pPr marL="285750" indent="-285750">
              <a:buFont typeface="Arial" panose="020B0604020202020204" pitchFamily="34" charset="0"/>
              <a:buChar char="•"/>
            </a:pPr>
            <a:r>
              <a:rPr lang="en-US" sz="1400">
                <a:solidFill>
                  <a:schemeClr val="accent6">
                    <a:lumMod val="75000"/>
                  </a:schemeClr>
                </a:solidFill>
              </a:rPr>
              <a:t>The tool version as released in June 2022 applies placeholder dummy values instead. </a:t>
            </a:r>
            <a:br>
              <a:rPr lang="en-US" sz="1400">
                <a:solidFill>
                  <a:schemeClr val="accent6">
                    <a:lumMod val="75000"/>
                  </a:schemeClr>
                </a:solidFill>
              </a:rPr>
            </a:br>
            <a:r>
              <a:rPr lang="en-US" sz="1400">
                <a:solidFill>
                  <a:schemeClr val="accent6">
                    <a:lumMod val="75000"/>
                  </a:schemeClr>
                </a:solidFill>
              </a:rPr>
              <a:t>THIS IS INTENDED, PLEASE WAIT FOR THE FINAL RELEASE AFTER THE WORK ABOVE HAS BEEN COMPLETED.</a:t>
            </a:r>
          </a:p>
          <a:p>
            <a:pPr marL="285750" indent="-285750">
              <a:buFont typeface="Arial" panose="020B0604020202020204" pitchFamily="34" charset="0"/>
              <a:buChar char="•"/>
            </a:pPr>
            <a:endParaRPr lang="en-US" sz="1400" dirty="0">
              <a:solidFill>
                <a:schemeClr val="accent6">
                  <a:lumMod val="75000"/>
                </a:schemeClr>
              </a:solidFill>
            </a:endParaRPr>
          </a:p>
        </p:txBody>
      </p:sp>
      <p:pic>
        <p:nvPicPr>
          <p:cNvPr id="6" name="Grafik 5"/>
          <p:cNvPicPr>
            <a:picLocks noChangeAspect="1"/>
          </p:cNvPicPr>
          <p:nvPr/>
        </p:nvPicPr>
        <p:blipFill>
          <a:blip r:embed="rId2"/>
          <a:stretch>
            <a:fillRect/>
          </a:stretch>
        </p:blipFill>
        <p:spPr>
          <a:xfrm>
            <a:off x="827584" y="1225600"/>
            <a:ext cx="7562850" cy="2724150"/>
          </a:xfrm>
          <a:prstGeom prst="rect">
            <a:avLst/>
          </a:prstGeom>
        </p:spPr>
      </p:pic>
    </p:spTree>
    <p:extLst>
      <p:ext uri="{BB962C8B-B14F-4D97-AF65-F5344CB8AC3E}">
        <p14:creationId xmlns:p14="http://schemas.microsoft.com/office/powerpoint/2010/main" val="4233414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728042" y="123478"/>
            <a:ext cx="8308454" cy="994172"/>
          </a:xfrm>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Standard aerodynamic devices – for DC trailers</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pic>
        <p:nvPicPr>
          <p:cNvPr id="5" name="Grafik 4"/>
          <p:cNvPicPr>
            <a:picLocks noChangeAspect="1"/>
          </p:cNvPicPr>
          <p:nvPr/>
        </p:nvPicPr>
        <p:blipFill>
          <a:blip r:embed="rId2"/>
          <a:stretch>
            <a:fillRect/>
          </a:stretch>
        </p:blipFill>
        <p:spPr>
          <a:xfrm>
            <a:off x="818009" y="1209675"/>
            <a:ext cx="7562850" cy="2724150"/>
          </a:xfrm>
          <a:prstGeom prst="rect">
            <a:avLst/>
          </a:prstGeom>
        </p:spPr>
      </p:pic>
      <p:sp>
        <p:nvSpPr>
          <p:cNvPr id="6" name="Textfeld 5">
            <a:extLst>
              <a:ext uri="{FF2B5EF4-FFF2-40B4-BE49-F238E27FC236}">
                <a16:creationId xmlns:a16="http://schemas.microsoft.com/office/drawing/2014/main" id="{F375F761-4331-47FC-954A-EAED4757A514}"/>
              </a:ext>
            </a:extLst>
          </p:cNvPr>
          <p:cNvSpPr txBox="1"/>
          <p:nvPr/>
        </p:nvSpPr>
        <p:spPr>
          <a:xfrm>
            <a:off x="728042" y="4065915"/>
            <a:ext cx="8199617" cy="954107"/>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chemeClr val="accent6">
                    <a:lumMod val="75000"/>
                  </a:schemeClr>
                </a:solidFill>
              </a:rPr>
              <a:t>Missing values to be completed via CFD in second half of 2022</a:t>
            </a:r>
          </a:p>
          <a:p>
            <a:pPr marL="285750" indent="-285750">
              <a:buFont typeface="Arial" panose="020B0604020202020204" pitchFamily="34" charset="0"/>
              <a:buChar char="•"/>
            </a:pPr>
            <a:r>
              <a:rPr lang="en-US" sz="1400" dirty="0">
                <a:solidFill>
                  <a:schemeClr val="accent6">
                    <a:lumMod val="75000"/>
                  </a:schemeClr>
                </a:solidFill>
              </a:rPr>
              <a:t>The tool version as released in June 2022 applies placeholder dummy values instead. </a:t>
            </a:r>
            <a:br>
              <a:rPr lang="en-US" sz="1400" dirty="0">
                <a:solidFill>
                  <a:schemeClr val="accent6">
                    <a:lumMod val="75000"/>
                  </a:schemeClr>
                </a:solidFill>
              </a:rPr>
            </a:br>
            <a:r>
              <a:rPr lang="en-US" sz="1400" dirty="0">
                <a:solidFill>
                  <a:schemeClr val="accent6">
                    <a:lumMod val="75000"/>
                  </a:schemeClr>
                </a:solidFill>
              </a:rPr>
              <a:t>THIS IS INTENDED, PLEASE WAIT FOR THE FINAL RELEASE AFTER THE WORK ABOVE HAS BEEN COMPLETED.</a:t>
            </a:r>
          </a:p>
          <a:p>
            <a:pPr marL="285750" indent="-285750">
              <a:buFont typeface="Arial" panose="020B0604020202020204" pitchFamily="34" charset="0"/>
              <a:buChar char="•"/>
            </a:pPr>
            <a:endParaRPr lang="en-US" sz="1400" dirty="0">
              <a:solidFill>
                <a:schemeClr val="accent6">
                  <a:lumMod val="75000"/>
                </a:schemeClr>
              </a:solidFill>
            </a:endParaRPr>
          </a:p>
        </p:txBody>
      </p:sp>
    </p:spTree>
    <p:extLst>
      <p:ext uri="{BB962C8B-B14F-4D97-AF65-F5344CB8AC3E}">
        <p14:creationId xmlns:p14="http://schemas.microsoft.com/office/powerpoint/2010/main" val="1875937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Bonus factors for liftable and steered axles - Overview</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Inhaltsplatzhalter 2"/>
              <p:cNvSpPr>
                <a:spLocks noGrp="1"/>
              </p:cNvSpPr>
              <p:nvPr>
                <p:ph idx="1"/>
              </p:nvPr>
            </p:nvSpPr>
            <p:spPr/>
            <p:txBody>
              <a:bodyPr>
                <a:normAutofit/>
              </a:bodyPr>
              <a:lstStyle/>
              <a:p>
                <a:r>
                  <a:rPr lang="en-US" sz="1800"/>
                  <a:t>In order to model the effect of liftable and/or steered axles on fuel consumption and CO</a:t>
                </a:r>
                <a:r>
                  <a:rPr lang="en-US" sz="1800" baseline="-25000"/>
                  <a:t>2</a:t>
                </a:r>
                <a:r>
                  <a:rPr lang="en-US" sz="1800"/>
                  <a:t> emissions, generic bonus factors are applied in the VECTO Trailer Tool.</a:t>
                </a:r>
              </a:p>
              <a:p>
                <a:r>
                  <a:rPr lang="en-US" sz="1800"/>
                  <a:t>The general formula how to apply these factors (“bf</a:t>
                </a:r>
                <a:r>
                  <a:rPr lang="en-US" sz="1800" baseline="-25000"/>
                  <a:t>lift</a:t>
                </a:r>
                <a:r>
                  <a:rPr lang="en-US" sz="1800"/>
                  <a:t>”, “bf</a:t>
                </a:r>
                <a:r>
                  <a:rPr lang="en-US" sz="1800" baseline="-25000"/>
                  <a:t>steer</a:t>
                </a:r>
                <a:r>
                  <a:rPr lang="en-US" sz="1800"/>
                  <a:t>”; unit = %,</a:t>
                </a:r>
                <a:br>
                  <a:rPr lang="en-US" sz="1800"/>
                </a:br>
                <a:r>
                  <a:rPr lang="en-US" sz="1800"/>
                  <a:t> "-" means reduction) is shown below:</a:t>
                </a:r>
              </a:p>
              <a:p>
                <a:pPr marL="0" indent="0">
                  <a:buNone/>
                </a:pPr>
                <a:endParaRPr lang="en-US" sz="1800"/>
              </a:p>
              <a:p>
                <a:pPr marL="176213" indent="0">
                  <a:buNone/>
                </a:pPr>
                <a14:m>
                  <m:oMath xmlns:m="http://schemas.openxmlformats.org/officeDocument/2006/math">
                    <m:sSub>
                      <m:sSubPr>
                        <m:ctrlPr>
                          <a:rPr lang="de-AT" sz="1800" b="0" i="1" smtClean="0">
                            <a:latin typeface="Cambria Math" panose="02040503050406030204" pitchFamily="18" charset="0"/>
                          </a:rPr>
                        </m:ctrlPr>
                      </m:sSubPr>
                      <m:e>
                        <m:r>
                          <m:rPr>
                            <m:sty m:val="p"/>
                          </m:rPr>
                          <a:rPr lang="de-AT" sz="1800" b="0" i="0" smtClean="0">
                            <a:latin typeface="Cambria Math" panose="02040503050406030204" pitchFamily="18" charset="0"/>
                          </a:rPr>
                          <m:t>FC</m:t>
                        </m:r>
                      </m:e>
                      <m:sub>
                        <m:r>
                          <m:rPr>
                            <m:sty m:val="p"/>
                          </m:rPr>
                          <a:rPr lang="de-AT" sz="1800" b="0" i="0" smtClean="0">
                            <a:latin typeface="Cambria Math" panose="02040503050406030204" pitchFamily="18" charset="0"/>
                          </a:rPr>
                          <m:t>corr</m:t>
                        </m:r>
                      </m:sub>
                    </m:sSub>
                    <m:r>
                      <a:rPr lang="de-AT" sz="1800" b="0" i="0" smtClean="0">
                        <a:latin typeface="Cambria Math" panose="02040503050406030204" pitchFamily="18" charset="0"/>
                      </a:rPr>
                      <m:t>, </m:t>
                    </m:r>
                    <m:sSub>
                      <m:sSubPr>
                        <m:ctrlPr>
                          <a:rPr lang="de-AT" sz="1800" b="0" i="1" smtClean="0">
                            <a:latin typeface="Cambria Math" panose="02040503050406030204" pitchFamily="18" charset="0"/>
                          </a:rPr>
                        </m:ctrlPr>
                      </m:sSubPr>
                      <m:e>
                        <m:r>
                          <m:rPr>
                            <m:sty m:val="p"/>
                          </m:rPr>
                          <a:rPr lang="de-AT" sz="1800" b="0" i="0" smtClean="0">
                            <a:latin typeface="Cambria Math" panose="02040503050406030204" pitchFamily="18" charset="0"/>
                          </a:rPr>
                          <m:t>CO</m:t>
                        </m:r>
                        <m:r>
                          <a:rPr lang="de-AT" sz="1800" b="0" i="0" smtClean="0">
                            <a:latin typeface="Cambria Math" panose="02040503050406030204" pitchFamily="18" charset="0"/>
                          </a:rPr>
                          <m:t>2</m:t>
                        </m:r>
                      </m:e>
                      <m:sub>
                        <m:r>
                          <m:rPr>
                            <m:sty m:val="p"/>
                          </m:rPr>
                          <a:rPr lang="de-AT" sz="1800" b="0" i="0" smtClean="0">
                            <a:latin typeface="Cambria Math" panose="02040503050406030204" pitchFamily="18" charset="0"/>
                          </a:rPr>
                          <m:t>corr</m:t>
                        </m:r>
                      </m:sub>
                    </m:sSub>
                    <m:r>
                      <a:rPr lang="en-US" sz="1800" i="0" smtClean="0">
                        <a:latin typeface="Cambria Math" panose="02040503050406030204" pitchFamily="18" charset="0"/>
                      </a:rPr>
                      <m:t>=</m:t>
                    </m:r>
                    <m:r>
                      <m:rPr>
                        <m:sty m:val="p"/>
                      </m:rPr>
                      <a:rPr lang="de-AT" sz="1800" b="0" i="0" smtClean="0">
                        <a:latin typeface="Cambria Math" panose="02040503050406030204" pitchFamily="18" charset="0"/>
                      </a:rPr>
                      <m:t>FC</m:t>
                    </m:r>
                    <m:r>
                      <a:rPr lang="de-AT" sz="1800" b="0" i="0" smtClean="0">
                        <a:latin typeface="Cambria Math" panose="02040503050406030204" pitchFamily="18" charset="0"/>
                      </a:rPr>
                      <m:t>, </m:t>
                    </m:r>
                    <m:r>
                      <m:rPr>
                        <m:sty m:val="p"/>
                      </m:rPr>
                      <a:rPr lang="de-AT" sz="1800" b="0" i="0" smtClean="0">
                        <a:latin typeface="Cambria Math" panose="02040503050406030204" pitchFamily="18" charset="0"/>
                      </a:rPr>
                      <m:t>CO</m:t>
                    </m:r>
                    <m:r>
                      <a:rPr lang="de-AT" sz="1800" b="0" i="0" smtClean="0">
                        <a:latin typeface="Cambria Math" panose="02040503050406030204" pitchFamily="18" charset="0"/>
                      </a:rPr>
                      <m:t>2 ∙ </m:t>
                    </m:r>
                    <m:d>
                      <m:dPr>
                        <m:ctrlPr>
                          <a:rPr lang="de-AT" sz="1800" b="0" i="1" smtClean="0">
                            <a:latin typeface="Cambria Math" panose="02040503050406030204" pitchFamily="18" charset="0"/>
                            <a:ea typeface="Cambria Math" panose="02040503050406030204" pitchFamily="18" charset="0"/>
                          </a:rPr>
                        </m:ctrlPr>
                      </m:dPr>
                      <m:e>
                        <m:r>
                          <a:rPr lang="de-AT" sz="1800" b="0" i="0" smtClean="0">
                            <a:latin typeface="Cambria Math" panose="02040503050406030204" pitchFamily="18" charset="0"/>
                            <a:ea typeface="Cambria Math" panose="02040503050406030204" pitchFamily="18" charset="0"/>
                          </a:rPr>
                          <m:t>1+</m:t>
                        </m:r>
                        <m:f>
                          <m:fPr>
                            <m:ctrlPr>
                              <a:rPr lang="de-AT" sz="1800" b="0" i="1" smtClean="0">
                                <a:latin typeface="Cambria Math" panose="02040503050406030204" pitchFamily="18" charset="0"/>
                                <a:ea typeface="Cambria Math" panose="02040503050406030204" pitchFamily="18" charset="0"/>
                              </a:rPr>
                            </m:ctrlPr>
                          </m:fPr>
                          <m:num>
                            <m:sSub>
                              <m:sSubPr>
                                <m:ctrlPr>
                                  <a:rPr lang="de-AT" sz="1800" b="0" i="1" smtClean="0">
                                    <a:latin typeface="Cambria Math" panose="02040503050406030204" pitchFamily="18" charset="0"/>
                                    <a:ea typeface="Cambria Math" panose="02040503050406030204" pitchFamily="18" charset="0"/>
                                  </a:rPr>
                                </m:ctrlPr>
                              </m:sSubPr>
                              <m:e>
                                <m:r>
                                  <m:rPr>
                                    <m:sty m:val="p"/>
                                  </m:rPr>
                                  <a:rPr lang="de-AT" sz="1800" b="0" i="0" smtClean="0">
                                    <a:latin typeface="Cambria Math" panose="02040503050406030204" pitchFamily="18" charset="0"/>
                                    <a:ea typeface="Cambria Math" panose="02040503050406030204" pitchFamily="18" charset="0"/>
                                  </a:rPr>
                                  <m:t>bf</m:t>
                                </m:r>
                              </m:e>
                              <m:sub>
                                <m:r>
                                  <m:rPr>
                                    <m:sty m:val="p"/>
                                  </m:rPr>
                                  <a:rPr lang="de-AT" sz="1800" b="0" i="0" smtClean="0">
                                    <a:latin typeface="Cambria Math" panose="02040503050406030204" pitchFamily="18" charset="0"/>
                                    <a:ea typeface="Cambria Math" panose="02040503050406030204" pitchFamily="18" charset="0"/>
                                  </a:rPr>
                                  <m:t>lift</m:t>
                                </m:r>
                              </m:sub>
                            </m:sSub>
                          </m:num>
                          <m:den>
                            <m:r>
                              <a:rPr lang="de-AT" sz="1800" b="0" i="0" smtClean="0">
                                <a:latin typeface="Cambria Math" panose="02040503050406030204" pitchFamily="18" charset="0"/>
                                <a:ea typeface="Cambria Math" panose="02040503050406030204" pitchFamily="18" charset="0"/>
                              </a:rPr>
                              <m:t>100</m:t>
                            </m:r>
                          </m:den>
                        </m:f>
                      </m:e>
                    </m:d>
                  </m:oMath>
                </a14:m>
                <a:r>
                  <a:rPr lang="de-AT" sz="1800">
                    <a:ea typeface="Cambria Math" panose="02040503050406030204" pitchFamily="18" charset="0"/>
                  </a:rPr>
                  <a:t> </a:t>
                </a:r>
                <a14:m>
                  <m:oMath xmlns:m="http://schemas.openxmlformats.org/officeDocument/2006/math">
                    <m:r>
                      <a:rPr lang="de-AT" sz="1800" i="0">
                        <a:latin typeface="Cambria Math" panose="02040503050406030204" pitchFamily="18" charset="0"/>
                        <a:ea typeface="Cambria Math" panose="02040503050406030204" pitchFamily="18" charset="0"/>
                      </a:rPr>
                      <m:t>∙</m:t>
                    </m:r>
                    <m:d>
                      <m:dPr>
                        <m:ctrlPr>
                          <a:rPr lang="de-AT" sz="1800" i="1">
                            <a:latin typeface="Cambria Math" panose="02040503050406030204" pitchFamily="18" charset="0"/>
                            <a:ea typeface="Cambria Math" panose="02040503050406030204" pitchFamily="18" charset="0"/>
                          </a:rPr>
                        </m:ctrlPr>
                      </m:dPr>
                      <m:e>
                        <m:r>
                          <a:rPr lang="de-AT" sz="1800" i="0">
                            <a:latin typeface="Cambria Math" panose="02040503050406030204" pitchFamily="18" charset="0"/>
                            <a:ea typeface="Cambria Math" panose="02040503050406030204" pitchFamily="18" charset="0"/>
                          </a:rPr>
                          <m:t>1+</m:t>
                        </m:r>
                        <m:f>
                          <m:fPr>
                            <m:ctrlPr>
                              <a:rPr lang="de-AT" sz="1800" i="1">
                                <a:latin typeface="Cambria Math" panose="02040503050406030204" pitchFamily="18" charset="0"/>
                                <a:ea typeface="Cambria Math" panose="02040503050406030204" pitchFamily="18" charset="0"/>
                              </a:rPr>
                            </m:ctrlPr>
                          </m:fPr>
                          <m:num>
                            <m:sSub>
                              <m:sSubPr>
                                <m:ctrlPr>
                                  <a:rPr lang="de-AT" sz="1800" i="1">
                                    <a:latin typeface="Cambria Math" panose="02040503050406030204" pitchFamily="18" charset="0"/>
                                    <a:ea typeface="Cambria Math" panose="02040503050406030204" pitchFamily="18" charset="0"/>
                                  </a:rPr>
                                </m:ctrlPr>
                              </m:sSubPr>
                              <m:e>
                                <m:r>
                                  <m:rPr>
                                    <m:sty m:val="p"/>
                                  </m:rPr>
                                  <a:rPr lang="de-AT" sz="1800" i="0">
                                    <a:latin typeface="Cambria Math" panose="02040503050406030204" pitchFamily="18" charset="0"/>
                                    <a:ea typeface="Cambria Math" panose="02040503050406030204" pitchFamily="18" charset="0"/>
                                  </a:rPr>
                                  <m:t>bf</m:t>
                                </m:r>
                              </m:e>
                              <m:sub>
                                <m:r>
                                  <m:rPr>
                                    <m:sty m:val="p"/>
                                  </m:rPr>
                                  <a:rPr lang="de-AT" sz="1800" b="0" i="0" smtClean="0">
                                    <a:latin typeface="Cambria Math" panose="02040503050406030204" pitchFamily="18" charset="0"/>
                                    <a:ea typeface="Cambria Math" panose="02040503050406030204" pitchFamily="18" charset="0"/>
                                  </a:rPr>
                                  <m:t>steer</m:t>
                                </m:r>
                              </m:sub>
                            </m:sSub>
                          </m:num>
                          <m:den>
                            <m:r>
                              <a:rPr lang="de-AT" sz="1800" i="0">
                                <a:latin typeface="Cambria Math" panose="02040503050406030204" pitchFamily="18" charset="0"/>
                                <a:ea typeface="Cambria Math" panose="02040503050406030204" pitchFamily="18" charset="0"/>
                              </a:rPr>
                              <m:t>100</m:t>
                            </m:r>
                          </m:den>
                        </m:f>
                      </m:e>
                    </m:d>
                  </m:oMath>
                </a14:m>
                <a:endParaRPr lang="en-US" sz="1800"/>
              </a:p>
              <a:p>
                <a:pPr marL="0" indent="0">
                  <a:buNone/>
                </a:pPr>
                <a:endParaRPr lang="en-US" sz="1800"/>
              </a:p>
              <a:p>
                <a:r>
                  <a:rPr lang="en-US" sz="1800"/>
                  <a:t>In cases where there is more than one liftable or steered axle on a vehicle, special rules apply.  </a:t>
                </a:r>
                <a:endParaRPr lang="en-GB" sz="1800"/>
              </a:p>
            </p:txBody>
          </p:sp>
        </mc:Choice>
        <mc:Fallback xmlns="">
          <p:sp>
            <p:nvSpPr>
              <p:cNvPr id="3" name="Inhaltsplatzhalter 2"/>
              <p:cNvSpPr>
                <a:spLocks noGrp="1" noRot="1" noChangeAspect="1" noMove="1" noResize="1" noEditPoints="1" noAdjustHandles="1" noChangeArrowheads="1" noChangeShapeType="1" noTextEdit="1"/>
              </p:cNvSpPr>
              <p:nvPr>
                <p:ph idx="1"/>
              </p:nvPr>
            </p:nvSpPr>
            <p:spPr>
              <a:blipFill>
                <a:blip r:embed="rId2"/>
                <a:stretch>
                  <a:fillRect l="-464" t="-1869" r="-232"/>
                </a:stretch>
              </a:blipFill>
            </p:spPr>
            <p:txBody>
              <a:bodyPr/>
              <a:lstStyle/>
              <a:p>
                <a:r>
                  <a:rPr lang="en-GB">
                    <a:noFill/>
                  </a:rPr>
                  <a:t> </a:t>
                </a:r>
              </a:p>
            </p:txBody>
          </p:sp>
        </mc:Fallback>
      </mc:AlternateContent>
    </p:spTree>
    <p:extLst>
      <p:ext uri="{BB962C8B-B14F-4D97-AF65-F5344CB8AC3E}">
        <p14:creationId xmlns:p14="http://schemas.microsoft.com/office/powerpoint/2010/main" val="12379980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Bonus factors for liftable axles</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pic>
        <p:nvPicPr>
          <p:cNvPr id="6" name="Grafik 5"/>
          <p:cNvPicPr>
            <a:picLocks noChangeAspect="1"/>
          </p:cNvPicPr>
          <p:nvPr/>
        </p:nvPicPr>
        <p:blipFill>
          <a:blip r:embed="rId2"/>
          <a:stretch>
            <a:fillRect/>
          </a:stretch>
        </p:blipFill>
        <p:spPr>
          <a:xfrm>
            <a:off x="628650" y="1369219"/>
            <a:ext cx="6553200" cy="1743075"/>
          </a:xfrm>
          <a:prstGeom prst="rect">
            <a:avLst/>
          </a:prstGeom>
        </p:spPr>
      </p:pic>
    </p:spTree>
    <p:extLst>
      <p:ext uri="{BB962C8B-B14F-4D97-AF65-F5344CB8AC3E}">
        <p14:creationId xmlns:p14="http://schemas.microsoft.com/office/powerpoint/2010/main" val="33618071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Bonus factors for steered axles</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p:pic>
        <p:nvPicPr>
          <p:cNvPr id="6" name="Grafik 5"/>
          <p:cNvPicPr>
            <a:picLocks noChangeAspect="1"/>
          </p:cNvPicPr>
          <p:nvPr/>
        </p:nvPicPr>
        <p:blipFill>
          <a:blip r:embed="rId2"/>
          <a:stretch>
            <a:fillRect/>
          </a:stretch>
        </p:blipFill>
        <p:spPr>
          <a:xfrm>
            <a:off x="628650" y="1369219"/>
            <a:ext cx="6553200" cy="1552575"/>
          </a:xfrm>
          <a:prstGeom prst="rect">
            <a:avLst/>
          </a:prstGeom>
        </p:spPr>
      </p:pic>
    </p:spTree>
    <p:extLst>
      <p:ext uri="{BB962C8B-B14F-4D97-AF65-F5344CB8AC3E}">
        <p14:creationId xmlns:p14="http://schemas.microsoft.com/office/powerpoint/2010/main" val="6157480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idx="1"/>
          </p:nvPr>
        </p:nvSpPr>
        <p:spPr>
          <a:xfrm>
            <a:off x="628650" y="1369219"/>
            <a:ext cx="7886700" cy="410443"/>
          </a:xfrm>
        </p:spPr>
        <p:txBody>
          <a:bodyPr>
            <a:noAutofit/>
          </a:bodyPr>
          <a:lstStyle/>
          <a:p>
            <a:r>
              <a:rPr lang="en-GB" sz="1800" b="1"/>
              <a:t>Special case #1: </a:t>
            </a:r>
            <a:r>
              <a:rPr lang="en-GB" sz="1800"/>
              <a:t>1 liftable and 1 steered on different axles</a:t>
            </a:r>
          </a:p>
        </p:txBody>
      </p:sp>
      <p:sp>
        <p:nvSpPr>
          <p:cNvPr id="7" name="Titel 1">
            <a:extLst>
              <a:ext uri="{FF2B5EF4-FFF2-40B4-BE49-F238E27FC236}">
                <a16:creationId xmlns:a16="http://schemas.microsoft.com/office/drawing/2014/main" id="{7A693CE5-DA22-4E49-9B05-73FED5B3CFF1}"/>
              </a:ext>
            </a:extLst>
          </p:cNvPr>
          <p:cNvSpPr>
            <a:spLocks noGrp="1"/>
          </p:cNvSpPr>
          <p:nvPr>
            <p:ph type="title"/>
          </p:nvPr>
        </p:nvSpPr>
        <p:spPr>
          <a:xfrm>
            <a:off x="628650" y="273844"/>
            <a:ext cx="7886700" cy="994172"/>
          </a:xfrm>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Bonus factors for liftable and steered axles – </a:t>
            </a:r>
            <a:b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br>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Special cases</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8" name="Rechteck 7"/>
              <p:cNvSpPr/>
              <p:nvPr/>
            </p:nvSpPr>
            <p:spPr>
              <a:xfrm>
                <a:off x="2496497" y="1793047"/>
                <a:ext cx="5227127" cy="506870"/>
              </a:xfrm>
              <a:prstGeom prst="rect">
                <a:avLst/>
              </a:prstGeom>
            </p:spPr>
            <p:txBody>
              <a:bodyPr wrap="square">
                <a:noAutofit/>
              </a:bodyPr>
              <a:lstStyle/>
              <a:p>
                <a14:m>
                  <m:oMath xmlns:m="http://schemas.openxmlformats.org/officeDocument/2006/math">
                    <m:sSub>
                      <m:sSubPr>
                        <m:ctrlPr>
                          <a:rPr lang="de-AT" sz="1600" i="1" smtClean="0">
                            <a:latin typeface="Cambria Math" panose="02040503050406030204" pitchFamily="18" charset="0"/>
                          </a:rPr>
                        </m:ctrlPr>
                      </m:sSubPr>
                      <m:e>
                        <m:r>
                          <m:rPr>
                            <m:sty m:val="p"/>
                          </m:rPr>
                          <a:rPr lang="de-AT" sz="1600">
                            <a:latin typeface="Cambria Math" panose="02040503050406030204" pitchFamily="18" charset="0"/>
                          </a:rPr>
                          <m:t>FC</m:t>
                        </m:r>
                      </m:e>
                      <m:sub>
                        <m:r>
                          <m:rPr>
                            <m:sty m:val="p"/>
                          </m:rPr>
                          <a:rPr lang="de-AT" sz="1600">
                            <a:latin typeface="Cambria Math" panose="02040503050406030204" pitchFamily="18" charset="0"/>
                          </a:rPr>
                          <m:t>corr</m:t>
                        </m:r>
                      </m:sub>
                    </m:sSub>
                    <m:r>
                      <a:rPr lang="de-AT" sz="1600">
                        <a:latin typeface="Cambria Math" panose="02040503050406030204" pitchFamily="18" charset="0"/>
                      </a:rPr>
                      <m:t>, </m:t>
                    </m:r>
                    <m:sSub>
                      <m:sSubPr>
                        <m:ctrlPr>
                          <a:rPr lang="de-AT" sz="1600" i="1">
                            <a:latin typeface="Cambria Math" panose="02040503050406030204" pitchFamily="18" charset="0"/>
                          </a:rPr>
                        </m:ctrlPr>
                      </m:sSubPr>
                      <m:e>
                        <m:r>
                          <m:rPr>
                            <m:sty m:val="p"/>
                          </m:rPr>
                          <a:rPr lang="de-AT" sz="1600">
                            <a:latin typeface="Cambria Math" panose="02040503050406030204" pitchFamily="18" charset="0"/>
                          </a:rPr>
                          <m:t>CO</m:t>
                        </m:r>
                        <m:r>
                          <a:rPr lang="de-AT" sz="1600">
                            <a:latin typeface="Cambria Math" panose="02040503050406030204" pitchFamily="18" charset="0"/>
                          </a:rPr>
                          <m:t>2</m:t>
                        </m:r>
                      </m:e>
                      <m:sub>
                        <m:r>
                          <m:rPr>
                            <m:sty m:val="p"/>
                          </m:rPr>
                          <a:rPr lang="de-AT" sz="1600">
                            <a:latin typeface="Cambria Math" panose="02040503050406030204" pitchFamily="18" charset="0"/>
                          </a:rPr>
                          <m:t>corr</m:t>
                        </m:r>
                      </m:sub>
                    </m:sSub>
                    <m:r>
                      <a:rPr lang="en-US" sz="1600">
                        <a:latin typeface="Cambria Math" panose="02040503050406030204" pitchFamily="18" charset="0"/>
                      </a:rPr>
                      <m:t>=</m:t>
                    </m:r>
                    <m:r>
                      <m:rPr>
                        <m:sty m:val="p"/>
                      </m:rPr>
                      <a:rPr lang="de-AT" sz="1600">
                        <a:latin typeface="Cambria Math" panose="02040503050406030204" pitchFamily="18" charset="0"/>
                      </a:rPr>
                      <m:t>FC</m:t>
                    </m:r>
                    <m:r>
                      <a:rPr lang="de-AT" sz="1600">
                        <a:latin typeface="Cambria Math" panose="02040503050406030204" pitchFamily="18" charset="0"/>
                      </a:rPr>
                      <m:t>, </m:t>
                    </m:r>
                    <m:r>
                      <m:rPr>
                        <m:sty m:val="p"/>
                      </m:rPr>
                      <a:rPr lang="de-AT" sz="1600">
                        <a:latin typeface="Cambria Math" panose="02040503050406030204" pitchFamily="18" charset="0"/>
                      </a:rPr>
                      <m:t>CO</m:t>
                    </m:r>
                    <m:r>
                      <a:rPr lang="de-AT" sz="1600">
                        <a:latin typeface="Cambria Math" panose="02040503050406030204" pitchFamily="18" charset="0"/>
                      </a:rPr>
                      <m:t>2 ∙ </m:t>
                    </m:r>
                    <m:d>
                      <m:dPr>
                        <m:ctrlPr>
                          <a:rPr lang="de-AT" sz="1600" i="1">
                            <a:latin typeface="Cambria Math" panose="02040503050406030204" pitchFamily="18" charset="0"/>
                            <a:ea typeface="Cambria Math" panose="02040503050406030204" pitchFamily="18" charset="0"/>
                          </a:rPr>
                        </m:ctrlPr>
                      </m:dPr>
                      <m:e>
                        <m:r>
                          <a:rPr lang="de-AT" sz="1600">
                            <a:latin typeface="Cambria Math" panose="02040503050406030204" pitchFamily="18" charset="0"/>
                            <a:ea typeface="Cambria Math" panose="02040503050406030204" pitchFamily="18" charset="0"/>
                          </a:rPr>
                          <m:t>1+</m:t>
                        </m:r>
                        <m:f>
                          <m:fPr>
                            <m:ctrlPr>
                              <a:rPr lang="de-AT" sz="1600" i="1">
                                <a:latin typeface="Cambria Math" panose="02040503050406030204" pitchFamily="18" charset="0"/>
                                <a:ea typeface="Cambria Math" panose="02040503050406030204" pitchFamily="18" charset="0"/>
                              </a:rPr>
                            </m:ctrlPr>
                          </m:fPr>
                          <m:num>
                            <m:sSub>
                              <m:sSubPr>
                                <m:ctrlPr>
                                  <a:rPr lang="de-AT" sz="1600" i="1">
                                    <a:latin typeface="Cambria Math" panose="02040503050406030204" pitchFamily="18" charset="0"/>
                                    <a:ea typeface="Cambria Math" panose="02040503050406030204" pitchFamily="18" charset="0"/>
                                  </a:rPr>
                                </m:ctrlPr>
                              </m:sSubPr>
                              <m:e>
                                <m:r>
                                  <m:rPr>
                                    <m:sty m:val="p"/>
                                  </m:rPr>
                                  <a:rPr lang="de-AT" sz="1600">
                                    <a:latin typeface="Cambria Math" panose="02040503050406030204" pitchFamily="18" charset="0"/>
                                    <a:ea typeface="Cambria Math" panose="02040503050406030204" pitchFamily="18" charset="0"/>
                                  </a:rPr>
                                  <m:t>bf</m:t>
                                </m:r>
                              </m:e>
                              <m:sub>
                                <m:r>
                                  <m:rPr>
                                    <m:sty m:val="p"/>
                                  </m:rPr>
                                  <a:rPr lang="de-AT" sz="1600">
                                    <a:latin typeface="Cambria Math" panose="02040503050406030204" pitchFamily="18" charset="0"/>
                                    <a:ea typeface="Cambria Math" panose="02040503050406030204" pitchFamily="18" charset="0"/>
                                  </a:rPr>
                                  <m:t>lift</m:t>
                                </m:r>
                              </m:sub>
                            </m:sSub>
                          </m:num>
                          <m:den>
                            <m:r>
                              <a:rPr lang="de-AT" sz="1600">
                                <a:latin typeface="Cambria Math" panose="02040503050406030204" pitchFamily="18" charset="0"/>
                                <a:ea typeface="Cambria Math" panose="02040503050406030204" pitchFamily="18" charset="0"/>
                              </a:rPr>
                              <m:t>100</m:t>
                            </m:r>
                          </m:den>
                        </m:f>
                      </m:e>
                    </m:d>
                  </m:oMath>
                </a14:m>
                <a:r>
                  <a:rPr lang="de-AT" sz="1600">
                    <a:ea typeface="Cambria Math" panose="02040503050406030204" pitchFamily="18" charset="0"/>
                  </a:rPr>
                  <a:t> </a:t>
                </a:r>
                <a14:m>
                  <m:oMath xmlns:m="http://schemas.openxmlformats.org/officeDocument/2006/math">
                    <m:r>
                      <a:rPr lang="de-AT" sz="1600">
                        <a:latin typeface="Cambria Math" panose="02040503050406030204" pitchFamily="18" charset="0"/>
                        <a:ea typeface="Cambria Math" panose="02040503050406030204" pitchFamily="18" charset="0"/>
                      </a:rPr>
                      <m:t>∙</m:t>
                    </m:r>
                    <m:d>
                      <m:dPr>
                        <m:ctrlPr>
                          <a:rPr lang="de-AT" sz="1600" i="1">
                            <a:latin typeface="Cambria Math" panose="02040503050406030204" pitchFamily="18" charset="0"/>
                            <a:ea typeface="Cambria Math" panose="02040503050406030204" pitchFamily="18" charset="0"/>
                          </a:rPr>
                        </m:ctrlPr>
                      </m:dPr>
                      <m:e>
                        <m:r>
                          <a:rPr lang="de-AT" sz="1600">
                            <a:latin typeface="Cambria Math" panose="02040503050406030204" pitchFamily="18" charset="0"/>
                            <a:ea typeface="Cambria Math" panose="02040503050406030204" pitchFamily="18" charset="0"/>
                          </a:rPr>
                          <m:t>1+</m:t>
                        </m:r>
                        <m:r>
                          <a:rPr lang="de-AT" sz="1600" b="0" i="0" smtClean="0">
                            <a:latin typeface="Cambria Math" panose="02040503050406030204" pitchFamily="18" charset="0"/>
                            <a:ea typeface="Cambria Math" panose="02040503050406030204" pitchFamily="18" charset="0"/>
                          </a:rPr>
                          <m:t>0</m:t>
                        </m:r>
                        <m:r>
                          <a:rPr lang="de-AT" sz="1600" b="0" i="1" smtClean="0">
                            <a:latin typeface="Cambria Math" panose="02040503050406030204" pitchFamily="18" charset="0"/>
                            <a:ea typeface="Cambria Math" panose="02040503050406030204" pitchFamily="18" charset="0"/>
                          </a:rPr>
                          <m:t>.5∙</m:t>
                        </m:r>
                        <m:f>
                          <m:fPr>
                            <m:ctrlPr>
                              <a:rPr lang="de-AT" sz="1600" i="1">
                                <a:latin typeface="Cambria Math" panose="02040503050406030204" pitchFamily="18" charset="0"/>
                                <a:ea typeface="Cambria Math" panose="02040503050406030204" pitchFamily="18" charset="0"/>
                              </a:rPr>
                            </m:ctrlPr>
                          </m:fPr>
                          <m:num>
                            <m:sSub>
                              <m:sSubPr>
                                <m:ctrlPr>
                                  <a:rPr lang="de-AT" sz="1600" i="1">
                                    <a:latin typeface="Cambria Math" panose="02040503050406030204" pitchFamily="18" charset="0"/>
                                    <a:ea typeface="Cambria Math" panose="02040503050406030204" pitchFamily="18" charset="0"/>
                                  </a:rPr>
                                </m:ctrlPr>
                              </m:sSubPr>
                              <m:e>
                                <m:r>
                                  <m:rPr>
                                    <m:sty m:val="p"/>
                                  </m:rPr>
                                  <a:rPr lang="de-AT" sz="1600">
                                    <a:latin typeface="Cambria Math" panose="02040503050406030204" pitchFamily="18" charset="0"/>
                                    <a:ea typeface="Cambria Math" panose="02040503050406030204" pitchFamily="18" charset="0"/>
                                  </a:rPr>
                                  <m:t>bf</m:t>
                                </m:r>
                              </m:e>
                              <m:sub>
                                <m:r>
                                  <m:rPr>
                                    <m:sty m:val="p"/>
                                  </m:rPr>
                                  <a:rPr lang="de-AT" sz="1600">
                                    <a:latin typeface="Cambria Math" panose="02040503050406030204" pitchFamily="18" charset="0"/>
                                    <a:ea typeface="Cambria Math" panose="02040503050406030204" pitchFamily="18" charset="0"/>
                                  </a:rPr>
                                  <m:t>steer</m:t>
                                </m:r>
                              </m:sub>
                            </m:sSub>
                          </m:num>
                          <m:den>
                            <m:r>
                              <a:rPr lang="de-AT" sz="1600">
                                <a:latin typeface="Cambria Math" panose="02040503050406030204" pitchFamily="18" charset="0"/>
                                <a:ea typeface="Cambria Math" panose="02040503050406030204" pitchFamily="18" charset="0"/>
                              </a:rPr>
                              <m:t>100</m:t>
                            </m:r>
                          </m:den>
                        </m:f>
                      </m:e>
                    </m:d>
                  </m:oMath>
                </a14:m>
                <a:endParaRPr lang="en-GB" sz="1600"/>
              </a:p>
            </p:txBody>
          </p:sp>
        </mc:Choice>
        <mc:Fallback xmlns="">
          <p:sp>
            <p:nvSpPr>
              <p:cNvPr id="8" name="Rechteck 7"/>
              <p:cNvSpPr>
                <a:spLocks noRot="1" noChangeAspect="1" noMove="1" noResize="1" noEditPoints="1" noAdjustHandles="1" noChangeArrowheads="1" noChangeShapeType="1" noTextEdit="1"/>
              </p:cNvSpPr>
              <p:nvPr/>
            </p:nvSpPr>
            <p:spPr>
              <a:xfrm>
                <a:off x="2496497" y="1793047"/>
                <a:ext cx="5227127" cy="506870"/>
              </a:xfrm>
              <a:prstGeom prst="rect">
                <a:avLst/>
              </a:prstGeom>
              <a:blipFill>
                <a:blip r:embed="rId2"/>
                <a:stretch>
                  <a:fillRect/>
                </a:stretch>
              </a:blipFill>
            </p:spPr>
            <p:txBody>
              <a:bodyPr/>
              <a:lstStyle/>
              <a:p>
                <a:r>
                  <a:rPr lang="en-GB">
                    <a:noFill/>
                  </a:rPr>
                  <a:t> </a:t>
                </a:r>
              </a:p>
            </p:txBody>
          </p:sp>
        </mc:Fallback>
      </mc:AlternateContent>
      <p:sp>
        <p:nvSpPr>
          <p:cNvPr id="9" name="Inhaltsplatzhalter 3"/>
          <p:cNvSpPr txBox="1">
            <a:spLocks/>
          </p:cNvSpPr>
          <p:nvPr/>
        </p:nvSpPr>
        <p:spPr>
          <a:xfrm>
            <a:off x="658107" y="2736972"/>
            <a:ext cx="7886700" cy="41044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b="1"/>
              <a:t>Special case #2: </a:t>
            </a:r>
            <a:r>
              <a:rPr lang="en-GB" sz="1800"/>
              <a:t>1 liftable and 1 steered on the same axle</a:t>
            </a:r>
          </a:p>
        </p:txBody>
      </p:sp>
      <mc:AlternateContent xmlns:mc="http://schemas.openxmlformats.org/markup-compatibility/2006" xmlns:a14="http://schemas.microsoft.com/office/drawing/2010/main">
        <mc:Choice Requires="a14">
          <p:sp>
            <p:nvSpPr>
              <p:cNvPr id="14" name="Rechteck 13"/>
              <p:cNvSpPr/>
              <p:nvPr/>
            </p:nvSpPr>
            <p:spPr>
              <a:xfrm>
                <a:off x="2547960" y="2976219"/>
                <a:ext cx="5175663" cy="714683"/>
              </a:xfrm>
              <a:prstGeom prst="rect">
                <a:avLst/>
              </a:prstGeom>
            </p:spPr>
            <p:txBody>
              <a:bodyPr wrap="square">
                <a:noAutofit/>
              </a:bodyPr>
              <a:lstStyle/>
              <a:p>
                <a:pPr/>
                <a14:m>
                  <m:oMathPara xmlns:m="http://schemas.openxmlformats.org/officeDocument/2006/math">
                    <m:oMathParaPr>
                      <m:jc m:val="left"/>
                    </m:oMathParaPr>
                    <m:oMath xmlns:m="http://schemas.openxmlformats.org/officeDocument/2006/math">
                      <m:sSub>
                        <m:sSubPr>
                          <m:ctrlPr>
                            <a:rPr lang="de-AT" sz="1600" i="1" smtClean="0">
                              <a:latin typeface="Cambria Math" panose="02040503050406030204" pitchFamily="18" charset="0"/>
                            </a:rPr>
                          </m:ctrlPr>
                        </m:sSubPr>
                        <m:e>
                          <m:r>
                            <m:rPr>
                              <m:sty m:val="p"/>
                            </m:rPr>
                            <a:rPr lang="de-AT" sz="1600">
                              <a:latin typeface="Cambria Math" panose="02040503050406030204" pitchFamily="18" charset="0"/>
                            </a:rPr>
                            <m:t>FC</m:t>
                          </m:r>
                        </m:e>
                        <m:sub>
                          <m:r>
                            <m:rPr>
                              <m:sty m:val="p"/>
                            </m:rPr>
                            <a:rPr lang="de-AT" sz="1600">
                              <a:latin typeface="Cambria Math" panose="02040503050406030204" pitchFamily="18" charset="0"/>
                            </a:rPr>
                            <m:t>corr</m:t>
                          </m:r>
                        </m:sub>
                      </m:sSub>
                      <m:r>
                        <a:rPr lang="de-AT" sz="1600">
                          <a:latin typeface="Cambria Math" panose="02040503050406030204" pitchFamily="18" charset="0"/>
                        </a:rPr>
                        <m:t>, </m:t>
                      </m:r>
                      <m:sSub>
                        <m:sSubPr>
                          <m:ctrlPr>
                            <a:rPr lang="de-AT" sz="1600" i="1">
                              <a:latin typeface="Cambria Math" panose="02040503050406030204" pitchFamily="18" charset="0"/>
                            </a:rPr>
                          </m:ctrlPr>
                        </m:sSubPr>
                        <m:e>
                          <m:r>
                            <m:rPr>
                              <m:sty m:val="p"/>
                            </m:rPr>
                            <a:rPr lang="de-AT" sz="1600">
                              <a:latin typeface="Cambria Math" panose="02040503050406030204" pitchFamily="18" charset="0"/>
                            </a:rPr>
                            <m:t>CO</m:t>
                          </m:r>
                          <m:r>
                            <a:rPr lang="de-AT" sz="1600">
                              <a:latin typeface="Cambria Math" panose="02040503050406030204" pitchFamily="18" charset="0"/>
                            </a:rPr>
                            <m:t>2</m:t>
                          </m:r>
                        </m:e>
                        <m:sub>
                          <m:r>
                            <m:rPr>
                              <m:sty m:val="p"/>
                            </m:rPr>
                            <a:rPr lang="de-AT" sz="1600">
                              <a:latin typeface="Cambria Math" panose="02040503050406030204" pitchFamily="18" charset="0"/>
                            </a:rPr>
                            <m:t>corr</m:t>
                          </m:r>
                        </m:sub>
                      </m:sSub>
                      <m:r>
                        <a:rPr lang="en-US" sz="1600">
                          <a:latin typeface="Cambria Math" panose="02040503050406030204" pitchFamily="18" charset="0"/>
                        </a:rPr>
                        <m:t>=</m:t>
                      </m:r>
                      <m:r>
                        <m:rPr>
                          <m:sty m:val="p"/>
                        </m:rPr>
                        <a:rPr lang="de-AT" sz="1600">
                          <a:latin typeface="Cambria Math" panose="02040503050406030204" pitchFamily="18" charset="0"/>
                        </a:rPr>
                        <m:t>FC</m:t>
                      </m:r>
                      <m:r>
                        <a:rPr lang="de-AT" sz="1600">
                          <a:latin typeface="Cambria Math" panose="02040503050406030204" pitchFamily="18" charset="0"/>
                        </a:rPr>
                        <m:t>, </m:t>
                      </m:r>
                      <m:r>
                        <m:rPr>
                          <m:sty m:val="p"/>
                        </m:rPr>
                        <a:rPr lang="de-AT" sz="1600">
                          <a:latin typeface="Cambria Math" panose="02040503050406030204" pitchFamily="18" charset="0"/>
                        </a:rPr>
                        <m:t>CO</m:t>
                      </m:r>
                      <m:r>
                        <a:rPr lang="de-AT" sz="1600">
                          <a:latin typeface="Cambria Math" panose="02040503050406030204" pitchFamily="18" charset="0"/>
                        </a:rPr>
                        <m:t>2 ∙ </m:t>
                      </m:r>
                      <m:d>
                        <m:dPr>
                          <m:ctrlPr>
                            <a:rPr lang="de-AT" sz="1600" i="1">
                              <a:latin typeface="Cambria Math" panose="02040503050406030204" pitchFamily="18" charset="0"/>
                              <a:ea typeface="Cambria Math" panose="02040503050406030204" pitchFamily="18" charset="0"/>
                            </a:rPr>
                          </m:ctrlPr>
                        </m:dPr>
                        <m:e>
                          <m:r>
                            <a:rPr lang="de-AT" sz="1600">
                              <a:latin typeface="Cambria Math" panose="02040503050406030204" pitchFamily="18" charset="0"/>
                              <a:ea typeface="Cambria Math" panose="02040503050406030204" pitchFamily="18" charset="0"/>
                            </a:rPr>
                            <m:t>1+</m:t>
                          </m:r>
                          <m:f>
                            <m:fPr>
                              <m:ctrlPr>
                                <a:rPr lang="de-AT" sz="1600" i="1">
                                  <a:latin typeface="Cambria Math" panose="02040503050406030204" pitchFamily="18" charset="0"/>
                                  <a:ea typeface="Cambria Math" panose="02040503050406030204" pitchFamily="18" charset="0"/>
                                </a:rPr>
                              </m:ctrlPr>
                            </m:fPr>
                            <m:num>
                              <m:r>
                                <m:rPr>
                                  <m:sty m:val="p"/>
                                </m:rPr>
                                <a:rPr lang="de-AT" sz="1600" b="0" i="0" smtClean="0">
                                  <a:latin typeface="Cambria Math" panose="02040503050406030204" pitchFamily="18" charset="0"/>
                                  <a:ea typeface="Cambria Math" panose="02040503050406030204" pitchFamily="18" charset="0"/>
                                </a:rPr>
                                <m:t>max</m:t>
                              </m:r>
                              <m:r>
                                <a:rPr lang="de-AT" sz="1600" b="0" i="1" smtClean="0">
                                  <a:latin typeface="Cambria Math" panose="02040503050406030204" pitchFamily="18" charset="0"/>
                                  <a:ea typeface="Cambria Math" panose="02040503050406030204" pitchFamily="18" charset="0"/>
                                </a:rPr>
                                <m:t>⁡(</m:t>
                              </m:r>
                              <m:sSub>
                                <m:sSubPr>
                                  <m:ctrlPr>
                                    <a:rPr lang="de-AT" sz="1600" i="1">
                                      <a:latin typeface="Cambria Math" panose="02040503050406030204" pitchFamily="18" charset="0"/>
                                      <a:ea typeface="Cambria Math" panose="02040503050406030204" pitchFamily="18" charset="0"/>
                                    </a:rPr>
                                  </m:ctrlPr>
                                </m:sSubPr>
                                <m:e>
                                  <m:r>
                                    <m:rPr>
                                      <m:sty m:val="p"/>
                                    </m:rPr>
                                    <a:rPr lang="de-AT" sz="1600">
                                      <a:latin typeface="Cambria Math" panose="02040503050406030204" pitchFamily="18" charset="0"/>
                                      <a:ea typeface="Cambria Math" panose="02040503050406030204" pitchFamily="18" charset="0"/>
                                    </a:rPr>
                                    <m:t>bf</m:t>
                                  </m:r>
                                </m:e>
                                <m:sub>
                                  <m:r>
                                    <m:rPr>
                                      <m:sty m:val="p"/>
                                    </m:rPr>
                                    <a:rPr lang="de-AT" sz="1600">
                                      <a:latin typeface="Cambria Math" panose="02040503050406030204" pitchFamily="18" charset="0"/>
                                      <a:ea typeface="Cambria Math" panose="02040503050406030204" pitchFamily="18" charset="0"/>
                                    </a:rPr>
                                    <m:t>lift</m:t>
                                  </m:r>
                                </m:sub>
                              </m:sSub>
                              <m:r>
                                <a:rPr lang="de-AT" sz="1600" b="0" i="1" smtClean="0">
                                  <a:latin typeface="Cambria Math" panose="02040503050406030204" pitchFamily="18" charset="0"/>
                                  <a:ea typeface="Cambria Math" panose="02040503050406030204" pitchFamily="18" charset="0"/>
                                </a:rPr>
                                <m:t>,</m:t>
                              </m:r>
                              <m:sSub>
                                <m:sSubPr>
                                  <m:ctrlPr>
                                    <a:rPr lang="de-AT" sz="1600" i="1">
                                      <a:latin typeface="Cambria Math" panose="02040503050406030204" pitchFamily="18" charset="0"/>
                                      <a:ea typeface="Cambria Math" panose="02040503050406030204" pitchFamily="18" charset="0"/>
                                    </a:rPr>
                                  </m:ctrlPr>
                                </m:sSubPr>
                                <m:e>
                                  <m:r>
                                    <m:rPr>
                                      <m:sty m:val="p"/>
                                    </m:rPr>
                                    <a:rPr lang="de-AT" sz="1600">
                                      <a:latin typeface="Cambria Math" panose="02040503050406030204" pitchFamily="18" charset="0"/>
                                      <a:ea typeface="Cambria Math" panose="02040503050406030204" pitchFamily="18" charset="0"/>
                                    </a:rPr>
                                    <m:t>bf</m:t>
                                  </m:r>
                                </m:e>
                                <m:sub>
                                  <m:r>
                                    <m:rPr>
                                      <m:sty m:val="p"/>
                                    </m:rPr>
                                    <a:rPr lang="de-AT" sz="1600" b="0" i="0" smtClean="0">
                                      <a:latin typeface="Cambria Math" panose="02040503050406030204" pitchFamily="18" charset="0"/>
                                      <a:ea typeface="Cambria Math" panose="02040503050406030204" pitchFamily="18" charset="0"/>
                                    </a:rPr>
                                    <m:t>steer</m:t>
                                  </m:r>
                                </m:sub>
                              </m:sSub>
                              <m:r>
                                <a:rPr lang="de-AT" sz="1600" b="0" i="1" smtClean="0">
                                  <a:latin typeface="Cambria Math" panose="02040503050406030204" pitchFamily="18" charset="0"/>
                                  <a:ea typeface="Cambria Math" panose="02040503050406030204" pitchFamily="18" charset="0"/>
                                </a:rPr>
                                <m:t>)</m:t>
                              </m:r>
                            </m:num>
                            <m:den>
                              <m:r>
                                <a:rPr lang="de-AT" sz="1600">
                                  <a:latin typeface="Cambria Math" panose="02040503050406030204" pitchFamily="18" charset="0"/>
                                  <a:ea typeface="Cambria Math" panose="02040503050406030204" pitchFamily="18" charset="0"/>
                                </a:rPr>
                                <m:t>100</m:t>
                              </m:r>
                            </m:den>
                          </m:f>
                        </m:e>
                      </m:d>
                    </m:oMath>
                  </m:oMathPara>
                </a14:m>
                <a:endParaRPr lang="en-GB" sz="1600"/>
              </a:p>
            </p:txBody>
          </p:sp>
        </mc:Choice>
        <mc:Fallback xmlns="">
          <p:sp>
            <p:nvSpPr>
              <p:cNvPr id="14" name="Rechteck 13"/>
              <p:cNvSpPr>
                <a:spLocks noRot="1" noChangeAspect="1" noMove="1" noResize="1" noEditPoints="1" noAdjustHandles="1" noChangeArrowheads="1" noChangeShapeType="1" noTextEdit="1"/>
              </p:cNvSpPr>
              <p:nvPr/>
            </p:nvSpPr>
            <p:spPr>
              <a:xfrm>
                <a:off x="2547960" y="2976219"/>
                <a:ext cx="5175663" cy="714683"/>
              </a:xfrm>
              <a:prstGeom prst="rect">
                <a:avLst/>
              </a:prstGeom>
              <a:blipFill>
                <a:blip r:embed="rId3"/>
                <a:stretch>
                  <a:fillRect/>
                </a:stretch>
              </a:blipFill>
            </p:spPr>
            <p:txBody>
              <a:bodyPr/>
              <a:lstStyle/>
              <a:p>
                <a:r>
                  <a:rPr lang="en-GB">
                    <a:noFill/>
                  </a:rPr>
                  <a:t> </a:t>
                </a:r>
              </a:p>
            </p:txBody>
          </p:sp>
        </mc:Fallback>
      </mc:AlternateContent>
      <p:sp>
        <p:nvSpPr>
          <p:cNvPr id="2" name="Textfeld 1"/>
          <p:cNvSpPr txBox="1"/>
          <p:nvPr/>
        </p:nvSpPr>
        <p:spPr>
          <a:xfrm>
            <a:off x="689456" y="4515966"/>
            <a:ext cx="7266919" cy="261610"/>
          </a:xfrm>
          <a:prstGeom prst="rect">
            <a:avLst/>
          </a:prstGeom>
          <a:noFill/>
        </p:spPr>
        <p:txBody>
          <a:bodyPr wrap="square" rtlCol="0">
            <a:spAutoFit/>
          </a:bodyPr>
          <a:lstStyle/>
          <a:p>
            <a:r>
              <a:rPr lang="en-US" sz="1100"/>
              <a:t>The generally valid formulas implemented in the code are documented here. For some cycles, some bonus factors are 0</a:t>
            </a:r>
            <a:r>
              <a:rPr lang="en-GB" sz="1100"/>
              <a:t>.</a:t>
            </a:r>
          </a:p>
        </p:txBody>
      </p:sp>
    </p:spTree>
    <p:extLst>
      <p:ext uri="{BB962C8B-B14F-4D97-AF65-F5344CB8AC3E}">
        <p14:creationId xmlns:p14="http://schemas.microsoft.com/office/powerpoint/2010/main" val="1832463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idx="1"/>
          </p:nvPr>
        </p:nvSpPr>
        <p:spPr>
          <a:xfrm>
            <a:off x="628650" y="1369219"/>
            <a:ext cx="7886700" cy="410443"/>
          </a:xfrm>
        </p:spPr>
        <p:txBody>
          <a:bodyPr>
            <a:normAutofit/>
          </a:bodyPr>
          <a:lstStyle/>
          <a:p>
            <a:r>
              <a:rPr lang="en-GB" sz="1800" b="1"/>
              <a:t>Special case #3: </a:t>
            </a:r>
            <a:r>
              <a:rPr lang="en-GB" sz="1800"/>
              <a:t>2 liftable axles</a:t>
            </a:r>
          </a:p>
        </p:txBody>
      </p:sp>
      <p:sp>
        <p:nvSpPr>
          <p:cNvPr id="7" name="Titel 1">
            <a:extLst>
              <a:ext uri="{FF2B5EF4-FFF2-40B4-BE49-F238E27FC236}">
                <a16:creationId xmlns:a16="http://schemas.microsoft.com/office/drawing/2014/main" id="{7A693CE5-DA22-4E49-9B05-73FED5B3CFF1}"/>
              </a:ext>
            </a:extLst>
          </p:cNvPr>
          <p:cNvSpPr>
            <a:spLocks noGrp="1"/>
          </p:cNvSpPr>
          <p:nvPr>
            <p:ph type="title"/>
          </p:nvPr>
        </p:nvSpPr>
        <p:spPr>
          <a:xfrm>
            <a:off x="628650" y="273844"/>
            <a:ext cx="7886700" cy="994172"/>
          </a:xfrm>
        </p:spPr>
        <p:txBody>
          <a:bodyPr vert="horz" lIns="91440" tIns="45720" rIns="91440" bIns="45720" rtlCol="0" anchor="ctr">
            <a:normAutofit/>
          </a:bodyPr>
          <a:lstStyle/>
          <a:p>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Bonus factors for liftable and steered axles – </a:t>
            </a:r>
            <a:b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br>
            <a:r>
              <a:rPr lang="en-US" sz="2000" b="1">
                <a:solidFill>
                  <a:srgbClr val="034EA2"/>
                </a:solidFill>
                <a:latin typeface="Verdana" panose="020B0604030504040204" pitchFamily="34" charset="0"/>
                <a:ea typeface="Verdana" panose="020B0604030504040204" pitchFamily="34" charset="0"/>
                <a:cs typeface="Verdana" panose="020B0604030504040204" pitchFamily="34" charset="0"/>
              </a:rPr>
              <a:t>Special cases</a:t>
            </a:r>
            <a:endParaRPr lang="de-AT" sz="2000" b="1" dirty="0">
              <a:solidFill>
                <a:srgbClr val="034EA2"/>
              </a:solidFill>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8" name="Rechteck 7"/>
              <p:cNvSpPr/>
              <p:nvPr/>
            </p:nvSpPr>
            <p:spPr>
              <a:xfrm>
                <a:off x="2465831" y="1563638"/>
                <a:ext cx="4536504" cy="714683"/>
              </a:xfrm>
              <a:prstGeom prst="rect">
                <a:avLst/>
              </a:prstGeom>
            </p:spPr>
            <p:txBody>
              <a:bodyPr wrap="square">
                <a:noAutofit/>
              </a:bodyPr>
              <a:lstStyle/>
              <a:p>
                <a:pPr/>
                <a14:m>
                  <m:oMathPara xmlns:m="http://schemas.openxmlformats.org/officeDocument/2006/math">
                    <m:oMathParaPr>
                      <m:jc m:val="centerGroup"/>
                    </m:oMathParaPr>
                    <m:oMath xmlns:m="http://schemas.openxmlformats.org/officeDocument/2006/math">
                      <m:sSub>
                        <m:sSubPr>
                          <m:ctrlPr>
                            <a:rPr lang="de-AT" sz="1600" i="1" smtClean="0">
                              <a:latin typeface="Cambria Math" panose="02040503050406030204" pitchFamily="18" charset="0"/>
                            </a:rPr>
                          </m:ctrlPr>
                        </m:sSubPr>
                        <m:e>
                          <m:r>
                            <m:rPr>
                              <m:sty m:val="p"/>
                            </m:rPr>
                            <a:rPr lang="de-AT" sz="1600">
                              <a:latin typeface="Cambria Math" panose="02040503050406030204" pitchFamily="18" charset="0"/>
                            </a:rPr>
                            <m:t>FC</m:t>
                          </m:r>
                        </m:e>
                        <m:sub>
                          <m:r>
                            <m:rPr>
                              <m:sty m:val="p"/>
                            </m:rPr>
                            <a:rPr lang="de-AT" sz="1600">
                              <a:latin typeface="Cambria Math" panose="02040503050406030204" pitchFamily="18" charset="0"/>
                            </a:rPr>
                            <m:t>corr</m:t>
                          </m:r>
                        </m:sub>
                      </m:sSub>
                      <m:r>
                        <a:rPr lang="de-AT" sz="1600">
                          <a:latin typeface="Cambria Math" panose="02040503050406030204" pitchFamily="18" charset="0"/>
                        </a:rPr>
                        <m:t>, </m:t>
                      </m:r>
                      <m:sSub>
                        <m:sSubPr>
                          <m:ctrlPr>
                            <a:rPr lang="de-AT" sz="1600" i="1">
                              <a:latin typeface="Cambria Math" panose="02040503050406030204" pitchFamily="18" charset="0"/>
                            </a:rPr>
                          </m:ctrlPr>
                        </m:sSubPr>
                        <m:e>
                          <m:r>
                            <m:rPr>
                              <m:sty m:val="p"/>
                            </m:rPr>
                            <a:rPr lang="de-AT" sz="1600">
                              <a:latin typeface="Cambria Math" panose="02040503050406030204" pitchFamily="18" charset="0"/>
                            </a:rPr>
                            <m:t>CO</m:t>
                          </m:r>
                          <m:r>
                            <a:rPr lang="de-AT" sz="1600">
                              <a:latin typeface="Cambria Math" panose="02040503050406030204" pitchFamily="18" charset="0"/>
                            </a:rPr>
                            <m:t>2</m:t>
                          </m:r>
                        </m:e>
                        <m:sub>
                          <m:r>
                            <m:rPr>
                              <m:sty m:val="p"/>
                            </m:rPr>
                            <a:rPr lang="de-AT" sz="1600">
                              <a:latin typeface="Cambria Math" panose="02040503050406030204" pitchFamily="18" charset="0"/>
                            </a:rPr>
                            <m:t>corr</m:t>
                          </m:r>
                        </m:sub>
                      </m:sSub>
                      <m:r>
                        <a:rPr lang="en-US" sz="1600">
                          <a:latin typeface="Cambria Math" panose="02040503050406030204" pitchFamily="18" charset="0"/>
                        </a:rPr>
                        <m:t>=</m:t>
                      </m:r>
                      <m:r>
                        <m:rPr>
                          <m:sty m:val="p"/>
                        </m:rPr>
                        <a:rPr lang="de-AT" sz="1600">
                          <a:latin typeface="Cambria Math" panose="02040503050406030204" pitchFamily="18" charset="0"/>
                        </a:rPr>
                        <m:t>FC</m:t>
                      </m:r>
                      <m:r>
                        <a:rPr lang="de-AT" sz="1600">
                          <a:latin typeface="Cambria Math" panose="02040503050406030204" pitchFamily="18" charset="0"/>
                        </a:rPr>
                        <m:t>, </m:t>
                      </m:r>
                      <m:r>
                        <m:rPr>
                          <m:sty m:val="p"/>
                        </m:rPr>
                        <a:rPr lang="de-AT" sz="1600">
                          <a:latin typeface="Cambria Math" panose="02040503050406030204" pitchFamily="18" charset="0"/>
                        </a:rPr>
                        <m:t>CO</m:t>
                      </m:r>
                      <m:r>
                        <a:rPr lang="de-AT" sz="1600">
                          <a:latin typeface="Cambria Math" panose="02040503050406030204" pitchFamily="18" charset="0"/>
                        </a:rPr>
                        <m:t>2 ∙ </m:t>
                      </m:r>
                      <m:d>
                        <m:dPr>
                          <m:ctrlPr>
                            <a:rPr lang="de-AT" sz="1600" i="1">
                              <a:latin typeface="Cambria Math" panose="02040503050406030204" pitchFamily="18" charset="0"/>
                              <a:ea typeface="Cambria Math" panose="02040503050406030204" pitchFamily="18" charset="0"/>
                            </a:rPr>
                          </m:ctrlPr>
                        </m:dPr>
                        <m:e>
                          <m:r>
                            <a:rPr lang="de-AT" sz="1600">
                              <a:latin typeface="Cambria Math" panose="02040503050406030204" pitchFamily="18" charset="0"/>
                              <a:ea typeface="Cambria Math" panose="02040503050406030204" pitchFamily="18" charset="0"/>
                            </a:rPr>
                            <m:t>1+</m:t>
                          </m:r>
                          <m:r>
                            <a:rPr lang="de-AT" sz="1600" b="0" i="0" smtClean="0">
                              <a:latin typeface="Cambria Math" panose="02040503050406030204" pitchFamily="18" charset="0"/>
                              <a:ea typeface="Cambria Math" panose="02040503050406030204" pitchFamily="18" charset="0"/>
                            </a:rPr>
                            <m:t>1.5</m:t>
                          </m:r>
                          <m:r>
                            <a:rPr lang="de-AT" sz="1600" b="0" i="1" smtClean="0">
                              <a:latin typeface="Cambria Math" panose="02040503050406030204" pitchFamily="18" charset="0"/>
                              <a:ea typeface="Cambria Math" panose="02040503050406030204" pitchFamily="18" charset="0"/>
                            </a:rPr>
                            <m:t>∙</m:t>
                          </m:r>
                          <m:f>
                            <m:fPr>
                              <m:ctrlPr>
                                <a:rPr lang="de-AT" sz="1600" i="1">
                                  <a:latin typeface="Cambria Math" panose="02040503050406030204" pitchFamily="18" charset="0"/>
                                  <a:ea typeface="Cambria Math" panose="02040503050406030204" pitchFamily="18" charset="0"/>
                                </a:rPr>
                              </m:ctrlPr>
                            </m:fPr>
                            <m:num>
                              <m:sSub>
                                <m:sSubPr>
                                  <m:ctrlPr>
                                    <a:rPr lang="de-AT" sz="1600" i="1">
                                      <a:latin typeface="Cambria Math" panose="02040503050406030204" pitchFamily="18" charset="0"/>
                                      <a:ea typeface="Cambria Math" panose="02040503050406030204" pitchFamily="18" charset="0"/>
                                    </a:rPr>
                                  </m:ctrlPr>
                                </m:sSubPr>
                                <m:e>
                                  <m:r>
                                    <m:rPr>
                                      <m:sty m:val="p"/>
                                    </m:rPr>
                                    <a:rPr lang="de-AT" sz="1600">
                                      <a:latin typeface="Cambria Math" panose="02040503050406030204" pitchFamily="18" charset="0"/>
                                      <a:ea typeface="Cambria Math" panose="02040503050406030204" pitchFamily="18" charset="0"/>
                                    </a:rPr>
                                    <m:t>bf</m:t>
                                  </m:r>
                                </m:e>
                                <m:sub>
                                  <m:r>
                                    <m:rPr>
                                      <m:sty m:val="p"/>
                                    </m:rPr>
                                    <a:rPr lang="de-AT" sz="1600">
                                      <a:latin typeface="Cambria Math" panose="02040503050406030204" pitchFamily="18" charset="0"/>
                                      <a:ea typeface="Cambria Math" panose="02040503050406030204" pitchFamily="18" charset="0"/>
                                    </a:rPr>
                                    <m:t>lift</m:t>
                                  </m:r>
                                </m:sub>
                              </m:sSub>
                            </m:num>
                            <m:den>
                              <m:r>
                                <a:rPr lang="de-AT" sz="1600">
                                  <a:latin typeface="Cambria Math" panose="02040503050406030204" pitchFamily="18" charset="0"/>
                                  <a:ea typeface="Cambria Math" panose="02040503050406030204" pitchFamily="18" charset="0"/>
                                </a:rPr>
                                <m:t>100</m:t>
                              </m:r>
                            </m:den>
                          </m:f>
                        </m:e>
                      </m:d>
                    </m:oMath>
                  </m:oMathPara>
                </a14:m>
                <a:endParaRPr lang="en-GB" sz="1600"/>
              </a:p>
            </p:txBody>
          </p:sp>
        </mc:Choice>
        <mc:Fallback xmlns="">
          <p:sp>
            <p:nvSpPr>
              <p:cNvPr id="8" name="Rechteck 7"/>
              <p:cNvSpPr>
                <a:spLocks noRot="1" noChangeAspect="1" noMove="1" noResize="1" noEditPoints="1" noAdjustHandles="1" noChangeArrowheads="1" noChangeShapeType="1" noTextEdit="1"/>
              </p:cNvSpPr>
              <p:nvPr/>
            </p:nvSpPr>
            <p:spPr>
              <a:xfrm>
                <a:off x="2465831" y="1563638"/>
                <a:ext cx="4536504" cy="714683"/>
              </a:xfrm>
              <a:prstGeom prst="rect">
                <a:avLst/>
              </a:prstGeom>
              <a:blipFill>
                <a:blip r:embed="rId2"/>
                <a:stretch>
                  <a:fillRect/>
                </a:stretch>
              </a:blipFill>
            </p:spPr>
            <p:txBody>
              <a:bodyPr/>
              <a:lstStyle/>
              <a:p>
                <a:r>
                  <a:rPr lang="en-GB">
                    <a:noFill/>
                  </a:rPr>
                  <a:t> </a:t>
                </a:r>
              </a:p>
            </p:txBody>
          </p:sp>
        </mc:Fallback>
      </mc:AlternateContent>
      <p:sp>
        <p:nvSpPr>
          <p:cNvPr id="2" name="Textfeld 1"/>
          <p:cNvSpPr txBox="1"/>
          <p:nvPr/>
        </p:nvSpPr>
        <p:spPr>
          <a:xfrm>
            <a:off x="932388" y="1745443"/>
            <a:ext cx="3066887" cy="338554"/>
          </a:xfrm>
          <a:prstGeom prst="rect">
            <a:avLst/>
          </a:prstGeom>
          <a:noFill/>
        </p:spPr>
        <p:txBody>
          <a:bodyPr wrap="square" rtlCol="0">
            <a:spAutoFit/>
          </a:bodyPr>
          <a:lstStyle/>
          <a:p>
            <a:r>
              <a:rPr lang="en-GB" sz="1600"/>
              <a:t>Payload “low”:</a:t>
            </a:r>
          </a:p>
        </p:txBody>
      </p:sp>
      <mc:AlternateContent xmlns:mc="http://schemas.openxmlformats.org/markup-compatibility/2006" xmlns:a14="http://schemas.microsoft.com/office/drawing/2010/main">
        <mc:Choice Requires="a14">
          <p:sp>
            <p:nvSpPr>
              <p:cNvPr id="11" name="Rechteck 10"/>
              <p:cNvSpPr/>
              <p:nvPr/>
            </p:nvSpPr>
            <p:spPr>
              <a:xfrm>
                <a:off x="2264673" y="2105483"/>
                <a:ext cx="4536504" cy="714683"/>
              </a:xfrm>
              <a:prstGeom prst="rect">
                <a:avLst/>
              </a:prstGeom>
            </p:spPr>
            <p:txBody>
              <a:bodyPr wrap="square">
                <a:noAutofit/>
              </a:bodyPr>
              <a:lstStyle/>
              <a:p>
                <a:pPr/>
                <a14:m>
                  <m:oMathPara xmlns:m="http://schemas.openxmlformats.org/officeDocument/2006/math">
                    <m:oMathParaPr>
                      <m:jc m:val="centerGroup"/>
                    </m:oMathParaPr>
                    <m:oMath xmlns:m="http://schemas.openxmlformats.org/officeDocument/2006/math">
                      <m:sSub>
                        <m:sSubPr>
                          <m:ctrlPr>
                            <a:rPr lang="de-AT" sz="1600" i="1" smtClean="0">
                              <a:latin typeface="Cambria Math" panose="02040503050406030204" pitchFamily="18" charset="0"/>
                            </a:rPr>
                          </m:ctrlPr>
                        </m:sSubPr>
                        <m:e>
                          <m:r>
                            <m:rPr>
                              <m:sty m:val="p"/>
                            </m:rPr>
                            <a:rPr lang="de-AT" sz="1600">
                              <a:latin typeface="Cambria Math" panose="02040503050406030204" pitchFamily="18" charset="0"/>
                            </a:rPr>
                            <m:t>FC</m:t>
                          </m:r>
                        </m:e>
                        <m:sub>
                          <m:r>
                            <m:rPr>
                              <m:sty m:val="p"/>
                            </m:rPr>
                            <a:rPr lang="de-AT" sz="1600">
                              <a:latin typeface="Cambria Math" panose="02040503050406030204" pitchFamily="18" charset="0"/>
                            </a:rPr>
                            <m:t>corr</m:t>
                          </m:r>
                        </m:sub>
                      </m:sSub>
                      <m:r>
                        <a:rPr lang="de-AT" sz="1600">
                          <a:latin typeface="Cambria Math" panose="02040503050406030204" pitchFamily="18" charset="0"/>
                        </a:rPr>
                        <m:t>, </m:t>
                      </m:r>
                      <m:sSub>
                        <m:sSubPr>
                          <m:ctrlPr>
                            <a:rPr lang="de-AT" sz="1600" i="1">
                              <a:latin typeface="Cambria Math" panose="02040503050406030204" pitchFamily="18" charset="0"/>
                            </a:rPr>
                          </m:ctrlPr>
                        </m:sSubPr>
                        <m:e>
                          <m:r>
                            <m:rPr>
                              <m:sty m:val="p"/>
                            </m:rPr>
                            <a:rPr lang="de-AT" sz="1600">
                              <a:latin typeface="Cambria Math" panose="02040503050406030204" pitchFamily="18" charset="0"/>
                            </a:rPr>
                            <m:t>CO</m:t>
                          </m:r>
                          <m:r>
                            <a:rPr lang="de-AT" sz="1600">
                              <a:latin typeface="Cambria Math" panose="02040503050406030204" pitchFamily="18" charset="0"/>
                            </a:rPr>
                            <m:t>2</m:t>
                          </m:r>
                        </m:e>
                        <m:sub>
                          <m:r>
                            <m:rPr>
                              <m:sty m:val="p"/>
                            </m:rPr>
                            <a:rPr lang="de-AT" sz="1600">
                              <a:latin typeface="Cambria Math" panose="02040503050406030204" pitchFamily="18" charset="0"/>
                            </a:rPr>
                            <m:t>corr</m:t>
                          </m:r>
                        </m:sub>
                      </m:sSub>
                      <m:r>
                        <a:rPr lang="en-US" sz="1600">
                          <a:latin typeface="Cambria Math" panose="02040503050406030204" pitchFamily="18" charset="0"/>
                        </a:rPr>
                        <m:t>=</m:t>
                      </m:r>
                      <m:r>
                        <m:rPr>
                          <m:sty m:val="p"/>
                        </m:rPr>
                        <a:rPr lang="de-AT" sz="1600">
                          <a:latin typeface="Cambria Math" panose="02040503050406030204" pitchFamily="18" charset="0"/>
                        </a:rPr>
                        <m:t>FC</m:t>
                      </m:r>
                      <m:r>
                        <a:rPr lang="de-AT" sz="1600">
                          <a:latin typeface="Cambria Math" panose="02040503050406030204" pitchFamily="18" charset="0"/>
                        </a:rPr>
                        <m:t>, </m:t>
                      </m:r>
                      <m:r>
                        <m:rPr>
                          <m:sty m:val="p"/>
                        </m:rPr>
                        <a:rPr lang="de-AT" sz="1600">
                          <a:latin typeface="Cambria Math" panose="02040503050406030204" pitchFamily="18" charset="0"/>
                        </a:rPr>
                        <m:t>CO</m:t>
                      </m:r>
                      <m:r>
                        <a:rPr lang="de-AT" sz="1600">
                          <a:latin typeface="Cambria Math" panose="02040503050406030204" pitchFamily="18" charset="0"/>
                        </a:rPr>
                        <m:t>2 ∙ </m:t>
                      </m:r>
                      <m:d>
                        <m:dPr>
                          <m:ctrlPr>
                            <a:rPr lang="de-AT" sz="1600" i="1">
                              <a:latin typeface="Cambria Math" panose="02040503050406030204" pitchFamily="18" charset="0"/>
                              <a:ea typeface="Cambria Math" panose="02040503050406030204" pitchFamily="18" charset="0"/>
                            </a:rPr>
                          </m:ctrlPr>
                        </m:dPr>
                        <m:e>
                          <m:r>
                            <a:rPr lang="de-AT" sz="1600">
                              <a:latin typeface="Cambria Math" panose="02040503050406030204" pitchFamily="18" charset="0"/>
                              <a:ea typeface="Cambria Math" panose="02040503050406030204" pitchFamily="18" charset="0"/>
                            </a:rPr>
                            <m:t>1+</m:t>
                          </m:r>
                          <m:f>
                            <m:fPr>
                              <m:ctrlPr>
                                <a:rPr lang="de-AT" sz="1600" i="1">
                                  <a:latin typeface="Cambria Math" panose="02040503050406030204" pitchFamily="18" charset="0"/>
                                  <a:ea typeface="Cambria Math" panose="02040503050406030204" pitchFamily="18" charset="0"/>
                                </a:rPr>
                              </m:ctrlPr>
                            </m:fPr>
                            <m:num>
                              <m:sSub>
                                <m:sSubPr>
                                  <m:ctrlPr>
                                    <a:rPr lang="de-AT" sz="1600" i="1">
                                      <a:latin typeface="Cambria Math" panose="02040503050406030204" pitchFamily="18" charset="0"/>
                                      <a:ea typeface="Cambria Math" panose="02040503050406030204" pitchFamily="18" charset="0"/>
                                    </a:rPr>
                                  </m:ctrlPr>
                                </m:sSubPr>
                                <m:e>
                                  <m:r>
                                    <m:rPr>
                                      <m:sty m:val="p"/>
                                    </m:rPr>
                                    <a:rPr lang="de-AT" sz="1600">
                                      <a:latin typeface="Cambria Math" panose="02040503050406030204" pitchFamily="18" charset="0"/>
                                      <a:ea typeface="Cambria Math" panose="02040503050406030204" pitchFamily="18" charset="0"/>
                                    </a:rPr>
                                    <m:t>bf</m:t>
                                  </m:r>
                                </m:e>
                                <m:sub>
                                  <m:r>
                                    <m:rPr>
                                      <m:sty m:val="p"/>
                                    </m:rPr>
                                    <a:rPr lang="de-AT" sz="1600">
                                      <a:latin typeface="Cambria Math" panose="02040503050406030204" pitchFamily="18" charset="0"/>
                                      <a:ea typeface="Cambria Math" panose="02040503050406030204" pitchFamily="18" charset="0"/>
                                    </a:rPr>
                                    <m:t>lift</m:t>
                                  </m:r>
                                </m:sub>
                              </m:sSub>
                            </m:num>
                            <m:den>
                              <m:r>
                                <a:rPr lang="de-AT" sz="1600">
                                  <a:latin typeface="Cambria Math" panose="02040503050406030204" pitchFamily="18" charset="0"/>
                                  <a:ea typeface="Cambria Math" panose="02040503050406030204" pitchFamily="18" charset="0"/>
                                </a:rPr>
                                <m:t>100</m:t>
                              </m:r>
                            </m:den>
                          </m:f>
                        </m:e>
                      </m:d>
                    </m:oMath>
                  </m:oMathPara>
                </a14:m>
                <a:endParaRPr lang="en-GB" sz="1600"/>
              </a:p>
            </p:txBody>
          </p:sp>
        </mc:Choice>
        <mc:Fallback xmlns="">
          <p:sp>
            <p:nvSpPr>
              <p:cNvPr id="11" name="Rechteck 10"/>
              <p:cNvSpPr>
                <a:spLocks noRot="1" noChangeAspect="1" noMove="1" noResize="1" noEditPoints="1" noAdjustHandles="1" noChangeArrowheads="1" noChangeShapeType="1" noTextEdit="1"/>
              </p:cNvSpPr>
              <p:nvPr/>
            </p:nvSpPr>
            <p:spPr>
              <a:xfrm>
                <a:off x="2264673" y="2105483"/>
                <a:ext cx="4536504" cy="714683"/>
              </a:xfrm>
              <a:prstGeom prst="rect">
                <a:avLst/>
              </a:prstGeom>
              <a:blipFill>
                <a:blip r:embed="rId3"/>
                <a:stretch>
                  <a:fillRect/>
                </a:stretch>
              </a:blipFill>
            </p:spPr>
            <p:txBody>
              <a:bodyPr/>
              <a:lstStyle/>
              <a:p>
                <a:r>
                  <a:rPr lang="en-GB">
                    <a:noFill/>
                  </a:rPr>
                  <a:t> </a:t>
                </a:r>
              </a:p>
            </p:txBody>
          </p:sp>
        </mc:Fallback>
      </mc:AlternateContent>
      <p:sp>
        <p:nvSpPr>
          <p:cNvPr id="12" name="Textfeld 11"/>
          <p:cNvSpPr txBox="1"/>
          <p:nvPr/>
        </p:nvSpPr>
        <p:spPr>
          <a:xfrm>
            <a:off x="932387" y="2274106"/>
            <a:ext cx="3066887" cy="338554"/>
          </a:xfrm>
          <a:prstGeom prst="rect">
            <a:avLst/>
          </a:prstGeom>
          <a:noFill/>
        </p:spPr>
        <p:txBody>
          <a:bodyPr wrap="square" rtlCol="0">
            <a:spAutoFit/>
          </a:bodyPr>
          <a:lstStyle/>
          <a:p>
            <a:r>
              <a:rPr lang="en-GB" sz="1600"/>
              <a:t>Payload “rep:”:</a:t>
            </a:r>
          </a:p>
        </p:txBody>
      </p:sp>
      <p:sp>
        <p:nvSpPr>
          <p:cNvPr id="13" name="Inhaltsplatzhalter 3"/>
          <p:cNvSpPr txBox="1">
            <a:spLocks/>
          </p:cNvSpPr>
          <p:nvPr/>
        </p:nvSpPr>
        <p:spPr>
          <a:xfrm>
            <a:off x="628650" y="2818488"/>
            <a:ext cx="7886700" cy="41044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b="1"/>
              <a:t>Special case #4: </a:t>
            </a:r>
            <a:r>
              <a:rPr lang="en-GB" sz="1800"/>
              <a:t>2 steered axles</a:t>
            </a:r>
          </a:p>
        </p:txBody>
      </p:sp>
      <mc:AlternateContent xmlns:mc="http://schemas.openxmlformats.org/markup-compatibility/2006" xmlns:a14="http://schemas.microsoft.com/office/drawing/2010/main">
        <mc:Choice Requires="a14">
          <p:sp>
            <p:nvSpPr>
              <p:cNvPr id="14" name="Rechteck 13"/>
              <p:cNvSpPr/>
              <p:nvPr/>
            </p:nvSpPr>
            <p:spPr>
              <a:xfrm>
                <a:off x="2555776" y="3047071"/>
                <a:ext cx="4536504" cy="714683"/>
              </a:xfrm>
              <a:prstGeom prst="rect">
                <a:avLst/>
              </a:prstGeom>
            </p:spPr>
            <p:txBody>
              <a:bodyPr wrap="square">
                <a:noAutofit/>
              </a:bodyPr>
              <a:lstStyle/>
              <a:p>
                <a:pPr/>
                <a14:m>
                  <m:oMathPara xmlns:m="http://schemas.openxmlformats.org/officeDocument/2006/math">
                    <m:oMathParaPr>
                      <m:jc m:val="centerGroup"/>
                    </m:oMathParaPr>
                    <m:oMath xmlns:m="http://schemas.openxmlformats.org/officeDocument/2006/math">
                      <m:sSub>
                        <m:sSubPr>
                          <m:ctrlPr>
                            <a:rPr lang="de-AT" sz="1600" i="1" smtClean="0">
                              <a:latin typeface="Cambria Math" panose="02040503050406030204" pitchFamily="18" charset="0"/>
                            </a:rPr>
                          </m:ctrlPr>
                        </m:sSubPr>
                        <m:e>
                          <m:r>
                            <m:rPr>
                              <m:sty m:val="p"/>
                            </m:rPr>
                            <a:rPr lang="de-AT" sz="1600">
                              <a:latin typeface="Cambria Math" panose="02040503050406030204" pitchFamily="18" charset="0"/>
                            </a:rPr>
                            <m:t>FC</m:t>
                          </m:r>
                        </m:e>
                        <m:sub>
                          <m:r>
                            <m:rPr>
                              <m:sty m:val="p"/>
                            </m:rPr>
                            <a:rPr lang="de-AT" sz="1600">
                              <a:latin typeface="Cambria Math" panose="02040503050406030204" pitchFamily="18" charset="0"/>
                            </a:rPr>
                            <m:t>corr</m:t>
                          </m:r>
                        </m:sub>
                      </m:sSub>
                      <m:r>
                        <a:rPr lang="de-AT" sz="1600">
                          <a:latin typeface="Cambria Math" panose="02040503050406030204" pitchFamily="18" charset="0"/>
                        </a:rPr>
                        <m:t>, </m:t>
                      </m:r>
                      <m:sSub>
                        <m:sSubPr>
                          <m:ctrlPr>
                            <a:rPr lang="de-AT" sz="1600" i="1">
                              <a:latin typeface="Cambria Math" panose="02040503050406030204" pitchFamily="18" charset="0"/>
                            </a:rPr>
                          </m:ctrlPr>
                        </m:sSubPr>
                        <m:e>
                          <m:r>
                            <m:rPr>
                              <m:sty m:val="p"/>
                            </m:rPr>
                            <a:rPr lang="de-AT" sz="1600">
                              <a:latin typeface="Cambria Math" panose="02040503050406030204" pitchFamily="18" charset="0"/>
                            </a:rPr>
                            <m:t>CO</m:t>
                          </m:r>
                          <m:r>
                            <a:rPr lang="de-AT" sz="1600">
                              <a:latin typeface="Cambria Math" panose="02040503050406030204" pitchFamily="18" charset="0"/>
                            </a:rPr>
                            <m:t>2</m:t>
                          </m:r>
                        </m:e>
                        <m:sub>
                          <m:r>
                            <m:rPr>
                              <m:sty m:val="p"/>
                            </m:rPr>
                            <a:rPr lang="de-AT" sz="1600">
                              <a:latin typeface="Cambria Math" panose="02040503050406030204" pitchFamily="18" charset="0"/>
                            </a:rPr>
                            <m:t>corr</m:t>
                          </m:r>
                        </m:sub>
                      </m:sSub>
                      <m:r>
                        <a:rPr lang="en-US" sz="1600">
                          <a:latin typeface="Cambria Math" panose="02040503050406030204" pitchFamily="18" charset="0"/>
                        </a:rPr>
                        <m:t>=</m:t>
                      </m:r>
                      <m:r>
                        <m:rPr>
                          <m:sty m:val="p"/>
                        </m:rPr>
                        <a:rPr lang="de-AT" sz="1600">
                          <a:latin typeface="Cambria Math" panose="02040503050406030204" pitchFamily="18" charset="0"/>
                        </a:rPr>
                        <m:t>FC</m:t>
                      </m:r>
                      <m:r>
                        <a:rPr lang="de-AT" sz="1600">
                          <a:latin typeface="Cambria Math" panose="02040503050406030204" pitchFamily="18" charset="0"/>
                        </a:rPr>
                        <m:t>, </m:t>
                      </m:r>
                      <m:r>
                        <m:rPr>
                          <m:sty m:val="p"/>
                        </m:rPr>
                        <a:rPr lang="de-AT" sz="1600">
                          <a:latin typeface="Cambria Math" panose="02040503050406030204" pitchFamily="18" charset="0"/>
                        </a:rPr>
                        <m:t>CO</m:t>
                      </m:r>
                      <m:r>
                        <a:rPr lang="de-AT" sz="1600">
                          <a:latin typeface="Cambria Math" panose="02040503050406030204" pitchFamily="18" charset="0"/>
                        </a:rPr>
                        <m:t>2 ∙ </m:t>
                      </m:r>
                      <m:d>
                        <m:dPr>
                          <m:ctrlPr>
                            <a:rPr lang="de-AT" sz="1600" i="1">
                              <a:latin typeface="Cambria Math" panose="02040503050406030204" pitchFamily="18" charset="0"/>
                              <a:ea typeface="Cambria Math" panose="02040503050406030204" pitchFamily="18" charset="0"/>
                            </a:rPr>
                          </m:ctrlPr>
                        </m:dPr>
                        <m:e>
                          <m:r>
                            <a:rPr lang="de-AT" sz="1600">
                              <a:latin typeface="Cambria Math" panose="02040503050406030204" pitchFamily="18" charset="0"/>
                              <a:ea typeface="Cambria Math" panose="02040503050406030204" pitchFamily="18" charset="0"/>
                            </a:rPr>
                            <m:t>1+</m:t>
                          </m:r>
                          <m:r>
                            <a:rPr lang="de-AT" sz="1600" b="0" i="0" smtClean="0">
                              <a:latin typeface="Cambria Math" panose="02040503050406030204" pitchFamily="18" charset="0"/>
                              <a:ea typeface="Cambria Math" panose="02040503050406030204" pitchFamily="18" charset="0"/>
                            </a:rPr>
                            <m:t>1.2</m:t>
                          </m:r>
                          <m:r>
                            <a:rPr lang="de-AT" sz="1600" b="0" i="1" smtClean="0">
                              <a:latin typeface="Cambria Math" panose="02040503050406030204" pitchFamily="18" charset="0"/>
                              <a:ea typeface="Cambria Math" panose="02040503050406030204" pitchFamily="18" charset="0"/>
                            </a:rPr>
                            <m:t>∙</m:t>
                          </m:r>
                          <m:f>
                            <m:fPr>
                              <m:ctrlPr>
                                <a:rPr lang="de-AT" sz="1600" i="1">
                                  <a:latin typeface="Cambria Math" panose="02040503050406030204" pitchFamily="18" charset="0"/>
                                  <a:ea typeface="Cambria Math" panose="02040503050406030204" pitchFamily="18" charset="0"/>
                                </a:rPr>
                              </m:ctrlPr>
                            </m:fPr>
                            <m:num>
                              <m:sSub>
                                <m:sSubPr>
                                  <m:ctrlPr>
                                    <a:rPr lang="de-AT" sz="1600" i="1">
                                      <a:latin typeface="Cambria Math" panose="02040503050406030204" pitchFamily="18" charset="0"/>
                                      <a:ea typeface="Cambria Math" panose="02040503050406030204" pitchFamily="18" charset="0"/>
                                    </a:rPr>
                                  </m:ctrlPr>
                                </m:sSubPr>
                                <m:e>
                                  <m:r>
                                    <m:rPr>
                                      <m:sty m:val="p"/>
                                    </m:rPr>
                                    <a:rPr lang="de-AT" sz="1600">
                                      <a:latin typeface="Cambria Math" panose="02040503050406030204" pitchFamily="18" charset="0"/>
                                      <a:ea typeface="Cambria Math" panose="02040503050406030204" pitchFamily="18" charset="0"/>
                                    </a:rPr>
                                    <m:t>bf</m:t>
                                  </m:r>
                                </m:e>
                                <m:sub>
                                  <m:r>
                                    <m:rPr>
                                      <m:sty m:val="p"/>
                                    </m:rPr>
                                    <a:rPr lang="de-AT" sz="1600" b="0" i="0" smtClean="0">
                                      <a:latin typeface="Cambria Math" panose="02040503050406030204" pitchFamily="18" charset="0"/>
                                      <a:ea typeface="Cambria Math" panose="02040503050406030204" pitchFamily="18" charset="0"/>
                                    </a:rPr>
                                    <m:t>steer</m:t>
                                  </m:r>
                                </m:sub>
                              </m:sSub>
                            </m:num>
                            <m:den>
                              <m:r>
                                <a:rPr lang="de-AT" sz="1600">
                                  <a:latin typeface="Cambria Math" panose="02040503050406030204" pitchFamily="18" charset="0"/>
                                  <a:ea typeface="Cambria Math" panose="02040503050406030204" pitchFamily="18" charset="0"/>
                                </a:rPr>
                                <m:t>100</m:t>
                              </m:r>
                            </m:den>
                          </m:f>
                        </m:e>
                      </m:d>
                    </m:oMath>
                  </m:oMathPara>
                </a14:m>
                <a:endParaRPr lang="en-GB" sz="1600"/>
              </a:p>
            </p:txBody>
          </p:sp>
        </mc:Choice>
        <mc:Fallback xmlns="">
          <p:sp>
            <p:nvSpPr>
              <p:cNvPr id="14" name="Rechteck 13"/>
              <p:cNvSpPr>
                <a:spLocks noRot="1" noChangeAspect="1" noMove="1" noResize="1" noEditPoints="1" noAdjustHandles="1" noChangeArrowheads="1" noChangeShapeType="1" noTextEdit="1"/>
              </p:cNvSpPr>
              <p:nvPr/>
            </p:nvSpPr>
            <p:spPr>
              <a:xfrm>
                <a:off x="2555776" y="3047071"/>
                <a:ext cx="4536504" cy="714683"/>
              </a:xfrm>
              <a:prstGeom prst="rect">
                <a:avLst/>
              </a:prstGeom>
              <a:blipFill>
                <a:blip r:embed="rId4"/>
                <a:stretch>
                  <a:fillRect/>
                </a:stretch>
              </a:blipFill>
            </p:spPr>
            <p:txBody>
              <a:bodyPr/>
              <a:lstStyle/>
              <a:p>
                <a:r>
                  <a:rPr lang="en-GB">
                    <a:noFill/>
                  </a:rPr>
                  <a:t> </a:t>
                </a:r>
              </a:p>
            </p:txBody>
          </p:sp>
        </mc:Fallback>
      </mc:AlternateContent>
      <p:sp>
        <p:nvSpPr>
          <p:cNvPr id="17" name="Inhaltsplatzhalter 3"/>
          <p:cNvSpPr txBox="1">
            <a:spLocks/>
          </p:cNvSpPr>
          <p:nvPr/>
        </p:nvSpPr>
        <p:spPr>
          <a:xfrm>
            <a:off x="628650" y="3741937"/>
            <a:ext cx="7886700" cy="41044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b="1"/>
              <a:t>Special case #5: </a:t>
            </a:r>
            <a:r>
              <a:rPr lang="en-GB" sz="1800"/>
              <a:t>In case more than 2 features are present on the vehicle (could theoretically only be the case for a 3-axle trailer and comprising at least a single steered axle), the rules for special case #1 are applied.</a:t>
            </a:r>
          </a:p>
        </p:txBody>
      </p:sp>
      <p:sp>
        <p:nvSpPr>
          <p:cNvPr id="16" name="Textfeld 15"/>
          <p:cNvSpPr txBox="1"/>
          <p:nvPr/>
        </p:nvSpPr>
        <p:spPr>
          <a:xfrm>
            <a:off x="689456" y="4542388"/>
            <a:ext cx="7266919" cy="261610"/>
          </a:xfrm>
          <a:prstGeom prst="rect">
            <a:avLst/>
          </a:prstGeom>
          <a:noFill/>
        </p:spPr>
        <p:txBody>
          <a:bodyPr wrap="square" rtlCol="0">
            <a:spAutoFit/>
          </a:bodyPr>
          <a:lstStyle/>
          <a:p>
            <a:r>
              <a:rPr lang="en-US" sz="1100"/>
              <a:t>The generally valid formulas implemented in the code are documented here. For some cycles, some bonus factors are 0</a:t>
            </a:r>
            <a:r>
              <a:rPr lang="en-GB" sz="1100"/>
              <a:t>.</a:t>
            </a:r>
          </a:p>
        </p:txBody>
      </p:sp>
    </p:spTree>
    <p:extLst>
      <p:ext uri="{BB962C8B-B14F-4D97-AF65-F5344CB8AC3E}">
        <p14:creationId xmlns:p14="http://schemas.microsoft.com/office/powerpoint/2010/main" val="35308041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285105"/>
            <a:ext cx="7993782" cy="702469"/>
          </a:xfrm>
        </p:spPr>
        <p:txBody>
          <a:bodyPr>
            <a:normAutofit/>
          </a:bodyPr>
          <a:lstStyle/>
          <a:p>
            <a:r>
              <a:rPr lang="en-US" dirty="0">
                <a:solidFill>
                  <a:srgbClr val="034EA2"/>
                </a:solidFill>
              </a:rPr>
              <a:t>Overview content of </a:t>
            </a:r>
            <a:r>
              <a:rPr lang="en-US" dirty="0" err="1">
                <a:solidFill>
                  <a:srgbClr val="034EA2"/>
                </a:solidFill>
              </a:rPr>
              <a:t>Masterexcel</a:t>
            </a:r>
            <a:r>
              <a:rPr lang="en-US" dirty="0">
                <a:solidFill>
                  <a:srgbClr val="034EA2"/>
                </a:solidFill>
              </a:rPr>
              <a:t> (1/4)</a:t>
            </a:r>
          </a:p>
        </p:txBody>
      </p:sp>
      <p:sp>
        <p:nvSpPr>
          <p:cNvPr id="3" name="Inhaltsplatzhalter 2"/>
          <p:cNvSpPr>
            <a:spLocks noGrp="1"/>
          </p:cNvSpPr>
          <p:nvPr>
            <p:ph idx="1"/>
          </p:nvPr>
        </p:nvSpPr>
        <p:spPr>
          <a:xfrm>
            <a:off x="626308" y="1203599"/>
            <a:ext cx="8194164" cy="3600400"/>
          </a:xfrm>
        </p:spPr>
        <p:txBody>
          <a:bodyPr>
            <a:normAutofit fontScale="92500"/>
          </a:bodyPr>
          <a:lstStyle/>
          <a:p>
            <a:pPr marL="0" indent="0">
              <a:buNone/>
            </a:pPr>
            <a:r>
              <a:rPr lang="en-US" sz="1800" dirty="0">
                <a:solidFill>
                  <a:schemeClr val="tx1"/>
                </a:solidFill>
              </a:rPr>
              <a:t>The VECTO Trailer Tool </a:t>
            </a:r>
            <a:r>
              <a:rPr lang="en-US" sz="1800" dirty="0" err="1">
                <a:solidFill>
                  <a:schemeClr val="tx1"/>
                </a:solidFill>
              </a:rPr>
              <a:t>Masterexcel</a:t>
            </a:r>
            <a:r>
              <a:rPr lang="en-US" sz="1800" dirty="0">
                <a:solidFill>
                  <a:schemeClr val="tx1"/>
                </a:solidFill>
              </a:rPr>
              <a:t> is an integral part of the tool documentation and fulfils the following functions:</a:t>
            </a:r>
          </a:p>
          <a:p>
            <a:pPr>
              <a:lnSpc>
                <a:spcPct val="100000"/>
              </a:lnSpc>
              <a:spcBef>
                <a:spcPts val="300"/>
              </a:spcBef>
              <a:buClr>
                <a:srgbClr val="034EA2"/>
              </a:buClr>
            </a:pPr>
            <a:r>
              <a:rPr lang="en-US" sz="1600" dirty="0">
                <a:solidFill>
                  <a:schemeClr val="tx1"/>
                </a:solidFill>
              </a:rPr>
              <a:t>Documentation of the classification matrix used internally in the tool, which is more detailed than the classification according to Annex I. </a:t>
            </a:r>
          </a:p>
          <a:p>
            <a:pPr>
              <a:lnSpc>
                <a:spcPct val="100000"/>
              </a:lnSpc>
              <a:spcBef>
                <a:spcPts val="300"/>
              </a:spcBef>
              <a:buClr>
                <a:srgbClr val="034EA2"/>
              </a:buClr>
            </a:pPr>
            <a:r>
              <a:rPr lang="en-US" sz="1600" dirty="0">
                <a:solidFill>
                  <a:schemeClr val="tx1"/>
                </a:solidFill>
              </a:rPr>
              <a:t>Documentation of </a:t>
            </a:r>
            <a:r>
              <a:rPr lang="en-US" sz="1600" u="sng" dirty="0">
                <a:solidFill>
                  <a:schemeClr val="tx1"/>
                </a:solidFill>
              </a:rPr>
              <a:t>all</a:t>
            </a:r>
            <a:r>
              <a:rPr lang="en-US" sz="1600" dirty="0">
                <a:solidFill>
                  <a:schemeClr val="tx1"/>
                </a:solidFill>
              </a:rPr>
              <a:t> generic data stored in </a:t>
            </a:r>
            <a:r>
              <a:rPr lang="en-US" sz="1600">
                <a:solidFill>
                  <a:schemeClr val="tx1"/>
                </a:solidFill>
              </a:rPr>
              <a:t>the tool, e.g.</a:t>
            </a:r>
          </a:p>
          <a:p>
            <a:pPr lvl="1">
              <a:lnSpc>
                <a:spcPct val="100000"/>
              </a:lnSpc>
              <a:spcBef>
                <a:spcPts val="300"/>
              </a:spcBef>
              <a:buClr>
                <a:srgbClr val="034EA2"/>
              </a:buClr>
            </a:pPr>
            <a:r>
              <a:rPr lang="en-US" sz="1300">
                <a:solidFill>
                  <a:schemeClr val="tx1"/>
                </a:solidFill>
              </a:rPr>
              <a:t>mission </a:t>
            </a:r>
            <a:r>
              <a:rPr lang="en-US" sz="1300" dirty="0">
                <a:solidFill>
                  <a:schemeClr val="tx1"/>
                </a:solidFill>
              </a:rPr>
              <a:t>profile and </a:t>
            </a:r>
            <a:r>
              <a:rPr lang="en-US" sz="1300">
                <a:solidFill>
                  <a:schemeClr val="tx1"/>
                </a:solidFill>
              </a:rPr>
              <a:t>payload allocation</a:t>
            </a:r>
          </a:p>
          <a:p>
            <a:pPr lvl="1">
              <a:lnSpc>
                <a:spcPct val="100000"/>
              </a:lnSpc>
              <a:spcBef>
                <a:spcPts val="300"/>
              </a:spcBef>
              <a:buClr>
                <a:srgbClr val="034EA2"/>
              </a:buClr>
            </a:pPr>
            <a:r>
              <a:rPr lang="en-US" sz="1300">
                <a:solidFill>
                  <a:schemeClr val="tx1"/>
                </a:solidFill>
              </a:rPr>
              <a:t>specifications </a:t>
            </a:r>
            <a:r>
              <a:rPr lang="en-US" sz="1300" dirty="0">
                <a:solidFill>
                  <a:schemeClr val="tx1"/>
                </a:solidFill>
              </a:rPr>
              <a:t>of </a:t>
            </a:r>
            <a:r>
              <a:rPr lang="en-US" sz="1300">
                <a:solidFill>
                  <a:schemeClr val="tx1"/>
                </a:solidFill>
              </a:rPr>
              <a:t>reference trailers</a:t>
            </a:r>
          </a:p>
          <a:p>
            <a:pPr lvl="1">
              <a:lnSpc>
                <a:spcPct val="100000"/>
              </a:lnSpc>
              <a:spcBef>
                <a:spcPts val="300"/>
              </a:spcBef>
              <a:buClr>
                <a:srgbClr val="034EA2"/>
              </a:buClr>
            </a:pPr>
            <a:r>
              <a:rPr lang="en-US" sz="1300">
                <a:solidFill>
                  <a:schemeClr val="tx1"/>
                </a:solidFill>
              </a:rPr>
              <a:t>standard </a:t>
            </a:r>
            <a:r>
              <a:rPr lang="en-US" sz="1300" dirty="0">
                <a:solidFill>
                  <a:schemeClr val="tx1"/>
                </a:solidFill>
              </a:rPr>
              <a:t>values for reduction rates of </a:t>
            </a:r>
            <a:r>
              <a:rPr lang="en-US" sz="1300">
                <a:solidFill>
                  <a:schemeClr val="tx1"/>
                </a:solidFill>
              </a:rPr>
              <a:t>aerodynamic devices</a:t>
            </a:r>
          </a:p>
          <a:p>
            <a:pPr lvl="1">
              <a:lnSpc>
                <a:spcPct val="100000"/>
              </a:lnSpc>
              <a:spcBef>
                <a:spcPts val="300"/>
              </a:spcBef>
              <a:buClr>
                <a:srgbClr val="034EA2"/>
              </a:buClr>
            </a:pPr>
            <a:r>
              <a:rPr lang="en-US" sz="1300">
                <a:solidFill>
                  <a:schemeClr val="tx1"/>
                </a:solidFill>
              </a:rPr>
              <a:t>bonus factors for liftable and steered axles</a:t>
            </a:r>
            <a:endParaRPr lang="en-US" sz="1300" dirty="0">
              <a:solidFill>
                <a:schemeClr val="tx1"/>
              </a:solidFill>
            </a:endParaRPr>
          </a:p>
          <a:p>
            <a:pPr>
              <a:lnSpc>
                <a:spcPct val="100000"/>
              </a:lnSpc>
              <a:spcBef>
                <a:spcPts val="300"/>
              </a:spcBef>
              <a:buClr>
                <a:srgbClr val="034EA2"/>
              </a:buClr>
            </a:pPr>
            <a:r>
              <a:rPr lang="en-US" sz="1600">
                <a:solidFill>
                  <a:schemeClr val="tx1"/>
                </a:solidFill>
              </a:rPr>
              <a:t>Interactive documentation </a:t>
            </a:r>
            <a:r>
              <a:rPr lang="en-US" sz="1600" dirty="0">
                <a:solidFill>
                  <a:schemeClr val="tx1"/>
                </a:solidFill>
              </a:rPr>
              <a:t>of the formulas for calculating the air drag for the various combinations of generic towing vehicles and trailers</a:t>
            </a:r>
          </a:p>
          <a:p>
            <a:pPr marL="0" indent="0">
              <a:spcBef>
                <a:spcPts val="600"/>
              </a:spcBef>
              <a:buNone/>
            </a:pPr>
            <a:r>
              <a:rPr lang="en-US" sz="1600">
                <a:solidFill>
                  <a:schemeClr val="tx1"/>
                </a:solidFill>
              </a:rPr>
              <a:t>The </a:t>
            </a:r>
            <a:r>
              <a:rPr lang="en-US" sz="1600" dirty="0">
                <a:solidFill>
                  <a:schemeClr val="tx1"/>
                </a:solidFill>
              </a:rPr>
              <a:t>content of the individual sheets is described in overview on the next slides. </a:t>
            </a:r>
          </a:p>
          <a:p>
            <a:pPr marL="0" indent="0">
              <a:spcBef>
                <a:spcPts val="600"/>
              </a:spcBef>
              <a:buNone/>
            </a:pPr>
            <a:r>
              <a:rPr lang="en-US" sz="1600" b="1" i="1" dirty="0">
                <a:solidFill>
                  <a:schemeClr val="tx1"/>
                </a:solidFill>
              </a:rPr>
              <a:t>In the context of a normal application of the tool, it is not necessary to engage with the </a:t>
            </a:r>
            <a:r>
              <a:rPr lang="en-US" sz="1600" b="1" i="1" dirty="0" err="1">
                <a:solidFill>
                  <a:schemeClr val="tx1"/>
                </a:solidFill>
              </a:rPr>
              <a:t>Masterexcel</a:t>
            </a:r>
            <a:r>
              <a:rPr lang="en-US" sz="1600" b="1" i="1" dirty="0">
                <a:solidFill>
                  <a:schemeClr val="tx1"/>
                </a:solidFill>
              </a:rPr>
              <a:t>. </a:t>
            </a:r>
            <a:endParaRPr lang="en-GB" sz="1600" b="1" i="1" dirty="0">
              <a:solidFill>
                <a:schemeClr val="tx1"/>
              </a:solidFill>
            </a:endParaRPr>
          </a:p>
        </p:txBody>
      </p:sp>
    </p:spTree>
    <p:extLst>
      <p:ext uri="{BB962C8B-B14F-4D97-AF65-F5344CB8AC3E}">
        <p14:creationId xmlns:p14="http://schemas.microsoft.com/office/powerpoint/2010/main" val="2475022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13741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Overview content of </a:t>
            </a:r>
            <a:r>
              <a:rPr lang="en-US" sz="2000" b="1" dirty="0" err="1">
                <a:solidFill>
                  <a:srgbClr val="034EA2"/>
                </a:solidFill>
                <a:latin typeface="Verdana" panose="020B0604030504040204" pitchFamily="34" charset="0"/>
                <a:ea typeface="Verdana" panose="020B0604030504040204" pitchFamily="34" charset="0"/>
                <a:cs typeface="Verdana" panose="020B0604030504040204" pitchFamily="34" charset="0"/>
              </a:rPr>
              <a:t>Masterexcel</a:t>
            </a:r>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 (2/4)</a:t>
            </a:r>
          </a:p>
        </p:txBody>
      </p:sp>
      <p:graphicFrame>
        <p:nvGraphicFramePr>
          <p:cNvPr id="7" name="Tabelle 6">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1786691548"/>
              </p:ext>
            </p:extLst>
          </p:nvPr>
        </p:nvGraphicFramePr>
        <p:xfrm>
          <a:off x="467544" y="1117650"/>
          <a:ext cx="8208000" cy="3388360"/>
        </p:xfrm>
        <a:graphic>
          <a:graphicData uri="http://schemas.openxmlformats.org/drawingml/2006/table">
            <a:tbl>
              <a:tblPr firstRow="1" bandRow="1">
                <a:tableStyleId>{5C22544A-7EE6-4342-B048-85BDC9FD1C3A}</a:tableStyleId>
              </a:tblPr>
              <a:tblGrid>
                <a:gridCol w="1255170">
                  <a:extLst>
                    <a:ext uri="{9D8B030D-6E8A-4147-A177-3AD203B41FA5}">
                      <a16:colId xmlns:a16="http://schemas.microsoft.com/office/drawing/2014/main" val="791925895"/>
                    </a:ext>
                  </a:extLst>
                </a:gridCol>
                <a:gridCol w="6952830">
                  <a:extLst>
                    <a:ext uri="{9D8B030D-6E8A-4147-A177-3AD203B41FA5}">
                      <a16:colId xmlns:a16="http://schemas.microsoft.com/office/drawing/2014/main" val="1869676461"/>
                    </a:ext>
                  </a:extLst>
                </a:gridCol>
              </a:tblGrid>
              <a:tr h="370840">
                <a:tc>
                  <a:txBody>
                    <a:bodyPr/>
                    <a:lstStyle/>
                    <a:p>
                      <a:r>
                        <a:rPr lang="de-AT" sz="1200" dirty="0"/>
                        <a:t>Excel </a:t>
                      </a:r>
                      <a:r>
                        <a:rPr lang="de-AT" sz="1200" dirty="0" err="1"/>
                        <a:t>sheet</a:t>
                      </a:r>
                      <a:endParaRPr lang="de-AT" sz="1200" dirty="0"/>
                    </a:p>
                  </a:txBody>
                  <a:tcPr/>
                </a:tc>
                <a:tc>
                  <a:txBody>
                    <a:bodyPr/>
                    <a:lstStyle/>
                    <a:p>
                      <a:r>
                        <a:rPr lang="de-AT" sz="1200" dirty="0"/>
                        <a:t>Description</a:t>
                      </a:r>
                    </a:p>
                  </a:txBody>
                  <a:tcPr/>
                </a:tc>
                <a:extLst>
                  <a:ext uri="{0D108BD9-81ED-4DB2-BD59-A6C34878D82A}">
                    <a16:rowId xmlns:a16="http://schemas.microsoft.com/office/drawing/2014/main" val="52858787"/>
                  </a:ext>
                </a:extLst>
              </a:tr>
              <a:tr h="370840">
                <a:tc>
                  <a:txBody>
                    <a:bodyPr/>
                    <a:lstStyle/>
                    <a:p>
                      <a:r>
                        <a:rPr lang="de-AT" sz="1200" b="1" dirty="0">
                          <a:solidFill>
                            <a:schemeClr val="bg1"/>
                          </a:solidFill>
                        </a:rPr>
                        <a:t>Classification</a:t>
                      </a:r>
                    </a:p>
                  </a:txBody>
                  <a:tcPr>
                    <a:solidFill>
                      <a:schemeClr val="accent1"/>
                    </a:solidFill>
                  </a:tcPr>
                </a:tc>
                <a:tc>
                  <a:txBody>
                    <a:bodyPr/>
                    <a:lstStyle/>
                    <a:p>
                      <a:r>
                        <a:rPr lang="en-US" sz="1200" dirty="0"/>
                        <a:t>General </a:t>
                      </a:r>
                      <a:r>
                        <a:rPr lang="en-US" sz="1200"/>
                        <a:t>information stored </a:t>
                      </a:r>
                      <a:r>
                        <a:rPr lang="en-US" sz="1200" dirty="0"/>
                        <a:t>in </a:t>
                      </a:r>
                      <a:r>
                        <a:rPr lang="en-US" sz="1200"/>
                        <a:t>the tool for each trailer configuration</a:t>
                      </a:r>
                      <a:endParaRPr lang="en-US" sz="1200" dirty="0"/>
                    </a:p>
                    <a:p>
                      <a:pPr marL="514350" lvl="1" indent="-171450">
                        <a:buFont typeface="Arial" panose="020B0604020202020204" pitchFamily="34" charset="0"/>
                        <a:buChar char="•"/>
                      </a:pPr>
                      <a:r>
                        <a:rPr lang="en-US" sz="1200" dirty="0"/>
                        <a:t>Vehicle group acc. to Annex 1</a:t>
                      </a:r>
                    </a:p>
                    <a:p>
                      <a:pPr marL="514350" lvl="1" indent="-171450">
                        <a:buFont typeface="Arial" panose="020B0604020202020204" pitchFamily="34" charset="0"/>
                        <a:buChar char="•"/>
                      </a:pPr>
                      <a:r>
                        <a:rPr lang="en-US" sz="1200" dirty="0"/>
                        <a:t>Information on the allocated generic towing vehicle</a:t>
                      </a:r>
                    </a:p>
                    <a:p>
                      <a:pPr marL="514350" lvl="1" indent="-171450">
                        <a:buFont typeface="Arial" panose="020B0604020202020204" pitchFamily="34" charset="0"/>
                        <a:buChar char="•"/>
                      </a:pPr>
                      <a:r>
                        <a:rPr lang="en-US" sz="1200" dirty="0"/>
                        <a:t>Mission allocation + weighting </a:t>
                      </a:r>
                      <a:r>
                        <a:rPr lang="en-US" sz="1200"/>
                        <a:t>for aggregated </a:t>
                      </a:r>
                      <a:r>
                        <a:rPr lang="en-US" sz="1200" dirty="0"/>
                        <a:t>results</a:t>
                      </a:r>
                    </a:p>
                    <a:p>
                      <a:pPr marL="514350" lvl="1" indent="-171450">
                        <a:buFont typeface="Arial" panose="020B0604020202020204" pitchFamily="34" charset="0"/>
                        <a:buChar char="•"/>
                      </a:pPr>
                      <a:r>
                        <a:rPr lang="en-US" sz="1200" dirty="0"/>
                        <a:t>Payload and axle weight shares per mission </a:t>
                      </a:r>
                    </a:p>
                  </a:txBody>
                  <a:tcPr/>
                </a:tc>
                <a:extLst>
                  <a:ext uri="{0D108BD9-81ED-4DB2-BD59-A6C34878D82A}">
                    <a16:rowId xmlns:a16="http://schemas.microsoft.com/office/drawing/2014/main" val="975515952"/>
                  </a:ext>
                </a:extLst>
              </a:tr>
              <a:tr h="370840">
                <a:tc>
                  <a:txBody>
                    <a:bodyPr/>
                    <a:lstStyle/>
                    <a:p>
                      <a:r>
                        <a:rPr lang="de-AT" sz="1200" b="1" dirty="0" err="1">
                          <a:solidFill>
                            <a:schemeClr val="bg1"/>
                          </a:solidFill>
                        </a:rPr>
                        <a:t>Generic</a:t>
                      </a:r>
                      <a:r>
                        <a:rPr lang="de-AT" sz="1200" b="1" dirty="0">
                          <a:solidFill>
                            <a:schemeClr val="bg1"/>
                          </a:solidFill>
                        </a:rPr>
                        <a:t> CAD </a:t>
                      </a:r>
                      <a:r>
                        <a:rPr lang="de-AT" sz="1200" b="1" dirty="0" err="1">
                          <a:solidFill>
                            <a:schemeClr val="bg1"/>
                          </a:solidFill>
                        </a:rPr>
                        <a:t>vehicle</a:t>
                      </a:r>
                      <a:endParaRPr lang="de-AT" sz="1200" b="1" dirty="0">
                        <a:solidFill>
                          <a:schemeClr val="bg1"/>
                        </a:solidFill>
                      </a:endParaRPr>
                    </a:p>
                  </a:txBody>
                  <a:tcPr>
                    <a:solidFill>
                      <a:schemeClr val="accent1"/>
                    </a:solidFill>
                  </a:tcPr>
                </a:tc>
                <a:tc>
                  <a:txBody>
                    <a:bodyPr/>
                    <a:lstStyle/>
                    <a:p>
                      <a:r>
                        <a:rPr lang="de-AT" sz="1200" dirty="0"/>
                        <a:t>Main </a:t>
                      </a:r>
                      <a:r>
                        <a:rPr lang="de-AT" sz="1200" dirty="0" err="1"/>
                        <a:t>dimensions</a:t>
                      </a:r>
                      <a:r>
                        <a:rPr lang="de-AT" sz="1200" dirty="0"/>
                        <a:t> and </a:t>
                      </a:r>
                      <a:r>
                        <a:rPr lang="de-AT" sz="1200" dirty="0" err="1"/>
                        <a:t>air</a:t>
                      </a:r>
                      <a:r>
                        <a:rPr lang="de-AT" sz="1200" dirty="0"/>
                        <a:t> </a:t>
                      </a:r>
                      <a:r>
                        <a:rPr lang="de-AT" sz="1200" dirty="0" err="1"/>
                        <a:t>drag</a:t>
                      </a:r>
                      <a:r>
                        <a:rPr lang="de-AT" sz="1200" dirty="0"/>
                        <a:t> </a:t>
                      </a:r>
                      <a:r>
                        <a:rPr lang="de-AT" sz="1200" dirty="0" err="1"/>
                        <a:t>values</a:t>
                      </a:r>
                      <a:r>
                        <a:rPr lang="de-AT" sz="1200" dirty="0"/>
                        <a:t> </a:t>
                      </a:r>
                      <a:r>
                        <a:rPr lang="de-AT" sz="1200" dirty="0" err="1"/>
                        <a:t>of</a:t>
                      </a:r>
                      <a:r>
                        <a:rPr lang="de-AT" sz="1200" dirty="0"/>
                        <a:t> </a:t>
                      </a:r>
                      <a:r>
                        <a:rPr lang="de-AT" sz="1200" dirty="0" err="1"/>
                        <a:t>the</a:t>
                      </a:r>
                      <a:r>
                        <a:rPr lang="de-AT" sz="1200" dirty="0"/>
                        <a:t> </a:t>
                      </a:r>
                      <a:r>
                        <a:rPr lang="de-AT" sz="1200" dirty="0" err="1"/>
                        <a:t>generic</a:t>
                      </a:r>
                      <a:r>
                        <a:rPr lang="de-AT" sz="1200" dirty="0"/>
                        <a:t> CAD </a:t>
                      </a:r>
                      <a:r>
                        <a:rPr lang="de-AT" sz="1200" dirty="0" err="1"/>
                        <a:t>models</a:t>
                      </a:r>
                      <a:r>
                        <a:rPr lang="de-AT" sz="1200" dirty="0"/>
                        <a:t> </a:t>
                      </a:r>
                      <a:r>
                        <a:rPr lang="de-AT" sz="1200" dirty="0" err="1"/>
                        <a:t>used</a:t>
                      </a:r>
                      <a:r>
                        <a:rPr lang="de-AT" sz="1200" dirty="0"/>
                        <a:t> </a:t>
                      </a:r>
                      <a:r>
                        <a:rPr lang="de-AT" sz="1200" dirty="0" err="1"/>
                        <a:t>as</a:t>
                      </a:r>
                      <a:r>
                        <a:rPr lang="de-AT" sz="1200" dirty="0"/>
                        <a:t> a </a:t>
                      </a:r>
                      <a:r>
                        <a:rPr lang="de-AT" sz="1200" dirty="0" err="1"/>
                        <a:t>starting</a:t>
                      </a:r>
                      <a:r>
                        <a:rPr lang="de-AT" sz="1200" dirty="0"/>
                        <a:t> </a:t>
                      </a:r>
                      <a:r>
                        <a:rPr lang="de-AT" sz="1200" dirty="0" err="1"/>
                        <a:t>point</a:t>
                      </a:r>
                      <a:r>
                        <a:rPr lang="de-AT" sz="1200" dirty="0"/>
                        <a:t> </a:t>
                      </a:r>
                      <a:r>
                        <a:rPr lang="de-AT" sz="1200" err="1"/>
                        <a:t>to</a:t>
                      </a:r>
                      <a:r>
                        <a:rPr lang="de-AT" sz="1200"/>
                        <a:t> calculate </a:t>
                      </a:r>
                      <a:r>
                        <a:rPr lang="de-AT" sz="1200" dirty="0" err="1"/>
                        <a:t>the</a:t>
                      </a:r>
                      <a:r>
                        <a:rPr lang="de-AT" sz="1200" dirty="0"/>
                        <a:t> </a:t>
                      </a:r>
                      <a:r>
                        <a:rPr lang="de-AT" sz="1200" dirty="0" err="1"/>
                        <a:t>air</a:t>
                      </a:r>
                      <a:r>
                        <a:rPr lang="de-AT" sz="1200" dirty="0"/>
                        <a:t> </a:t>
                      </a:r>
                      <a:r>
                        <a:rPr lang="de-AT" sz="1200" dirty="0" err="1"/>
                        <a:t>drag</a:t>
                      </a:r>
                      <a:r>
                        <a:rPr lang="de-AT" sz="1200" dirty="0"/>
                        <a:t> </a:t>
                      </a:r>
                      <a:r>
                        <a:rPr lang="de-AT" sz="1200" dirty="0" err="1"/>
                        <a:t>of</a:t>
                      </a:r>
                      <a:r>
                        <a:rPr lang="de-AT" sz="1200" dirty="0"/>
                        <a:t> </a:t>
                      </a:r>
                      <a:r>
                        <a:rPr lang="de-AT" sz="1200" dirty="0" err="1"/>
                        <a:t>trailers</a:t>
                      </a:r>
                      <a:r>
                        <a:rPr lang="de-AT" sz="1200" dirty="0"/>
                        <a:t> </a:t>
                      </a:r>
                      <a:r>
                        <a:rPr lang="de-AT" sz="1200" dirty="0" err="1"/>
                        <a:t>with</a:t>
                      </a:r>
                      <a:r>
                        <a:rPr lang="de-AT" sz="1200" dirty="0"/>
                        <a:t> </a:t>
                      </a:r>
                      <a:r>
                        <a:rPr lang="de-AT" sz="1200" dirty="0">
                          <a:solidFill>
                            <a:schemeClr val="tx1"/>
                          </a:solidFill>
                        </a:rPr>
                        <a:t>different </a:t>
                      </a:r>
                      <a:r>
                        <a:rPr lang="de-AT" sz="1200" err="1">
                          <a:solidFill>
                            <a:schemeClr val="tx1"/>
                          </a:solidFill>
                        </a:rPr>
                        <a:t>dimensions</a:t>
                      </a:r>
                      <a:r>
                        <a:rPr lang="de-AT" sz="1200">
                          <a:solidFill>
                            <a:schemeClr val="tx1"/>
                          </a:solidFill>
                        </a:rPr>
                        <a:t> (could</a:t>
                      </a:r>
                      <a:r>
                        <a:rPr lang="de-AT" sz="1200" baseline="0">
                          <a:solidFill>
                            <a:schemeClr val="tx1"/>
                          </a:solidFill>
                        </a:rPr>
                        <a:t> be the r</a:t>
                      </a:r>
                      <a:r>
                        <a:rPr lang="de-AT" sz="1200">
                          <a:solidFill>
                            <a:schemeClr val="tx1"/>
                          </a:solidFill>
                        </a:rPr>
                        <a:t>eference-</a:t>
                      </a:r>
                      <a:r>
                        <a:rPr lang="de-AT" sz="1200" baseline="0">
                          <a:solidFill>
                            <a:schemeClr val="tx1"/>
                          </a:solidFill>
                        </a:rPr>
                        <a:t> or the s</a:t>
                      </a:r>
                      <a:r>
                        <a:rPr lang="de-AT" sz="1200">
                          <a:solidFill>
                            <a:schemeClr val="tx1"/>
                          </a:solidFill>
                        </a:rPr>
                        <a:t>pecific </a:t>
                      </a:r>
                      <a:r>
                        <a:rPr lang="de-AT" sz="1200" dirty="0" err="1">
                          <a:solidFill>
                            <a:schemeClr val="tx1"/>
                          </a:solidFill>
                        </a:rPr>
                        <a:t>trailer</a:t>
                      </a:r>
                      <a:r>
                        <a:rPr lang="de-AT" sz="1200" dirty="0">
                          <a:solidFill>
                            <a:schemeClr val="tx1"/>
                          </a:solidFill>
                        </a:rPr>
                        <a:t>)</a:t>
                      </a:r>
                    </a:p>
                  </a:txBody>
                  <a:tcPr/>
                </a:tc>
                <a:extLst>
                  <a:ext uri="{0D108BD9-81ED-4DB2-BD59-A6C34878D82A}">
                    <a16:rowId xmlns:a16="http://schemas.microsoft.com/office/drawing/2014/main" val="4122913343"/>
                  </a:ext>
                </a:extLst>
              </a:tr>
              <a:tr h="370840">
                <a:tc>
                  <a:txBody>
                    <a:bodyPr/>
                    <a:lstStyle/>
                    <a:p>
                      <a:r>
                        <a:rPr lang="de-AT" sz="1200" b="1" dirty="0">
                          <a:solidFill>
                            <a:schemeClr val="bg1"/>
                          </a:solidFill>
                        </a:rPr>
                        <a:t>Reference Trailer</a:t>
                      </a:r>
                    </a:p>
                  </a:txBody>
                  <a:tcPr>
                    <a:solidFill>
                      <a:schemeClr val="accent1"/>
                    </a:solidFill>
                  </a:tcPr>
                </a:tc>
                <a:tc>
                  <a:txBody>
                    <a:bodyPr/>
                    <a:lstStyle/>
                    <a:p>
                      <a:r>
                        <a:rPr lang="de-AT" sz="1200" dirty="0"/>
                        <a:t>Information on </a:t>
                      </a:r>
                      <a:r>
                        <a:rPr lang="de-AT" sz="1200" dirty="0" err="1"/>
                        <a:t>the</a:t>
                      </a:r>
                      <a:r>
                        <a:rPr lang="de-AT" sz="1200" dirty="0"/>
                        <a:t> </a:t>
                      </a:r>
                      <a:r>
                        <a:rPr lang="de-AT" sz="1200" dirty="0" err="1"/>
                        <a:t>reference</a:t>
                      </a:r>
                      <a:r>
                        <a:rPr lang="de-AT" sz="1200" dirty="0"/>
                        <a:t> </a:t>
                      </a:r>
                      <a:r>
                        <a:rPr lang="de-AT" sz="1200" dirty="0" err="1"/>
                        <a:t>trailers</a:t>
                      </a:r>
                      <a:r>
                        <a:rPr lang="de-AT" sz="1200" dirty="0"/>
                        <a:t> </a:t>
                      </a:r>
                      <a:r>
                        <a:rPr lang="de-AT" sz="1200" dirty="0" err="1"/>
                        <a:t>for</a:t>
                      </a:r>
                      <a:r>
                        <a:rPr lang="de-AT" sz="1200" dirty="0"/>
                        <a:t> </a:t>
                      </a:r>
                      <a:r>
                        <a:rPr lang="de-AT" sz="1200" dirty="0" err="1"/>
                        <a:t>each</a:t>
                      </a:r>
                      <a:r>
                        <a:rPr lang="de-AT" sz="1200" dirty="0"/>
                        <a:t> </a:t>
                      </a:r>
                      <a:r>
                        <a:rPr lang="de-AT" sz="1200" err="1"/>
                        <a:t>trailer</a:t>
                      </a:r>
                      <a:r>
                        <a:rPr lang="de-AT" sz="1200"/>
                        <a:t> configuration</a:t>
                      </a:r>
                    </a:p>
                    <a:p>
                      <a:pPr marL="514350" lvl="1" indent="-171450">
                        <a:buFont typeface="Arial" panose="020B0604020202020204" pitchFamily="34" charset="0"/>
                        <a:buChar char="•"/>
                      </a:pPr>
                      <a:r>
                        <a:rPr lang="de-AT" sz="1200"/>
                        <a:t>Curb mass and cargo volume</a:t>
                      </a:r>
                    </a:p>
                    <a:p>
                      <a:pPr marL="514350" lvl="1" indent="-171450">
                        <a:buFont typeface="Arial" panose="020B0604020202020204" pitchFamily="34" charset="0"/>
                        <a:buChar char="•"/>
                      </a:pPr>
                      <a:r>
                        <a:rPr lang="de-AT" sz="1200"/>
                        <a:t>Tyre </a:t>
                      </a:r>
                      <a:r>
                        <a:rPr lang="de-AT" sz="1200" dirty="0" err="1"/>
                        <a:t>specifications</a:t>
                      </a:r>
                      <a:endParaRPr lang="de-AT" sz="1200" dirty="0"/>
                    </a:p>
                    <a:p>
                      <a:pPr marL="514350" lvl="1" indent="-171450">
                        <a:buFont typeface="Arial" panose="020B0604020202020204" pitchFamily="34" charset="0"/>
                        <a:buChar char="•"/>
                      </a:pPr>
                      <a:r>
                        <a:rPr lang="de-AT" sz="1200" dirty="0"/>
                        <a:t>Main external </a:t>
                      </a:r>
                      <a:r>
                        <a:rPr lang="de-AT" sz="1200" dirty="0" err="1"/>
                        <a:t>dimensions</a:t>
                      </a:r>
                      <a:r>
                        <a:rPr lang="de-AT" sz="1200" dirty="0"/>
                        <a:t> </a:t>
                      </a:r>
                      <a:r>
                        <a:rPr lang="de-AT" sz="1200" dirty="0" err="1"/>
                        <a:t>to</a:t>
                      </a:r>
                      <a:r>
                        <a:rPr lang="de-AT" sz="1200" dirty="0"/>
                        <a:t> </a:t>
                      </a:r>
                      <a:r>
                        <a:rPr lang="de-AT" sz="1200" dirty="0" err="1"/>
                        <a:t>calculate</a:t>
                      </a:r>
                      <a:r>
                        <a:rPr lang="de-AT" sz="1200" dirty="0"/>
                        <a:t> </a:t>
                      </a:r>
                      <a:r>
                        <a:rPr lang="de-AT" sz="1200" dirty="0" err="1"/>
                        <a:t>the</a:t>
                      </a:r>
                      <a:r>
                        <a:rPr lang="de-AT" sz="1200" dirty="0"/>
                        <a:t> </a:t>
                      </a:r>
                      <a:r>
                        <a:rPr lang="de-AT" sz="1200" dirty="0" err="1"/>
                        <a:t>air</a:t>
                      </a:r>
                      <a:r>
                        <a:rPr lang="de-AT" sz="1200" dirty="0"/>
                        <a:t> </a:t>
                      </a:r>
                      <a:r>
                        <a:rPr lang="de-AT" sz="1200" dirty="0" err="1"/>
                        <a:t>drag</a:t>
                      </a:r>
                      <a:endParaRPr lang="de-AT" sz="1200" dirty="0"/>
                    </a:p>
                    <a:p>
                      <a:pPr marL="514350" lvl="1" indent="-171450">
                        <a:buFont typeface="Arial" panose="020B0604020202020204" pitchFamily="34" charset="0"/>
                        <a:buChar char="•"/>
                      </a:pPr>
                      <a:r>
                        <a:rPr lang="de-AT" sz="1200" dirty="0" err="1"/>
                        <a:t>Indication</a:t>
                      </a:r>
                      <a:r>
                        <a:rPr lang="de-AT" sz="1200" dirty="0"/>
                        <a:t> on </a:t>
                      </a:r>
                      <a:r>
                        <a:rPr lang="de-AT" sz="1200" dirty="0" err="1"/>
                        <a:t>which</a:t>
                      </a:r>
                      <a:r>
                        <a:rPr lang="de-AT" sz="1200" dirty="0"/>
                        <a:t> </a:t>
                      </a:r>
                      <a:r>
                        <a:rPr lang="de-AT" sz="1200" dirty="0" err="1"/>
                        <a:t>aero</a:t>
                      </a:r>
                      <a:r>
                        <a:rPr lang="de-AT" sz="1200" dirty="0"/>
                        <a:t> </a:t>
                      </a:r>
                      <a:r>
                        <a:rPr lang="de-AT" sz="1200" dirty="0" err="1"/>
                        <a:t>corrections</a:t>
                      </a:r>
                      <a:r>
                        <a:rPr lang="de-AT" sz="1200" dirty="0"/>
                        <a:t> </a:t>
                      </a:r>
                      <a:r>
                        <a:rPr lang="de-AT" sz="1200" dirty="0" err="1"/>
                        <a:t>are</a:t>
                      </a:r>
                      <a:r>
                        <a:rPr lang="de-AT" sz="1200" dirty="0"/>
                        <a:t> </a:t>
                      </a:r>
                      <a:r>
                        <a:rPr lang="de-AT" sz="1200" dirty="0" err="1"/>
                        <a:t>applied</a:t>
                      </a:r>
                      <a:r>
                        <a:rPr lang="de-AT" sz="1200" dirty="0"/>
                        <a:t> </a:t>
                      </a:r>
                      <a:r>
                        <a:rPr lang="de-AT" sz="1200" dirty="0" err="1"/>
                        <a:t>to</a:t>
                      </a:r>
                      <a:r>
                        <a:rPr lang="de-AT" sz="1200" dirty="0"/>
                        <a:t> </a:t>
                      </a:r>
                      <a:r>
                        <a:rPr lang="de-AT" sz="1200" dirty="0" err="1"/>
                        <a:t>which</a:t>
                      </a:r>
                      <a:r>
                        <a:rPr lang="de-AT" sz="1200" dirty="0"/>
                        <a:t> </a:t>
                      </a:r>
                      <a:r>
                        <a:rPr lang="de-AT" sz="1200" dirty="0" err="1"/>
                        <a:t>trailer</a:t>
                      </a:r>
                      <a:r>
                        <a:rPr lang="de-AT" sz="1200" dirty="0"/>
                        <a:t> </a:t>
                      </a:r>
                      <a:r>
                        <a:rPr lang="de-AT" sz="1200" dirty="0" err="1"/>
                        <a:t>configuration</a:t>
                      </a:r>
                      <a:endParaRPr lang="de-AT" sz="1200" dirty="0"/>
                    </a:p>
                    <a:p>
                      <a:pPr marL="857250" lvl="2" indent="-171450">
                        <a:buFont typeface="Arial" panose="020B0604020202020204" pitchFamily="34" charset="0"/>
                        <a:buChar char="•"/>
                      </a:pPr>
                      <a:r>
                        <a:rPr lang="de-AT" sz="1200"/>
                        <a:t>„1“ </a:t>
                      </a:r>
                      <a:r>
                        <a:rPr lang="de-AT" sz="1200" dirty="0" err="1"/>
                        <a:t>means</a:t>
                      </a:r>
                      <a:r>
                        <a:rPr lang="de-AT" sz="1200" dirty="0"/>
                        <a:t> </a:t>
                      </a:r>
                      <a:r>
                        <a:rPr lang="de-AT" sz="1200" dirty="0" err="1"/>
                        <a:t>aero</a:t>
                      </a:r>
                      <a:r>
                        <a:rPr lang="de-AT" sz="1200" dirty="0"/>
                        <a:t> </a:t>
                      </a:r>
                      <a:r>
                        <a:rPr lang="de-AT" sz="1200" dirty="0" err="1"/>
                        <a:t>correction</a:t>
                      </a:r>
                      <a:r>
                        <a:rPr lang="de-AT" sz="1200" dirty="0"/>
                        <a:t> </a:t>
                      </a:r>
                      <a:r>
                        <a:rPr lang="de-AT" sz="1200" dirty="0" err="1"/>
                        <a:t>is</a:t>
                      </a:r>
                      <a:r>
                        <a:rPr lang="de-AT" sz="1200" dirty="0"/>
                        <a:t> </a:t>
                      </a:r>
                      <a:r>
                        <a:rPr lang="de-AT" sz="1200" dirty="0" err="1"/>
                        <a:t>applied</a:t>
                      </a:r>
                      <a:endParaRPr lang="de-AT" sz="1200" dirty="0"/>
                    </a:p>
                    <a:p>
                      <a:pPr marL="857250" lvl="2" indent="-171450">
                        <a:buFont typeface="Arial" panose="020B0604020202020204" pitchFamily="34" charset="0"/>
                        <a:buChar char="•"/>
                      </a:pPr>
                      <a:r>
                        <a:rPr lang="de-AT" sz="1200"/>
                        <a:t>„0“ </a:t>
                      </a:r>
                      <a:r>
                        <a:rPr lang="de-AT" sz="1200" dirty="0" err="1"/>
                        <a:t>means</a:t>
                      </a:r>
                      <a:r>
                        <a:rPr lang="de-AT" sz="1200" dirty="0"/>
                        <a:t> </a:t>
                      </a:r>
                      <a:r>
                        <a:rPr lang="de-AT" sz="1200" dirty="0" err="1"/>
                        <a:t>aero</a:t>
                      </a:r>
                      <a:r>
                        <a:rPr lang="de-AT" sz="1200" dirty="0"/>
                        <a:t> </a:t>
                      </a:r>
                      <a:r>
                        <a:rPr lang="de-AT" sz="1200" dirty="0" err="1"/>
                        <a:t>correction</a:t>
                      </a:r>
                      <a:r>
                        <a:rPr lang="de-AT" sz="1200" dirty="0"/>
                        <a:t> </a:t>
                      </a:r>
                      <a:r>
                        <a:rPr lang="de-AT" sz="1200" dirty="0" err="1"/>
                        <a:t>is</a:t>
                      </a:r>
                      <a:r>
                        <a:rPr lang="de-AT" sz="1200" dirty="0"/>
                        <a:t> not </a:t>
                      </a:r>
                      <a:r>
                        <a:rPr lang="de-AT" sz="1200" dirty="0" err="1"/>
                        <a:t>applied</a:t>
                      </a:r>
                      <a:endParaRPr lang="de-AT" sz="1200" dirty="0"/>
                    </a:p>
                    <a:p>
                      <a:pPr marL="514350" lvl="1" indent="-171450">
                        <a:buFont typeface="Arial" panose="020B0604020202020204" pitchFamily="34" charset="0"/>
                        <a:buChar char="•"/>
                      </a:pPr>
                      <a:endParaRPr lang="de-AT" sz="1200" dirty="0"/>
                    </a:p>
                  </a:txBody>
                  <a:tcPr/>
                </a:tc>
                <a:extLst>
                  <a:ext uri="{0D108BD9-81ED-4DB2-BD59-A6C34878D82A}">
                    <a16:rowId xmlns:a16="http://schemas.microsoft.com/office/drawing/2014/main" val="3760094025"/>
                  </a:ext>
                </a:extLst>
              </a:tr>
            </a:tbl>
          </a:graphicData>
        </a:graphic>
      </p:graphicFrame>
    </p:spTree>
    <p:extLst>
      <p:ext uri="{BB962C8B-B14F-4D97-AF65-F5344CB8AC3E}">
        <p14:creationId xmlns:p14="http://schemas.microsoft.com/office/powerpoint/2010/main" val="2935685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13741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Overview content of </a:t>
            </a:r>
            <a:r>
              <a:rPr lang="en-US" sz="2000" b="1" dirty="0" err="1">
                <a:solidFill>
                  <a:srgbClr val="034EA2"/>
                </a:solidFill>
                <a:latin typeface="Verdana" panose="020B0604030504040204" pitchFamily="34" charset="0"/>
                <a:ea typeface="Verdana" panose="020B0604030504040204" pitchFamily="34" charset="0"/>
                <a:cs typeface="Verdana" panose="020B0604030504040204" pitchFamily="34" charset="0"/>
              </a:rPr>
              <a:t>Masterexcel</a:t>
            </a:r>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 (3/4)</a:t>
            </a:r>
          </a:p>
        </p:txBody>
      </p:sp>
      <p:graphicFrame>
        <p:nvGraphicFramePr>
          <p:cNvPr id="7" name="Tabelle 6">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183606782"/>
              </p:ext>
            </p:extLst>
          </p:nvPr>
        </p:nvGraphicFramePr>
        <p:xfrm>
          <a:off x="467544" y="1117650"/>
          <a:ext cx="8208000" cy="2788920"/>
        </p:xfrm>
        <a:graphic>
          <a:graphicData uri="http://schemas.openxmlformats.org/drawingml/2006/table">
            <a:tbl>
              <a:tblPr firstRow="1" bandRow="1">
                <a:tableStyleId>{5C22544A-7EE6-4342-B048-85BDC9FD1C3A}</a:tableStyleId>
              </a:tblPr>
              <a:tblGrid>
                <a:gridCol w="1255170">
                  <a:extLst>
                    <a:ext uri="{9D8B030D-6E8A-4147-A177-3AD203B41FA5}">
                      <a16:colId xmlns:a16="http://schemas.microsoft.com/office/drawing/2014/main" val="791925895"/>
                    </a:ext>
                  </a:extLst>
                </a:gridCol>
                <a:gridCol w="6952830">
                  <a:extLst>
                    <a:ext uri="{9D8B030D-6E8A-4147-A177-3AD203B41FA5}">
                      <a16:colId xmlns:a16="http://schemas.microsoft.com/office/drawing/2014/main" val="1869676461"/>
                    </a:ext>
                  </a:extLst>
                </a:gridCol>
              </a:tblGrid>
              <a:tr h="370840">
                <a:tc>
                  <a:txBody>
                    <a:bodyPr/>
                    <a:lstStyle/>
                    <a:p>
                      <a:r>
                        <a:rPr lang="de-AT" sz="1200" dirty="0"/>
                        <a:t>Excel </a:t>
                      </a:r>
                      <a:r>
                        <a:rPr lang="de-AT" sz="1200" dirty="0" err="1"/>
                        <a:t>sheet</a:t>
                      </a:r>
                      <a:endParaRPr lang="de-AT" sz="1200" dirty="0"/>
                    </a:p>
                  </a:txBody>
                  <a:tcPr/>
                </a:tc>
                <a:tc>
                  <a:txBody>
                    <a:bodyPr/>
                    <a:lstStyle/>
                    <a:p>
                      <a:r>
                        <a:rPr lang="de-AT" sz="1200" dirty="0"/>
                        <a:t>Description</a:t>
                      </a:r>
                    </a:p>
                  </a:txBody>
                  <a:tcPr/>
                </a:tc>
                <a:extLst>
                  <a:ext uri="{0D108BD9-81ED-4DB2-BD59-A6C34878D82A}">
                    <a16:rowId xmlns:a16="http://schemas.microsoft.com/office/drawing/2014/main" val="52858787"/>
                  </a:ext>
                </a:extLst>
              </a:tr>
              <a:tr h="370840">
                <a:tc>
                  <a:txBody>
                    <a:bodyPr/>
                    <a:lstStyle/>
                    <a:p>
                      <a:r>
                        <a:rPr lang="de-AT" sz="1200" b="1" dirty="0">
                          <a:solidFill>
                            <a:schemeClr val="bg1"/>
                          </a:solidFill>
                        </a:rPr>
                        <a:t>...</a:t>
                      </a:r>
                    </a:p>
                  </a:txBody>
                  <a:tcPr>
                    <a:solidFill>
                      <a:schemeClr val="accent1"/>
                    </a:solidFill>
                  </a:tcPr>
                </a:tc>
                <a:tc>
                  <a:txBody>
                    <a:bodyPr/>
                    <a:lstStyle/>
                    <a:p>
                      <a:r>
                        <a:rPr lang="en-US" sz="1200" dirty="0">
                          <a:solidFill>
                            <a:schemeClr val="tx1"/>
                          </a:solidFill>
                        </a:rPr>
                        <a:t>...</a:t>
                      </a:r>
                    </a:p>
                  </a:txBody>
                  <a:tcPr/>
                </a:tc>
                <a:extLst>
                  <a:ext uri="{0D108BD9-81ED-4DB2-BD59-A6C34878D82A}">
                    <a16:rowId xmlns:a16="http://schemas.microsoft.com/office/drawing/2014/main" val="975515952"/>
                  </a:ext>
                </a:extLst>
              </a:tr>
              <a:tr h="370840">
                <a:tc>
                  <a:txBody>
                    <a:bodyPr/>
                    <a:lstStyle/>
                    <a:p>
                      <a:r>
                        <a:rPr lang="de-AT" sz="1200" b="1" dirty="0" err="1">
                          <a:solidFill>
                            <a:schemeClr val="bg1"/>
                          </a:solidFill>
                        </a:rPr>
                        <a:t>Specific</a:t>
                      </a:r>
                      <a:r>
                        <a:rPr lang="de-AT" sz="1200" b="1" dirty="0">
                          <a:solidFill>
                            <a:schemeClr val="bg1"/>
                          </a:solidFill>
                        </a:rPr>
                        <a:t> </a:t>
                      </a:r>
                      <a:r>
                        <a:rPr lang="de-AT" sz="1200" b="1" dirty="0" err="1">
                          <a:solidFill>
                            <a:schemeClr val="bg1"/>
                          </a:solidFill>
                        </a:rPr>
                        <a:t>trailer</a:t>
                      </a:r>
                      <a:endParaRPr lang="de-AT" sz="1200" b="1" dirty="0">
                        <a:solidFill>
                          <a:schemeClr val="bg1"/>
                        </a:solidFill>
                      </a:endParaRPr>
                    </a:p>
                  </a:txBody>
                  <a:tcPr>
                    <a:solidFill>
                      <a:schemeClr val="accent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AT" sz="1200" dirty="0"/>
                        <a:t>Information on </a:t>
                      </a:r>
                      <a:r>
                        <a:rPr lang="de-AT" sz="1200" dirty="0" err="1"/>
                        <a:t>technologies</a:t>
                      </a:r>
                      <a:r>
                        <a:rPr lang="de-AT" sz="1200" dirty="0"/>
                        <a:t> </a:t>
                      </a:r>
                      <a:r>
                        <a:rPr lang="de-AT" sz="1200" dirty="0" err="1"/>
                        <a:t>that</a:t>
                      </a:r>
                      <a:r>
                        <a:rPr lang="de-AT" sz="1200" dirty="0"/>
                        <a:t> </a:t>
                      </a:r>
                      <a:r>
                        <a:rPr lang="de-AT" sz="1200" dirty="0" err="1"/>
                        <a:t>may</a:t>
                      </a:r>
                      <a:r>
                        <a:rPr lang="de-AT" sz="1200" dirty="0"/>
                        <a:t> </a:t>
                      </a:r>
                      <a:r>
                        <a:rPr lang="de-AT" sz="1200" dirty="0" err="1"/>
                        <a:t>be</a:t>
                      </a:r>
                      <a:r>
                        <a:rPr lang="de-AT" sz="1200" dirty="0"/>
                        <a:t> </a:t>
                      </a:r>
                      <a:r>
                        <a:rPr lang="de-AT" sz="1200" dirty="0" err="1"/>
                        <a:t>present</a:t>
                      </a:r>
                      <a:r>
                        <a:rPr lang="de-AT" sz="1200" dirty="0"/>
                        <a:t> on a </a:t>
                      </a:r>
                      <a:r>
                        <a:rPr lang="de-AT" sz="1200" dirty="0" err="1"/>
                        <a:t>specific</a:t>
                      </a:r>
                      <a:r>
                        <a:rPr lang="de-AT" sz="1200" dirty="0"/>
                        <a:t> </a:t>
                      </a:r>
                      <a:r>
                        <a:rPr lang="de-AT" sz="1200" dirty="0" err="1"/>
                        <a:t>trailer</a:t>
                      </a:r>
                      <a:endParaRPr lang="de-AT" sz="1200" dirty="0"/>
                    </a:p>
                    <a:p>
                      <a:pPr marL="5143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AT" sz="1200" dirty="0"/>
                        <a:t>Bonus </a:t>
                      </a:r>
                      <a:r>
                        <a:rPr lang="de-AT" sz="1200" dirty="0" err="1"/>
                        <a:t>factors</a:t>
                      </a:r>
                      <a:r>
                        <a:rPr lang="de-AT" sz="1200" dirty="0"/>
                        <a:t> </a:t>
                      </a:r>
                      <a:r>
                        <a:rPr lang="de-AT" sz="1200" dirty="0" err="1"/>
                        <a:t>for</a:t>
                      </a:r>
                      <a:r>
                        <a:rPr lang="de-AT" sz="1200" dirty="0"/>
                        <a:t> </a:t>
                      </a:r>
                      <a:r>
                        <a:rPr lang="de-AT" sz="1200" dirty="0" err="1"/>
                        <a:t>liftable</a:t>
                      </a:r>
                      <a:r>
                        <a:rPr lang="de-AT" sz="1200" dirty="0"/>
                        <a:t> and </a:t>
                      </a:r>
                      <a:r>
                        <a:rPr lang="de-AT" sz="1200" dirty="0" err="1"/>
                        <a:t>steered</a:t>
                      </a:r>
                      <a:r>
                        <a:rPr lang="de-AT" sz="1200" dirty="0"/>
                        <a:t> </a:t>
                      </a:r>
                      <a:r>
                        <a:rPr lang="de-AT" sz="1200" dirty="0" err="1"/>
                        <a:t>axles</a:t>
                      </a:r>
                      <a:r>
                        <a:rPr lang="de-AT" sz="1200" dirty="0"/>
                        <a:t> </a:t>
                      </a:r>
                      <a:r>
                        <a:rPr lang="de-AT" sz="1200" dirty="0" err="1"/>
                        <a:t>depending</a:t>
                      </a:r>
                      <a:r>
                        <a:rPr lang="de-AT" sz="1200" dirty="0"/>
                        <a:t> on </a:t>
                      </a:r>
                      <a:r>
                        <a:rPr lang="de-AT" sz="1200" dirty="0" err="1"/>
                        <a:t>trailer</a:t>
                      </a:r>
                      <a:r>
                        <a:rPr lang="de-AT" sz="1200" dirty="0"/>
                        <a:t> </a:t>
                      </a:r>
                      <a:r>
                        <a:rPr lang="de-AT" sz="1200" dirty="0" err="1"/>
                        <a:t>configuration</a:t>
                      </a:r>
                      <a:r>
                        <a:rPr lang="de-AT" sz="1200" dirty="0"/>
                        <a:t>, </a:t>
                      </a:r>
                      <a:r>
                        <a:rPr lang="de-AT" sz="1200" dirty="0" err="1"/>
                        <a:t>mission</a:t>
                      </a:r>
                      <a:r>
                        <a:rPr lang="de-AT" sz="1200" dirty="0"/>
                        <a:t> and </a:t>
                      </a:r>
                      <a:r>
                        <a:rPr lang="de-AT" sz="1200" dirty="0" err="1"/>
                        <a:t>payload</a:t>
                      </a:r>
                      <a:endParaRPr lang="de-AT" sz="1200" dirty="0"/>
                    </a:p>
                    <a:p>
                      <a:pPr marL="857250" marR="0" lvl="2"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AT" sz="1200" dirty="0"/>
                        <a:t>These </a:t>
                      </a:r>
                      <a:r>
                        <a:rPr lang="de-AT" sz="1200" dirty="0" err="1"/>
                        <a:t>factors</a:t>
                      </a:r>
                      <a:r>
                        <a:rPr lang="de-AT" sz="1200" dirty="0"/>
                        <a:t> </a:t>
                      </a:r>
                      <a:r>
                        <a:rPr lang="de-AT" sz="1200" dirty="0" err="1"/>
                        <a:t>are</a:t>
                      </a:r>
                      <a:r>
                        <a:rPr lang="de-AT" sz="1200" dirty="0"/>
                        <a:t> </a:t>
                      </a:r>
                      <a:r>
                        <a:rPr lang="de-AT" sz="1200" dirty="0" err="1"/>
                        <a:t>to</a:t>
                      </a:r>
                      <a:r>
                        <a:rPr lang="de-AT" sz="1200" dirty="0"/>
                        <a:t> </a:t>
                      </a:r>
                      <a:r>
                        <a:rPr lang="de-AT" sz="1200" err="1"/>
                        <a:t>be</a:t>
                      </a:r>
                      <a:r>
                        <a:rPr lang="de-AT" sz="1200"/>
                        <a:t> understood </a:t>
                      </a:r>
                      <a:r>
                        <a:rPr lang="de-AT" sz="1200" dirty="0" err="1"/>
                        <a:t>as</a:t>
                      </a:r>
                      <a:r>
                        <a:rPr lang="de-AT" sz="1200" dirty="0"/>
                        <a:t> </a:t>
                      </a:r>
                      <a:r>
                        <a:rPr lang="de-AT" sz="1200" dirty="0" err="1"/>
                        <a:t>reduction</a:t>
                      </a:r>
                      <a:r>
                        <a:rPr lang="de-AT" sz="1200" dirty="0"/>
                        <a:t> </a:t>
                      </a:r>
                      <a:r>
                        <a:rPr lang="de-AT" sz="1200" dirty="0" err="1"/>
                        <a:t>factors</a:t>
                      </a:r>
                      <a:r>
                        <a:rPr lang="de-AT" sz="1200" dirty="0"/>
                        <a:t> on </a:t>
                      </a:r>
                      <a:r>
                        <a:rPr lang="de-AT" sz="1200" dirty="0" err="1"/>
                        <a:t>overall</a:t>
                      </a:r>
                      <a:r>
                        <a:rPr lang="de-AT" sz="1200" dirty="0"/>
                        <a:t> </a:t>
                      </a:r>
                      <a:r>
                        <a:rPr lang="de-AT" sz="1200" err="1"/>
                        <a:t>fuel</a:t>
                      </a:r>
                      <a:r>
                        <a:rPr lang="de-AT" sz="1200"/>
                        <a:t> consumption </a:t>
                      </a:r>
                      <a:r>
                        <a:rPr lang="de-AT" sz="1200" dirty="0"/>
                        <a:t>/ CO</a:t>
                      </a:r>
                      <a:r>
                        <a:rPr lang="de-AT" sz="1200" baseline="-25000" dirty="0"/>
                        <a:t>2</a:t>
                      </a:r>
                    </a:p>
                    <a:p>
                      <a:pPr marL="514350" lvl="1" indent="-171450">
                        <a:buFont typeface="Arial" panose="020B0604020202020204" pitchFamily="34" charset="0"/>
                        <a:buChar char="•"/>
                      </a:pPr>
                      <a:r>
                        <a:rPr lang="de-AT" sz="1200" dirty="0" err="1"/>
                        <a:t>Indication</a:t>
                      </a:r>
                      <a:r>
                        <a:rPr lang="de-AT" sz="1200" dirty="0"/>
                        <a:t> on </a:t>
                      </a:r>
                      <a:r>
                        <a:rPr lang="de-AT" sz="1200" dirty="0" err="1"/>
                        <a:t>which</a:t>
                      </a:r>
                      <a:r>
                        <a:rPr lang="de-AT" sz="1200" dirty="0"/>
                        <a:t> </a:t>
                      </a:r>
                      <a:r>
                        <a:rPr lang="de-AT" sz="1200" dirty="0" err="1"/>
                        <a:t>aero</a:t>
                      </a:r>
                      <a:r>
                        <a:rPr lang="de-AT" sz="1200" dirty="0"/>
                        <a:t> </a:t>
                      </a:r>
                      <a:r>
                        <a:rPr lang="de-AT" sz="1200" dirty="0" err="1"/>
                        <a:t>corrections</a:t>
                      </a:r>
                      <a:r>
                        <a:rPr lang="de-AT" sz="1200" dirty="0"/>
                        <a:t> </a:t>
                      </a:r>
                      <a:r>
                        <a:rPr lang="de-AT" sz="1200" err="1"/>
                        <a:t>are</a:t>
                      </a:r>
                      <a:r>
                        <a:rPr lang="de-AT" sz="1200"/>
                        <a:t> applied </a:t>
                      </a:r>
                      <a:r>
                        <a:rPr lang="de-AT" sz="1200" dirty="0" err="1"/>
                        <a:t>to</a:t>
                      </a:r>
                      <a:r>
                        <a:rPr lang="de-AT" sz="1200" dirty="0"/>
                        <a:t> </a:t>
                      </a:r>
                      <a:r>
                        <a:rPr lang="de-AT" sz="1200" dirty="0" err="1"/>
                        <a:t>which</a:t>
                      </a:r>
                      <a:r>
                        <a:rPr lang="de-AT" sz="1200" dirty="0"/>
                        <a:t> </a:t>
                      </a:r>
                      <a:r>
                        <a:rPr lang="de-AT" sz="1200" dirty="0" err="1"/>
                        <a:t>trailer</a:t>
                      </a:r>
                      <a:r>
                        <a:rPr lang="de-AT" sz="1200" dirty="0"/>
                        <a:t> </a:t>
                      </a:r>
                      <a:r>
                        <a:rPr lang="de-AT" sz="1200" dirty="0" err="1"/>
                        <a:t>configuration</a:t>
                      </a:r>
                      <a:endParaRPr lang="de-AT" sz="1200" dirty="0"/>
                    </a:p>
                    <a:p>
                      <a:pPr marL="857250" lvl="2" indent="-171450">
                        <a:buFont typeface="Arial" panose="020B0604020202020204" pitchFamily="34" charset="0"/>
                        <a:buChar char="•"/>
                      </a:pPr>
                      <a:r>
                        <a:rPr lang="de-AT" sz="1200"/>
                        <a:t>„1“ </a:t>
                      </a:r>
                      <a:r>
                        <a:rPr lang="de-AT" sz="1200" dirty="0" err="1"/>
                        <a:t>means</a:t>
                      </a:r>
                      <a:r>
                        <a:rPr lang="de-AT" sz="1200" dirty="0"/>
                        <a:t> </a:t>
                      </a:r>
                      <a:r>
                        <a:rPr lang="de-AT" sz="1200" dirty="0" err="1"/>
                        <a:t>aero</a:t>
                      </a:r>
                      <a:r>
                        <a:rPr lang="de-AT" sz="1200" dirty="0"/>
                        <a:t> </a:t>
                      </a:r>
                      <a:r>
                        <a:rPr lang="de-AT" sz="1200" dirty="0" err="1"/>
                        <a:t>correction</a:t>
                      </a:r>
                      <a:r>
                        <a:rPr lang="de-AT" sz="1200" dirty="0"/>
                        <a:t> </a:t>
                      </a:r>
                      <a:r>
                        <a:rPr lang="de-AT" sz="1200" dirty="0" err="1"/>
                        <a:t>is</a:t>
                      </a:r>
                      <a:r>
                        <a:rPr lang="de-AT" sz="1200" dirty="0"/>
                        <a:t> </a:t>
                      </a:r>
                      <a:r>
                        <a:rPr lang="de-AT" sz="1200" dirty="0" err="1"/>
                        <a:t>applied</a:t>
                      </a:r>
                      <a:endParaRPr lang="de-AT" sz="1200" dirty="0"/>
                    </a:p>
                    <a:p>
                      <a:pPr marL="857250" lvl="2" indent="-171450">
                        <a:buFont typeface="Arial" panose="020B0604020202020204" pitchFamily="34" charset="0"/>
                        <a:buChar char="•"/>
                      </a:pPr>
                      <a:r>
                        <a:rPr lang="de-AT" sz="1200"/>
                        <a:t>„0" </a:t>
                      </a:r>
                      <a:r>
                        <a:rPr lang="de-AT" sz="1200" dirty="0" err="1"/>
                        <a:t>means</a:t>
                      </a:r>
                      <a:r>
                        <a:rPr lang="de-AT" sz="1200" dirty="0"/>
                        <a:t> </a:t>
                      </a:r>
                      <a:r>
                        <a:rPr lang="de-AT" sz="1200" dirty="0" err="1"/>
                        <a:t>aero</a:t>
                      </a:r>
                      <a:r>
                        <a:rPr lang="de-AT" sz="1200" dirty="0"/>
                        <a:t> </a:t>
                      </a:r>
                      <a:r>
                        <a:rPr lang="de-AT" sz="1200" dirty="0" err="1"/>
                        <a:t>correction</a:t>
                      </a:r>
                      <a:r>
                        <a:rPr lang="de-AT" sz="1200" dirty="0"/>
                        <a:t> </a:t>
                      </a:r>
                      <a:r>
                        <a:rPr lang="de-AT" sz="1200" dirty="0" err="1"/>
                        <a:t>is</a:t>
                      </a:r>
                      <a:r>
                        <a:rPr lang="de-AT" sz="1200" dirty="0"/>
                        <a:t> </a:t>
                      </a:r>
                      <a:r>
                        <a:rPr lang="de-AT" sz="1200"/>
                        <a:t>not applied</a:t>
                      </a:r>
                      <a:br>
                        <a:rPr lang="de-AT" sz="1200"/>
                      </a:br>
                      <a:r>
                        <a:rPr lang="en-US" sz="1000" i="1"/>
                        <a:t>The individual aero correction formulas </a:t>
                      </a:r>
                      <a:r>
                        <a:rPr lang="en-US" sz="1000" i="1">
                          <a:solidFill>
                            <a:schemeClr val="tx1"/>
                          </a:solidFill>
                        </a:rPr>
                        <a:t>can be viewed in the “Reference/Specific Trailer Aero" sheet </a:t>
                      </a:r>
                      <a:r>
                        <a:rPr lang="en-US" sz="1000" i="1"/>
                        <a:t>and are documented in detail in Task 2 report section 2.4.5.</a:t>
                      </a:r>
                      <a:r>
                        <a:rPr lang="de-AT" sz="1000" i="1"/>
                        <a:t> </a:t>
                      </a:r>
                    </a:p>
                    <a:p>
                      <a:pPr marL="5143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AT" sz="1200"/>
                        <a:t>Aero reduction values for standard aerodynamic devices acc. to sheet „Combination Add-ons D</a:t>
                      </a:r>
                      <a:r>
                        <a:rPr lang="de-AT" sz="1200">
                          <a:solidFill>
                            <a:srgbClr val="7030A0"/>
                          </a:solidFill>
                        </a:rPr>
                        <a:t>X*</a:t>
                      </a:r>
                      <a:r>
                        <a:rPr lang="de-AT" sz="1200"/>
                        <a:t>“</a:t>
                      </a:r>
                      <a:endParaRPr lang="de-AT" sz="1200" dirty="0"/>
                    </a:p>
                  </a:txBody>
                  <a:tcPr/>
                </a:tc>
                <a:extLst>
                  <a:ext uri="{0D108BD9-81ED-4DB2-BD59-A6C34878D82A}">
                    <a16:rowId xmlns:a16="http://schemas.microsoft.com/office/drawing/2014/main" val="4122913343"/>
                  </a:ext>
                </a:extLst>
              </a:tr>
              <a:tr h="370840">
                <a:tc>
                  <a:txBody>
                    <a:bodyPr/>
                    <a:lstStyle/>
                    <a:p>
                      <a:r>
                        <a:rPr lang="de-AT" sz="1200" b="1" dirty="0">
                          <a:solidFill>
                            <a:schemeClr val="bg1"/>
                          </a:solidFill>
                        </a:rPr>
                        <a:t>Standard Trailer</a:t>
                      </a:r>
                    </a:p>
                  </a:txBody>
                  <a:tcPr>
                    <a:solidFill>
                      <a:schemeClr val="accent1"/>
                    </a:solidFill>
                  </a:tcPr>
                </a:tc>
                <a:tc>
                  <a:txBody>
                    <a:bodyPr/>
                    <a:lstStyle/>
                    <a:p>
                      <a:r>
                        <a:rPr lang="de-AT" sz="1200" dirty="0"/>
                        <a:t>Information on </a:t>
                      </a:r>
                      <a:r>
                        <a:rPr lang="de-AT" sz="1200" dirty="0" err="1"/>
                        <a:t>the</a:t>
                      </a:r>
                      <a:r>
                        <a:rPr lang="de-AT" sz="1200" dirty="0"/>
                        <a:t> </a:t>
                      </a:r>
                      <a:r>
                        <a:rPr lang="de-AT" sz="1200" dirty="0" err="1"/>
                        <a:t>standard</a:t>
                      </a:r>
                      <a:r>
                        <a:rPr lang="de-AT" sz="1200" dirty="0"/>
                        <a:t> </a:t>
                      </a:r>
                      <a:r>
                        <a:rPr lang="de-AT" sz="1200" dirty="0" err="1"/>
                        <a:t>trailers</a:t>
                      </a:r>
                      <a:r>
                        <a:rPr lang="de-AT" sz="1200" dirty="0"/>
                        <a:t> also </a:t>
                      </a:r>
                      <a:r>
                        <a:rPr lang="de-AT" sz="1200" dirty="0" err="1"/>
                        <a:t>used</a:t>
                      </a:r>
                      <a:r>
                        <a:rPr lang="de-AT" sz="1200" dirty="0"/>
                        <a:t> in Regulation EU 2017/2400 </a:t>
                      </a:r>
                      <a:r>
                        <a:rPr lang="de-AT" sz="1200" dirty="0" err="1"/>
                        <a:t>to</a:t>
                      </a:r>
                      <a:r>
                        <a:rPr lang="de-AT" sz="1200" dirty="0"/>
                        <a:t> </a:t>
                      </a:r>
                      <a:r>
                        <a:rPr lang="de-AT" sz="1200" dirty="0" err="1"/>
                        <a:t>calculate</a:t>
                      </a:r>
                      <a:r>
                        <a:rPr lang="de-AT" sz="1200" dirty="0"/>
                        <a:t> </a:t>
                      </a:r>
                      <a:r>
                        <a:rPr lang="de-AT" sz="1200" dirty="0" err="1"/>
                        <a:t>the</a:t>
                      </a:r>
                      <a:r>
                        <a:rPr lang="de-AT" sz="1200" dirty="0"/>
                        <a:t> </a:t>
                      </a:r>
                      <a:r>
                        <a:rPr lang="de-AT" sz="1200" dirty="0" err="1"/>
                        <a:t>reference</a:t>
                      </a:r>
                      <a:r>
                        <a:rPr lang="de-AT" sz="1200" dirty="0"/>
                        <a:t> </a:t>
                      </a:r>
                      <a:r>
                        <a:rPr lang="de-AT" sz="1200" dirty="0" err="1"/>
                        <a:t>factors</a:t>
                      </a:r>
                      <a:r>
                        <a:rPr lang="de-AT" sz="1200" dirty="0"/>
                        <a:t> </a:t>
                      </a:r>
                    </a:p>
                  </a:txBody>
                  <a:tcPr anchor="ctr"/>
                </a:tc>
                <a:extLst>
                  <a:ext uri="{0D108BD9-81ED-4DB2-BD59-A6C34878D82A}">
                    <a16:rowId xmlns:a16="http://schemas.microsoft.com/office/drawing/2014/main" val="3760094025"/>
                  </a:ext>
                </a:extLst>
              </a:tr>
            </a:tbl>
          </a:graphicData>
        </a:graphic>
      </p:graphicFrame>
      <p:sp>
        <p:nvSpPr>
          <p:cNvPr id="6" name="Textfeld 5">
            <a:extLst>
              <a:ext uri="{FF2B5EF4-FFF2-40B4-BE49-F238E27FC236}">
                <a16:creationId xmlns:a16="http://schemas.microsoft.com/office/drawing/2014/main" id="{3E7369ED-2D68-4499-ACB9-06085D3DB50F}"/>
              </a:ext>
            </a:extLst>
          </p:cNvPr>
          <p:cNvSpPr txBox="1"/>
          <p:nvPr/>
        </p:nvSpPr>
        <p:spPr>
          <a:xfrm>
            <a:off x="628650" y="4240128"/>
            <a:ext cx="2486578" cy="707886"/>
          </a:xfrm>
          <a:prstGeom prst="rect">
            <a:avLst/>
          </a:prstGeom>
          <a:noFill/>
        </p:spPr>
        <p:txBody>
          <a:bodyPr wrap="none" rtlCol="0">
            <a:spAutoFit/>
          </a:bodyPr>
          <a:lstStyle/>
          <a:p>
            <a:r>
              <a:rPr lang="de-AT" sz="1000" dirty="0">
                <a:solidFill>
                  <a:srgbClr val="7030A0"/>
                </a:solidFill>
              </a:rPr>
              <a:t>*</a:t>
            </a:r>
            <a:r>
              <a:rPr lang="de-AT" sz="1000" dirty="0"/>
              <a:t>D</a:t>
            </a:r>
            <a:r>
              <a:rPr lang="de-AT" sz="1000" dirty="0">
                <a:solidFill>
                  <a:srgbClr val="7030A0"/>
                </a:solidFill>
              </a:rPr>
              <a:t>X</a:t>
            </a:r>
            <a:r>
              <a:rPr lang="de-AT" sz="1000" dirty="0"/>
              <a:t>... </a:t>
            </a:r>
            <a:r>
              <a:rPr lang="de-AT" sz="1000" dirty="0" err="1"/>
              <a:t>Placeholder</a:t>
            </a:r>
            <a:r>
              <a:rPr lang="de-AT" sz="1000" dirty="0"/>
              <a:t> </a:t>
            </a:r>
            <a:r>
              <a:rPr lang="de-AT" sz="1000" dirty="0" err="1"/>
              <a:t>depending</a:t>
            </a:r>
            <a:r>
              <a:rPr lang="de-AT" sz="1000" dirty="0"/>
              <a:t> on </a:t>
            </a:r>
            <a:r>
              <a:rPr lang="de-AT" sz="1000" dirty="0" err="1"/>
              <a:t>trailer</a:t>
            </a:r>
            <a:r>
              <a:rPr lang="de-AT" sz="1000" dirty="0"/>
              <a:t> type</a:t>
            </a:r>
          </a:p>
          <a:p>
            <a:r>
              <a:rPr lang="de-AT" sz="1000" dirty="0"/>
              <a:t>	D</a:t>
            </a:r>
            <a:r>
              <a:rPr lang="de-AT" sz="1000" dirty="0">
                <a:solidFill>
                  <a:srgbClr val="7030A0"/>
                </a:solidFill>
              </a:rPr>
              <a:t>A</a:t>
            </a:r>
            <a:r>
              <a:rPr lang="de-AT" sz="1000" dirty="0"/>
              <a:t>... </a:t>
            </a:r>
            <a:r>
              <a:rPr lang="de-AT" sz="1000" dirty="0" err="1"/>
              <a:t>Semi</a:t>
            </a:r>
            <a:r>
              <a:rPr lang="de-AT" sz="1000" dirty="0"/>
              <a:t> Trailer</a:t>
            </a:r>
          </a:p>
          <a:p>
            <a:r>
              <a:rPr lang="de-AT" sz="1000" dirty="0"/>
              <a:t>	D</a:t>
            </a:r>
            <a:r>
              <a:rPr lang="de-AT" sz="1000" dirty="0">
                <a:solidFill>
                  <a:srgbClr val="7030A0"/>
                </a:solidFill>
              </a:rPr>
              <a:t>B</a:t>
            </a:r>
            <a:r>
              <a:rPr lang="de-AT" sz="1000" dirty="0"/>
              <a:t>... </a:t>
            </a:r>
            <a:r>
              <a:rPr lang="de-AT" sz="1000" dirty="0" err="1"/>
              <a:t>Drawbar</a:t>
            </a:r>
            <a:r>
              <a:rPr lang="de-AT" sz="1000" dirty="0"/>
              <a:t> Trailer</a:t>
            </a:r>
          </a:p>
          <a:p>
            <a:r>
              <a:rPr lang="de-AT" sz="1000" dirty="0"/>
              <a:t>	D</a:t>
            </a:r>
            <a:r>
              <a:rPr lang="de-AT" sz="1000" dirty="0">
                <a:solidFill>
                  <a:srgbClr val="7030A0"/>
                </a:solidFill>
              </a:rPr>
              <a:t>C</a:t>
            </a:r>
            <a:r>
              <a:rPr lang="de-AT" sz="1000" dirty="0"/>
              <a:t>... </a:t>
            </a:r>
            <a:r>
              <a:rPr lang="de-AT" sz="1000" dirty="0" err="1"/>
              <a:t>Centre</a:t>
            </a:r>
            <a:r>
              <a:rPr lang="de-AT" sz="1000" dirty="0"/>
              <a:t> </a:t>
            </a:r>
            <a:r>
              <a:rPr lang="de-AT" sz="1000" err="1"/>
              <a:t>axle</a:t>
            </a:r>
            <a:r>
              <a:rPr lang="de-AT" sz="1000"/>
              <a:t> Trailer</a:t>
            </a:r>
            <a:endParaRPr lang="de-AT" sz="1000" dirty="0"/>
          </a:p>
        </p:txBody>
      </p:sp>
    </p:spTree>
    <p:extLst>
      <p:ext uri="{BB962C8B-B14F-4D97-AF65-F5344CB8AC3E}">
        <p14:creationId xmlns:p14="http://schemas.microsoft.com/office/powerpoint/2010/main" val="5813634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8042" y="137418"/>
            <a:ext cx="7787308" cy="994172"/>
          </a:xfrm>
        </p:spPr>
        <p:txBody>
          <a:bodyPr vert="horz" lIns="91440" tIns="45720" rIns="91440" bIns="45720" rtlCol="0" anchor="ctr">
            <a:normAutofit/>
          </a:bodyPr>
          <a:lstStyle/>
          <a:p>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Overview content of </a:t>
            </a:r>
            <a:r>
              <a:rPr lang="en-US" sz="2000" b="1" dirty="0" err="1">
                <a:solidFill>
                  <a:srgbClr val="034EA2"/>
                </a:solidFill>
                <a:latin typeface="Verdana" panose="020B0604030504040204" pitchFamily="34" charset="0"/>
                <a:ea typeface="Verdana" panose="020B0604030504040204" pitchFamily="34" charset="0"/>
                <a:cs typeface="Verdana" panose="020B0604030504040204" pitchFamily="34" charset="0"/>
              </a:rPr>
              <a:t>Masterexcel</a:t>
            </a:r>
            <a:r>
              <a:rPr lang="en-US" sz="2000" b="1" dirty="0">
                <a:solidFill>
                  <a:srgbClr val="034EA2"/>
                </a:solidFill>
                <a:latin typeface="Verdana" panose="020B0604030504040204" pitchFamily="34" charset="0"/>
                <a:ea typeface="Verdana" panose="020B0604030504040204" pitchFamily="34" charset="0"/>
                <a:cs typeface="Verdana" panose="020B0604030504040204" pitchFamily="34" charset="0"/>
              </a:rPr>
              <a:t> (4/4)</a:t>
            </a:r>
          </a:p>
        </p:txBody>
      </p:sp>
      <p:graphicFrame>
        <p:nvGraphicFramePr>
          <p:cNvPr id="7" name="Tabelle 6">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486193072"/>
              </p:ext>
            </p:extLst>
          </p:nvPr>
        </p:nvGraphicFramePr>
        <p:xfrm>
          <a:off x="467544" y="1117650"/>
          <a:ext cx="8208000" cy="3121084"/>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791925895"/>
                    </a:ext>
                  </a:extLst>
                </a:gridCol>
                <a:gridCol w="6623824">
                  <a:extLst>
                    <a:ext uri="{9D8B030D-6E8A-4147-A177-3AD203B41FA5}">
                      <a16:colId xmlns:a16="http://schemas.microsoft.com/office/drawing/2014/main" val="1869676461"/>
                    </a:ext>
                  </a:extLst>
                </a:gridCol>
              </a:tblGrid>
              <a:tr h="370840">
                <a:tc>
                  <a:txBody>
                    <a:bodyPr/>
                    <a:lstStyle/>
                    <a:p>
                      <a:r>
                        <a:rPr lang="de-AT" sz="1200" dirty="0"/>
                        <a:t>Excel </a:t>
                      </a:r>
                      <a:r>
                        <a:rPr lang="de-AT" sz="1200" dirty="0" err="1"/>
                        <a:t>sheet</a:t>
                      </a:r>
                      <a:endParaRPr lang="de-AT" sz="1200" dirty="0"/>
                    </a:p>
                  </a:txBody>
                  <a:tcPr/>
                </a:tc>
                <a:tc>
                  <a:txBody>
                    <a:bodyPr/>
                    <a:lstStyle/>
                    <a:p>
                      <a:r>
                        <a:rPr lang="de-AT" sz="1200" dirty="0"/>
                        <a:t>Description</a:t>
                      </a:r>
                    </a:p>
                  </a:txBody>
                  <a:tcPr/>
                </a:tc>
                <a:extLst>
                  <a:ext uri="{0D108BD9-81ED-4DB2-BD59-A6C34878D82A}">
                    <a16:rowId xmlns:a16="http://schemas.microsoft.com/office/drawing/2014/main" val="52858787"/>
                  </a:ext>
                </a:extLst>
              </a:tr>
              <a:tr h="370840">
                <a:tc>
                  <a:txBody>
                    <a:bodyPr/>
                    <a:lstStyle/>
                    <a:p>
                      <a:r>
                        <a:rPr lang="de-AT" sz="1200" b="1" dirty="0">
                          <a:solidFill>
                            <a:schemeClr val="bg1"/>
                          </a:solidFill>
                        </a:rPr>
                        <a:t>...</a:t>
                      </a:r>
                    </a:p>
                  </a:txBody>
                  <a:tcPr>
                    <a:solidFill>
                      <a:schemeClr val="accent1"/>
                    </a:solidFill>
                  </a:tcPr>
                </a:tc>
                <a:tc>
                  <a:txBody>
                    <a:bodyPr/>
                    <a:lstStyle/>
                    <a:p>
                      <a:r>
                        <a:rPr lang="en-US" sz="1200" dirty="0">
                          <a:solidFill>
                            <a:schemeClr val="tx1"/>
                          </a:solidFill>
                        </a:rPr>
                        <a:t>...</a:t>
                      </a:r>
                    </a:p>
                  </a:txBody>
                  <a:tcPr/>
                </a:tc>
                <a:extLst>
                  <a:ext uri="{0D108BD9-81ED-4DB2-BD59-A6C34878D82A}">
                    <a16:rowId xmlns:a16="http://schemas.microsoft.com/office/drawing/2014/main" val="975515952"/>
                  </a:ext>
                </a:extLst>
              </a:tr>
              <a:tr h="370840">
                <a:tc>
                  <a:txBody>
                    <a:bodyPr/>
                    <a:lstStyle/>
                    <a:p>
                      <a:r>
                        <a:rPr lang="de-AT" sz="1200" b="1" dirty="0">
                          <a:solidFill>
                            <a:schemeClr val="bg1"/>
                          </a:solidFill>
                        </a:rPr>
                        <a:t>Reference (</a:t>
                      </a:r>
                      <a:r>
                        <a:rPr lang="de-AT" sz="1200" b="1" dirty="0" err="1">
                          <a:solidFill>
                            <a:schemeClr val="bg1"/>
                          </a:solidFill>
                        </a:rPr>
                        <a:t>Specific</a:t>
                      </a:r>
                      <a:r>
                        <a:rPr lang="de-AT" sz="1200" b="1" dirty="0">
                          <a:solidFill>
                            <a:schemeClr val="bg1"/>
                          </a:solidFill>
                        </a:rPr>
                        <a:t>) Trailer Aero</a:t>
                      </a:r>
                    </a:p>
                  </a:txBody>
                  <a:tcPr>
                    <a:solidFill>
                      <a:schemeClr val="accent1"/>
                    </a:solidFill>
                  </a:tcPr>
                </a:tc>
                <a:tc>
                  <a:txBody>
                    <a:bodyPr/>
                    <a:lstStyle/>
                    <a:p>
                      <a:pPr>
                        <a:spcBef>
                          <a:spcPts val="600"/>
                        </a:spcBef>
                      </a:pPr>
                      <a:r>
                        <a:rPr lang="de-AT" sz="1200" dirty="0"/>
                        <a:t>Main </a:t>
                      </a:r>
                      <a:r>
                        <a:rPr lang="de-AT" sz="1200" dirty="0" err="1"/>
                        <a:t>dimensions</a:t>
                      </a:r>
                      <a:r>
                        <a:rPr lang="de-AT" sz="1200" dirty="0"/>
                        <a:t> and </a:t>
                      </a:r>
                      <a:r>
                        <a:rPr lang="de-AT" sz="1200" dirty="0" err="1"/>
                        <a:t>air</a:t>
                      </a:r>
                      <a:r>
                        <a:rPr lang="de-AT" sz="1200" dirty="0"/>
                        <a:t> </a:t>
                      </a:r>
                      <a:r>
                        <a:rPr lang="de-AT" sz="1200" dirty="0" err="1"/>
                        <a:t>drag</a:t>
                      </a:r>
                      <a:r>
                        <a:rPr lang="de-AT" sz="1200" dirty="0"/>
                        <a:t> </a:t>
                      </a:r>
                      <a:r>
                        <a:rPr lang="de-AT" sz="1200" dirty="0" err="1"/>
                        <a:t>values</a:t>
                      </a:r>
                      <a:r>
                        <a:rPr lang="de-AT" sz="1200" dirty="0"/>
                        <a:t> </a:t>
                      </a:r>
                      <a:r>
                        <a:rPr lang="de-AT" sz="1200" dirty="0" err="1"/>
                        <a:t>of</a:t>
                      </a:r>
                      <a:r>
                        <a:rPr lang="de-AT" sz="1200" dirty="0"/>
                        <a:t> </a:t>
                      </a:r>
                      <a:r>
                        <a:rPr lang="de-AT" sz="1200" dirty="0" err="1"/>
                        <a:t>the</a:t>
                      </a:r>
                      <a:r>
                        <a:rPr lang="de-AT" sz="1200" dirty="0"/>
                        <a:t> </a:t>
                      </a:r>
                      <a:r>
                        <a:rPr lang="de-AT" sz="1200" dirty="0" err="1"/>
                        <a:t>generic</a:t>
                      </a:r>
                      <a:r>
                        <a:rPr lang="de-AT" sz="1200" dirty="0"/>
                        <a:t> CAD </a:t>
                      </a:r>
                      <a:r>
                        <a:rPr lang="de-AT" sz="1200" dirty="0" err="1"/>
                        <a:t>models</a:t>
                      </a:r>
                      <a:r>
                        <a:rPr lang="de-AT" sz="1200" dirty="0"/>
                        <a:t> </a:t>
                      </a:r>
                      <a:r>
                        <a:rPr lang="de-AT" sz="1200" dirty="0" err="1"/>
                        <a:t>used</a:t>
                      </a:r>
                      <a:r>
                        <a:rPr lang="de-AT" sz="1200" dirty="0"/>
                        <a:t> </a:t>
                      </a:r>
                      <a:r>
                        <a:rPr lang="de-AT" sz="1200" dirty="0" err="1"/>
                        <a:t>as</a:t>
                      </a:r>
                      <a:r>
                        <a:rPr lang="de-AT" sz="1200" dirty="0"/>
                        <a:t> a </a:t>
                      </a:r>
                      <a:r>
                        <a:rPr lang="de-AT" sz="1200" dirty="0" err="1"/>
                        <a:t>starting</a:t>
                      </a:r>
                      <a:r>
                        <a:rPr lang="de-AT" sz="1200" dirty="0"/>
                        <a:t> </a:t>
                      </a:r>
                      <a:r>
                        <a:rPr lang="de-AT" sz="1200" dirty="0" err="1"/>
                        <a:t>point</a:t>
                      </a:r>
                      <a:r>
                        <a:rPr lang="de-AT" sz="1200" dirty="0"/>
                        <a:t> </a:t>
                      </a:r>
                      <a:r>
                        <a:rPr lang="de-AT" sz="1200" dirty="0" err="1"/>
                        <a:t>to</a:t>
                      </a:r>
                      <a:r>
                        <a:rPr lang="de-AT" sz="1200" dirty="0"/>
                        <a:t> </a:t>
                      </a:r>
                      <a:r>
                        <a:rPr lang="de-AT" sz="1200" dirty="0" err="1"/>
                        <a:t>calulate</a:t>
                      </a:r>
                      <a:r>
                        <a:rPr lang="de-AT" sz="1200" dirty="0"/>
                        <a:t> </a:t>
                      </a:r>
                      <a:r>
                        <a:rPr lang="de-AT" sz="1200" dirty="0" err="1"/>
                        <a:t>the</a:t>
                      </a:r>
                      <a:r>
                        <a:rPr lang="de-AT" sz="1200" dirty="0"/>
                        <a:t> </a:t>
                      </a:r>
                      <a:r>
                        <a:rPr lang="de-AT" sz="1200" dirty="0" err="1"/>
                        <a:t>air</a:t>
                      </a:r>
                      <a:r>
                        <a:rPr lang="de-AT" sz="1200" dirty="0"/>
                        <a:t> </a:t>
                      </a:r>
                      <a:r>
                        <a:rPr lang="de-AT" sz="1200" dirty="0" err="1"/>
                        <a:t>drag</a:t>
                      </a:r>
                      <a:r>
                        <a:rPr lang="de-AT" sz="1200" dirty="0"/>
                        <a:t> </a:t>
                      </a:r>
                      <a:r>
                        <a:rPr lang="de-AT" sz="1200" dirty="0" err="1"/>
                        <a:t>of</a:t>
                      </a:r>
                      <a:r>
                        <a:rPr lang="de-AT" sz="1200" dirty="0"/>
                        <a:t> </a:t>
                      </a:r>
                      <a:r>
                        <a:rPr lang="de-AT" sz="1200" dirty="0" err="1"/>
                        <a:t>trailers</a:t>
                      </a:r>
                      <a:r>
                        <a:rPr lang="de-AT" sz="1200" dirty="0"/>
                        <a:t> </a:t>
                      </a:r>
                      <a:r>
                        <a:rPr lang="de-AT" sz="1200" dirty="0" err="1"/>
                        <a:t>with</a:t>
                      </a:r>
                      <a:r>
                        <a:rPr lang="de-AT" sz="1200" dirty="0"/>
                        <a:t> different </a:t>
                      </a:r>
                      <a:r>
                        <a:rPr lang="de-AT" sz="1200" dirty="0" err="1"/>
                        <a:t>dimensions</a:t>
                      </a:r>
                      <a:r>
                        <a:rPr lang="de-AT" sz="1200" dirty="0"/>
                        <a:t> (Reference/</a:t>
                      </a:r>
                      <a:r>
                        <a:rPr lang="de-AT" sz="1200" dirty="0" err="1"/>
                        <a:t>Specific</a:t>
                      </a:r>
                      <a:r>
                        <a:rPr lang="de-AT" sz="1200" dirty="0"/>
                        <a:t> </a:t>
                      </a:r>
                      <a:r>
                        <a:rPr lang="de-AT" sz="1200" dirty="0" err="1"/>
                        <a:t>trailer</a:t>
                      </a:r>
                      <a:r>
                        <a:rPr lang="de-AT" sz="1200" dirty="0"/>
                        <a:t>)</a:t>
                      </a:r>
                    </a:p>
                    <a:p>
                      <a:pPr>
                        <a:spcBef>
                          <a:spcPts val="600"/>
                        </a:spcBef>
                      </a:pPr>
                      <a:r>
                        <a:rPr lang="de-AT" sz="1200" dirty="0" err="1"/>
                        <a:t>Step</a:t>
                      </a:r>
                      <a:r>
                        <a:rPr lang="de-AT" sz="1200" dirty="0"/>
                        <a:t> </a:t>
                      </a:r>
                      <a:r>
                        <a:rPr lang="de-AT" sz="1200" dirty="0" err="1"/>
                        <a:t>by</a:t>
                      </a:r>
                      <a:r>
                        <a:rPr lang="de-AT" sz="1200" dirty="0"/>
                        <a:t> </a:t>
                      </a:r>
                      <a:r>
                        <a:rPr lang="de-AT" sz="1200" dirty="0" err="1"/>
                        <a:t>step</a:t>
                      </a:r>
                      <a:r>
                        <a:rPr lang="de-AT" sz="1200" dirty="0"/>
                        <a:t> </a:t>
                      </a:r>
                      <a:r>
                        <a:rPr lang="de-AT" sz="1200" dirty="0" err="1"/>
                        <a:t>calculation</a:t>
                      </a:r>
                      <a:r>
                        <a:rPr lang="de-AT" sz="1200" dirty="0"/>
                        <a:t> </a:t>
                      </a:r>
                      <a:r>
                        <a:rPr lang="de-AT" sz="1200" dirty="0" err="1"/>
                        <a:t>process</a:t>
                      </a:r>
                      <a:r>
                        <a:rPr lang="de-AT" sz="1200" dirty="0"/>
                        <a:t> on </a:t>
                      </a:r>
                      <a:r>
                        <a:rPr lang="de-AT" sz="1200" dirty="0" err="1"/>
                        <a:t>how</a:t>
                      </a:r>
                      <a:r>
                        <a:rPr lang="de-AT" sz="1200" dirty="0"/>
                        <a:t> </a:t>
                      </a:r>
                      <a:r>
                        <a:rPr lang="de-AT" sz="1200" dirty="0" err="1"/>
                        <a:t>to</a:t>
                      </a:r>
                      <a:r>
                        <a:rPr lang="de-AT" sz="1200" dirty="0"/>
                        <a:t> </a:t>
                      </a:r>
                      <a:r>
                        <a:rPr lang="de-AT" sz="1200" dirty="0" err="1"/>
                        <a:t>apply</a:t>
                      </a:r>
                      <a:r>
                        <a:rPr lang="de-AT" sz="1200" dirty="0"/>
                        <a:t> </a:t>
                      </a:r>
                      <a:r>
                        <a:rPr lang="de-AT" sz="1200" dirty="0" err="1"/>
                        <a:t>the</a:t>
                      </a:r>
                      <a:r>
                        <a:rPr lang="de-AT" sz="1200" dirty="0"/>
                        <a:t> individual </a:t>
                      </a:r>
                      <a:r>
                        <a:rPr lang="de-AT" sz="1200" dirty="0" err="1"/>
                        <a:t>aero</a:t>
                      </a:r>
                      <a:r>
                        <a:rPr lang="de-AT" sz="1200" dirty="0"/>
                        <a:t> </a:t>
                      </a:r>
                      <a:r>
                        <a:rPr lang="de-AT" sz="1200" dirty="0" err="1"/>
                        <a:t>corrections</a:t>
                      </a:r>
                      <a:r>
                        <a:rPr lang="de-AT" sz="1200" dirty="0"/>
                        <a:t> </a:t>
                      </a:r>
                      <a:r>
                        <a:rPr lang="de-AT" sz="1200" dirty="0" err="1"/>
                        <a:t>to</a:t>
                      </a:r>
                      <a:r>
                        <a:rPr lang="de-AT" sz="1200" dirty="0"/>
                        <a:t> </a:t>
                      </a:r>
                      <a:r>
                        <a:rPr lang="de-AT" sz="1200" dirty="0" err="1"/>
                        <a:t>get</a:t>
                      </a:r>
                      <a:r>
                        <a:rPr lang="de-AT" sz="1200" dirty="0"/>
                        <a:t> </a:t>
                      </a:r>
                      <a:r>
                        <a:rPr lang="de-AT" sz="1200" dirty="0" err="1"/>
                        <a:t>the</a:t>
                      </a:r>
                      <a:r>
                        <a:rPr lang="de-AT" sz="1200" dirty="0"/>
                        <a:t> final </a:t>
                      </a:r>
                      <a:r>
                        <a:rPr lang="de-AT" sz="1200" dirty="0" err="1"/>
                        <a:t>air</a:t>
                      </a:r>
                      <a:r>
                        <a:rPr lang="de-AT" sz="1200" dirty="0"/>
                        <a:t> </a:t>
                      </a:r>
                      <a:r>
                        <a:rPr lang="de-AT" sz="1200" dirty="0" err="1"/>
                        <a:t>drag</a:t>
                      </a:r>
                      <a:r>
                        <a:rPr lang="de-AT" sz="1200" dirty="0"/>
                        <a:t> </a:t>
                      </a:r>
                      <a:r>
                        <a:rPr lang="de-AT" sz="1200" dirty="0" err="1"/>
                        <a:t>values</a:t>
                      </a:r>
                      <a:r>
                        <a:rPr lang="de-AT" sz="1200" dirty="0"/>
                        <a:t> </a:t>
                      </a:r>
                      <a:r>
                        <a:rPr lang="de-AT" sz="1200" dirty="0" err="1"/>
                        <a:t>for</a:t>
                      </a:r>
                      <a:r>
                        <a:rPr lang="de-AT" sz="1200" dirty="0"/>
                        <a:t> a </a:t>
                      </a:r>
                      <a:r>
                        <a:rPr lang="de-AT" sz="1200" dirty="0" err="1"/>
                        <a:t>reference</a:t>
                      </a:r>
                      <a:r>
                        <a:rPr lang="de-AT" sz="1200" dirty="0"/>
                        <a:t>/</a:t>
                      </a:r>
                      <a:r>
                        <a:rPr lang="de-AT" sz="1200" dirty="0" err="1"/>
                        <a:t>specific</a:t>
                      </a:r>
                      <a:r>
                        <a:rPr lang="de-AT" sz="1200" dirty="0"/>
                        <a:t> </a:t>
                      </a:r>
                      <a:r>
                        <a:rPr lang="de-AT" sz="1200" dirty="0" err="1"/>
                        <a:t>trailer</a:t>
                      </a:r>
                      <a:endParaRPr lang="de-AT" sz="1200" dirty="0"/>
                    </a:p>
                    <a:p>
                      <a:pPr>
                        <a:spcBef>
                          <a:spcPts val="600"/>
                        </a:spcBef>
                      </a:pPr>
                      <a:r>
                        <a:rPr lang="en-US" sz="1200" dirty="0">
                          <a:solidFill>
                            <a:schemeClr val="tx1"/>
                          </a:solidFill>
                        </a:rPr>
                        <a:t>In the columns AN to AX, the aero-relevant data can be entered for the individual trailer groups. The results for </a:t>
                      </a:r>
                      <a:r>
                        <a:rPr lang="en-US" sz="1200" dirty="0" err="1">
                          <a:solidFill>
                            <a:schemeClr val="tx1"/>
                          </a:solidFill>
                        </a:rPr>
                        <a:t>CdxA</a:t>
                      </a:r>
                      <a:r>
                        <a:rPr lang="en-US" sz="1200" dirty="0">
                          <a:solidFill>
                            <a:schemeClr val="tx1"/>
                          </a:solidFill>
                        </a:rPr>
                        <a:t>(0) as well as the polynomial coefficients of the polar can then be found in the columns DT and</a:t>
                      </a:r>
                      <a:r>
                        <a:rPr lang="en-US" sz="1200" baseline="0" dirty="0">
                          <a:solidFill>
                            <a:schemeClr val="tx1"/>
                          </a:solidFill>
                        </a:rPr>
                        <a:t> EB to ED.</a:t>
                      </a:r>
                      <a:endParaRPr lang="de-AT" sz="1200" dirty="0">
                        <a:solidFill>
                          <a:schemeClr val="tx1"/>
                        </a:solidFill>
                      </a:endParaRPr>
                    </a:p>
                  </a:txBody>
                  <a:tcPr/>
                </a:tc>
                <a:extLst>
                  <a:ext uri="{0D108BD9-81ED-4DB2-BD59-A6C34878D82A}">
                    <a16:rowId xmlns:a16="http://schemas.microsoft.com/office/drawing/2014/main" val="4122913343"/>
                  </a:ext>
                </a:extLst>
              </a:tr>
              <a:tr h="484564">
                <a:tc>
                  <a:txBody>
                    <a:bodyPr/>
                    <a:lstStyle/>
                    <a:p>
                      <a:r>
                        <a:rPr lang="de-AT" sz="1200" b="1">
                          <a:solidFill>
                            <a:schemeClr val="bg1"/>
                          </a:solidFill>
                        </a:rPr>
                        <a:t>Standard aero device D</a:t>
                      </a:r>
                      <a:r>
                        <a:rPr lang="de-AT" sz="1200" b="1">
                          <a:solidFill>
                            <a:srgbClr val="7030A0"/>
                          </a:solidFill>
                        </a:rPr>
                        <a:t>X</a:t>
                      </a:r>
                      <a:r>
                        <a:rPr lang="de-AT" sz="1200" b="1" dirty="0">
                          <a:solidFill>
                            <a:srgbClr val="7030A0"/>
                          </a:solidFill>
                        </a:rPr>
                        <a:t>*</a:t>
                      </a:r>
                    </a:p>
                  </a:txBody>
                  <a:tcPr>
                    <a:solidFill>
                      <a:schemeClr val="accent1"/>
                    </a:solidFill>
                  </a:tcPr>
                </a:tc>
                <a:tc>
                  <a:txBody>
                    <a:bodyPr/>
                    <a:lstStyle/>
                    <a:p>
                      <a:r>
                        <a:rPr lang="de-AT" sz="1200" dirty="0"/>
                        <a:t>Air </a:t>
                      </a:r>
                      <a:r>
                        <a:rPr lang="de-AT" sz="1200" dirty="0" err="1"/>
                        <a:t>drag</a:t>
                      </a:r>
                      <a:r>
                        <a:rPr lang="de-AT" sz="1200" dirty="0"/>
                        <a:t> </a:t>
                      </a:r>
                      <a:r>
                        <a:rPr lang="de-AT" sz="1200" dirty="0" err="1"/>
                        <a:t>reduction</a:t>
                      </a:r>
                      <a:r>
                        <a:rPr lang="de-AT" sz="1200" dirty="0"/>
                        <a:t> in % </a:t>
                      </a:r>
                      <a:r>
                        <a:rPr lang="de-AT" sz="1200" dirty="0" err="1"/>
                        <a:t>for</a:t>
                      </a:r>
                      <a:r>
                        <a:rPr lang="de-AT" sz="1200" dirty="0"/>
                        <a:t> </a:t>
                      </a:r>
                      <a:r>
                        <a:rPr lang="de-AT" sz="1200" dirty="0" err="1"/>
                        <a:t>the</a:t>
                      </a:r>
                      <a:r>
                        <a:rPr lang="de-AT" sz="1200" dirty="0"/>
                        <a:t> </a:t>
                      </a:r>
                      <a:r>
                        <a:rPr lang="de-AT" sz="1200" dirty="0" err="1"/>
                        <a:t>specific</a:t>
                      </a:r>
                      <a:r>
                        <a:rPr lang="de-AT" sz="1200" dirty="0"/>
                        <a:t> </a:t>
                      </a:r>
                      <a:r>
                        <a:rPr lang="de-AT" sz="1200" dirty="0" err="1"/>
                        <a:t>combination</a:t>
                      </a:r>
                      <a:r>
                        <a:rPr lang="de-AT" sz="1200" dirty="0"/>
                        <a:t> </a:t>
                      </a:r>
                      <a:r>
                        <a:rPr lang="de-AT" sz="1200" dirty="0" err="1"/>
                        <a:t>of</a:t>
                      </a:r>
                      <a:r>
                        <a:rPr lang="de-AT" sz="1200" dirty="0"/>
                        <a:t> </a:t>
                      </a:r>
                      <a:r>
                        <a:rPr lang="de-AT" sz="1200" dirty="0" err="1"/>
                        <a:t>standard</a:t>
                      </a:r>
                      <a:r>
                        <a:rPr lang="de-AT" sz="1200" dirty="0"/>
                        <a:t> </a:t>
                      </a:r>
                      <a:r>
                        <a:rPr lang="de-AT" sz="1200" dirty="0" err="1"/>
                        <a:t>aerodynamic</a:t>
                      </a:r>
                      <a:r>
                        <a:rPr lang="de-AT" sz="1200" dirty="0"/>
                        <a:t> </a:t>
                      </a:r>
                      <a:r>
                        <a:rPr lang="de-AT" sz="1200" dirty="0" err="1"/>
                        <a:t>devices</a:t>
                      </a:r>
                      <a:r>
                        <a:rPr lang="de-AT" sz="1200" dirty="0"/>
                        <a:t> (</a:t>
                      </a:r>
                      <a:r>
                        <a:rPr lang="de-AT" sz="1200" dirty="0" err="1"/>
                        <a:t>the</a:t>
                      </a:r>
                      <a:r>
                        <a:rPr lang="de-AT" sz="1200" dirty="0"/>
                        <a:t> </a:t>
                      </a:r>
                      <a:r>
                        <a:rPr lang="de-AT" sz="1200" dirty="0" err="1"/>
                        <a:t>reduction</a:t>
                      </a:r>
                      <a:r>
                        <a:rPr lang="de-AT" sz="1200" dirty="0"/>
                        <a:t> </a:t>
                      </a:r>
                      <a:r>
                        <a:rPr lang="de-AT" sz="1200" dirty="0" err="1"/>
                        <a:t>values</a:t>
                      </a:r>
                      <a:r>
                        <a:rPr lang="de-AT" sz="1200" dirty="0"/>
                        <a:t> </a:t>
                      </a:r>
                      <a:r>
                        <a:rPr lang="de-AT" sz="1200" dirty="0" err="1"/>
                        <a:t>can</a:t>
                      </a:r>
                      <a:r>
                        <a:rPr lang="de-AT" sz="1200" dirty="0"/>
                        <a:t> also </a:t>
                      </a:r>
                      <a:r>
                        <a:rPr lang="de-AT" sz="1200" dirty="0" err="1"/>
                        <a:t>be</a:t>
                      </a:r>
                      <a:r>
                        <a:rPr lang="de-AT" sz="1200" dirty="0"/>
                        <a:t> </a:t>
                      </a:r>
                      <a:r>
                        <a:rPr lang="de-AT" sz="1200" dirty="0" err="1"/>
                        <a:t>found</a:t>
                      </a:r>
                      <a:r>
                        <a:rPr lang="de-AT" sz="1200" dirty="0"/>
                        <a:t> in </a:t>
                      </a:r>
                      <a:r>
                        <a:rPr lang="de-AT" sz="1200" dirty="0" err="1"/>
                        <a:t>the</a:t>
                      </a:r>
                      <a:r>
                        <a:rPr lang="de-AT" sz="1200" dirty="0"/>
                        <a:t> </a:t>
                      </a:r>
                      <a:r>
                        <a:rPr lang="de-AT" sz="1200" dirty="0" err="1"/>
                        <a:t>sheet</a:t>
                      </a:r>
                      <a:r>
                        <a:rPr lang="de-AT" sz="1200" dirty="0"/>
                        <a:t> „</a:t>
                      </a:r>
                      <a:r>
                        <a:rPr lang="de-AT" sz="1200" err="1"/>
                        <a:t>Specific</a:t>
                      </a:r>
                      <a:r>
                        <a:rPr lang="de-AT" sz="1200"/>
                        <a:t> Trailer“</a:t>
                      </a:r>
                      <a:endParaRPr lang="de-AT" sz="1200" dirty="0"/>
                    </a:p>
                  </a:txBody>
                  <a:tcPr/>
                </a:tc>
                <a:extLst>
                  <a:ext uri="{0D108BD9-81ED-4DB2-BD59-A6C34878D82A}">
                    <a16:rowId xmlns:a16="http://schemas.microsoft.com/office/drawing/2014/main" val="3760094025"/>
                  </a:ext>
                </a:extLst>
              </a:tr>
              <a:tr h="370840">
                <a:tc>
                  <a:txBody>
                    <a:bodyPr/>
                    <a:lstStyle/>
                    <a:p>
                      <a:r>
                        <a:rPr lang="de-AT" sz="1200" b="1" dirty="0">
                          <a:solidFill>
                            <a:schemeClr val="bg1"/>
                          </a:solidFill>
                        </a:rPr>
                        <a:t>Efficiency </a:t>
                      </a:r>
                      <a:r>
                        <a:rPr lang="de-AT" sz="1200" b="1" dirty="0" err="1">
                          <a:solidFill>
                            <a:schemeClr val="bg1"/>
                          </a:solidFill>
                        </a:rPr>
                        <a:t>Ratios</a:t>
                      </a:r>
                      <a:r>
                        <a:rPr lang="de-AT" sz="1200" b="1" dirty="0">
                          <a:solidFill>
                            <a:schemeClr val="bg1"/>
                          </a:solidFill>
                        </a:rPr>
                        <a:t> - DA</a:t>
                      </a:r>
                    </a:p>
                  </a:txBody>
                  <a:tcPr>
                    <a:solidFill>
                      <a:schemeClr val="accent1"/>
                    </a:solidFill>
                  </a:tcPr>
                </a:tc>
                <a:tc>
                  <a:txBody>
                    <a:bodyPr/>
                    <a:lstStyle/>
                    <a:p>
                      <a:pPr marL="0" lvl="0" indent="0">
                        <a:buFont typeface="Arial" panose="020B0604020202020204" pitchFamily="34" charset="0"/>
                        <a:buNone/>
                      </a:pPr>
                      <a:r>
                        <a:rPr lang="de-AT" sz="1200" dirty="0" err="1"/>
                        <a:t>Example</a:t>
                      </a:r>
                      <a:r>
                        <a:rPr lang="de-AT" sz="1200" dirty="0"/>
                        <a:t> on </a:t>
                      </a:r>
                      <a:r>
                        <a:rPr lang="de-AT" sz="1200" dirty="0" err="1"/>
                        <a:t>how</a:t>
                      </a:r>
                      <a:r>
                        <a:rPr lang="de-AT" sz="1200" dirty="0"/>
                        <a:t> </a:t>
                      </a:r>
                      <a:r>
                        <a:rPr lang="de-AT" sz="1200" dirty="0" err="1"/>
                        <a:t>the</a:t>
                      </a:r>
                      <a:r>
                        <a:rPr lang="de-AT" sz="1200" dirty="0"/>
                        <a:t> individual and </a:t>
                      </a:r>
                      <a:r>
                        <a:rPr lang="de-AT" sz="1200" dirty="0" err="1"/>
                        <a:t>weighted</a:t>
                      </a:r>
                      <a:r>
                        <a:rPr lang="de-AT" sz="1200" dirty="0"/>
                        <a:t> </a:t>
                      </a:r>
                      <a:r>
                        <a:rPr lang="de-AT" sz="1200" dirty="0" err="1"/>
                        <a:t>efficiency</a:t>
                      </a:r>
                      <a:r>
                        <a:rPr lang="de-AT" sz="1200" dirty="0"/>
                        <a:t> </a:t>
                      </a:r>
                      <a:r>
                        <a:rPr lang="de-AT" sz="1200" dirty="0" err="1"/>
                        <a:t>ratios</a:t>
                      </a:r>
                      <a:r>
                        <a:rPr lang="de-AT" sz="1200" dirty="0"/>
                        <a:t> </a:t>
                      </a:r>
                      <a:r>
                        <a:rPr lang="de-AT" sz="1200" dirty="0" err="1"/>
                        <a:t>are</a:t>
                      </a:r>
                      <a:r>
                        <a:rPr lang="de-AT" sz="1200" dirty="0"/>
                        <a:t> </a:t>
                      </a:r>
                      <a:r>
                        <a:rPr lang="de-AT" sz="1200" dirty="0" err="1"/>
                        <a:t>calculated</a:t>
                      </a:r>
                      <a:r>
                        <a:rPr lang="de-AT" sz="1200" dirty="0"/>
                        <a:t> </a:t>
                      </a:r>
                      <a:r>
                        <a:rPr lang="de-AT" sz="1200" dirty="0" err="1"/>
                        <a:t>based</a:t>
                      </a:r>
                      <a:r>
                        <a:rPr lang="de-AT" sz="1200" dirty="0"/>
                        <a:t> on a DA </a:t>
                      </a:r>
                      <a:r>
                        <a:rPr lang="de-AT" sz="1200" dirty="0" err="1"/>
                        <a:t>trailer</a:t>
                      </a:r>
                      <a:endParaRPr lang="de-AT" sz="1200" dirty="0"/>
                    </a:p>
                  </a:txBody>
                  <a:tcPr anchor="ctr"/>
                </a:tc>
                <a:extLst>
                  <a:ext uri="{0D108BD9-81ED-4DB2-BD59-A6C34878D82A}">
                    <a16:rowId xmlns:a16="http://schemas.microsoft.com/office/drawing/2014/main" val="1388832532"/>
                  </a:ext>
                </a:extLst>
              </a:tr>
            </a:tbl>
          </a:graphicData>
        </a:graphic>
      </p:graphicFrame>
      <p:sp>
        <p:nvSpPr>
          <p:cNvPr id="4" name="Textfeld 3">
            <a:extLst>
              <a:ext uri="{FF2B5EF4-FFF2-40B4-BE49-F238E27FC236}">
                <a16:creationId xmlns:a16="http://schemas.microsoft.com/office/drawing/2014/main" id="{B67456C1-01C3-4A4A-B76D-D3DBDE9A59FF}"/>
              </a:ext>
            </a:extLst>
          </p:cNvPr>
          <p:cNvSpPr txBox="1"/>
          <p:nvPr/>
        </p:nvSpPr>
        <p:spPr>
          <a:xfrm>
            <a:off x="628650" y="4240128"/>
            <a:ext cx="2486578" cy="707886"/>
          </a:xfrm>
          <a:prstGeom prst="rect">
            <a:avLst/>
          </a:prstGeom>
          <a:noFill/>
        </p:spPr>
        <p:txBody>
          <a:bodyPr wrap="none" rtlCol="0">
            <a:spAutoFit/>
          </a:bodyPr>
          <a:lstStyle/>
          <a:p>
            <a:r>
              <a:rPr lang="de-AT" sz="1000" dirty="0">
                <a:solidFill>
                  <a:srgbClr val="7030A0"/>
                </a:solidFill>
              </a:rPr>
              <a:t>*</a:t>
            </a:r>
            <a:r>
              <a:rPr lang="de-AT" sz="1000" dirty="0"/>
              <a:t>D</a:t>
            </a:r>
            <a:r>
              <a:rPr lang="de-AT" sz="1000" dirty="0">
                <a:solidFill>
                  <a:srgbClr val="7030A0"/>
                </a:solidFill>
              </a:rPr>
              <a:t>X</a:t>
            </a:r>
            <a:r>
              <a:rPr lang="de-AT" sz="1000" dirty="0"/>
              <a:t>... </a:t>
            </a:r>
            <a:r>
              <a:rPr lang="de-AT" sz="1000" dirty="0" err="1"/>
              <a:t>Placeholder</a:t>
            </a:r>
            <a:r>
              <a:rPr lang="de-AT" sz="1000" dirty="0"/>
              <a:t> </a:t>
            </a:r>
            <a:r>
              <a:rPr lang="de-AT" sz="1000" dirty="0" err="1"/>
              <a:t>depending</a:t>
            </a:r>
            <a:r>
              <a:rPr lang="de-AT" sz="1000" dirty="0"/>
              <a:t> on </a:t>
            </a:r>
            <a:r>
              <a:rPr lang="de-AT" sz="1000" dirty="0" err="1"/>
              <a:t>trailer</a:t>
            </a:r>
            <a:r>
              <a:rPr lang="de-AT" sz="1000" dirty="0"/>
              <a:t> type</a:t>
            </a:r>
          </a:p>
          <a:p>
            <a:r>
              <a:rPr lang="de-AT" sz="1000" dirty="0"/>
              <a:t>	D</a:t>
            </a:r>
            <a:r>
              <a:rPr lang="de-AT" sz="1000" dirty="0">
                <a:solidFill>
                  <a:srgbClr val="7030A0"/>
                </a:solidFill>
              </a:rPr>
              <a:t>A</a:t>
            </a:r>
            <a:r>
              <a:rPr lang="de-AT" sz="1000" dirty="0"/>
              <a:t>... </a:t>
            </a:r>
            <a:r>
              <a:rPr lang="de-AT" sz="1000" dirty="0" err="1"/>
              <a:t>Semi</a:t>
            </a:r>
            <a:r>
              <a:rPr lang="de-AT" sz="1000" dirty="0"/>
              <a:t> Trailer</a:t>
            </a:r>
          </a:p>
          <a:p>
            <a:r>
              <a:rPr lang="de-AT" sz="1000" dirty="0"/>
              <a:t>	D</a:t>
            </a:r>
            <a:r>
              <a:rPr lang="de-AT" sz="1000" dirty="0">
                <a:solidFill>
                  <a:srgbClr val="7030A0"/>
                </a:solidFill>
              </a:rPr>
              <a:t>B</a:t>
            </a:r>
            <a:r>
              <a:rPr lang="de-AT" sz="1000" dirty="0"/>
              <a:t>... </a:t>
            </a:r>
            <a:r>
              <a:rPr lang="de-AT" sz="1000" dirty="0" err="1"/>
              <a:t>Drawbar</a:t>
            </a:r>
            <a:r>
              <a:rPr lang="de-AT" sz="1000" dirty="0"/>
              <a:t> Trailer</a:t>
            </a:r>
          </a:p>
          <a:p>
            <a:r>
              <a:rPr lang="de-AT" sz="1000" dirty="0"/>
              <a:t>	D</a:t>
            </a:r>
            <a:r>
              <a:rPr lang="de-AT" sz="1000" dirty="0">
                <a:solidFill>
                  <a:srgbClr val="7030A0"/>
                </a:solidFill>
              </a:rPr>
              <a:t>C</a:t>
            </a:r>
            <a:r>
              <a:rPr lang="de-AT" sz="1000" dirty="0"/>
              <a:t>... </a:t>
            </a:r>
            <a:r>
              <a:rPr lang="de-AT" sz="1000" dirty="0" err="1"/>
              <a:t>Centre</a:t>
            </a:r>
            <a:r>
              <a:rPr lang="de-AT" sz="1000" dirty="0"/>
              <a:t> </a:t>
            </a:r>
            <a:r>
              <a:rPr lang="de-AT" sz="1000" dirty="0" err="1"/>
              <a:t>axle</a:t>
            </a:r>
            <a:r>
              <a:rPr lang="de-AT" sz="1000" dirty="0"/>
              <a:t> </a:t>
            </a:r>
            <a:r>
              <a:rPr lang="de-AT" sz="1000" dirty="0" err="1"/>
              <a:t>Traielr</a:t>
            </a:r>
            <a:endParaRPr lang="de-AT" sz="1000" dirty="0"/>
          </a:p>
        </p:txBody>
      </p:sp>
    </p:spTree>
    <p:extLst>
      <p:ext uri="{BB962C8B-B14F-4D97-AF65-F5344CB8AC3E}">
        <p14:creationId xmlns:p14="http://schemas.microsoft.com/office/powerpoint/2010/main" val="13268729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1_Office Theme">
  <a:themeElements>
    <a:clrScheme name="EC colour scheme">
      <a:dk1>
        <a:srgbClr val="4D4D4D"/>
      </a:dk1>
      <a:lt1>
        <a:srgbClr val="FFFFFF"/>
      </a:lt1>
      <a:dk2>
        <a:srgbClr val="034EA2"/>
      </a:dk2>
      <a:lt2>
        <a:srgbClr val="D3E8F9"/>
      </a:lt2>
      <a:accent1>
        <a:srgbClr val="1E858B"/>
      </a:accent1>
      <a:accent2>
        <a:srgbClr val="4BC5DE"/>
      </a:accent2>
      <a:accent3>
        <a:srgbClr val="1EC08A"/>
      </a:accent3>
      <a:accent4>
        <a:srgbClr val="ED8D2F"/>
      </a:accent4>
      <a:accent5>
        <a:srgbClr val="FFC000"/>
      </a:accent5>
      <a:accent6>
        <a:srgbClr val="E76C53"/>
      </a:accent6>
      <a:hlink>
        <a:srgbClr val="0563C1"/>
      </a:hlink>
      <a:folHlink>
        <a:srgbClr val="24337E"/>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C_Corporate_PPT_Template" id="{9E25CBC4-264C-4E5F-8DDF-C73C2B944108}" vid="{63966CC3-CC63-46CF-BE8C-07ABBDCD6229}"/>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5411</Words>
  <Application>Microsoft Office PowerPoint</Application>
  <PresentationFormat>Bildschirmpräsentation (16:9)</PresentationFormat>
  <Paragraphs>532</Paragraphs>
  <Slides>48</Slides>
  <Notes>30</Notes>
  <HiddenSlides>0</HiddenSlides>
  <MMClips>0</MMClips>
  <ScaleCrop>false</ScaleCrop>
  <HeadingPairs>
    <vt:vector size="6" baseType="variant">
      <vt:variant>
        <vt:lpstr>Verwendete Schriftarten</vt:lpstr>
      </vt:variant>
      <vt:variant>
        <vt:i4>8</vt:i4>
      </vt:variant>
      <vt:variant>
        <vt:lpstr>Design</vt:lpstr>
      </vt:variant>
      <vt:variant>
        <vt:i4>2</vt:i4>
      </vt:variant>
      <vt:variant>
        <vt:lpstr>Folientitel</vt:lpstr>
      </vt:variant>
      <vt:variant>
        <vt:i4>48</vt:i4>
      </vt:variant>
    </vt:vector>
  </HeadingPairs>
  <TitlesOfParts>
    <vt:vector size="58" baseType="lpstr">
      <vt:lpstr>Arial</vt:lpstr>
      <vt:lpstr>Calibri</vt:lpstr>
      <vt:lpstr>Calibri Light</vt:lpstr>
      <vt:lpstr>Cambria Math</vt:lpstr>
      <vt:lpstr>Courier New</vt:lpstr>
      <vt:lpstr>Times New Roman</vt:lpstr>
      <vt:lpstr>Verdana</vt:lpstr>
      <vt:lpstr>Wingdings</vt:lpstr>
      <vt:lpstr>Office Theme</vt:lpstr>
      <vt:lpstr>1_Office Theme</vt:lpstr>
      <vt:lpstr>VECTO Trailer Tool</vt:lpstr>
      <vt:lpstr>About this release version</vt:lpstr>
      <vt:lpstr>Content</vt:lpstr>
      <vt:lpstr>References to information in Technical Annexes of the Trailer Regulation</vt:lpstr>
      <vt:lpstr>Platform requirements</vt:lpstr>
      <vt:lpstr>Installation Options</vt:lpstr>
      <vt:lpstr>VECTO Trailer Tool – Software package</vt:lpstr>
      <vt:lpstr>PowerPoint-Präsentation</vt:lpstr>
      <vt:lpstr>VECTO Trailer Tool – JobFiles GUI</vt:lpstr>
      <vt:lpstr>VECTO Trailer Tool – Options GUI</vt:lpstr>
      <vt:lpstr>VECTO Trailer Tool  - Background worker</vt:lpstr>
      <vt:lpstr>VECTO Trailer Tool – Create or edit trailer job (1/6)</vt:lpstr>
      <vt:lpstr>VECTO Trailer Tool – Create or edit trailer job (2/6)</vt:lpstr>
      <vt:lpstr>VECTO Trailer Tool – Create or edit trailer job (3/6)</vt:lpstr>
      <vt:lpstr>VECTO Trailer Tool – Create or edit trailer job (4/6)</vt:lpstr>
      <vt:lpstr>VECTO Trailer Tool – Create or edit trailer job (5/6)</vt:lpstr>
      <vt:lpstr>VECTO Trailer Tool – Create or edit trailer job (6/6)</vt:lpstr>
      <vt:lpstr>VECTO Trailer Tool – Result files (1/2)</vt:lpstr>
      <vt:lpstr>VECTO Trailer Tool – Result files (2/2)</vt:lpstr>
      <vt:lpstr>What is the “Efficiency Ratio”? (1/2)</vt:lpstr>
      <vt:lpstr>What is the “Efficiency Ratio”? (2/2)</vt:lpstr>
      <vt:lpstr>What is the “Reference Ratio”? (1/4) Basics</vt:lpstr>
      <vt:lpstr>What is the “Reference Ratio”? (2/4) Basics</vt:lpstr>
      <vt:lpstr>What is the “Reference Ratio”? (3/4) Application example</vt:lpstr>
      <vt:lpstr>What is the “Reference Ratio”? (4/4) Background information: Formulas and validation</vt:lpstr>
      <vt:lpstr>Hashing (1/2) </vt:lpstr>
      <vt:lpstr>Hashing (2/2) </vt:lpstr>
      <vt:lpstr>Plausibility checks for input data</vt:lpstr>
      <vt:lpstr>Options for automation</vt:lpstr>
      <vt:lpstr>Generation of input XML for a certified aero device (1/4) </vt:lpstr>
      <vt:lpstr>Generation of input XML for a certified aero device (2/4) </vt:lpstr>
      <vt:lpstr>Generation of input XML for a certified aero device (3/4) Hashing example </vt:lpstr>
      <vt:lpstr>Generation of input XML for a certified aero device (4/4) Hashing example </vt:lpstr>
      <vt:lpstr>Verification of component hash for a certified aero device (1/3) </vt:lpstr>
      <vt:lpstr>Verification of component hash for a certified aero device (2/3)</vt:lpstr>
      <vt:lpstr>Verification of component hash for a certified aero device (3/3)</vt:lpstr>
      <vt:lpstr>Standard aerodynamic devices – for DA trailers</vt:lpstr>
      <vt:lpstr>Standard aerodynamic devices – for DB trailers</vt:lpstr>
      <vt:lpstr>Standard aerodynamic devices – for DC trailers</vt:lpstr>
      <vt:lpstr>Bonus factors for liftable and steered axles - Overview</vt:lpstr>
      <vt:lpstr>Bonus factors for liftable axles</vt:lpstr>
      <vt:lpstr>Bonus factors for steered axles</vt:lpstr>
      <vt:lpstr>Bonus factors for liftable and steered axles –  Special cases</vt:lpstr>
      <vt:lpstr>Bonus factors for liftable and steered axles –  Special cases</vt:lpstr>
      <vt:lpstr>Overview content of Masterexcel (1/4)</vt:lpstr>
      <vt:lpstr>Overview content of Masterexcel (2/4)</vt:lpstr>
      <vt:lpstr>Overview content of Masterexcel (3/4)</vt:lpstr>
      <vt:lpstr>Overview content of Masterexcel (4/4)</vt:lpstr>
    </vt:vector>
  </TitlesOfParts>
  <Company>European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JRC Visitors'Centre: May – Nov 2015</dc:title>
  <dc:creator>G. Fontaras</dc:creator>
  <cp:lastModifiedBy>Present Stefan</cp:lastModifiedBy>
  <cp:revision>648</cp:revision>
  <cp:lastPrinted>2022-04-28T09:59:37Z</cp:lastPrinted>
  <dcterms:created xsi:type="dcterms:W3CDTF">2015-11-03T14:12:48Z</dcterms:created>
  <dcterms:modified xsi:type="dcterms:W3CDTF">2022-07-21T10:07:32Z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https://connected.cnect.cec.eu.int</vt:lpwstr>
  </property>
  <property fmtid="{D5CDD505-2E9C-101B-9397-08002B2CF9AE}" pid="3" name="Offisync_UniqueId">
    <vt:lpwstr>88340</vt:lpwstr>
  </property>
  <property fmtid="{D5CDD505-2E9C-101B-9397-08002B2CF9AE}" pid="4" name="Jive_VersionGuid">
    <vt:lpwstr>b09c5ecf-6eac-48d9-a0e8-ce20245ff03d</vt:lpwstr>
  </property>
  <property fmtid="{D5CDD505-2E9C-101B-9397-08002B2CF9AE}" pid="5" name="Offisync_UpdateToken">
    <vt:lpwstr>9</vt:lpwstr>
  </property>
  <property fmtid="{D5CDD505-2E9C-101B-9397-08002B2CF9AE}" pid="6" name="Jive_LatestUserAccountName">
    <vt:lpwstr>noelmma</vt:lpwstr>
  </property>
  <property fmtid="{D5CDD505-2E9C-101B-9397-08002B2CF9AE}" pid="7" name="Offisync_ServerID">
    <vt:lpwstr>0d3b22a6-6203-4efc-8e8e-b5279256493b</vt:lpwstr>
  </property>
  <property fmtid="{D5CDD505-2E9C-101B-9397-08002B2CF9AE}" pid="8" name="Jive_ModifiedButNotPublished">
    <vt:lpwstr/>
  </property>
</Properties>
</file>