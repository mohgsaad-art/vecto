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7"/>
  </p:notesMasterIdLst>
  <p:handoutMasterIdLst>
    <p:handoutMasterId r:id="rId78"/>
  </p:handoutMasterIdLst>
  <p:sldIdLst>
    <p:sldId id="575" r:id="rId2"/>
    <p:sldId id="705" r:id="rId3"/>
    <p:sldId id="715" r:id="rId4"/>
    <p:sldId id="714" r:id="rId5"/>
    <p:sldId id="713" r:id="rId6"/>
    <p:sldId id="712" r:id="rId7"/>
    <p:sldId id="711" r:id="rId8"/>
    <p:sldId id="710" r:id="rId9"/>
    <p:sldId id="708" r:id="rId10"/>
    <p:sldId id="709" r:id="rId11"/>
    <p:sldId id="707" r:id="rId12"/>
    <p:sldId id="706" r:id="rId13"/>
    <p:sldId id="703" r:id="rId14"/>
    <p:sldId id="704" r:id="rId15"/>
    <p:sldId id="681" r:id="rId16"/>
    <p:sldId id="702" r:id="rId17"/>
    <p:sldId id="701" r:id="rId18"/>
    <p:sldId id="700" r:id="rId19"/>
    <p:sldId id="699" r:id="rId20"/>
    <p:sldId id="698" r:id="rId21"/>
    <p:sldId id="697" r:id="rId22"/>
    <p:sldId id="696" r:id="rId23"/>
    <p:sldId id="695" r:id="rId24"/>
    <p:sldId id="694" r:id="rId25"/>
    <p:sldId id="693" r:id="rId26"/>
    <p:sldId id="692" r:id="rId27"/>
    <p:sldId id="691" r:id="rId28"/>
    <p:sldId id="690" r:id="rId29"/>
    <p:sldId id="688" r:id="rId30"/>
    <p:sldId id="689" r:id="rId31"/>
    <p:sldId id="687" r:id="rId32"/>
    <p:sldId id="686" r:id="rId33"/>
    <p:sldId id="683" r:id="rId34"/>
    <p:sldId id="684" r:id="rId35"/>
    <p:sldId id="677" r:id="rId36"/>
    <p:sldId id="685" r:id="rId37"/>
    <p:sldId id="682" r:id="rId38"/>
    <p:sldId id="680" r:id="rId39"/>
    <p:sldId id="679" r:id="rId40"/>
    <p:sldId id="678" r:id="rId41"/>
    <p:sldId id="671" r:id="rId42"/>
    <p:sldId id="676" r:id="rId43"/>
    <p:sldId id="675" r:id="rId44"/>
    <p:sldId id="674" r:id="rId45"/>
    <p:sldId id="673" r:id="rId46"/>
    <p:sldId id="672" r:id="rId47"/>
    <p:sldId id="669" r:id="rId48"/>
    <p:sldId id="670" r:id="rId49"/>
    <p:sldId id="664" r:id="rId50"/>
    <p:sldId id="666" r:id="rId51"/>
    <p:sldId id="667" r:id="rId52"/>
    <p:sldId id="668" r:id="rId53"/>
    <p:sldId id="665" r:id="rId54"/>
    <p:sldId id="663" r:id="rId55"/>
    <p:sldId id="661" r:id="rId56"/>
    <p:sldId id="662" r:id="rId57"/>
    <p:sldId id="657" r:id="rId58"/>
    <p:sldId id="659" r:id="rId59"/>
    <p:sldId id="660" r:id="rId60"/>
    <p:sldId id="656" r:id="rId61"/>
    <p:sldId id="655" r:id="rId62"/>
    <p:sldId id="654" r:id="rId63"/>
    <p:sldId id="653" r:id="rId64"/>
    <p:sldId id="651" r:id="rId65"/>
    <p:sldId id="648" r:id="rId66"/>
    <p:sldId id="649" r:id="rId67"/>
    <p:sldId id="650" r:id="rId68"/>
    <p:sldId id="645" r:id="rId69"/>
    <p:sldId id="647" r:id="rId70"/>
    <p:sldId id="646" r:id="rId71"/>
    <p:sldId id="640" r:id="rId72"/>
    <p:sldId id="641" r:id="rId73"/>
    <p:sldId id="642" r:id="rId74"/>
    <p:sldId id="643" r:id="rId75"/>
    <p:sldId id="644" r:id="rId76"/>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51" d="100"/>
          <a:sy n="151" d="100"/>
        </p:scale>
        <p:origin x="2010" y="132"/>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commentAuthors" Target="commentAuthor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handoutMaster" Target="handoutMasters/handoutMaster1.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3.x</a:t>
            </a:r>
          </a:p>
          <a:p>
            <a:pPr eaLnBrk="1" hangingPunct="1"/>
            <a:r>
              <a:rPr lang="en-US" sz="2000" dirty="0">
                <a:solidFill>
                  <a:srgbClr val="990000"/>
                </a:solidFill>
              </a:rPr>
              <a:t>01.12.2022</a:t>
            </a: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3.3.13.2891 Release Candidate</a:t>
            </a:r>
            <a:br>
              <a:rPr lang="en-US" dirty="0"/>
            </a:br>
            <a:r>
              <a:rPr lang="en-US" sz="1600" dirty="0"/>
              <a:t>2022-12-01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Improvements</a:t>
            </a:r>
          </a:p>
          <a:p>
            <a:pPr lvl="1">
              <a:tabLst>
                <a:tab pos="1885950" algn="l"/>
              </a:tabLst>
            </a:pPr>
            <a:r>
              <a:rPr lang="en-US" sz="1600" dirty="0"/>
              <a:t>[VECTO-1554] - VTP Mode according to 2nd amendment</a:t>
            </a:r>
          </a:p>
          <a:p>
            <a:pPr lvl="1">
              <a:tabLst>
                <a:tab pos="1885950" algn="l"/>
              </a:tabLst>
            </a:pPr>
            <a:r>
              <a:rPr lang="en-US" sz="1600" dirty="0"/>
              <a:t>[VECTO-1652] - Additional </a:t>
            </a:r>
            <a:r>
              <a:rPr lang="en-US" sz="1600" dirty="0" err="1"/>
              <a:t>Tyre</a:t>
            </a:r>
            <a:r>
              <a:rPr lang="en-US" sz="1600" dirty="0"/>
              <a:t> Dimension</a:t>
            </a:r>
          </a:p>
          <a:p>
            <a:pPr lvl="1">
              <a:tabLst>
                <a:tab pos="1885950" algn="l"/>
              </a:tabLst>
            </a:pPr>
            <a:r>
              <a:rPr lang="en-US" sz="1600" dirty="0"/>
              <a:t>[VECTO-1647] - Update user manual</a:t>
            </a:r>
          </a:p>
          <a:p>
            <a:pPr>
              <a:tabLst>
                <a:tab pos="1885950" algn="l"/>
              </a:tabLst>
            </a:pPr>
            <a:r>
              <a:rPr lang="en-US" sz="1800" b="1" dirty="0"/>
              <a:t>Bugfixes (compared to VECTO 3.3.12.2769)</a:t>
            </a:r>
          </a:p>
          <a:p>
            <a:pPr lvl="1">
              <a:tabLst>
                <a:tab pos="1885950" algn="l"/>
              </a:tabLst>
            </a:pPr>
            <a:r>
              <a:rPr lang="en-US" sz="1600" dirty="0"/>
              <a:t>[VECTO-1655] - Not possible to set Tank System to Liquefied (changes it back to compressed) in .</a:t>
            </a:r>
            <a:r>
              <a:rPr lang="en-US" sz="1600" dirty="0" err="1"/>
              <a:t>vveh</a:t>
            </a:r>
            <a:r>
              <a:rPr lang="en-US" sz="1600" dirty="0"/>
              <a:t> file</a:t>
            </a:r>
          </a:p>
          <a:p>
            <a:pPr lvl="1">
              <a:tabLst>
                <a:tab pos="1885950" algn="l"/>
              </a:tabLst>
            </a:pPr>
            <a:r>
              <a:rPr lang="en-US" sz="1600" dirty="0"/>
              <a:t>[VECTO-1656] - Simulation run aborted - TC &amp; ESS</a:t>
            </a:r>
          </a:p>
          <a:p>
            <a:pPr lvl="1">
              <a:tabLst>
                <a:tab pos="1885950" algn="l"/>
              </a:tabLst>
            </a:pPr>
            <a:r>
              <a:rPr lang="en-US" sz="1600" dirty="0"/>
              <a:t>[VECTO-1661] - Gear disabling not functioning in 3.3.12.2800.</a:t>
            </a:r>
          </a:p>
          <a:p>
            <a:pPr lvl="1">
              <a:tabLst>
                <a:tab pos="1885950" algn="l"/>
              </a:tabLst>
            </a:pPr>
            <a:r>
              <a:rPr lang="en-US" sz="1600" dirty="0"/>
              <a:t>[VECTO-1643] - Error: Gear 6L </a:t>
            </a:r>
            <a:r>
              <a:rPr lang="en-US" sz="1600" dirty="0" err="1"/>
              <a:t>LossMap</a:t>
            </a:r>
            <a:r>
              <a:rPr lang="en-US" sz="1600" dirty="0"/>
              <a:t> data was extrapolated in Declaration Mode</a:t>
            </a:r>
          </a:p>
        </p:txBody>
      </p:sp>
    </p:spTree>
    <p:extLst>
      <p:ext uri="{BB962C8B-B14F-4D97-AF65-F5344CB8AC3E}">
        <p14:creationId xmlns:p14="http://schemas.microsoft.com/office/powerpoint/2010/main" val="7855479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3.3.12.2800 Official Release</a:t>
            </a:r>
            <a:br>
              <a:rPr lang="en-US" dirty="0"/>
            </a:br>
            <a:r>
              <a:rPr lang="en-US" sz="1600" dirty="0"/>
              <a:t>2022-09-01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Bugfixes (compared to VECTO 3.3.12.2769)</a:t>
            </a:r>
          </a:p>
          <a:p>
            <a:pPr lvl="1">
              <a:tabLst>
                <a:tab pos="1885950" algn="l"/>
              </a:tabLst>
            </a:pPr>
            <a:r>
              <a:rPr lang="en-US" sz="1600" dirty="0"/>
              <a:t>[VECTO-1635] - Reading / Writing the ADAS Parameter </a:t>
            </a:r>
            <a:r>
              <a:rPr lang="en-US" sz="1600" dirty="0" err="1"/>
              <a:t>ATEcoRollReleaseLockupClutch</a:t>
            </a:r>
            <a:r>
              <a:rPr lang="en-US" sz="1600" dirty="0"/>
              <a:t> does not work</a:t>
            </a:r>
          </a:p>
        </p:txBody>
      </p:sp>
    </p:spTree>
    <p:extLst>
      <p:ext uri="{BB962C8B-B14F-4D97-AF65-F5344CB8AC3E}">
        <p14:creationId xmlns:p14="http://schemas.microsoft.com/office/powerpoint/2010/main" val="25659499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3.3.12.2769 Release Candidate</a:t>
            </a:r>
            <a:br>
              <a:rPr lang="en-US" dirty="0"/>
            </a:br>
            <a:r>
              <a:rPr lang="en-US" sz="1600" dirty="0"/>
              <a:t>2022-08-01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Improvement</a:t>
            </a:r>
          </a:p>
          <a:p>
            <a:pPr lvl="1">
              <a:tabLst>
                <a:tab pos="1885950" algn="l"/>
              </a:tabLst>
            </a:pPr>
            <a:r>
              <a:rPr lang="en-US" sz="1600" dirty="0"/>
              <a:t>[VECTO-1584] - Hashing library uses constructor that is deprecated in newer </a:t>
            </a:r>
            <a:r>
              <a:rPr lang="en-US" sz="1600" dirty="0" err="1"/>
              <a:t>.net</a:t>
            </a:r>
            <a:r>
              <a:rPr lang="en-US" sz="1600" dirty="0"/>
              <a:t> versions</a:t>
            </a:r>
          </a:p>
          <a:p>
            <a:pPr lvl="1">
              <a:tabLst>
                <a:tab pos="1885950" algn="l"/>
              </a:tabLst>
            </a:pPr>
            <a:r>
              <a:rPr lang="en-US" sz="1600" dirty="0"/>
              <a:t>[VECTO-1619] - Adaptations of XML Results in transition period</a:t>
            </a:r>
          </a:p>
          <a:p>
            <a:pPr lvl="1">
              <a:tabLst>
                <a:tab pos="1885950" algn="l"/>
              </a:tabLst>
            </a:pPr>
            <a:r>
              <a:rPr lang="en-US" sz="1600" dirty="0"/>
              <a:t>[VECTO-1619] - Reading Engine and </a:t>
            </a:r>
            <a:r>
              <a:rPr lang="en-US" sz="1600" dirty="0" err="1"/>
              <a:t>Tyre</a:t>
            </a:r>
            <a:r>
              <a:rPr lang="en-US" sz="1600" dirty="0"/>
              <a:t> component according to 2nd amendment (schema version 2.3)</a:t>
            </a:r>
          </a:p>
          <a:p>
            <a:pPr lvl="1">
              <a:tabLst>
                <a:tab pos="1885950" algn="l"/>
              </a:tabLst>
            </a:pPr>
            <a:r>
              <a:rPr lang="en-US" sz="1600" dirty="0"/>
              <a:t>[VECTO-1461] - Alignment of Steering Pump Technology and Steered Axles not checked by VECTO</a:t>
            </a:r>
          </a:p>
          <a:p>
            <a:pPr lvl="1">
              <a:tabLst>
                <a:tab pos="1885950" algn="l"/>
              </a:tabLst>
            </a:pPr>
            <a:r>
              <a:rPr lang="en-US" sz="1600" dirty="0"/>
              <a:t>[VECTO-1571] - Help file: Vehicle defined Torque Limitations</a:t>
            </a:r>
          </a:p>
          <a:p>
            <a:pPr lvl="1">
              <a:tabLst>
                <a:tab pos="1885950" algn="l"/>
              </a:tabLst>
            </a:pPr>
            <a:r>
              <a:rPr lang="en-US" sz="1600" dirty="0"/>
              <a:t>[VECTO-1585] - Validate component hashes in declaration mode (disabled by default)</a:t>
            </a:r>
          </a:p>
          <a:p>
            <a:pPr lvl="1">
              <a:tabLst>
                <a:tab pos="1885950" algn="l"/>
              </a:tabLst>
            </a:pPr>
            <a:r>
              <a:rPr lang="en-US" sz="1600" dirty="0"/>
              <a:t>[VECTO-1587] - update build script to include files required for xml parameter documentation</a:t>
            </a:r>
          </a:p>
          <a:p>
            <a:pPr lvl="1">
              <a:tabLst>
                <a:tab pos="1885950" algn="l"/>
              </a:tabLst>
            </a:pPr>
            <a:r>
              <a:rPr lang="en-US" sz="1600" dirty="0"/>
              <a:t>[VECTO-1598] - Execution time in latest official release</a:t>
            </a:r>
          </a:p>
          <a:p>
            <a:pPr lvl="1">
              <a:tabLst>
                <a:tab pos="1885950" algn="l"/>
              </a:tabLst>
            </a:pPr>
            <a:r>
              <a:rPr lang="en-US" sz="1600" dirty="0"/>
              <a:t>[VECTO-1608] - Adaptation of Reports (MRF/CIF) for transition in official VECTO Release</a:t>
            </a:r>
          </a:p>
          <a:p>
            <a:pPr>
              <a:tabLst>
                <a:tab pos="1885950" algn="l"/>
              </a:tabLst>
            </a:pPr>
            <a:r>
              <a:rPr lang="en-US" sz="1800" b="1" dirty="0"/>
              <a:t>Bugfixes</a:t>
            </a:r>
          </a:p>
          <a:p>
            <a:pPr lvl="1">
              <a:tabLst>
                <a:tab pos="1885950" algn="l"/>
              </a:tabLst>
            </a:pPr>
            <a:r>
              <a:rPr lang="en-US" sz="1600" dirty="0"/>
              <a:t>[VECTO-1622] - Unexpected response: Response Underload in LH </a:t>
            </a:r>
            <a:r>
              <a:rPr lang="en-US" sz="1600" dirty="0" err="1"/>
              <a:t>LowLoad</a:t>
            </a:r>
            <a:endParaRPr lang="en-US" sz="1600" dirty="0"/>
          </a:p>
          <a:p>
            <a:pPr lvl="1">
              <a:tabLst>
                <a:tab pos="1885950" algn="l"/>
              </a:tabLst>
            </a:pPr>
            <a:r>
              <a:rPr lang="en-US" sz="1600" dirty="0"/>
              <a:t>[VECTO-1623] - Unexpected response: Response Underload in LH EMS </a:t>
            </a:r>
            <a:r>
              <a:rPr lang="en-US" sz="1600" dirty="0" err="1"/>
              <a:t>RefLoad</a:t>
            </a:r>
            <a:endParaRPr lang="en-US" sz="1600" dirty="0"/>
          </a:p>
        </p:txBody>
      </p:sp>
    </p:spTree>
    <p:extLst>
      <p:ext uri="{BB962C8B-B14F-4D97-AF65-F5344CB8AC3E}">
        <p14:creationId xmlns:p14="http://schemas.microsoft.com/office/powerpoint/2010/main" val="2341166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3.3.11.2675 Official Release</a:t>
            </a:r>
            <a:br>
              <a:rPr lang="en-US" dirty="0"/>
            </a:br>
            <a:r>
              <a:rPr lang="en-US" sz="1600" dirty="0"/>
              <a:t>2022-04-29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VECTO 3.3.11.2645)</a:t>
            </a:r>
          </a:p>
          <a:p>
            <a:pPr lvl="1">
              <a:tabLst>
                <a:tab pos="1885950" algn="l"/>
              </a:tabLst>
            </a:pPr>
            <a:r>
              <a:rPr lang="en-US" sz="1600" dirty="0"/>
              <a:t>[VECTO-1557] - Simulation abort Generic Vehicle </a:t>
            </a:r>
            <a:r>
              <a:rPr lang="en-US" sz="1600" dirty="0" err="1"/>
              <a:t>CityBus</a:t>
            </a:r>
            <a:r>
              <a:rPr lang="en-US" sz="1600" dirty="0"/>
              <a:t> APT-S UD</a:t>
            </a:r>
          </a:p>
          <a:p>
            <a:pPr lvl="1">
              <a:tabLst>
                <a:tab pos="1885950" algn="l"/>
              </a:tabLst>
            </a:pPr>
            <a:r>
              <a:rPr lang="en-US" sz="1600" dirty="0"/>
              <a:t>[VECTO-1561] - Simulation abort with AT transmission</a:t>
            </a:r>
          </a:p>
          <a:p>
            <a:pPr lvl="1">
              <a:tabLst>
                <a:tab pos="1885950" algn="l"/>
              </a:tabLst>
            </a:pPr>
            <a:r>
              <a:rPr lang="en-US" sz="1600" dirty="0"/>
              <a:t>[VECTO-1567] - Different CO2 results with VECTO-3.3.11.2645 release candidate</a:t>
            </a:r>
          </a:p>
          <a:p>
            <a:pPr lvl="1">
              <a:tabLst>
                <a:tab pos="1885950" algn="l"/>
              </a:tabLst>
            </a:pPr>
            <a:r>
              <a:rPr lang="en-US" sz="1600" dirty="0"/>
              <a:t>[VECTO-1562] - Adapting WHTC Correction Factor weighting for LH Cycle</a:t>
            </a:r>
          </a:p>
          <a:p>
            <a:pPr lvl="1">
              <a:tabLst>
                <a:tab pos="1885950" algn="l"/>
              </a:tabLst>
            </a:pPr>
            <a:r>
              <a:rPr lang="en-US" sz="1600" dirty="0"/>
              <a:t>[VECTO-1560] - update toolchain for generating user manual</a:t>
            </a:r>
          </a:p>
          <a:p>
            <a:pPr lvl="1">
              <a:tabLst>
                <a:tab pos="1885950" algn="l"/>
              </a:tabLst>
            </a:pPr>
            <a:endParaRPr lang="en-US" sz="1600" dirty="0"/>
          </a:p>
          <a:p>
            <a:pPr lvl="1">
              <a:tabLst>
                <a:tab pos="1885950" algn="l"/>
              </a:tabLst>
            </a:pPr>
            <a:r>
              <a:rPr lang="en-US" sz="1600" dirty="0"/>
              <a:t>Added new VECTO parameter documentation</a:t>
            </a:r>
          </a:p>
        </p:txBody>
      </p:sp>
    </p:spTree>
    <p:extLst>
      <p:ext uri="{BB962C8B-B14F-4D97-AF65-F5344CB8AC3E}">
        <p14:creationId xmlns:p14="http://schemas.microsoft.com/office/powerpoint/2010/main" val="20312520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3.3.11.2645 Release Candidate</a:t>
            </a:r>
            <a:br>
              <a:rPr lang="en-US" dirty="0"/>
            </a:br>
            <a:r>
              <a:rPr lang="en-US" sz="1600" dirty="0"/>
              <a:t>2022-03-30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[VECTO-1474] - Implementation of ADAS in-the-loop simulation (Declaration and Engineering mode)</a:t>
            </a:r>
          </a:p>
          <a:p>
            <a:pPr lvl="2">
              <a:tabLst>
                <a:tab pos="1885950" algn="l"/>
              </a:tabLst>
            </a:pPr>
            <a:r>
              <a:rPr lang="en-US" sz="1200" dirty="0"/>
              <a:t>Engine stop/start</a:t>
            </a:r>
          </a:p>
          <a:p>
            <a:pPr lvl="2">
              <a:tabLst>
                <a:tab pos="1885950" algn="l"/>
              </a:tabLst>
            </a:pPr>
            <a:r>
              <a:rPr lang="en-US" sz="1200" dirty="0"/>
              <a:t>Eco-roll</a:t>
            </a:r>
          </a:p>
          <a:p>
            <a:pPr lvl="2">
              <a:tabLst>
                <a:tab pos="1885950" algn="l"/>
              </a:tabLst>
            </a:pPr>
            <a:r>
              <a:rPr lang="en-US" sz="1200" dirty="0"/>
              <a:t>Predictive cruise control: option 1,2; option 1,2,3</a:t>
            </a:r>
          </a:p>
          <a:p>
            <a:pPr lvl="2">
              <a:tabLst>
                <a:tab pos="1885950" algn="l"/>
              </a:tabLst>
            </a:pPr>
            <a:r>
              <a:rPr lang="en-US" sz="1200" dirty="0"/>
              <a:t>Post-processing: fuel consumption correction for ICE-off phases</a:t>
            </a:r>
          </a:p>
          <a:p>
            <a:pPr lvl="1">
              <a:tabLst>
                <a:tab pos="1885950" algn="l"/>
              </a:tabLst>
            </a:pPr>
            <a:r>
              <a:rPr lang="en-US" sz="1600" dirty="0"/>
              <a:t>Update shift strategy: </a:t>
            </a:r>
            <a:r>
              <a:rPr lang="en-US" sz="1600" dirty="0" err="1"/>
              <a:t>EffShift</a:t>
            </a:r>
            <a:r>
              <a:rPr lang="en-US" sz="1600" dirty="0"/>
              <a:t> for AMT and AT (Declaration and Engineering mode)</a:t>
            </a:r>
          </a:p>
          <a:p>
            <a:pPr lvl="1">
              <a:tabLst>
                <a:tab pos="1885950" algn="l"/>
              </a:tabLst>
            </a:pPr>
            <a:r>
              <a:rPr lang="en-US" sz="1600" dirty="0"/>
              <a:t>[VECTO-1547] Update </a:t>
            </a:r>
            <a:r>
              <a:rPr lang="en-US" sz="1600" dirty="0" err="1"/>
              <a:t>LongHaul</a:t>
            </a:r>
            <a:r>
              <a:rPr lang="en-US" sz="1600" dirty="0"/>
              <a:t> driving cycle (Declaration mode)</a:t>
            </a:r>
          </a:p>
          <a:p>
            <a:pPr lvl="1">
              <a:tabLst>
                <a:tab pos="1885950" algn="l"/>
              </a:tabLst>
            </a:pPr>
            <a:r>
              <a:rPr lang="en-US" sz="1600" dirty="0"/>
              <a:t>Dual-fuel support (Engineering mode)</a:t>
            </a:r>
          </a:p>
          <a:p>
            <a:pPr lvl="1">
              <a:tabLst>
                <a:tab pos="1885950" algn="l"/>
              </a:tabLst>
            </a:pPr>
            <a:r>
              <a:rPr lang="en-US" sz="1600" dirty="0"/>
              <a:t>WHR support (Engineering mode)</a:t>
            </a:r>
          </a:p>
          <a:p>
            <a:pPr lvl="1">
              <a:tabLst>
                <a:tab pos="1885950" algn="l"/>
              </a:tabLst>
            </a:pPr>
            <a:r>
              <a:rPr lang="en-US" sz="1600" dirty="0" err="1"/>
              <a:t>BusAuxiliaries</a:t>
            </a:r>
            <a:r>
              <a:rPr lang="en-US" sz="1600" dirty="0"/>
              <a:t> model in engineering mode updated (simplified input)</a:t>
            </a:r>
          </a:p>
          <a:p>
            <a:pPr lvl="1">
              <a:tabLst>
                <a:tab pos="1885950" algn="l"/>
              </a:tabLst>
            </a:pPr>
            <a:r>
              <a:rPr lang="en-US" sz="1600" dirty="0"/>
              <a:t>[VECTO-1473], [VECTO-1521] - Additional </a:t>
            </a:r>
            <a:r>
              <a:rPr lang="en-US" sz="1600" dirty="0" err="1"/>
              <a:t>tyre</a:t>
            </a:r>
            <a:r>
              <a:rPr lang="en-US" sz="1600" dirty="0"/>
              <a:t> dimensions</a:t>
            </a:r>
          </a:p>
          <a:p>
            <a:pPr lvl="1">
              <a:tabLst>
                <a:tab pos="1885950" algn="l"/>
              </a:tabLst>
            </a:pPr>
            <a:r>
              <a:rPr lang="en-US" sz="1600" dirty="0"/>
              <a:t>[VECTO-1536] - Component XML 2nd Amendment (schema version 2.3)</a:t>
            </a:r>
          </a:p>
          <a:p>
            <a:pPr lvl="1">
              <a:tabLst>
                <a:tab pos="1885950" algn="l"/>
              </a:tabLst>
            </a:pPr>
            <a:r>
              <a:rPr lang="en-US" sz="1600" dirty="0"/>
              <a:t>[VECTO-1536] - verify generated xml by default when using command-line hashing tool</a:t>
            </a:r>
          </a:p>
        </p:txBody>
      </p:sp>
    </p:spTree>
    <p:extLst>
      <p:ext uri="{BB962C8B-B14F-4D97-AF65-F5344CB8AC3E}">
        <p14:creationId xmlns:p14="http://schemas.microsoft.com/office/powerpoint/2010/main" val="24111113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3.3.11.2645 Release Candidate</a:t>
            </a:r>
            <a:br>
              <a:rPr lang="en-US" dirty="0"/>
            </a:br>
            <a:r>
              <a:rPr lang="en-US" sz="1600" dirty="0"/>
              <a:t>2022-03-30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a:t>
            </a:r>
          </a:p>
          <a:p>
            <a:pPr lvl="1">
              <a:tabLst>
                <a:tab pos="1885950" algn="l"/>
              </a:tabLst>
            </a:pPr>
            <a:r>
              <a:rPr lang="en-US" sz="1600" dirty="0"/>
              <a:t>[VECTO-1525] - PCC Preprocessing</a:t>
            </a:r>
          </a:p>
          <a:p>
            <a:pPr lvl="1">
              <a:tabLst>
                <a:tab pos="1885950" algn="l"/>
              </a:tabLst>
            </a:pPr>
            <a:r>
              <a:rPr lang="en-US" sz="1600" dirty="0"/>
              <a:t>[VECTO-1529] - XML Schema 2.0: missing abstract XML type in Gears </a:t>
            </a:r>
          </a:p>
          <a:p>
            <a:pPr lvl="1">
              <a:tabLst>
                <a:tab pos="1885950" algn="l"/>
              </a:tabLst>
            </a:pPr>
            <a:r>
              <a:rPr lang="en-US" sz="1600" dirty="0"/>
              <a:t>[VECTO-1550] - Error in hashing tool: sorting tires before comparing input data with MRF</a:t>
            </a:r>
          </a:p>
          <a:p>
            <a:pPr lvl="1">
              <a:tabLst>
                <a:tab pos="1885950" algn="l"/>
              </a:tabLst>
            </a:pPr>
            <a:r>
              <a:rPr lang="en-US" sz="1600" dirty="0"/>
              <a:t>[VECTO-1551] - AT-P Transmission Bus Application: Error during braking phase</a:t>
            </a:r>
          </a:p>
        </p:txBody>
      </p:sp>
    </p:spTree>
    <p:extLst>
      <p:ext uri="{BB962C8B-B14F-4D97-AF65-F5344CB8AC3E}">
        <p14:creationId xmlns:p14="http://schemas.microsoft.com/office/powerpoint/2010/main" val="7988961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Implementation of ADAS in-the-loop simulation (Declaration and Engineering mode)</a:t>
            </a:r>
          </a:p>
          <a:p>
            <a:pPr lvl="2">
              <a:tabLst>
                <a:tab pos="1885950" algn="l"/>
              </a:tabLst>
            </a:pPr>
            <a:r>
              <a:rPr lang="en-US" sz="1200" dirty="0"/>
              <a:t>Engine stop/start</a:t>
            </a:r>
          </a:p>
          <a:p>
            <a:pPr lvl="2">
              <a:tabLst>
                <a:tab pos="1885950" algn="l"/>
              </a:tabLst>
            </a:pPr>
            <a:r>
              <a:rPr lang="en-US" sz="1200" dirty="0"/>
              <a:t>Eco-roll</a:t>
            </a:r>
          </a:p>
          <a:p>
            <a:pPr lvl="2">
              <a:tabLst>
                <a:tab pos="1885950" algn="l"/>
              </a:tabLst>
            </a:pPr>
            <a:r>
              <a:rPr lang="en-US" sz="1200" dirty="0"/>
              <a:t>Predictive cruise control: option 1,2; option 1,2,3</a:t>
            </a:r>
          </a:p>
          <a:p>
            <a:pPr lvl="2">
              <a:tabLst>
                <a:tab pos="1885950" algn="l"/>
              </a:tabLst>
            </a:pPr>
            <a:r>
              <a:rPr lang="en-US" sz="1200" dirty="0"/>
              <a:t>Post-processing: fuel consumption correction for ICE-off phases</a:t>
            </a:r>
          </a:p>
          <a:p>
            <a:pPr lvl="1">
              <a:tabLst>
                <a:tab pos="1885950" algn="l"/>
              </a:tabLst>
            </a:pPr>
            <a:r>
              <a:rPr lang="en-US" sz="1600" dirty="0"/>
              <a:t>Update shift strategy: </a:t>
            </a:r>
            <a:r>
              <a:rPr lang="en-US" sz="1600" dirty="0" err="1"/>
              <a:t>EffShift</a:t>
            </a:r>
            <a:r>
              <a:rPr lang="en-US" sz="1600" dirty="0"/>
              <a:t> for AMT and AT (Declaration and Engineering mode)</a:t>
            </a:r>
          </a:p>
          <a:p>
            <a:pPr lvl="1">
              <a:tabLst>
                <a:tab pos="1885950" algn="l"/>
              </a:tabLst>
            </a:pPr>
            <a:r>
              <a:rPr lang="en-US" sz="1600" dirty="0"/>
              <a:t>Update </a:t>
            </a:r>
            <a:r>
              <a:rPr lang="en-US" sz="1600" dirty="0" err="1"/>
              <a:t>LongHaul</a:t>
            </a:r>
            <a:r>
              <a:rPr lang="en-US" sz="1600" dirty="0"/>
              <a:t> driving cycle (Declaration mode)</a:t>
            </a:r>
          </a:p>
          <a:p>
            <a:pPr lvl="1">
              <a:tabLst>
                <a:tab pos="1885950" algn="l"/>
              </a:tabLst>
            </a:pPr>
            <a:r>
              <a:rPr lang="en-US" sz="1600" dirty="0"/>
              <a:t>Dual-fuel support (Engineering mode)</a:t>
            </a:r>
          </a:p>
          <a:p>
            <a:pPr lvl="1">
              <a:tabLst>
                <a:tab pos="1885950" algn="l"/>
              </a:tabLst>
            </a:pPr>
            <a:r>
              <a:rPr lang="en-US" sz="1600" dirty="0"/>
              <a:t>WHR support (Engineering mode)</a:t>
            </a:r>
          </a:p>
          <a:p>
            <a:pPr lvl="1">
              <a:tabLst>
                <a:tab pos="1885950" algn="l"/>
              </a:tabLst>
            </a:pPr>
            <a:r>
              <a:rPr lang="en-US" sz="1600" dirty="0" err="1"/>
              <a:t>BusAuxiliaries</a:t>
            </a:r>
            <a:r>
              <a:rPr lang="en-US" sz="1600" dirty="0"/>
              <a:t> model in engineering mode updated (simplified input)</a:t>
            </a:r>
          </a:p>
          <a:p>
            <a:pPr lvl="1">
              <a:tabLst>
                <a:tab pos="1885950" algn="l"/>
              </a:tabLst>
            </a:pPr>
            <a:endParaRPr lang="en-US" sz="1600" dirty="0"/>
          </a:p>
          <a:p>
            <a:pPr lvl="1">
              <a:tabLst>
                <a:tab pos="1885950" algn="l"/>
              </a:tabLst>
            </a:pPr>
            <a:r>
              <a:rPr lang="en-US" sz="1600" dirty="0"/>
              <a:t>Support to read driving cycle and </a:t>
            </a:r>
            <a:r>
              <a:rPr lang="en-US" sz="1600" dirty="0" err="1"/>
              <a:t>EffShift</a:t>
            </a:r>
            <a:r>
              <a:rPr lang="en-US" sz="1600" dirty="0"/>
              <a:t> parameters from file system</a:t>
            </a:r>
            <a:br>
              <a:rPr lang="en-US" sz="1600" dirty="0"/>
            </a:br>
            <a:r>
              <a:rPr lang="en-US" sz="1600" dirty="0"/>
              <a:t>(only once when application is started!)</a:t>
            </a:r>
          </a:p>
        </p:txBody>
      </p:sp>
    </p:spTree>
    <p:extLst>
      <p:ext uri="{BB962C8B-B14F-4D97-AF65-F5344CB8AC3E}">
        <p14:creationId xmlns:p14="http://schemas.microsoft.com/office/powerpoint/2010/main" val="23001932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 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1512168"/>
          </a:xfrm>
        </p:spPr>
        <p:txBody>
          <a:bodyPr/>
          <a:lstStyle/>
          <a:p>
            <a:pPr>
              <a:tabLst>
                <a:tab pos="1885950" algn="l"/>
              </a:tabLst>
            </a:pPr>
            <a:r>
              <a:rPr lang="en-US" sz="1800" b="1" dirty="0" err="1"/>
              <a:t>EffShift</a:t>
            </a:r>
            <a:r>
              <a:rPr lang="en-US" sz="1800" b="1" dirty="0"/>
              <a:t> Parameters</a:t>
            </a:r>
          </a:p>
          <a:p>
            <a:pPr lvl="1">
              <a:tabLst>
                <a:tab pos="1885950" algn="l"/>
              </a:tabLst>
            </a:pPr>
            <a:r>
              <a:rPr lang="en-US" sz="1600" dirty="0"/>
              <a:t>The following </a:t>
            </a:r>
            <a:r>
              <a:rPr lang="en-US" sz="1600" dirty="0" err="1"/>
              <a:t>EffShift</a:t>
            </a:r>
            <a:r>
              <a:rPr lang="en-US" sz="1600" dirty="0"/>
              <a:t> parameters are read from the file “Declaration/</a:t>
            </a:r>
            <a:r>
              <a:rPr lang="en-US" sz="1600" dirty="0" err="1"/>
              <a:t>EffShiftParameters.vtcu</a:t>
            </a:r>
            <a:r>
              <a:rPr lang="en-US" sz="1600" dirty="0"/>
              <a:t>” if this file exists. </a:t>
            </a:r>
            <a:br>
              <a:rPr lang="en-US" sz="1600" dirty="0"/>
            </a:br>
            <a:r>
              <a:rPr lang="en-US" sz="1600" dirty="0"/>
              <a:t>(A sample file is provided in the VECTO archive)</a:t>
            </a:r>
          </a:p>
          <a:p>
            <a:pPr lvl="1">
              <a:tabLst>
                <a:tab pos="1885950" algn="l"/>
              </a:tabLst>
            </a:pPr>
            <a:r>
              <a:rPr lang="en-US" sz="1600" dirty="0"/>
              <a:t>All parameters are optional, if a parameter is not provided the default value (see table below) is used</a:t>
            </a:r>
          </a:p>
        </p:txBody>
      </p:sp>
      <p:graphicFrame>
        <p:nvGraphicFramePr>
          <p:cNvPr id="6" name="Tabelle 5">
            <a:extLst>
              <a:ext uri="{FF2B5EF4-FFF2-40B4-BE49-F238E27FC236}">
                <a16:creationId xmlns:a16="http://schemas.microsoft.com/office/drawing/2014/main" id="{72295BD6-477D-4B2A-B502-486CC472785F}"/>
              </a:ext>
            </a:extLst>
          </p:cNvPr>
          <p:cNvGraphicFramePr>
            <a:graphicFrameLocks noGrp="1"/>
          </p:cNvGraphicFramePr>
          <p:nvPr>
            <p:extLst>
              <p:ext uri="{D42A27DB-BD31-4B8C-83A1-F6EECF244321}">
                <p14:modId xmlns:p14="http://schemas.microsoft.com/office/powerpoint/2010/main" val="2019335476"/>
              </p:ext>
            </p:extLst>
          </p:nvPr>
        </p:nvGraphicFramePr>
        <p:xfrm>
          <a:off x="498375" y="3349740"/>
          <a:ext cx="8147250" cy="3153848"/>
        </p:xfrm>
        <a:graphic>
          <a:graphicData uri="http://schemas.openxmlformats.org/drawingml/2006/table">
            <a:tbl>
              <a:tblPr/>
              <a:tblGrid>
                <a:gridCol w="2201417">
                  <a:extLst>
                    <a:ext uri="{9D8B030D-6E8A-4147-A177-3AD203B41FA5}">
                      <a16:colId xmlns:a16="http://schemas.microsoft.com/office/drawing/2014/main" val="601794982"/>
                    </a:ext>
                  </a:extLst>
                </a:gridCol>
                <a:gridCol w="1080120">
                  <a:extLst>
                    <a:ext uri="{9D8B030D-6E8A-4147-A177-3AD203B41FA5}">
                      <a16:colId xmlns:a16="http://schemas.microsoft.com/office/drawing/2014/main" val="2083665492"/>
                    </a:ext>
                  </a:extLst>
                </a:gridCol>
                <a:gridCol w="4865713">
                  <a:extLst>
                    <a:ext uri="{9D8B030D-6E8A-4147-A177-3AD203B41FA5}">
                      <a16:colId xmlns:a16="http://schemas.microsoft.com/office/drawing/2014/main" val="3485850810"/>
                    </a:ext>
                  </a:extLst>
                </a:gridCol>
              </a:tblGrid>
              <a:tr h="253997">
                <a:tc>
                  <a:txBody>
                    <a:bodyPr/>
                    <a:lstStyle/>
                    <a:p>
                      <a:pPr fontAlgn="ctr"/>
                      <a:r>
                        <a:rPr lang="en-GB" sz="800" b="1" dirty="0">
                          <a:solidFill>
                            <a:srgbClr val="000000"/>
                          </a:solidFill>
                          <a:effectLst/>
                        </a:rPr>
                        <a:t>Parameter name</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b="1" dirty="0">
                          <a:solidFill>
                            <a:srgbClr val="000000"/>
                          </a:solidFill>
                          <a:effectLst/>
                        </a:rPr>
                        <a:t>Value</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b="1" dirty="0">
                          <a:solidFill>
                            <a:srgbClr val="000000"/>
                          </a:solidFill>
                          <a:effectLst/>
                        </a:rPr>
                        <a:t>Explanations</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extLst>
                  <a:ext uri="{0D108BD9-81ED-4DB2-BD59-A6C34878D82A}">
                    <a16:rowId xmlns:a16="http://schemas.microsoft.com/office/drawing/2014/main" val="3832659892"/>
                  </a:ext>
                </a:extLst>
              </a:tr>
              <a:tr h="322066">
                <a:tc>
                  <a:txBody>
                    <a:bodyPr/>
                    <a:lstStyle/>
                    <a:p>
                      <a:pPr fontAlgn="ctr"/>
                      <a:r>
                        <a:rPr lang="en-GB" sz="800" dirty="0" err="1">
                          <a:solidFill>
                            <a:srgbClr val="000000"/>
                          </a:solidFill>
                          <a:effectLst/>
                        </a:rPr>
                        <a:t>Rating_current_gear</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dirty="0">
                          <a:solidFill>
                            <a:srgbClr val="000000"/>
                          </a:solidFill>
                          <a:effectLst/>
                        </a:rPr>
                        <a:t>0.97</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the minimum fuel efficiency advantage in a candidate gear to trigger a gear shift (i.e. 3% of a value of 0.97) – applies only for AMT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57938931"/>
                  </a:ext>
                </a:extLst>
              </a:tr>
              <a:tr h="322066">
                <a:tc>
                  <a:txBody>
                    <a:bodyPr/>
                    <a:lstStyle/>
                    <a:p>
                      <a:pPr fontAlgn="ctr"/>
                      <a:r>
                        <a:rPr lang="en-GB" sz="800" kern="1200" dirty="0" err="1">
                          <a:solidFill>
                            <a:srgbClr val="000000"/>
                          </a:solidFill>
                          <a:effectLst/>
                          <a:latin typeface="+mn-lt"/>
                          <a:ea typeface="+mn-ea"/>
                          <a:cs typeface="+mn-cs"/>
                        </a:rPr>
                        <a:t>Rating_current_gear_APT</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GB" sz="800" kern="1200" dirty="0">
                          <a:solidFill>
                            <a:srgbClr val="000000"/>
                          </a:solidFill>
                          <a:effectLst/>
                          <a:latin typeface="+mn-lt"/>
                          <a:ea typeface="+mn-ea"/>
                          <a:cs typeface="+mn-cs"/>
                        </a:rPr>
                        <a:t>0.97</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minimum fuel efficiency advantage in a candidate gear to trigger a gear shift (i.e. 3% of a value of 0.97) – applies only for APT transmissions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15785663"/>
                  </a:ext>
                </a:extLst>
              </a:tr>
              <a:tr h="398634">
                <a:tc>
                  <a:txBody>
                    <a:bodyPr/>
                    <a:lstStyle/>
                    <a:p>
                      <a:pPr fontAlgn="ctr"/>
                      <a:r>
                        <a:rPr lang="en-GB" sz="800" dirty="0" err="1">
                          <a:solidFill>
                            <a:srgbClr val="000000"/>
                          </a:solidFill>
                          <a:effectLst/>
                        </a:rPr>
                        <a:t>RatioEarlyUpshiftFC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24</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rowSpan="2">
                  <a:txBody>
                    <a:bodyPr/>
                    <a:lstStyle/>
                    <a:p>
                      <a:pPr algn="ctr" fontAlgn="ctr"/>
                      <a:r>
                        <a:rPr lang="en-US" sz="800" dirty="0">
                          <a:solidFill>
                            <a:srgbClr val="000000"/>
                          </a:solidFill>
                          <a:effectLst/>
                        </a:rPr>
                        <a:t>In gears with a higher total drivetrain ratio (axle plus gearbox) than this parameter, “Efficiency shifts” are disabled, i.e. the shifts are only triggered by the shift lines. Rationale: Gear shift in this gears are primarily triggered by power demand.</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0235988"/>
                  </a:ext>
                </a:extLst>
              </a:tr>
              <a:tr h="0">
                <a:tc>
                  <a:txBody>
                    <a:bodyPr/>
                    <a:lstStyle/>
                    <a:p>
                      <a:pPr fontAlgn="ctr"/>
                      <a:r>
                        <a:rPr lang="en-GB" sz="800" dirty="0" err="1">
                          <a:solidFill>
                            <a:srgbClr val="000000"/>
                          </a:solidFill>
                          <a:effectLst/>
                        </a:rPr>
                        <a:t>RatioEarlyDownshiftFC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24</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vMerge="1">
                  <a:txBody>
                    <a:bodyPr/>
                    <a:lstStyle/>
                    <a:p>
                      <a:endParaRPr lang="de-AT"/>
                    </a:p>
                  </a:txBody>
                  <a:tcPr/>
                </a:tc>
                <a:extLst>
                  <a:ext uri="{0D108BD9-81ED-4DB2-BD59-A6C34878D82A}">
                    <a16:rowId xmlns:a16="http://schemas.microsoft.com/office/drawing/2014/main" val="3218516341"/>
                  </a:ext>
                </a:extLst>
              </a:tr>
              <a:tr h="292224">
                <a:tc>
                  <a:txBody>
                    <a:bodyPr/>
                    <a:lstStyle/>
                    <a:p>
                      <a:pPr fontAlgn="ctr"/>
                      <a:r>
                        <a:rPr lang="en-GB" sz="800" dirty="0" err="1">
                          <a:solidFill>
                            <a:srgbClr val="000000"/>
                          </a:solidFill>
                          <a:effectLst/>
                        </a:rPr>
                        <a:t>AllowedGearRangeFC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US" sz="800" dirty="0">
                          <a:solidFill>
                            <a:srgbClr val="000000"/>
                          </a:solidFill>
                          <a:effectLst/>
                        </a:rPr>
                        <a:t>2</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a:t>
                      </a:r>
                      <a:r>
                        <a:rPr lang="en-US" sz="800" kern="1200" dirty="0">
                          <a:solidFill>
                            <a:srgbClr val="000000"/>
                          </a:solidFill>
                          <a:effectLst/>
                          <a:latin typeface="+mn-lt"/>
                          <a:ea typeface="+mn-ea"/>
                          <a:cs typeface="+mn-cs"/>
                        </a:rPr>
                        <a:t>the gear range for candidate gears </a:t>
                      </a:r>
                      <a:r>
                        <a:rPr lang="en-US" sz="800" dirty="0">
                          <a:solidFill>
                            <a:srgbClr val="000000"/>
                          </a:solidFill>
                          <a:effectLst/>
                        </a:rPr>
                        <a:t>for “Efficiency Shifts”(+/-) – applies only </a:t>
                      </a:r>
                      <a:r>
                        <a:rPr lang="en-US" sz="800" dirty="0" err="1">
                          <a:solidFill>
                            <a:srgbClr val="000000"/>
                          </a:solidFill>
                          <a:effectLst/>
                        </a:rPr>
                        <a:t>fot</a:t>
                      </a:r>
                      <a:r>
                        <a:rPr lang="en-US" sz="800" dirty="0">
                          <a:solidFill>
                            <a:srgbClr val="000000"/>
                          </a:solidFill>
                          <a:effectLst/>
                        </a:rPr>
                        <a:t> APT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77285885"/>
                  </a:ext>
                </a:extLst>
              </a:tr>
              <a:tr h="0">
                <a:tc>
                  <a:txBody>
                    <a:bodyPr/>
                    <a:lstStyle/>
                    <a:p>
                      <a:pPr fontAlgn="ctr"/>
                      <a:r>
                        <a:rPr lang="en-GB" sz="800" kern="1200" dirty="0" err="1">
                          <a:solidFill>
                            <a:srgbClr val="000000"/>
                          </a:solidFill>
                          <a:effectLst/>
                          <a:latin typeface="+mn-lt"/>
                          <a:ea typeface="+mn-ea"/>
                          <a:cs typeface="+mn-cs"/>
                        </a:rPr>
                        <a:t>AllowedGearRangeFCAPT</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US" sz="800" kern="1200" dirty="0">
                          <a:solidFill>
                            <a:srgbClr val="000000"/>
                          </a:solidFill>
                          <a:effectLst/>
                          <a:latin typeface="+mn-lt"/>
                          <a:ea typeface="+mn-ea"/>
                          <a:cs typeface="+mn-cs"/>
                        </a:rPr>
                        <a:t>1</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gear range for candidate gears for “Efficiency Shifts”(+/-) – applies only </a:t>
                      </a:r>
                      <a:r>
                        <a:rPr lang="en-US" sz="800" kern="1200" dirty="0" err="1">
                          <a:solidFill>
                            <a:srgbClr val="000000"/>
                          </a:solidFill>
                          <a:effectLst/>
                          <a:latin typeface="+mn-lt"/>
                          <a:ea typeface="+mn-ea"/>
                          <a:cs typeface="+mn-cs"/>
                        </a:rPr>
                        <a:t>fot</a:t>
                      </a:r>
                      <a:r>
                        <a:rPr lang="en-US" sz="800" kern="1200" dirty="0">
                          <a:solidFill>
                            <a:srgbClr val="000000"/>
                          </a:solidFill>
                          <a:effectLst/>
                          <a:latin typeface="+mn-lt"/>
                          <a:ea typeface="+mn-ea"/>
                          <a:cs typeface="+mn-cs"/>
                        </a:rPr>
                        <a:t> APT transmissions with ≤ 6 gears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01516431"/>
                  </a:ext>
                </a:extLst>
              </a:tr>
              <a:tr h="406896">
                <a:tc>
                  <a:txBody>
                    <a:bodyPr/>
                    <a:lstStyle/>
                    <a:p>
                      <a:pPr fontAlgn="ctr"/>
                      <a:r>
                        <a:rPr lang="en-GB" sz="800" kern="1200" dirty="0" err="1">
                          <a:solidFill>
                            <a:srgbClr val="000000"/>
                          </a:solidFill>
                          <a:effectLst/>
                          <a:latin typeface="+mn-lt"/>
                          <a:ea typeface="+mn-ea"/>
                          <a:cs typeface="+mn-cs"/>
                        </a:rPr>
                        <a:t>AllowedGearRangeFCAPTSkipGear</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US" sz="800" kern="1200" dirty="0">
                          <a:solidFill>
                            <a:srgbClr val="000000"/>
                          </a:solidFill>
                          <a:effectLst/>
                          <a:latin typeface="+mn-lt"/>
                          <a:ea typeface="+mn-ea"/>
                          <a:cs typeface="+mn-cs"/>
                        </a:rPr>
                        <a:t>2</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gear range for candidate gears for “Efficiency Shifts”(+/-) – applies only </a:t>
                      </a:r>
                      <a:r>
                        <a:rPr lang="en-US" sz="800" kern="1200" dirty="0" err="1">
                          <a:solidFill>
                            <a:srgbClr val="000000"/>
                          </a:solidFill>
                          <a:effectLst/>
                          <a:latin typeface="+mn-lt"/>
                          <a:ea typeface="+mn-ea"/>
                          <a:cs typeface="+mn-cs"/>
                        </a:rPr>
                        <a:t>fot</a:t>
                      </a:r>
                      <a:r>
                        <a:rPr lang="en-US" sz="800" kern="1200" dirty="0">
                          <a:solidFill>
                            <a:srgbClr val="000000"/>
                          </a:solidFill>
                          <a:effectLst/>
                          <a:latin typeface="+mn-lt"/>
                          <a:ea typeface="+mn-ea"/>
                          <a:cs typeface="+mn-cs"/>
                        </a:rPr>
                        <a:t> APT transmissions with more than 6 gears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97248152"/>
                  </a:ext>
                </a:extLst>
              </a:tr>
              <a:tr h="309369">
                <a:tc>
                  <a:txBody>
                    <a:bodyPr/>
                    <a:lstStyle/>
                    <a:p>
                      <a:pPr fontAlgn="ctr"/>
                      <a:r>
                        <a:rPr lang="en-GB" sz="800">
                          <a:solidFill>
                            <a:srgbClr val="000000"/>
                          </a:solidFill>
                          <a:effectLst/>
                        </a:rPr>
                        <a:t>AccelerationFactorNP98h</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0.5</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kern="1200" dirty="0">
                          <a:solidFill>
                            <a:srgbClr val="000000"/>
                          </a:solidFill>
                          <a:effectLst/>
                          <a:latin typeface="+mn-lt"/>
                          <a:ea typeface="+mn-ea"/>
                          <a:cs typeface="+mn-cs"/>
                        </a:rPr>
                        <a:t>Defines the reduction of driver target acceleration in the engine speed range between nT98h and nP98h</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94721877"/>
                  </a:ext>
                </a:extLst>
              </a:tr>
              <a:tr h="273528">
                <a:tc>
                  <a:txBody>
                    <a:bodyPr/>
                    <a:lstStyle/>
                    <a:p>
                      <a:pPr fontAlgn="ctr"/>
                      <a:r>
                        <a:rPr lang="en-GB" sz="800">
                          <a:solidFill>
                            <a:srgbClr val="000000"/>
                          </a:solidFill>
                          <a:effectLst/>
                        </a:rPr>
                        <a:t>ATLookAheadTime</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0.8</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look ahead time for rating of fuel consumption for AT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37076583"/>
                  </a:ext>
                </a:extLst>
              </a:tr>
            </a:tbl>
          </a:graphicData>
        </a:graphic>
      </p:graphicFrame>
      <p:sp>
        <p:nvSpPr>
          <p:cNvPr id="7" name="Rectangle 2">
            <a:extLst>
              <a:ext uri="{FF2B5EF4-FFF2-40B4-BE49-F238E27FC236}">
                <a16:creationId xmlns:a16="http://schemas.microsoft.com/office/drawing/2014/main" id="{969C8D23-3A01-40BC-A5B7-1E487BFE23F1}"/>
              </a:ext>
            </a:extLst>
          </p:cNvPr>
          <p:cNvSpPr>
            <a:spLocks noChangeArrowheads="1"/>
          </p:cNvSpPr>
          <p:nvPr/>
        </p:nvSpPr>
        <p:spPr bwMode="auto">
          <a:xfrm>
            <a:off x="539552" y="2565221"/>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32642129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 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2304256"/>
          </a:xfrm>
        </p:spPr>
        <p:txBody>
          <a:bodyPr/>
          <a:lstStyle/>
          <a:p>
            <a:pPr>
              <a:tabLst>
                <a:tab pos="1885950" algn="l"/>
              </a:tabLst>
            </a:pPr>
            <a:r>
              <a:rPr lang="en-US" sz="1800" b="1" dirty="0"/>
              <a:t>Declaration Missions</a:t>
            </a:r>
          </a:p>
          <a:p>
            <a:pPr lvl="1">
              <a:tabLst>
                <a:tab pos="1885950" algn="l"/>
              </a:tabLst>
            </a:pPr>
            <a:r>
              <a:rPr lang="en-US" sz="1600" dirty="0"/>
              <a:t>The missions simulated in declaration mode folder “</a:t>
            </a:r>
            <a:r>
              <a:rPr lang="en-US" sz="1600" dirty="0" err="1"/>
              <a:t>DeclarationMissions</a:t>
            </a:r>
            <a:r>
              <a:rPr lang="en-US" sz="1600" dirty="0"/>
              <a:t>” if this folder exists. </a:t>
            </a:r>
          </a:p>
          <a:p>
            <a:pPr lvl="1">
              <a:tabLst>
                <a:tab pos="1885950" algn="l"/>
              </a:tabLst>
            </a:pPr>
            <a:r>
              <a:rPr lang="en-US" sz="1600" dirty="0"/>
              <a:t>A folder with all declaration missions is provided in the VECTO archive</a:t>
            </a:r>
          </a:p>
          <a:p>
            <a:pPr lvl="2">
              <a:tabLst>
                <a:tab pos="1885950" algn="l"/>
              </a:tabLst>
            </a:pPr>
            <a:r>
              <a:rPr lang="en-US" sz="1200" dirty="0" err="1"/>
              <a:t>LongHaul</a:t>
            </a:r>
            <a:r>
              <a:rPr lang="en-US" sz="1200" dirty="0"/>
              <a:t> is the current candidate cycle #31</a:t>
            </a:r>
          </a:p>
          <a:p>
            <a:pPr lvl="2">
              <a:tabLst>
                <a:tab pos="1885950" algn="l"/>
              </a:tabLst>
            </a:pPr>
            <a:r>
              <a:rPr lang="en-US" sz="1200" dirty="0"/>
              <a:t>Previous </a:t>
            </a:r>
            <a:r>
              <a:rPr lang="en-US" sz="1200" dirty="0" err="1"/>
              <a:t>LongHaul</a:t>
            </a:r>
            <a:r>
              <a:rPr lang="en-US" sz="1200" dirty="0"/>
              <a:t> cycle is provided as </a:t>
            </a:r>
            <a:r>
              <a:rPr lang="en-US" sz="1200" dirty="0" err="1"/>
              <a:t>LongHaul_old</a:t>
            </a:r>
            <a:endParaRPr lang="en-US" sz="1200" dirty="0"/>
          </a:p>
          <a:p>
            <a:pPr lvl="2">
              <a:tabLst>
                <a:tab pos="1885950" algn="l"/>
              </a:tabLst>
            </a:pPr>
            <a:r>
              <a:rPr lang="en-US" sz="1200" dirty="0"/>
              <a:t>Both </a:t>
            </a:r>
            <a:r>
              <a:rPr lang="en-US" sz="1200" dirty="0" err="1"/>
              <a:t>LongHaul</a:t>
            </a:r>
            <a:r>
              <a:rPr lang="en-US" sz="1200" dirty="0"/>
              <a:t> candidate cycles #13 and #31 are provided as well</a:t>
            </a:r>
          </a:p>
          <a:p>
            <a:pPr lvl="1">
              <a:tabLst>
                <a:tab pos="1885950" algn="l"/>
              </a:tabLst>
            </a:pPr>
            <a:r>
              <a:rPr lang="en-US" sz="1600" dirty="0"/>
              <a:t>Cycles are only read once on application start</a:t>
            </a:r>
          </a:p>
        </p:txBody>
      </p:sp>
      <p:sp>
        <p:nvSpPr>
          <p:cNvPr id="7" name="Rectangle 2">
            <a:extLst>
              <a:ext uri="{FF2B5EF4-FFF2-40B4-BE49-F238E27FC236}">
                <a16:creationId xmlns:a16="http://schemas.microsoft.com/office/drawing/2014/main" id="{969C8D23-3A01-40BC-A5B7-1E487BFE23F1}"/>
              </a:ext>
            </a:extLst>
          </p:cNvPr>
          <p:cNvSpPr>
            <a:spLocks noChangeArrowheads="1"/>
          </p:cNvSpPr>
          <p:nvPr/>
        </p:nvSpPr>
        <p:spPr bwMode="auto">
          <a:xfrm>
            <a:off x="539552" y="2565221"/>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39383124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3.3.10.2401 </a:t>
            </a:r>
            <a:r>
              <a:rPr lang="en-US"/>
              <a:t>Official Release</a:t>
            </a:r>
            <a:br>
              <a:rPr lang="en-US" dirty="0"/>
            </a:br>
            <a:r>
              <a:rPr lang="en-US" sz="1600" dirty="0"/>
              <a:t>2020-07-29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Handling of exempted vehicles (not changed since release candidate) – see next slides for details</a:t>
            </a:r>
          </a:p>
          <a:p>
            <a:pPr>
              <a:tabLst>
                <a:tab pos="1885950" algn="l"/>
              </a:tabLst>
            </a:pPr>
            <a:r>
              <a:rPr lang="en-US" sz="1800" b="1" dirty="0"/>
              <a:t>Bugfixes</a:t>
            </a:r>
          </a:p>
          <a:p>
            <a:pPr lvl="1">
              <a:tabLst>
                <a:tab pos="1885950" algn="l"/>
              </a:tabLst>
            </a:pPr>
            <a:r>
              <a:rPr lang="en-US" sz="1600" dirty="0"/>
              <a:t>No additional bugfixes compared to VECTO 3.3.10.2401</a:t>
            </a:r>
          </a:p>
        </p:txBody>
      </p:sp>
    </p:spTree>
    <p:extLst>
      <p:ext uri="{BB962C8B-B14F-4D97-AF65-F5344CB8AC3E}">
        <p14:creationId xmlns:p14="http://schemas.microsoft.com/office/powerpoint/2010/main" val="39087152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3.3.10.2373 </a:t>
            </a:r>
            <a:r>
              <a:rPr lang="en-US" dirty="0"/>
              <a:t>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[VECTO-1421] – Added vehicle sub-group (CO</a:t>
            </a:r>
            <a:r>
              <a:rPr lang="en-US" sz="1600" baseline="-25000" dirty="0"/>
              <a:t>2</a:t>
            </a:r>
            <a:r>
              <a:rPr lang="en-US" sz="1600" dirty="0"/>
              <a:t>-standards to MRF and CIF)</a:t>
            </a:r>
          </a:p>
          <a:p>
            <a:pPr lvl="1">
              <a:tabLst>
                <a:tab pos="1885950" algn="l"/>
              </a:tabLst>
            </a:pPr>
            <a:r>
              <a:rPr lang="en-US" sz="1600" dirty="0"/>
              <a:t>[VECTO 1449] – Handling of exempted vehicles: See next slide for details</a:t>
            </a:r>
          </a:p>
          <a:p>
            <a:pPr lvl="1">
              <a:tabLst>
                <a:tab pos="1885950" algn="l"/>
              </a:tabLst>
            </a:pPr>
            <a:r>
              <a:rPr lang="en-US" sz="1600" dirty="0"/>
              <a:t>[VECTO-1404] – Corrected URL for CSS in MRF and CIF</a:t>
            </a:r>
          </a:p>
          <a:p>
            <a:pPr>
              <a:tabLst>
                <a:tab pos="1885950" algn="l"/>
              </a:tabLst>
            </a:pPr>
            <a:r>
              <a:rPr lang="en-US" sz="1800" b="1" dirty="0"/>
              <a:t>Bugfixes</a:t>
            </a:r>
          </a:p>
          <a:p>
            <a:pPr lvl="1">
              <a:tabLst>
                <a:tab pos="1885950" algn="l"/>
              </a:tabLst>
            </a:pPr>
            <a:r>
              <a:rPr lang="en-US" sz="1600" dirty="0"/>
              <a:t>[VECTO-1419] – Simulation abort in urban cycle: failed to find operating point on search braking power with TC gear</a:t>
            </a:r>
          </a:p>
          <a:p>
            <a:pPr lvl="1">
              <a:tabLst>
                <a:tab pos="1885950" algn="l"/>
              </a:tabLst>
            </a:pPr>
            <a:r>
              <a:rPr lang="en-US" sz="1600" dirty="0"/>
              <a:t>[VECTO-1439] – Bugfix handling duplicate entries in engine full-load curve when intersecting with max-torque of gearbox</a:t>
            </a:r>
          </a:p>
          <a:p>
            <a:pPr lvl="1">
              <a:tabLst>
                <a:tab pos="1885950" algn="l"/>
              </a:tabLst>
            </a:pPr>
            <a:r>
              <a:rPr lang="en-US" sz="1600" dirty="0"/>
              <a:t>[VECTO-1429] – error in XML schema 2.x for exempted vehicles – MaxNetPower1/2 are optional input parameters</a:t>
            </a:r>
          </a:p>
        </p:txBody>
      </p:sp>
    </p:spTree>
    <p:extLst>
      <p:ext uri="{BB962C8B-B14F-4D97-AF65-F5344CB8AC3E}">
        <p14:creationId xmlns:p14="http://schemas.microsoft.com/office/powerpoint/2010/main" val="26078424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3.3.10.2373 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2400" b="1" dirty="0">
                <a:solidFill>
                  <a:srgbClr val="990000"/>
                </a:solidFill>
                <a:latin typeface="+mj-lt"/>
                <a:ea typeface="+mj-ea"/>
                <a:cs typeface="+mj-cs"/>
              </a:rPr>
              <a:t>Handling of exempted vehicles</a:t>
            </a:r>
          </a:p>
          <a:p>
            <a:pPr>
              <a:tabLst>
                <a:tab pos="1885950" algn="l"/>
              </a:tabLst>
            </a:pPr>
            <a:endParaRPr lang="en-US" sz="1800" dirty="0"/>
          </a:p>
          <a:p>
            <a:pPr>
              <a:tabLst>
                <a:tab pos="1885950" algn="l"/>
              </a:tabLst>
            </a:pPr>
            <a:r>
              <a:rPr lang="en-US" sz="1800" dirty="0"/>
              <a:t>Axle configuration and sleeper cab are optional input parameters for exempted vehicles (XML schema 1.0 and 2.2.1). </a:t>
            </a:r>
          </a:p>
          <a:p>
            <a:pPr lvl="1">
              <a:tabLst>
                <a:tab pos="1885950" algn="l"/>
              </a:tabLst>
            </a:pPr>
            <a:r>
              <a:rPr lang="en-US" sz="1600" dirty="0"/>
              <a:t>OEMs are recommended to provide these parameters for exempted vehicles.</a:t>
            </a:r>
          </a:p>
          <a:p>
            <a:pPr lvl="1">
              <a:tabLst>
                <a:tab pos="1885950" algn="l"/>
              </a:tabLst>
            </a:pPr>
            <a:r>
              <a:rPr lang="en-US" sz="1600" dirty="0"/>
              <a:t>If the axle configuration is provided as input parameter, the MRF contains the vehicle group. </a:t>
            </a:r>
          </a:p>
          <a:p>
            <a:pPr lvl="1">
              <a:tabLst>
                <a:tab pos="1885950" algn="l"/>
              </a:tabLst>
            </a:pPr>
            <a:r>
              <a:rPr lang="en-US" sz="1600" dirty="0"/>
              <a:t>The sleeper cab input parameter is also part of the MRF if provided as input.</a:t>
            </a:r>
          </a:p>
          <a:p>
            <a:pPr>
              <a:tabLst>
                <a:tab pos="1885950" algn="l"/>
              </a:tabLst>
            </a:pPr>
            <a:r>
              <a:rPr lang="en-US" sz="1800" dirty="0"/>
              <a:t>Input parameters MaxNetPower1/2 are optional input parameters for all exempted vehicles. </a:t>
            </a:r>
          </a:p>
          <a:p>
            <a:pPr lvl="1">
              <a:tabLst>
                <a:tab pos="1885950" algn="l"/>
              </a:tabLst>
            </a:pPr>
            <a:r>
              <a:rPr lang="en-US" sz="1600" dirty="0"/>
              <a:t>If provided in the input these parameters are part of the MRF for all exempted vehicle types</a:t>
            </a:r>
          </a:p>
          <a:p>
            <a:pPr lvl="1">
              <a:tabLst>
                <a:tab pos="1885950" algn="l"/>
              </a:tabLst>
            </a:pPr>
            <a:r>
              <a:rPr lang="en-US" sz="1600" dirty="0"/>
              <a:t>It is recommended that those parameters are used to specify the rated power also for PEV (pure electric vehicles)</a:t>
            </a:r>
          </a:p>
        </p:txBody>
      </p:sp>
    </p:spTree>
    <p:extLst>
      <p:ext uri="{BB962C8B-B14F-4D97-AF65-F5344CB8AC3E}">
        <p14:creationId xmlns:p14="http://schemas.microsoft.com/office/powerpoint/2010/main" val="1343095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3.3.9.2175 Official Release</a:t>
            </a:r>
            <a:br>
              <a:rPr lang="en-US" dirty="0"/>
            </a:br>
            <a:r>
              <a:rPr lang="en-US" sz="1600" dirty="0"/>
              <a:t>2020-12-15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version 3.3.9.2147)</a:t>
            </a:r>
          </a:p>
          <a:p>
            <a:pPr lvl="1">
              <a:tabLst>
                <a:tab pos="1885950" algn="l"/>
              </a:tabLst>
            </a:pPr>
            <a:r>
              <a:rPr lang="en-US" sz="1600" dirty="0"/>
              <a:t>[VECTO-1374] - VECTO VTP error – regression update</a:t>
            </a:r>
          </a:p>
        </p:txBody>
      </p:sp>
    </p:spTree>
    <p:extLst>
      <p:ext uri="{BB962C8B-B14F-4D97-AF65-F5344CB8AC3E}">
        <p14:creationId xmlns:p14="http://schemas.microsoft.com/office/powerpoint/2010/main" val="30726207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3.3.9.2147 Release Candidate</a:t>
            </a:r>
            <a:br>
              <a:rPr lang="en-US" dirty="0"/>
            </a:br>
            <a:r>
              <a:rPr lang="en-US" sz="1600" dirty="0"/>
              <a:t>2020-11-17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[VECTO-1331] - VTP Mode does not function for vehicles of group 3</a:t>
            </a:r>
          </a:p>
          <a:p>
            <a:pPr lvl="1">
              <a:tabLst>
                <a:tab pos="1885950" algn="l"/>
              </a:tabLst>
            </a:pPr>
            <a:r>
              <a:rPr lang="en-US" sz="1600" dirty="0"/>
              <a:t>[VECTO-1355] - VTP Simulation Abort</a:t>
            </a:r>
          </a:p>
          <a:p>
            <a:pPr lvl="1">
              <a:tabLst>
                <a:tab pos="1885950" algn="l"/>
              </a:tabLst>
            </a:pPr>
            <a:r>
              <a:rPr lang="en-US" sz="1600" dirty="0"/>
              <a:t>[VECTO-1356] - PTO Losses not considered in VTP simulation</a:t>
            </a:r>
          </a:p>
          <a:p>
            <a:pPr lvl="1">
              <a:tabLst>
                <a:tab pos="1885950" algn="l"/>
              </a:tabLst>
            </a:pPr>
            <a:r>
              <a:rPr lang="en-US" sz="1600" dirty="0"/>
              <a:t>[VECTO-1361] - Torque Converter in use for the First and Second Gear VTP file does not allow for this</a:t>
            </a:r>
          </a:p>
          <a:p>
            <a:pPr lvl="1">
              <a:tabLst>
                <a:tab pos="1885950" algn="l"/>
              </a:tabLst>
            </a:pPr>
            <a:r>
              <a:rPr lang="en-US" sz="1600" dirty="0"/>
              <a:t>[VECTO-1372] - Deviation of </a:t>
            </a:r>
            <a:r>
              <a:rPr lang="en-US" sz="1600" dirty="0" err="1"/>
              <a:t>CdxA</a:t>
            </a:r>
            <a:r>
              <a:rPr lang="en-US" sz="1600" dirty="0"/>
              <a:t> Input vs. Output for HDV16</a:t>
            </a:r>
          </a:p>
          <a:p>
            <a:pPr lvl="1">
              <a:tabLst>
                <a:tab pos="1885950" algn="l"/>
              </a:tabLst>
            </a:pPr>
            <a:r>
              <a:rPr lang="en-US" sz="1600" dirty="0"/>
              <a:t>[VECTO-1374] - VECTO VTP error</a:t>
            </a:r>
          </a:p>
          <a:p>
            <a:pPr>
              <a:tabLst>
                <a:tab pos="1885950" algn="l"/>
              </a:tabLst>
            </a:pPr>
            <a:r>
              <a:rPr lang="en-US" sz="1800" b="1" dirty="0"/>
              <a:t>Improvements</a:t>
            </a:r>
          </a:p>
          <a:p>
            <a:pPr lvl="1">
              <a:tabLst>
                <a:tab pos="1885950" algn="l"/>
              </a:tabLst>
            </a:pPr>
            <a:r>
              <a:rPr lang="en-US" sz="1600" dirty="0"/>
              <a:t>[VECTO-1360] - make unit tests execute in parallel</a:t>
            </a:r>
          </a:p>
        </p:txBody>
      </p:sp>
    </p:spTree>
    <p:extLst>
      <p:ext uri="{BB962C8B-B14F-4D97-AF65-F5344CB8AC3E}">
        <p14:creationId xmlns:p14="http://schemas.microsoft.com/office/powerpoint/2010/main" val="41739814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3.3.8.2052 Official Release</a:t>
            </a:r>
            <a:br>
              <a:rPr lang="en-US" dirty="0"/>
            </a:br>
            <a:r>
              <a:rPr lang="en-US" sz="1600" dirty="0"/>
              <a:t>2020-08-14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No additional </a:t>
            </a:r>
            <a:r>
              <a:rPr lang="en-US" sz="1600" dirty="0" err="1"/>
              <a:t>bugfixes</a:t>
            </a:r>
            <a:r>
              <a:rPr lang="en-US" sz="1600" dirty="0"/>
              <a:t> compared to VECTO 3.3.8.2024</a:t>
            </a:r>
          </a:p>
        </p:txBody>
      </p:sp>
    </p:spTree>
    <p:extLst>
      <p:ext uri="{BB962C8B-B14F-4D97-AF65-F5344CB8AC3E}">
        <p14:creationId xmlns:p14="http://schemas.microsoft.com/office/powerpoint/2010/main" val="5225440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3.3.8.2024 </a:t>
            </a:r>
            <a:r>
              <a:rPr lang="en-US" dirty="0"/>
              <a:t>Release Candidate</a:t>
            </a:r>
            <a:br>
              <a:rPr lang="en-US"/>
            </a:br>
            <a:r>
              <a:rPr lang="en-US" sz="1600"/>
              <a:t>2020-07-17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[VECTO-1288] - Simulation Abort UD RL</a:t>
            </a:r>
          </a:p>
          <a:p>
            <a:pPr lvl="1">
              <a:tabLst>
                <a:tab pos="1885950" algn="l"/>
              </a:tabLst>
            </a:pPr>
            <a:r>
              <a:rPr lang="en-US" sz="1600" dirty="0"/>
              <a:t>[VECTO-1327] - Simulation abort Construction </a:t>
            </a:r>
            <a:r>
              <a:rPr lang="en-US" sz="1600" dirty="0" err="1"/>
              <a:t>RefLoad</a:t>
            </a:r>
            <a:r>
              <a:rPr lang="en-US" sz="1600" dirty="0"/>
              <a:t>: unexpected response </a:t>
            </a:r>
            <a:r>
              <a:rPr lang="en-US" sz="1600" dirty="0" err="1"/>
              <a:t>ResponseOverload</a:t>
            </a:r>
            <a:endParaRPr lang="en-US" sz="1600" dirty="0"/>
          </a:p>
          <a:p>
            <a:pPr lvl="1">
              <a:tabLst>
                <a:tab pos="1885950" algn="l"/>
              </a:tabLst>
            </a:pPr>
            <a:r>
              <a:rPr lang="en-US" sz="1600" dirty="0"/>
              <a:t>[VECTO-1266] - Gear 4 Loss-Map was extrapolated</a:t>
            </a:r>
          </a:p>
        </p:txBody>
      </p:sp>
    </p:spTree>
    <p:extLst>
      <p:ext uri="{BB962C8B-B14F-4D97-AF65-F5344CB8AC3E}">
        <p14:creationId xmlns:p14="http://schemas.microsoft.com/office/powerpoint/2010/main" val="31912200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3.3.7.1964 Official Release</a:t>
            </a:r>
            <a:br>
              <a:rPr lang="en-US" dirty="0"/>
            </a:br>
            <a:r>
              <a:rPr lang="en-US" sz="1600" dirty="0"/>
              <a:t>2020-05-18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a:t>[VECTO-1259] - Mission profile weighting factors for vehicles of group 16 are not correct</a:t>
            </a:r>
          </a:p>
        </p:txBody>
      </p:sp>
    </p:spTree>
    <p:extLst>
      <p:ext uri="{BB962C8B-B14F-4D97-AF65-F5344CB8AC3E}">
        <p14:creationId xmlns:p14="http://schemas.microsoft.com/office/powerpoint/2010/main" val="7618023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3.3.6.1916 Official Release</a:t>
            </a:r>
            <a:br>
              <a:rPr lang="en-US" dirty="0"/>
            </a:br>
            <a:r>
              <a:rPr lang="en-US" sz="1600" dirty="0"/>
              <a:t>2020-03-31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[VECTO-1250] - Error creating new gearbox file from scratch</a:t>
            </a:r>
          </a:p>
        </p:txBody>
      </p:sp>
    </p:spTree>
    <p:extLst>
      <p:ext uri="{BB962C8B-B14F-4D97-AF65-F5344CB8AC3E}">
        <p14:creationId xmlns:p14="http://schemas.microsoft.com/office/powerpoint/2010/main" val="42270883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3.3.6.1898 Release Candidate</a:t>
            </a:r>
            <a:br>
              <a:rPr lang="en-US" dirty="0"/>
            </a:br>
            <a:r>
              <a:rPr lang="en-US" sz="1600" dirty="0"/>
              <a:t>2020-03-13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[VECTO-1239] - Adaptation of Mission Profile Weighting Factors</a:t>
            </a:r>
          </a:p>
          <a:p>
            <a:pPr lvl="1">
              <a:tabLst>
                <a:tab pos="1885950" algn="l"/>
              </a:tabLst>
            </a:pP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a:t>Bugfixes</a:t>
            </a:r>
            <a:endParaRPr lang="en-US" sz="1800" b="1" dirty="0"/>
          </a:p>
          <a:p>
            <a:pPr lvl="1">
              <a:tabLst>
                <a:tab pos="1885950" algn="l"/>
              </a:tabLst>
            </a:pPr>
            <a:r>
              <a:rPr lang="en-US" sz="1600" dirty="0"/>
              <a:t>[VECTO-1243] - Bug in VTP mode for heavy lorries</a:t>
            </a:r>
          </a:p>
          <a:p>
            <a:pPr lvl="1">
              <a:tabLst>
                <a:tab pos="1885950" algn="l"/>
              </a:tabLst>
            </a:pP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3.3.5.1812 Official Release</a:t>
            </a:r>
            <a:br>
              <a:rPr lang="en-US" dirty="0"/>
            </a:br>
            <a:r>
              <a:rPr lang="en-US" sz="1600" dirty="0"/>
              <a:t>2019-12-18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3.3.5.1783-RC)</a:t>
            </a:r>
            <a:endParaRPr lang="en-US" sz="1800" b="1" dirty="0"/>
          </a:p>
          <a:p>
            <a:pPr lvl="1">
              <a:tabLst>
                <a:tab pos="1885950" algn="l"/>
              </a:tabLst>
            </a:pP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3.3.5.1783 Release Candidate</a:t>
            </a:r>
            <a:br>
              <a:rPr lang="en-US" dirty="0"/>
            </a:br>
            <a:r>
              <a:rPr lang="en-US" sz="1600" dirty="0"/>
              <a:t>2019-11-19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[VECTO-1194] - Handling input parameter 'vocational' for groups other than 4, 5, 9, 10</a:t>
            </a:r>
          </a:p>
          <a:p>
            <a:pPr lvl="1">
              <a:tabLst>
                <a:tab pos="1885950" algn="l"/>
              </a:tabLst>
            </a:pPr>
            <a:r>
              <a:rPr lang="en-US" sz="1600" dirty="0"/>
              <a:t>[VECTO-1147] - Updating declaration mode cycles values in user manual </a:t>
            </a:r>
          </a:p>
          <a:p>
            <a:pPr lvl="1">
              <a:tabLst>
                <a:tab pos="1885950" algn="l"/>
              </a:tabLst>
            </a:pPr>
            <a:r>
              <a:rPr lang="en-US" sz="1600" dirty="0"/>
              <a:t>[VECTO-1207] - run VECTO in 64bit mode by default</a:t>
            </a:r>
          </a:p>
          <a:p>
            <a:pPr>
              <a:tabLst>
                <a:tab pos="1885950" algn="l"/>
              </a:tabLst>
            </a:pPr>
            <a:endParaRPr lang="en-US" sz="1800" dirty="0"/>
          </a:p>
          <a:p>
            <a:pPr>
              <a:tabLst>
                <a:tab pos="1885950" algn="l"/>
              </a:tabLst>
            </a:pPr>
            <a:r>
              <a:rPr lang="en-US" sz="1800" b="1" dirty="0" err="1"/>
              <a:t>Bugfixes</a:t>
            </a:r>
            <a:endParaRPr lang="en-US" sz="1800" b="1" dirty="0"/>
          </a:p>
          <a:p>
            <a:pPr lvl="1">
              <a:tabLst>
                <a:tab pos="1885950" algn="l"/>
              </a:tabLst>
            </a:pPr>
            <a:r>
              <a:rPr lang="en-US" sz="1600" dirty="0"/>
              <a:t>[VECTO-1074] - </a:t>
            </a:r>
            <a:r>
              <a:rPr lang="en-US" sz="1600" dirty="0" err="1"/>
              <a:t>Vecto</a:t>
            </a:r>
            <a:r>
              <a:rPr lang="en-US" sz="1600" dirty="0"/>
              <a:t> Calculation Aborts with Interpolation Error</a:t>
            </a:r>
          </a:p>
          <a:p>
            <a:pPr lvl="1">
              <a:tabLst>
                <a:tab pos="1885950" algn="l"/>
              </a:tabLst>
            </a:pP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a:t>[VECTO-1189] - Error in </a:t>
            </a:r>
            <a:r>
              <a:rPr lang="en-US" sz="1600" dirty="0" err="1"/>
              <a:t>delaunay</a:t>
            </a:r>
            <a:r>
              <a:rPr lang="en-US" sz="1600" dirty="0"/>
              <a:t> triangulation invariant violated</a:t>
            </a:r>
          </a:p>
          <a:p>
            <a:pPr lvl="1">
              <a:tabLst>
                <a:tab pos="1885950" algn="l"/>
              </a:tabLst>
            </a:pPr>
            <a:r>
              <a:rPr lang="en-US" sz="1600" dirty="0"/>
              <a:t>[VECTO-1209] - Unexpected Response </a:t>
            </a:r>
            <a:r>
              <a:rPr lang="en-US" sz="1600" dirty="0" err="1"/>
              <a:t>Response</a:t>
            </a:r>
            <a:r>
              <a:rPr lang="en-US" sz="1600" dirty="0"/>
              <a:t> Overload</a:t>
            </a:r>
          </a:p>
          <a:p>
            <a:pPr lvl="1">
              <a:tabLst>
                <a:tab pos="1885950" algn="l"/>
              </a:tabLst>
            </a:pPr>
            <a:r>
              <a:rPr lang="en-US" sz="1600" dirty="0"/>
              <a:t>[VECTO-1211] - Simulation Abort Urban Delivery Ref Load</a:t>
            </a:r>
          </a:p>
          <a:p>
            <a:pPr lvl="1">
              <a:tabLst>
                <a:tab pos="1885950" algn="l"/>
              </a:tabLst>
            </a:pPr>
            <a:r>
              <a:rPr lang="en-US" sz="1600" dirty="0"/>
              <a:t>[VECTO-1214] - Validation of input data fails when gearbox speed limits are applied</a:t>
            </a:r>
          </a:p>
        </p:txBody>
      </p:sp>
    </p:spTree>
    <p:extLst>
      <p:ext uri="{BB962C8B-B14F-4D97-AF65-F5344CB8AC3E}">
        <p14:creationId xmlns:p14="http://schemas.microsoft.com/office/powerpoint/2010/main" val="11411785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3.3.4.1716 Official Release</a:t>
            </a:r>
            <a:br>
              <a:rPr lang="en-US" dirty="0"/>
            </a:br>
            <a:r>
              <a:rPr lang="en-US" sz="1600" dirty="0"/>
              <a:t>2019-09-13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3.3.4.1686-RC)</a:t>
            </a:r>
          </a:p>
          <a:p>
            <a:pPr lvl="1">
              <a:tabLst>
                <a:tab pos="1885950" algn="l"/>
              </a:tabLst>
            </a:pP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a:t>[VECTO-1111] - Simulation Abort in Municipal Reference Load</a:t>
            </a:r>
            <a:endParaRPr lang="en-US" sz="1400" dirty="0"/>
          </a:p>
        </p:txBody>
      </p:sp>
    </p:spTree>
    <p:extLst>
      <p:ext uri="{BB962C8B-B14F-4D97-AF65-F5344CB8AC3E}">
        <p14:creationId xmlns:p14="http://schemas.microsoft.com/office/powerpoint/2010/main" val="16403716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3.3.4.1686 Release Candidate</a:t>
            </a:r>
            <a:br>
              <a:rPr lang="en-US" dirty="0"/>
            </a:br>
            <a:r>
              <a:rPr lang="en-US" sz="1600" dirty="0"/>
              <a:t>2019-08-14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[VECTO-1042] - Add option to write results into a certain directory</a:t>
            </a:r>
          </a:p>
          <a:p>
            <a:pPr lvl="1">
              <a:tabLst>
                <a:tab pos="1885950" algn="l"/>
              </a:tabLst>
            </a:pP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[VECTO-1030] - Exceeded max iterations when searching for operating point! Failed to find operating point!</a:t>
            </a:r>
          </a:p>
          <a:p>
            <a:pPr lvl="1">
              <a:tabLst>
                <a:tab pos="1885950" algn="l"/>
              </a:tabLst>
            </a:pP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a:t>[VECTO-1067] - </a:t>
            </a:r>
            <a:r>
              <a:rPr lang="en-US" sz="1600" dirty="0" err="1"/>
              <a:t>Vair</a:t>
            </a:r>
            <a:r>
              <a:rPr lang="en-US" sz="1600" dirty="0"/>
              <a:t> and Beta correction for Aerodynamics</a:t>
            </a:r>
          </a:p>
          <a:p>
            <a:pPr lvl="1">
              <a:tabLst>
                <a:tab pos="1885950" algn="l"/>
              </a:tabLst>
            </a:pPr>
            <a:r>
              <a:rPr lang="en-US" sz="1600" dirty="0"/>
              <a:t>[VECTO-1000] - Error Loss-Map extrapolation in Declaration Mode</a:t>
            </a:r>
          </a:p>
          <a:p>
            <a:pPr lvl="1">
              <a:tabLst>
                <a:tab pos="1885950" algn="l"/>
              </a:tabLst>
            </a:pP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a:t>[VECTO-1047] - Failed to find operating point on construction cycle, ref load, AT gearbox</a:t>
            </a:r>
          </a:p>
          <a:p>
            <a:pPr lvl="1">
              <a:tabLst>
                <a:tab pos="1885950" algn="l"/>
              </a:tabLst>
            </a:pPr>
            <a:endParaRPr lang="en-US" sz="1400" dirty="0"/>
          </a:p>
        </p:txBody>
      </p:sp>
    </p:spTree>
    <p:extLst>
      <p:ext uri="{BB962C8B-B14F-4D97-AF65-F5344CB8AC3E}">
        <p14:creationId xmlns:p14="http://schemas.microsoft.com/office/powerpoint/2010/main" val="32500328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37523289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8962</Words>
  <Application>Microsoft Office PowerPoint</Application>
  <PresentationFormat>Bildschirmpräsentation (4:3)</PresentationFormat>
  <Paragraphs>898</Paragraphs>
  <Slides>75</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75</vt:i4>
      </vt:variant>
    </vt:vector>
  </HeadingPairs>
  <TitlesOfParts>
    <vt:vector size="81" baseType="lpstr">
      <vt:lpstr>Arial</vt:lpstr>
      <vt:lpstr>Calibri</vt:lpstr>
      <vt:lpstr>Courier New</vt:lpstr>
      <vt:lpstr>Times New Roman</vt:lpstr>
      <vt:lpstr>Verdana</vt:lpstr>
      <vt:lpstr>Standarddesign</vt:lpstr>
      <vt:lpstr>PowerPoint-Präsentation</vt:lpstr>
      <vt:lpstr>Vecto 3.3.13.2891 Release Candidate 2022-12-01</vt:lpstr>
      <vt:lpstr>Vecto 3.3.12.2800 Official Release 2022-09-01</vt:lpstr>
      <vt:lpstr>Vecto 3.3.12.2769 Release Candidate 2022-08-01</vt:lpstr>
      <vt:lpstr>Vecto 3.3.11.2675 Official Release 2022-04-29</vt:lpstr>
      <vt:lpstr>Vecto 3.3.11.2645 Release Candidate 2022-03-30</vt:lpstr>
      <vt:lpstr>Vecto 3.3.11.2645 Release Candidate 2022-03-30</vt:lpstr>
      <vt:lpstr>Vecto 3.3.11.2526 Development Version 2020-12-01</vt:lpstr>
      <vt:lpstr>Vecto 3.3.11. 2526 Development Version 2020-12-01</vt:lpstr>
      <vt:lpstr>Vecto 3.3.11. 2526 Development Version 2020-12-01</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1272</cp:revision>
  <cp:lastPrinted>2013-01-22T12:03:30Z</cp:lastPrinted>
  <dcterms:created xsi:type="dcterms:W3CDTF">2010-01-07T15:28:02Z</dcterms:created>
  <dcterms:modified xsi:type="dcterms:W3CDTF">2022-12-01T09:04:06Z</dcterms:modified>
</cp:coreProperties>
</file>