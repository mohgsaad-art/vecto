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handoutMasterIdLst>
    <p:handoutMasterId r:id="rId80"/>
  </p:handoutMasterIdLst>
  <p:sldIdLst>
    <p:sldId id="575" r:id="rId2"/>
    <p:sldId id="705" r:id="rId3"/>
    <p:sldId id="717" r:id="rId4"/>
    <p:sldId id="716" r:id="rId5"/>
    <p:sldId id="715" r:id="rId6"/>
    <p:sldId id="714" r:id="rId7"/>
    <p:sldId id="713" r:id="rId8"/>
    <p:sldId id="712" r:id="rId9"/>
    <p:sldId id="711" r:id="rId10"/>
    <p:sldId id="710" r:id="rId11"/>
    <p:sldId id="708" r:id="rId12"/>
    <p:sldId id="709" r:id="rId13"/>
    <p:sldId id="707" r:id="rId14"/>
    <p:sldId id="706" r:id="rId15"/>
    <p:sldId id="703" r:id="rId16"/>
    <p:sldId id="704" r:id="rId17"/>
    <p:sldId id="681" r:id="rId18"/>
    <p:sldId id="702" r:id="rId19"/>
    <p:sldId id="701" r:id="rId20"/>
    <p:sldId id="700" r:id="rId21"/>
    <p:sldId id="699" r:id="rId22"/>
    <p:sldId id="698" r:id="rId23"/>
    <p:sldId id="697" r:id="rId24"/>
    <p:sldId id="696" r:id="rId25"/>
    <p:sldId id="695" r:id="rId26"/>
    <p:sldId id="694" r:id="rId27"/>
    <p:sldId id="693" r:id="rId28"/>
    <p:sldId id="692" r:id="rId29"/>
    <p:sldId id="691" r:id="rId30"/>
    <p:sldId id="690" r:id="rId31"/>
    <p:sldId id="688" r:id="rId32"/>
    <p:sldId id="689" r:id="rId33"/>
    <p:sldId id="687" r:id="rId34"/>
    <p:sldId id="686" r:id="rId35"/>
    <p:sldId id="683" r:id="rId36"/>
    <p:sldId id="684" r:id="rId37"/>
    <p:sldId id="677" r:id="rId38"/>
    <p:sldId id="685" r:id="rId39"/>
    <p:sldId id="682" r:id="rId40"/>
    <p:sldId id="680" r:id="rId41"/>
    <p:sldId id="679" r:id="rId42"/>
    <p:sldId id="678" r:id="rId43"/>
    <p:sldId id="671" r:id="rId44"/>
    <p:sldId id="676" r:id="rId45"/>
    <p:sldId id="675" r:id="rId46"/>
    <p:sldId id="674" r:id="rId47"/>
    <p:sldId id="673" r:id="rId48"/>
    <p:sldId id="672" r:id="rId49"/>
    <p:sldId id="669" r:id="rId50"/>
    <p:sldId id="670" r:id="rId51"/>
    <p:sldId id="664" r:id="rId52"/>
    <p:sldId id="666" r:id="rId53"/>
    <p:sldId id="667" r:id="rId54"/>
    <p:sldId id="668" r:id="rId55"/>
    <p:sldId id="665" r:id="rId56"/>
    <p:sldId id="663" r:id="rId57"/>
    <p:sldId id="661" r:id="rId58"/>
    <p:sldId id="662" r:id="rId59"/>
    <p:sldId id="657" r:id="rId60"/>
    <p:sldId id="659" r:id="rId61"/>
    <p:sldId id="660" r:id="rId62"/>
    <p:sldId id="656" r:id="rId63"/>
    <p:sldId id="655" r:id="rId64"/>
    <p:sldId id="654" r:id="rId65"/>
    <p:sldId id="653" r:id="rId66"/>
    <p:sldId id="651" r:id="rId67"/>
    <p:sldId id="648" r:id="rId68"/>
    <p:sldId id="649" r:id="rId69"/>
    <p:sldId id="650" r:id="rId70"/>
    <p:sldId id="645" r:id="rId71"/>
    <p:sldId id="647" r:id="rId72"/>
    <p:sldId id="646" r:id="rId73"/>
    <p:sldId id="640" r:id="rId74"/>
    <p:sldId id="641" r:id="rId75"/>
    <p:sldId id="642" r:id="rId76"/>
    <p:sldId id="643" r:id="rId77"/>
    <p:sldId id="644" r:id="rId78"/>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1" d="100"/>
          <a:sy n="151" d="100"/>
        </p:scale>
        <p:origin x="2010" y="13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handoutMaster" Target="handoutMasters/handoutMaster1.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01.03.2023</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3.3.14.2981 Release Candidate</a:t>
            </a:r>
            <a:br>
              <a:rPr lang="en-US" dirty="0"/>
            </a:br>
            <a:r>
              <a:rPr lang="en-US" sz="1600" dirty="0"/>
              <a:t>2023-03-01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a:t>
            </a:r>
          </a:p>
          <a:p>
            <a:pPr lvl="1">
              <a:tabLst>
                <a:tab pos="1885950" algn="l"/>
              </a:tabLst>
            </a:pPr>
            <a:r>
              <a:rPr lang="en-US" sz="1400" dirty="0"/>
              <a:t>[VECTO-1698] - Set CO2StandardsGroup in CIF/MRF for vocational vehicles to 'N/A'</a:t>
            </a:r>
          </a:p>
          <a:p>
            <a:pPr lvl="1">
              <a:tabLst>
                <a:tab pos="1885950" algn="l"/>
              </a:tabLst>
            </a:pPr>
            <a:r>
              <a:rPr lang="en-US" sz="1400" dirty="0"/>
              <a:t>[VECTO-1701] - Report VTP CO2 unit</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3.3.13.2924 Official Release</a:t>
            </a:r>
            <a:br>
              <a:rPr lang="en-US" dirty="0"/>
            </a:br>
            <a:r>
              <a:rPr lang="en-US" sz="1600" dirty="0"/>
              <a:t>2023-01-03</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3.3.13.2891)</a:t>
            </a:r>
          </a:p>
          <a:p>
            <a:pPr lvl="1">
              <a:tabLst>
                <a:tab pos="1885950" algn="l"/>
              </a:tabLst>
            </a:pPr>
            <a:r>
              <a:rPr lang="en-US" sz="1600"/>
              <a:t>[</a:t>
            </a:r>
            <a:r>
              <a:rPr lang="en-US" sz="1600" dirty="0"/>
              <a:t>VECTO-1692] - Unexpected Response: Response Overload. UD </a:t>
            </a:r>
            <a:r>
              <a:rPr lang="en-US" sz="1600" dirty="0" err="1"/>
              <a:t>RefLoad</a:t>
            </a:r>
            <a:endParaRPr lang="en-US" sz="1600" dirty="0"/>
          </a:p>
        </p:txBody>
      </p:sp>
    </p:spTree>
    <p:extLst>
      <p:ext uri="{BB962C8B-B14F-4D97-AF65-F5344CB8AC3E}">
        <p14:creationId xmlns:p14="http://schemas.microsoft.com/office/powerpoint/2010/main" val="20369434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3.3.13.2891 Release Candidate</a:t>
            </a:r>
            <a:br>
              <a:rPr lang="en-US" dirty="0"/>
            </a:br>
            <a:r>
              <a:rPr lang="en-US" sz="1600" dirty="0"/>
              <a:t>2022-12-01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Improvements</a:t>
            </a:r>
          </a:p>
          <a:p>
            <a:pPr lvl="1">
              <a:tabLst>
                <a:tab pos="1885950" algn="l"/>
              </a:tabLst>
            </a:pPr>
            <a:r>
              <a:rPr lang="en-US" sz="1600" dirty="0"/>
              <a:t>[VECTO-1554] - VTP Mode according to 2nd amendment</a:t>
            </a:r>
          </a:p>
          <a:p>
            <a:pPr lvl="1">
              <a:tabLst>
                <a:tab pos="1885950" algn="l"/>
              </a:tabLst>
            </a:pPr>
            <a:r>
              <a:rPr lang="en-US" sz="1600" dirty="0"/>
              <a:t>[VECTO-1652] - Additional </a:t>
            </a:r>
            <a:r>
              <a:rPr lang="en-US" sz="1600" dirty="0" err="1"/>
              <a:t>Tyre</a:t>
            </a:r>
            <a:r>
              <a:rPr lang="en-US" sz="1600" dirty="0"/>
              <a:t> Dimension</a:t>
            </a:r>
          </a:p>
          <a:p>
            <a:pPr lvl="1">
              <a:tabLst>
                <a:tab pos="1885950" algn="l"/>
              </a:tabLst>
            </a:pPr>
            <a:r>
              <a:rPr lang="en-US" sz="1600" dirty="0"/>
              <a:t>[VECTO-1647] - Update user manual</a:t>
            </a:r>
          </a:p>
          <a:p>
            <a:pPr>
              <a:tabLst>
                <a:tab pos="1885950" algn="l"/>
              </a:tabLst>
            </a:pPr>
            <a:r>
              <a:rPr lang="en-US" sz="1800" b="1" dirty="0"/>
              <a:t>Bugfixes (compared to VECTO 3.3.12.2769)</a:t>
            </a:r>
          </a:p>
          <a:p>
            <a:pPr lvl="1">
              <a:tabLst>
                <a:tab pos="1885950" algn="l"/>
              </a:tabLst>
            </a:pPr>
            <a:r>
              <a:rPr lang="en-US" sz="1600" dirty="0"/>
              <a:t>[VECTO-1655] - Not possible to set Tank System to Liquefied (changes it back to compressed) in .</a:t>
            </a:r>
            <a:r>
              <a:rPr lang="en-US" sz="1600" dirty="0" err="1"/>
              <a:t>vveh</a:t>
            </a:r>
            <a:r>
              <a:rPr lang="en-US" sz="1600" dirty="0"/>
              <a:t> file</a:t>
            </a:r>
          </a:p>
          <a:p>
            <a:pPr lvl="1">
              <a:tabLst>
                <a:tab pos="1885950" algn="l"/>
              </a:tabLst>
            </a:pPr>
            <a:r>
              <a:rPr lang="en-US" sz="1600" dirty="0"/>
              <a:t>[VECTO-1656] - Simulation run aborted - TC &amp; ESS</a:t>
            </a:r>
          </a:p>
          <a:p>
            <a:pPr lvl="1">
              <a:tabLst>
                <a:tab pos="1885950" algn="l"/>
              </a:tabLst>
            </a:pPr>
            <a:r>
              <a:rPr lang="en-US" sz="1600" dirty="0"/>
              <a:t>[VECTO-1661] - Gear disabling not functioning in 3.3.12.2800.</a:t>
            </a:r>
          </a:p>
          <a:p>
            <a:pPr lvl="1">
              <a:tabLst>
                <a:tab pos="1885950" algn="l"/>
              </a:tabLst>
            </a:pPr>
            <a:r>
              <a:rPr lang="en-US" sz="1600" dirty="0"/>
              <a:t>[VECTO-1643] - Error: Gear 6L </a:t>
            </a:r>
            <a:r>
              <a:rPr lang="en-US" sz="1600" dirty="0" err="1"/>
              <a:t>LossMap</a:t>
            </a:r>
            <a:r>
              <a:rPr lang="en-US" sz="1600" dirty="0"/>
              <a:t> data was extrapolated in Declaration Mode</a:t>
            </a:r>
          </a:p>
        </p:txBody>
      </p:sp>
    </p:spTree>
    <p:extLst>
      <p:ext uri="{BB962C8B-B14F-4D97-AF65-F5344CB8AC3E}">
        <p14:creationId xmlns:p14="http://schemas.microsoft.com/office/powerpoint/2010/main" val="39144524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3.3.12.2800 Official Release</a:t>
            </a:r>
            <a:br>
              <a:rPr lang="en-US" dirty="0"/>
            </a:br>
            <a:r>
              <a:rPr lang="en-US" sz="1600" dirty="0"/>
              <a:t>2022-09-01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3.3.12.2769)</a:t>
            </a:r>
          </a:p>
          <a:p>
            <a:pPr lvl="1">
              <a:tabLst>
                <a:tab pos="1885950" algn="l"/>
              </a:tabLst>
            </a:pPr>
            <a:r>
              <a:rPr lang="en-US" sz="1600" dirty="0"/>
              <a:t>[VECTO-1635] - Reading / Writing the ADAS Parameter </a:t>
            </a:r>
            <a:r>
              <a:rPr lang="en-US" sz="1600" dirty="0" err="1"/>
              <a:t>ATEcoRollReleaseLockupClutch</a:t>
            </a:r>
            <a:r>
              <a:rPr lang="en-US" sz="1600" dirty="0"/>
              <a:t> does not work</a:t>
            </a:r>
          </a:p>
        </p:txBody>
      </p:sp>
    </p:spTree>
    <p:extLst>
      <p:ext uri="{BB962C8B-B14F-4D97-AF65-F5344CB8AC3E}">
        <p14:creationId xmlns:p14="http://schemas.microsoft.com/office/powerpoint/2010/main" val="25659499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3.3.12.2769 Release Candidate</a:t>
            </a:r>
            <a:br>
              <a:rPr lang="en-US" dirty="0"/>
            </a:br>
            <a:r>
              <a:rPr lang="en-US" sz="1600" dirty="0"/>
              <a:t>2022-08-01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a:t>
            </a:r>
          </a:p>
          <a:p>
            <a:pPr lvl="1">
              <a:tabLst>
                <a:tab pos="1885950" algn="l"/>
              </a:tabLst>
            </a:pPr>
            <a:r>
              <a:rPr lang="en-US" sz="1600" dirty="0"/>
              <a:t>[VECTO-1584] - Hashing library uses constructor that is deprecated in newer </a:t>
            </a:r>
            <a:r>
              <a:rPr lang="en-US" sz="1600" dirty="0" err="1"/>
              <a:t>.net</a:t>
            </a:r>
            <a:r>
              <a:rPr lang="en-US" sz="1600" dirty="0"/>
              <a:t> versions</a:t>
            </a:r>
          </a:p>
          <a:p>
            <a:pPr lvl="1">
              <a:tabLst>
                <a:tab pos="1885950" algn="l"/>
              </a:tabLst>
            </a:pPr>
            <a:r>
              <a:rPr lang="en-US" sz="1600" dirty="0"/>
              <a:t>[VECTO-1619] - Adaptations of XML Results in transition period</a:t>
            </a:r>
          </a:p>
          <a:p>
            <a:pPr lvl="1">
              <a:tabLst>
                <a:tab pos="1885950" algn="l"/>
              </a:tabLst>
            </a:pPr>
            <a:r>
              <a:rPr lang="en-US" sz="1600" dirty="0"/>
              <a:t>[VECTO-1619] - Reading Engine and </a:t>
            </a:r>
            <a:r>
              <a:rPr lang="en-US" sz="1600" dirty="0" err="1"/>
              <a:t>Tyre</a:t>
            </a:r>
            <a:r>
              <a:rPr lang="en-US" sz="1600" dirty="0"/>
              <a:t> component according to 2nd amendment (schema version 2.3)</a:t>
            </a:r>
          </a:p>
          <a:p>
            <a:pPr lvl="1">
              <a:tabLst>
                <a:tab pos="1885950" algn="l"/>
              </a:tabLst>
            </a:pPr>
            <a:r>
              <a:rPr lang="en-US" sz="1600" dirty="0"/>
              <a:t>[VECTO-1461] - Alignment of Steering Pump Technology and Steered Axles not checked by VECTO</a:t>
            </a:r>
          </a:p>
          <a:p>
            <a:pPr lvl="1">
              <a:tabLst>
                <a:tab pos="1885950" algn="l"/>
              </a:tabLst>
            </a:pPr>
            <a:r>
              <a:rPr lang="en-US" sz="1600" dirty="0"/>
              <a:t>[VECTO-1571] - Help file: Vehicle defined Torque Limitations</a:t>
            </a:r>
          </a:p>
          <a:p>
            <a:pPr lvl="1">
              <a:tabLst>
                <a:tab pos="1885950" algn="l"/>
              </a:tabLst>
            </a:pPr>
            <a:r>
              <a:rPr lang="en-US" sz="1600" dirty="0"/>
              <a:t>[VECTO-1585] - Validate component hashes in declaration mode (disabled by default)</a:t>
            </a:r>
          </a:p>
          <a:p>
            <a:pPr lvl="1">
              <a:tabLst>
                <a:tab pos="1885950" algn="l"/>
              </a:tabLst>
            </a:pPr>
            <a:r>
              <a:rPr lang="en-US" sz="1600" dirty="0"/>
              <a:t>[VECTO-1587] - update build script to include files required for xml parameter documentation</a:t>
            </a:r>
          </a:p>
          <a:p>
            <a:pPr lvl="1">
              <a:tabLst>
                <a:tab pos="1885950" algn="l"/>
              </a:tabLst>
            </a:pPr>
            <a:r>
              <a:rPr lang="en-US" sz="1600" dirty="0"/>
              <a:t>[VECTO-1598] - Execution time in latest official release</a:t>
            </a:r>
          </a:p>
          <a:p>
            <a:pPr lvl="1">
              <a:tabLst>
                <a:tab pos="1885950" algn="l"/>
              </a:tabLst>
            </a:pPr>
            <a:r>
              <a:rPr lang="en-US" sz="1600" dirty="0"/>
              <a:t>[VECTO-1608] - Adaptation of Reports (MRF/CIF) for transition in official VECTO Release</a:t>
            </a:r>
          </a:p>
          <a:p>
            <a:pPr>
              <a:tabLst>
                <a:tab pos="1885950" algn="l"/>
              </a:tabLst>
            </a:pPr>
            <a:r>
              <a:rPr lang="en-US" sz="1800" b="1" dirty="0"/>
              <a:t>Bugfixes</a:t>
            </a:r>
          </a:p>
          <a:p>
            <a:pPr lvl="1">
              <a:tabLst>
                <a:tab pos="1885950" algn="l"/>
              </a:tabLst>
            </a:pPr>
            <a:r>
              <a:rPr lang="en-US" sz="1600" dirty="0"/>
              <a:t>[VECTO-1622] - Unexpected response: Response Underload in LH </a:t>
            </a:r>
            <a:r>
              <a:rPr lang="en-US" sz="1600" dirty="0" err="1"/>
              <a:t>LowLoad</a:t>
            </a:r>
            <a:endParaRPr lang="en-US" sz="1600" dirty="0"/>
          </a:p>
          <a:p>
            <a:pPr lvl="1">
              <a:tabLst>
                <a:tab pos="1885950" algn="l"/>
              </a:tabLst>
            </a:pPr>
            <a:r>
              <a:rPr lang="en-US" sz="1600" dirty="0"/>
              <a:t>[VECTO-1623] - Unexpected response: Response Underload in LH EMS </a:t>
            </a:r>
            <a:r>
              <a:rPr lang="en-US" sz="1600" dirty="0" err="1"/>
              <a:t>RefLoad</a:t>
            </a:r>
            <a:endParaRPr lang="en-US" sz="1600" dirty="0"/>
          </a:p>
        </p:txBody>
      </p:sp>
    </p:spTree>
    <p:extLst>
      <p:ext uri="{BB962C8B-B14F-4D97-AF65-F5344CB8AC3E}">
        <p14:creationId xmlns:p14="http://schemas.microsoft.com/office/powerpoint/2010/main" val="23411664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3.3.11.2675 Official Release</a:t>
            </a:r>
            <a:br>
              <a:rPr lang="en-US" dirty="0"/>
            </a:br>
            <a:r>
              <a:rPr lang="en-US" sz="1600" dirty="0"/>
              <a:t>2022-04-29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VECTO 3.3.11.2645)</a:t>
            </a:r>
          </a:p>
          <a:p>
            <a:pPr lvl="1">
              <a:tabLst>
                <a:tab pos="1885950" algn="l"/>
              </a:tabLst>
            </a:pPr>
            <a:r>
              <a:rPr lang="en-US" sz="1600" dirty="0"/>
              <a:t>[VECTO-1557] - Simulation abort Generic Vehicle </a:t>
            </a:r>
            <a:r>
              <a:rPr lang="en-US" sz="1600" dirty="0" err="1"/>
              <a:t>CityBus</a:t>
            </a:r>
            <a:r>
              <a:rPr lang="en-US" sz="1600" dirty="0"/>
              <a:t> APT-S UD</a:t>
            </a:r>
          </a:p>
          <a:p>
            <a:pPr lvl="1">
              <a:tabLst>
                <a:tab pos="1885950" algn="l"/>
              </a:tabLst>
            </a:pPr>
            <a:r>
              <a:rPr lang="en-US" sz="1600" dirty="0"/>
              <a:t>[VECTO-1561] - Simulation abort with AT transmission</a:t>
            </a:r>
          </a:p>
          <a:p>
            <a:pPr lvl="1">
              <a:tabLst>
                <a:tab pos="1885950" algn="l"/>
              </a:tabLst>
            </a:pPr>
            <a:r>
              <a:rPr lang="en-US" sz="1600" dirty="0"/>
              <a:t>[VECTO-1567] - Different CO2 results with VECTO-3.3.11.2645 release candidate</a:t>
            </a:r>
          </a:p>
          <a:p>
            <a:pPr lvl="1">
              <a:tabLst>
                <a:tab pos="1885950" algn="l"/>
              </a:tabLst>
            </a:pPr>
            <a:r>
              <a:rPr lang="en-US" sz="1600" dirty="0"/>
              <a:t>[VECTO-1562] - Adapting WHTC Correction Factor weighting for LH Cycle</a:t>
            </a:r>
          </a:p>
          <a:p>
            <a:pPr lvl="1">
              <a:tabLst>
                <a:tab pos="1885950" algn="l"/>
              </a:tabLst>
            </a:pPr>
            <a:r>
              <a:rPr lang="en-US" sz="1600" dirty="0"/>
              <a:t>[VECTO-1560] - update toolchain for generating user manual</a:t>
            </a:r>
          </a:p>
          <a:p>
            <a:pPr lvl="1">
              <a:tabLst>
                <a:tab pos="1885950" algn="l"/>
              </a:tabLst>
            </a:pPr>
            <a:endParaRPr lang="en-US" sz="1600" dirty="0"/>
          </a:p>
          <a:p>
            <a:pPr lvl="1">
              <a:tabLst>
                <a:tab pos="1885950" algn="l"/>
              </a:tabLst>
            </a:pPr>
            <a:r>
              <a:rPr lang="en-US" sz="1600" dirty="0"/>
              <a:t>Added new VECTO parameter documentation</a:t>
            </a:r>
          </a:p>
        </p:txBody>
      </p:sp>
    </p:spTree>
    <p:extLst>
      <p:ext uri="{BB962C8B-B14F-4D97-AF65-F5344CB8AC3E}">
        <p14:creationId xmlns:p14="http://schemas.microsoft.com/office/powerpoint/2010/main" val="20312520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[VECTO-1474] - 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[VECTO-1547] 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r>
              <a:rPr lang="en-US" sz="1600" dirty="0"/>
              <a:t>[VECTO-1473], [VECTO-1521] - Additional </a:t>
            </a:r>
            <a:r>
              <a:rPr lang="en-US" sz="1600" dirty="0" err="1"/>
              <a:t>tyre</a:t>
            </a:r>
            <a:r>
              <a:rPr lang="en-US" sz="1600" dirty="0"/>
              <a:t> dimensions</a:t>
            </a:r>
          </a:p>
          <a:p>
            <a:pPr lvl="1">
              <a:tabLst>
                <a:tab pos="1885950" algn="l"/>
              </a:tabLst>
            </a:pPr>
            <a:r>
              <a:rPr lang="en-US" sz="1600" dirty="0"/>
              <a:t>[VECTO-1536] - Component XML 2nd Amendment (schema version 2.3)</a:t>
            </a:r>
          </a:p>
          <a:p>
            <a:pPr lvl="1">
              <a:tabLst>
                <a:tab pos="1885950" algn="l"/>
              </a:tabLst>
            </a:pPr>
            <a:r>
              <a:rPr lang="en-US" sz="1600" dirty="0"/>
              <a:t>[VECTO-1536] - verify generated xml by default when using command-line hashing tool</a:t>
            </a:r>
          </a:p>
        </p:txBody>
      </p:sp>
    </p:spTree>
    <p:extLst>
      <p:ext uri="{BB962C8B-B14F-4D97-AF65-F5344CB8AC3E}">
        <p14:creationId xmlns:p14="http://schemas.microsoft.com/office/powerpoint/2010/main" val="24111113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a:t>
            </a:r>
          </a:p>
          <a:p>
            <a:pPr lvl="1">
              <a:tabLst>
                <a:tab pos="1885950" algn="l"/>
              </a:tabLst>
            </a:pPr>
            <a:r>
              <a:rPr lang="en-US" sz="1600" dirty="0"/>
              <a:t>[VECTO-1525] - PCC Preprocessing</a:t>
            </a:r>
          </a:p>
          <a:p>
            <a:pPr lvl="1">
              <a:tabLst>
                <a:tab pos="1885950" algn="l"/>
              </a:tabLst>
            </a:pPr>
            <a:r>
              <a:rPr lang="en-US" sz="1600" dirty="0"/>
              <a:t>[VECTO-1529] - XML Schema 2.0: missing abstract XML type in Gears </a:t>
            </a:r>
          </a:p>
          <a:p>
            <a:pPr lvl="1">
              <a:tabLst>
                <a:tab pos="1885950" algn="l"/>
              </a:tabLst>
            </a:pPr>
            <a:r>
              <a:rPr lang="en-US" sz="1600" dirty="0"/>
              <a:t>[VECTO-1550] - Error in hashing tool: sorting tires before comparing input data with MRF</a:t>
            </a:r>
          </a:p>
          <a:p>
            <a:pPr lvl="1">
              <a:tabLst>
                <a:tab pos="1885950" algn="l"/>
              </a:tabLst>
            </a:pPr>
            <a:r>
              <a:rPr lang="en-US" sz="1600" dirty="0"/>
              <a:t>[VECTO-1551] - AT-P Transmission Bus Application: Error during braking phase</a:t>
            </a:r>
          </a:p>
        </p:txBody>
      </p:sp>
    </p:spTree>
    <p:extLst>
      <p:ext uri="{BB962C8B-B14F-4D97-AF65-F5344CB8AC3E}">
        <p14:creationId xmlns:p14="http://schemas.microsoft.com/office/powerpoint/2010/main" val="7988961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2300193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9020</Words>
  <Application>Microsoft Office PowerPoint</Application>
  <PresentationFormat>Bildschirmpräsentation (4:3)</PresentationFormat>
  <Paragraphs>905</Paragraphs>
  <Slides>77</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77</vt:i4>
      </vt:variant>
    </vt:vector>
  </HeadingPairs>
  <TitlesOfParts>
    <vt:vector size="83" baseType="lpstr">
      <vt:lpstr>Arial</vt:lpstr>
      <vt:lpstr>Calibri</vt:lpstr>
      <vt:lpstr>Courier New</vt:lpstr>
      <vt:lpstr>Times New Roman</vt:lpstr>
      <vt:lpstr>Verdana</vt:lpstr>
      <vt:lpstr>Standarddesign</vt:lpstr>
      <vt:lpstr>PowerPoint-Präsentation</vt:lpstr>
      <vt:lpstr>Vecto 3.3.14.2981 Release Candidate 2023-03-01</vt:lpstr>
      <vt:lpstr>Vecto 3.3.13.2924 Official Release 2023-01-03</vt:lpstr>
      <vt:lpstr>Vecto 3.3.13.2891 Release Candidate 2022-12-01</vt:lpstr>
      <vt:lpstr>Vecto 3.3.12.2800 Official Release 2022-09-01</vt:lpstr>
      <vt:lpstr>Vecto 3.3.12.2769 Release Candidate 2022-08-01</vt:lpstr>
      <vt:lpstr>Vecto 3.3.11.2675 Official Release 2022-04-29</vt:lpstr>
      <vt:lpstr>Vecto 3.3.11.2645 Release Candidate 2022-03-30</vt:lpstr>
      <vt:lpstr>Vecto 3.3.11.2645 Release Candidate 2022-03-30</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1275</cp:revision>
  <cp:lastPrinted>2013-01-22T12:03:30Z</cp:lastPrinted>
  <dcterms:created xsi:type="dcterms:W3CDTF">2010-01-07T15:28:02Z</dcterms:created>
  <dcterms:modified xsi:type="dcterms:W3CDTF">2023-03-01T09:24:25Z</dcterms:modified>
</cp:coreProperties>
</file>