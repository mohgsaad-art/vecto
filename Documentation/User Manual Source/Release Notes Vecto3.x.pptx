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media/image28.png" ContentType="image/png"/>
  <Override PartName="/ppt/media/image1.jpeg" ContentType="image/jpeg"/>
  <Override PartName="/ppt/media/image2.png" ContentType="image/png"/>
  <Override PartName="/ppt/media/image3.jpeg" ContentType="image/jpeg"/>
  <Override PartName="/ppt/media/image5.png" ContentType="image/png"/>
  <Override PartName="/ppt/media/image4.png" ContentType="image/png"/>
  <Override PartName="/ppt/media/image6.png" ContentType="image/png"/>
  <Override PartName="/ppt/media/image7.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35.wmf" ContentType="image/x-wmf"/>
  <Override PartName="/ppt/media/image24.png" ContentType="image/png"/>
  <Override PartName="/ppt/media/image36.wmf" ContentType="image/x-wmf"/>
  <Override PartName="/ppt/media/image25.png" ContentType="image/png"/>
  <Override PartName="/ppt/media/image26.png" ContentType="image/png"/>
  <Override PartName="/ppt/media/image27.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7.png" ContentType="image/png"/>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21.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6.xml.rels" ContentType="application/vnd.openxmlformats-package.relationships+xml"/>
  <Override PartName="/ppt/slides/_rels/slide50.xml.rels" ContentType="application/vnd.openxmlformats-package.relationships+xml"/>
  <Override PartName="/ppt/slides/_rels/slide23.xml.rels" ContentType="application/vnd.openxmlformats-package.relationships+xml"/>
  <Override PartName="/ppt/slides/_rels/slide7.xml.rels" ContentType="application/vnd.openxmlformats-package.relationships+xml"/>
  <Override PartName="/ppt/slides/_rels/slide51.xml.rels" ContentType="application/vnd.openxmlformats-package.relationships+xml"/>
  <Override PartName="/ppt/slides/_rels/slide24.xml.rels" ContentType="application/vnd.openxmlformats-package.relationships+xml"/>
  <Override PartName="/ppt/slides/_rels/slide8.xml.rels" ContentType="application/vnd.openxmlformats-package.relationships+xml"/>
  <Override PartName="/ppt/slides/_rels/slide52.xml.rels" ContentType="application/vnd.openxmlformats-package.relationships+xml"/>
  <Override PartName="/ppt/slides/_rels/slide25.xml.rels" ContentType="application/vnd.openxmlformats-package.relationships+xml"/>
  <Override PartName="/ppt/slides/_rels/slide9.xml.rels" ContentType="application/vnd.openxmlformats-package.relationships+xml"/>
  <Override PartName="/ppt/slides/_rels/slide53.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48.xml.rels" ContentType="application/vnd.openxmlformats-package.relationships+xml"/>
  <Override PartName="/ppt/slides/_rels/slide49.xml.rels" ContentType="application/vnd.openxmlformats-package.relationships+xml"/>
  <Override PartName="/ppt/slides/_rels/slide54.xml.rels" ContentType="application/vnd.openxmlformats-package.relationships+xml"/>
  <Override PartName="/ppt/slides/_rels/slide55.xml.rels" ContentType="application/vnd.openxmlformats-package.relationships+xml"/>
  <Override PartName="/ppt/slides/_rels/slide56.xml.rels" ContentType="application/vnd.openxmlformats-package.relationships+xml"/>
  <Override PartName="/ppt/slides/_rels/slide57.xml.rels" ContentType="application/vnd.openxmlformats-package.relationships+xml"/>
  <Override PartName="/ppt/slides/_rels/slide58.xml.rels" ContentType="application/vnd.openxmlformats-package.relationships+xml"/>
  <Override PartName="/ppt/slides/_rels/slide59.xml.rels" ContentType="application/vnd.openxmlformats-package.relationships+xml"/>
  <Override PartName="/ppt/slides/_rels/slide60.xml.rels" ContentType="application/vnd.openxmlformats-package.relationships+xml"/>
  <Override PartName="/ppt/slides/_rels/slide61.xml.rels" ContentType="application/vnd.openxmlformats-package.relationships+xml"/>
  <Override PartName="/ppt/slides/_rels/slide62.xml.rels" ContentType="application/vnd.openxmlformats-package.relationships+xml"/>
  <Override PartName="/ppt/slides/_rels/slide63.xml.rels" ContentType="application/vnd.openxmlformats-package.relationships+xml"/>
  <Override PartName="/ppt/slides/_rels/slide64.xml.rels" ContentType="application/vnd.openxmlformats-package.relationships+xml"/>
  <Override PartName="/ppt/slides/_rels/slide65.xml.rels" ContentType="application/vnd.openxmlformats-package.relationships+xml"/>
  <Override PartName="/ppt/slides/_rels/slide66.xml.rels" ContentType="application/vnd.openxmlformats-package.relationships+xml"/>
  <Override PartName="/ppt/slides/_rels/slide67.xml.rels" ContentType="application/vnd.openxmlformats-package.relationships+xml"/>
  <Override PartName="/ppt/slides/_rels/slide68.xml.rels" ContentType="application/vnd.openxmlformats-package.relationships+xml"/>
  <Override PartName="/ppt/slides/_rels/slide69.xml.rels" ContentType="application/vnd.openxmlformats-package.relationships+xml"/>
  <Override PartName="/ppt/slides/_rels/slide70.xml.rels" ContentType="application/vnd.openxmlformats-package.relationships+xml"/>
  <Override PartName="/ppt/slides/_rels/slide71.xml.rels" ContentType="application/vnd.openxmlformats-package.relationships+xml"/>
  <Override PartName="/ppt/slides/_rels/slide72.xml.rels" ContentType="application/vnd.openxmlformats-package.relationships+xml"/>
  <Override PartName="/ppt/slides/_rels/slide73.xml.rels" ContentType="application/vnd.openxmlformats-package.relationships+xml"/>
  <Override PartName="/ppt/slides/_rels/slide74.xml.rels" ContentType="application/vnd.openxmlformats-package.relationships+xml"/>
  <Override PartName="/ppt/slides/_rels/slide75.xml.rels" ContentType="application/vnd.openxmlformats-package.relationships+xml"/>
  <Override PartName="/ppt/slides/_rels/slide76.xml.rels" ContentType="application/vnd.openxmlformats-package.relationships+xml"/>
  <Override PartName="/ppt/slides/_rels/slide77.xml.rels" ContentType="application/vnd.openxmlformats-package.relationships+xml"/>
  <Override PartName="/ppt/slides/_rels/slide78.xml.rels" ContentType="application/vnd.openxmlformats-package.relationships+xml"/>
  <Override PartName="/ppt/slides/_rels/slide79.xml.rels" ContentType="application/vnd.openxmlformats-package.relationships+xml"/>
  <Override PartName="/ppt/slides/_rels/slide80.xml.rels" ContentType="application/vnd.openxmlformats-package.relationships+xml"/>
  <Override PartName="/ppt/slides/_rels/slide81.xml.rels" ContentType="application/vnd.openxmlformats-package.relationships+xml"/>
  <Override PartName="/ppt/slides/_rels/slide82.xml.rels" ContentType="application/vnd.openxmlformats-package.relationships+xml"/>
  <Override PartName="/ppt/slides/_rels/slide83.xml.rels" ContentType="application/vnd.openxmlformats-package.relationships+xml"/>
  <Override PartName="/ppt/slides/_rels/slide84.xml.rels" ContentType="application/vnd.openxmlformats-package.relationships+xml"/>
  <Override PartName="/ppt/slides/_rels/slide85.xml.rels" ContentType="application/vnd.openxmlformats-package.relationships+xml"/>
  <Override PartName="/ppt/slides/_rels/slide86.xml.rels" ContentType="application/vnd.openxmlformats-package.relationships+xml"/>
  <Override PartName="/ppt/slides/_rels/slide87.xml.rels" ContentType="application/vnd.openxmlformats-package.relationships+xml"/>
  <Override PartName="/ppt/slides/_rels/slide88.xml.rels" ContentType="application/vnd.openxmlformats-package.relationships+xml"/>
  <Override PartName="/ppt/slides/_rels/slide89.xml.rels" ContentType="application/vnd.openxmlformats-package.relationships+xml"/>
  <Override PartName="/ppt/slides/_rels/slide90.xml.rels" ContentType="application/vnd.openxmlformats-package.relationships+xml"/>
  <Override PartName="/ppt/slides/_rels/slide91.xml.rels" ContentType="application/vnd.openxmlformats-package.relationships+xml"/>
  <Override PartName="/ppt/slides/_rels/slide92.xml.rels" ContentType="application/vnd.openxmlformats-package.relationships+xml"/>
  <Override PartName="/ppt/slides/_rels/slide93.xml.rels" ContentType="application/vnd.openxmlformats-package.relationships+xml"/>
  <Override PartName="/ppt/slides/_rels/slide94.xml.rels" ContentType="application/vnd.openxmlformats-package.relationships+xml"/>
  <Override PartName="/ppt/slides/_rels/slide95.xml.rels" ContentType="application/vnd.openxmlformats-package.relationships+xml"/>
  <Override PartName="/ppt/slides/_rels/slide96.xml.rels" ContentType="application/vnd.openxmlformats-package.relationships+xml"/>
  <Override PartName="/ppt/slides/_rels/slide97.xml.rels" ContentType="application/vnd.openxmlformats-package.relationships+xml"/>
  <Override PartName="/ppt/slides/_rels/slide98.xml.rels" ContentType="application/vnd.openxmlformats-package.relationships+xml"/>
  <Override PartName="/ppt/slides/_rels/slide99.xml.rels" ContentType="application/vnd.openxmlformats-package.relationships+xml"/>
  <Override PartName="/ppt/slides/_rels/slide100.xml.rels" ContentType="application/vnd.openxmlformats-package.relationships+xml"/>
  <Override PartName="/ppt/slides/_rels/slide101.xml.rels" ContentType="application/vnd.openxmlformats-package.relationships+xml"/>
  <Override PartName="/ppt/slides/_rels/slide102.xml.rels" ContentType="application/vnd.openxmlformats-package.relationships+xml"/>
  <Override PartName="/ppt/slides/_rels/slide103.xml.rels" ContentType="application/vnd.openxmlformats-package.relationships+xml"/>
  <Override PartName="/ppt/slides/_rels/slide104.xml.rels" ContentType="application/vnd.openxmlformats-package.relationships+xml"/>
  <Override PartName="/ppt/slides/_rels/slide105.xml.rels" ContentType="application/vnd.openxmlformats-package.relationships+xml"/>
  <Override PartName="/ppt/slides/_rels/slide106.xml.rels" ContentType="application/vnd.openxmlformats-package.relationships+xml"/>
  <Override PartName="/ppt/slides/_rels/slide107.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110.xml.rels" ContentType="application/vnd.openxmlformats-package.relationships+xml"/>
  <Override PartName="/ppt/slides/_rels/slide111.xml.rels" ContentType="application/vnd.openxmlformats-package.relationships+xml"/>
  <Override PartName="/ppt/slides/_rels/slide112.xml.rels" ContentType="application/vnd.openxmlformats-package.relationships+xml"/>
  <Override PartName="/ppt/slides/_rels/slide113.xml.rels" ContentType="application/vnd.openxmlformats-package.relationships+xml"/>
  <Override PartName="/ppt/slides/_rels/slide114.xml.rels" ContentType="application/vnd.openxmlformats-package.relationships+xml"/>
  <Override PartName="/ppt/slides/_rels/slide115.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slide" Target="slides/slide92.xml"/><Relationship Id="rId96" Type="http://schemas.openxmlformats.org/officeDocument/2006/relationships/slide" Target="slides/slide93.xml"/><Relationship Id="rId97" Type="http://schemas.openxmlformats.org/officeDocument/2006/relationships/slide" Target="slides/slide94.xml"/><Relationship Id="rId98" Type="http://schemas.openxmlformats.org/officeDocument/2006/relationships/slide" Target="slides/slide95.xml"/><Relationship Id="rId99" Type="http://schemas.openxmlformats.org/officeDocument/2006/relationships/slide" Target="slides/slide96.xml"/><Relationship Id="rId100" Type="http://schemas.openxmlformats.org/officeDocument/2006/relationships/slide" Target="slides/slide97.xml"/><Relationship Id="rId101" Type="http://schemas.openxmlformats.org/officeDocument/2006/relationships/slide" Target="slides/slide98.xml"/><Relationship Id="rId102" Type="http://schemas.openxmlformats.org/officeDocument/2006/relationships/slide" Target="slides/slide99.xml"/><Relationship Id="rId103" Type="http://schemas.openxmlformats.org/officeDocument/2006/relationships/slide" Target="slides/slide100.xml"/><Relationship Id="rId104" Type="http://schemas.openxmlformats.org/officeDocument/2006/relationships/slide" Target="slides/slide101.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105.xml"/><Relationship Id="rId109" Type="http://schemas.openxmlformats.org/officeDocument/2006/relationships/slide" Target="slides/slide106.xml"/><Relationship Id="rId110" Type="http://schemas.openxmlformats.org/officeDocument/2006/relationships/slide" Target="slides/slide107.xml"/><Relationship Id="rId111" Type="http://schemas.openxmlformats.org/officeDocument/2006/relationships/slide" Target="slides/slide108.xml"/><Relationship Id="rId112" Type="http://schemas.openxmlformats.org/officeDocument/2006/relationships/slide" Target="slides/slide109.xml"/><Relationship Id="rId113" Type="http://schemas.openxmlformats.org/officeDocument/2006/relationships/slide" Target="slides/slide110.xml"/><Relationship Id="rId114" Type="http://schemas.openxmlformats.org/officeDocument/2006/relationships/slide" Target="slides/slide111.xml"/><Relationship Id="rId115" Type="http://schemas.openxmlformats.org/officeDocument/2006/relationships/slide" Target="slides/slide112.xml"/><Relationship Id="rId116" Type="http://schemas.openxmlformats.org/officeDocument/2006/relationships/slide" Target="slides/slide113.xml"/><Relationship Id="rId117" Type="http://schemas.openxmlformats.org/officeDocument/2006/relationships/slide" Target="slides/slide114.xml"/><Relationship Id="rId118" Type="http://schemas.openxmlformats.org/officeDocument/2006/relationships/slide" Target="slides/slide115.xml"/><Relationship Id="rId1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endParaRPr b="0" lang="en-US" sz="3200" spc="-1" strike="noStrike">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1" name="Text Box 24"/>
          <p:cNvSpPr/>
          <p:nvPr/>
        </p:nvSpPr>
        <p:spPr>
          <a:xfrm>
            <a:off x="7996320" y="6599160"/>
            <a:ext cx="92448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65DBCA5F-7C24-451E-AA92-A3618BB57E61}" type="slidenum">
              <a:rPr b="1" lang="de-AT" sz="1000" spc="-1" strike="noStrike">
                <a:solidFill>
                  <a:srgbClr val="7d7d7d"/>
                </a:solidFill>
                <a:latin typeface="Verdana"/>
                <a:ea typeface="DejaVu Sans"/>
              </a:rPr>
              <a:t>2</a:t>
            </a:fld>
            <a:endParaRPr b="0" lang="en-US" sz="1000" spc="-1" strike="noStrike">
              <a:latin typeface="Arial"/>
            </a:endParaRPr>
          </a:p>
        </p:txBody>
      </p:sp>
      <p:sp>
        <p:nvSpPr>
          <p:cNvPr id="2" name="Text Box 30"/>
          <p:cNvSpPr/>
          <p:nvPr/>
        </p:nvSpPr>
        <p:spPr>
          <a:xfrm>
            <a:off x="144360" y="6627960"/>
            <a:ext cx="1881720" cy="21492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3" name="Picture 2" descr=""/>
          <p:cNvPicPr/>
          <p:nvPr/>
        </p:nvPicPr>
        <p:blipFill>
          <a:blip r:embed="rId2"/>
          <a:stretch/>
        </p:blipFill>
        <p:spPr>
          <a:xfrm>
            <a:off x="7389360" y="37800"/>
            <a:ext cx="1420200" cy="351720"/>
          </a:xfrm>
          <a:prstGeom prst="rect">
            <a:avLst/>
          </a:prstGeom>
          <a:ln w="0">
            <a:noFill/>
          </a:ln>
        </p:spPr>
      </p:pic>
      <p:pic>
        <p:nvPicPr>
          <p:cNvPr id="4" name="Picture 3" descr="I:\raphaelluz\VECTO\source\VECTO\User Manual\pics\VECTO-small.PNG"/>
          <p:cNvPicPr/>
          <p:nvPr/>
        </p:nvPicPr>
        <p:blipFill>
          <a:blip r:embed="rId3"/>
          <a:stretch/>
        </p:blipFill>
        <p:spPr>
          <a:xfrm>
            <a:off x="107640" y="58680"/>
            <a:ext cx="977400" cy="33120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45" name="Text Box 24"/>
          <p:cNvSpPr/>
          <p:nvPr/>
        </p:nvSpPr>
        <p:spPr>
          <a:xfrm>
            <a:off x="7996320" y="6599160"/>
            <a:ext cx="924480" cy="2419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140BFB5E-7E26-4DA5-AB14-1849704FB0B0}" type="slidenum">
              <a:rPr b="1" lang="de-AT" sz="1000" spc="-1" strike="noStrike">
                <a:solidFill>
                  <a:srgbClr val="7d7d7d"/>
                </a:solidFill>
                <a:latin typeface="Verdana"/>
                <a:ea typeface="DejaVu Sans"/>
              </a:rPr>
              <a:t>&lt;number&gt;</a:t>
            </a:fld>
            <a:endParaRPr b="0" lang="en-US" sz="1000" spc="-1" strike="noStrike">
              <a:latin typeface="Arial"/>
            </a:endParaRPr>
          </a:p>
        </p:txBody>
      </p:sp>
      <p:sp>
        <p:nvSpPr>
          <p:cNvPr id="46" name="Text Box 30"/>
          <p:cNvSpPr/>
          <p:nvPr/>
        </p:nvSpPr>
        <p:spPr>
          <a:xfrm>
            <a:off x="144360" y="6627960"/>
            <a:ext cx="1881720" cy="21492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ea typeface="DejaVu Sans"/>
              </a:rPr>
              <a:t>VECTO Release Notes</a:t>
            </a:r>
            <a:endParaRPr b="0" lang="en-US" sz="1100" spc="-1" strike="noStrike">
              <a:latin typeface="Arial"/>
            </a:endParaRPr>
          </a:p>
        </p:txBody>
      </p:sp>
      <p:pic>
        <p:nvPicPr>
          <p:cNvPr id="47" name="Picture 2" descr=""/>
          <p:cNvPicPr/>
          <p:nvPr/>
        </p:nvPicPr>
        <p:blipFill>
          <a:blip r:embed="rId2"/>
          <a:stretch/>
        </p:blipFill>
        <p:spPr>
          <a:xfrm>
            <a:off x="7389360" y="37800"/>
            <a:ext cx="1420200" cy="351720"/>
          </a:xfrm>
          <a:prstGeom prst="rect">
            <a:avLst/>
          </a:prstGeom>
          <a:ln w="0">
            <a:noFill/>
          </a:ln>
        </p:spPr>
      </p:pic>
      <p:pic>
        <p:nvPicPr>
          <p:cNvPr id="48" name="Picture 3" descr="I:\raphaelluz\VECTO\source\VECTO\User Manual\pics\VECTO-small.PNG"/>
          <p:cNvPicPr/>
          <p:nvPr/>
        </p:nvPicPr>
        <p:blipFill>
          <a:blip r:embed="rId3"/>
          <a:stretch/>
        </p:blipFill>
        <p:spPr>
          <a:xfrm>
            <a:off x="107640" y="58680"/>
            <a:ext cx="977400" cy="33120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slideLayout" Target="../slideLayouts/slideLayout13.xml"/>
</Relationships>
</file>

<file path=ppt/slides/_rels/slide28.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5.wmf"/><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36.wmf"/><Relationship Id="rId2"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0.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slideLayout" Target="../slideLayouts/slideLayout1.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5.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Text Box 94"/>
          <p:cNvSpPr/>
          <p:nvPr/>
        </p:nvSpPr>
        <p:spPr>
          <a:xfrm>
            <a:off x="539640" y="1052640"/>
            <a:ext cx="8135280" cy="39452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1599"/>
              </a:spcBef>
              <a:buNone/>
            </a:pPr>
            <a:r>
              <a:rPr b="1" lang="en-US" sz="3200" spc="-1" strike="noStrike">
                <a:solidFill>
                  <a:srgbClr val="990000"/>
                </a:solidFill>
                <a:latin typeface="Arial"/>
                <a:ea typeface="DejaVu Sans"/>
              </a:rPr>
              <a:t>VECTO 3.x</a:t>
            </a:r>
            <a:endParaRPr b="0" lang="en-US" sz="3200" spc="-1" strike="noStrike">
              <a:latin typeface="Arial"/>
            </a:endParaRPr>
          </a:p>
          <a:p>
            <a:pPr algn="ctr">
              <a:lnSpc>
                <a:spcPct val="100000"/>
              </a:lnSpc>
              <a:spcBef>
                <a:spcPts val="1001"/>
              </a:spcBef>
              <a:buNone/>
            </a:pPr>
            <a:r>
              <a:rPr b="1" lang="en-US" sz="2000" spc="-1" strike="noStrike">
                <a:solidFill>
                  <a:srgbClr val="990000"/>
                </a:solidFill>
                <a:latin typeface="Arial"/>
                <a:ea typeface="DejaVu Sans"/>
              </a:rPr>
              <a:t>3.5.2022</a:t>
            </a: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r>
              <a:rPr b="1" lang="en-US" sz="2400" spc="-1" strike="noStrike">
                <a:solidFill>
                  <a:srgbClr val="990000"/>
                </a:solidFill>
                <a:latin typeface="Arial"/>
                <a:ea typeface="DejaVu Sans"/>
              </a:rPr>
              <a:t>Release Notes</a:t>
            </a:r>
            <a:endParaRPr b="0" lang="en-US" sz="2400" spc="-1" strike="noStrike">
              <a:latin typeface="Arial"/>
            </a:endParaRPr>
          </a:p>
        </p:txBody>
      </p:sp>
      <p:pic>
        <p:nvPicPr>
          <p:cNvPr id="89" name="Picture 2" descr=""/>
          <p:cNvPicPr/>
          <p:nvPr/>
        </p:nvPicPr>
        <p:blipFill>
          <a:blip r:embed="rId1"/>
          <a:stretch/>
        </p:blipFill>
        <p:spPr>
          <a:xfrm>
            <a:off x="2483640" y="2421000"/>
            <a:ext cx="4175280" cy="162648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4"/>
          <p:cNvSpPr txBox="1"/>
          <p:nvPr/>
        </p:nvSpPr>
        <p:spPr>
          <a:xfrm>
            <a:off x="468360" y="714240"/>
            <a:ext cx="8217360" cy="680040"/>
          </a:xfrm>
          <a:prstGeom prst="rect">
            <a:avLst/>
          </a:prstGeom>
          <a:noFill/>
          <a:ln w="0">
            <a:noFill/>
          </a:ln>
        </p:spPr>
        <p:txBody>
          <a:bodyPr numCol="1" spcCol="0" lIns="0" rIns="0" tIns="0" bIns="0" anchor="ctr">
            <a:noAutofit/>
          </a:bodyPr>
          <a:p>
            <a:pPr algn="ctr">
              <a:lnSpc>
                <a:spcPct val="100000"/>
              </a:lnSpc>
              <a:buNone/>
            </a:pPr>
            <a:r>
              <a:rPr b="1" lang="en-US" sz="2400" spc="-1" strike="noStrike">
                <a:solidFill>
                  <a:srgbClr val="990000"/>
                </a:solidFill>
                <a:latin typeface="Arial"/>
              </a:rPr>
              <a:t>Vecto 0.7.9.2890 JRC Development Version</a:t>
            </a:r>
            <a:r>
              <a:rPr b="0" lang="en-US" sz="2400" spc="-1" strike="noStrike">
                <a:latin typeface="Arial"/>
              </a:rPr>
              <a:t> </a:t>
            </a:r>
            <a:br>
              <a:rPr sz="2400"/>
            </a:br>
            <a:r>
              <a:rPr b="1" lang="en-US" sz="1600" spc="-1" strike="noStrike">
                <a:solidFill>
                  <a:srgbClr val="990000"/>
                </a:solidFill>
                <a:latin typeface="Arial"/>
              </a:rPr>
              <a:t>November 2022</a:t>
            </a:r>
            <a:endParaRPr b="0" lang="en-US" sz="1600" spc="-1" strike="noStrike">
              <a:latin typeface="Arial"/>
            </a:endParaRPr>
          </a:p>
        </p:txBody>
      </p:sp>
      <p:sp>
        <p:nvSpPr>
          <p:cNvPr id="91" name="PlaceHolder 5"/>
          <p:cNvSpPr/>
          <p:nvPr/>
        </p:nvSpPr>
        <p:spPr>
          <a:xfrm>
            <a:off x="419760" y="1600200"/>
            <a:ext cx="8494920" cy="4822200"/>
          </a:xfrm>
          <a:prstGeom prst="rect">
            <a:avLst/>
          </a:prstGeom>
          <a:noFill/>
          <a:ln w="0">
            <a:noFill/>
          </a:ln>
        </p:spPr>
        <p:style>
          <a:lnRef idx="0"/>
          <a:fillRef idx="0"/>
          <a:effectRef idx="0"/>
          <a:fontRef idx="minor"/>
        </p:style>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Important Note</a:t>
            </a:r>
            <a:br>
              <a:rPr sz="1600"/>
            </a:br>
            <a:r>
              <a:rPr b="0" lang="en-US" sz="1600" spc="-1" strike="noStrike">
                <a:solidFill>
                  <a:srgbClr val="000000"/>
                </a:solidFill>
                <a:latin typeface="Arial"/>
                <a:ea typeface="DejaVu Sans"/>
              </a:rPr>
              <a:t>This is a bugfix release by JRC for the 0.7.9.2864 version (time-runs for BEVs). </a:t>
            </a:r>
            <a:br>
              <a:rPr sz="1600"/>
            </a:br>
            <a:r>
              <a:rPr b="0" lang="en-US" sz="1600" spc="-1" strike="noStrike">
                <a:solidFill>
                  <a:srgbClr val="000000"/>
                </a:solidFill>
                <a:latin typeface="Arial"/>
                <a:ea typeface="DejaVu Sans"/>
              </a:rPr>
              <a:t> </a:t>
            </a:r>
            <a:endParaRPr b="0" lang="en-US" sz="1600" spc="-1" strike="noStrike">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[VECTO-1673] - Incorrect results for battery energy/power in .vsum and .vmod in version VECTO-0.7.9.2864-DEV</a:t>
            </a: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714240"/>
            <a:ext cx="8217360" cy="680040"/>
          </a:xfrm>
          <a:prstGeom prst="rect">
            <a:avLst/>
          </a:prstGeom>
          <a:noFill/>
          <a:ln w="0">
            <a:noFill/>
          </a:ln>
        </p:spPr>
        <p:txBody>
          <a:bodyPr numCol="1" spcCol="0" lIns="0" rIns="0" tIns="0" bIns="0" anchor="ctr">
            <a:noAutofit/>
          </a:bodyPr>
          <a:p>
            <a:pPr algn="ctr">
              <a:lnSpc>
                <a:spcPct val="100000"/>
              </a:lnSpc>
              <a:buNone/>
            </a:pPr>
            <a:r>
              <a:rPr b="1" lang="en-US" sz="2400" spc="-1" strike="noStrike">
                <a:solidFill>
                  <a:srgbClr val="990000"/>
                </a:solidFill>
                <a:latin typeface="Arial"/>
              </a:rPr>
              <a:t>Vecto 0.7.9.2864 JRC Development Version</a:t>
            </a:r>
            <a:r>
              <a:rPr b="0" lang="en-US" sz="2400" spc="-1" strike="noStrike">
                <a:latin typeface="Arial"/>
              </a:rPr>
              <a:t> </a:t>
            </a:r>
            <a:br>
              <a:rPr sz="2400"/>
            </a:br>
            <a:r>
              <a:rPr b="1" lang="en-US" sz="1600" spc="-1" strike="noStrike">
                <a:solidFill>
                  <a:srgbClr val="990000"/>
                </a:solidFill>
                <a:latin typeface="Arial"/>
              </a:rPr>
              <a:t>November 2022</a:t>
            </a:r>
            <a:endParaRPr b="0" lang="en-US" sz="1600" spc="-1" strike="noStrike">
              <a:latin typeface="Arial"/>
            </a:endParaRPr>
          </a:p>
        </p:txBody>
      </p:sp>
      <p:sp>
        <p:nvSpPr>
          <p:cNvPr id="93" name="PlaceHolder 2"/>
          <p:cNvSpPr/>
          <p:nvPr/>
        </p:nvSpPr>
        <p:spPr>
          <a:xfrm>
            <a:off x="419760" y="1600200"/>
            <a:ext cx="8494920" cy="4822200"/>
          </a:xfrm>
          <a:prstGeom prst="rect">
            <a:avLst/>
          </a:prstGeom>
          <a:noFill/>
          <a:ln w="0">
            <a:noFill/>
          </a:ln>
        </p:spPr>
        <p:style>
          <a:lnRef idx="0"/>
          <a:fillRef idx="0"/>
          <a:effectRef idx="0"/>
          <a:fontRef idx="minor"/>
        </p:style>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Important Note</a:t>
            </a:r>
            <a:br>
              <a:rPr sz="1600"/>
            </a:br>
            <a:r>
              <a:rPr b="0" lang="en-US" sz="1600" spc="-1" strike="noStrike">
                <a:solidFill>
                  <a:srgbClr val="000000"/>
                </a:solidFill>
                <a:latin typeface="Arial"/>
                <a:ea typeface="DejaVu Sans"/>
              </a:rPr>
              <a:t>This is a special development release by JRC to validate the time-runs for BEVs. </a:t>
            </a:r>
            <a:br>
              <a:rPr sz="1600"/>
            </a:br>
            <a:r>
              <a:rPr b="0" lang="en-US" sz="1600" spc="-1" strike="noStrike">
                <a:solidFill>
                  <a:srgbClr val="000000"/>
                </a:solidFill>
                <a:latin typeface="Arial"/>
                <a:ea typeface="DejaVu Sans"/>
              </a:rPr>
              <a:t> </a:t>
            </a:r>
            <a:endParaRPr b="0" lang="en-US" sz="1600" spc="-1" strike="noStrike">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ea typeface="DejaVu Sans"/>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measured speed cycle for BEVs (E2, E3, E4,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measured speed with gear for BEVs (E2,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Implementation of Pwheel mode for BEVs (E2, E3, E4, IEPC)</a:t>
            </a:r>
            <a:br>
              <a:rPr sz="1400"/>
            </a:br>
            <a:r>
              <a:rPr b="0" lang="en-US" sz="1400" spc="-1" strike="noStrike">
                <a:solidFill>
                  <a:srgbClr val="000000"/>
                </a:solidFill>
                <a:latin typeface="Arial"/>
                <a:ea typeface="DejaVu Sans"/>
              </a:rPr>
              <a:t>In this type of cycle, the input field </a:t>
            </a:r>
            <a:r>
              <a:rPr b="1" lang="en-US" sz="1400" spc="-1" strike="noStrike">
                <a:solidFill>
                  <a:srgbClr val="000000"/>
                </a:solidFill>
                <a:latin typeface="Arial"/>
                <a:ea typeface="DejaVu Sans"/>
              </a:rPr>
              <a:t>&lt;n&gt;</a:t>
            </a:r>
            <a:r>
              <a:rPr b="0" lang="en-US" sz="1400" spc="-1" strike="noStrike">
                <a:solidFill>
                  <a:srgbClr val="000000"/>
                </a:solidFill>
                <a:latin typeface="Arial"/>
                <a:ea typeface="DejaVu Sans"/>
              </a:rPr>
              <a:t> stands for the speed of the electric motor.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The E2 vehicle job “Generic Vehicles\Engineering Mode\GenericVehicleE2\BEV_ENG_timeruns.vecto” is preconfigured to run time-run cycles.</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0.7.9.2741 Development Version</a:t>
            </a:r>
            <a:br>
              <a:rPr sz="2400"/>
            </a:br>
            <a:r>
              <a:rPr b="1" lang="en-US" sz="1600" spc="-1" strike="noStrike">
                <a:solidFill>
                  <a:srgbClr val="990000"/>
                </a:solidFill>
                <a:latin typeface="Arial"/>
              </a:rPr>
              <a:t>June 2022</a:t>
            </a:r>
            <a:endParaRPr b="0" lang="en-US" sz="1600" spc="-1" strike="noStrike">
              <a:latin typeface="Arial"/>
            </a:endParaRPr>
          </a:p>
        </p:txBody>
      </p:sp>
      <p:sp>
        <p:nvSpPr>
          <p:cNvPr id="95"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IEPC-S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IHPC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Adaptations HEV-S strategy, SoC correction for HEV-S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PTO idle drag losses for PEV, adapting PTO idle losses according to 2nd amendment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Hashing tool crashes in .net version 6.0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Corrected length for BusAux volume calculation</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Modeling of IEPC component</a:t>
            </a:r>
            <a:endParaRPr b="0" lang="en-US" sz="2400" spc="-1" strike="noStrike">
              <a:latin typeface="Arial"/>
            </a:endParaRPr>
          </a:p>
        </p:txBody>
      </p:sp>
      <p:sp>
        <p:nvSpPr>
          <p:cNvPr id="97"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is modelled as APT-N transmission and electric machine</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Using already available models, same shift strategy as for E2/S2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Simplified transmission in case of single-speed IEPC</a:t>
            </a:r>
            <a:endParaRPr b="0" lang="en-US" sz="1800" spc="-1" strike="noStrike">
              <a:latin typeface="Arial"/>
            </a:endParaRPr>
          </a:p>
        </p:txBody>
      </p:sp>
      <p:sp>
        <p:nvSpPr>
          <p:cNvPr id="98" name="PlaceHolder 3"/>
          <p:cNvSpPr>
            <a:spLocks noGrp="1"/>
          </p:cNvSpPr>
          <p:nvPr>
            <p:ph type="sldNum" idx="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99" name="Grafik 72" descr=""/>
          <p:cNvPicPr/>
          <p:nvPr/>
        </p:nvPicPr>
        <p:blipFill>
          <a:blip r:embed="rId1"/>
          <a:stretch/>
        </p:blipFill>
        <p:spPr>
          <a:xfrm>
            <a:off x="2500920" y="3562200"/>
            <a:ext cx="3913200" cy="1591920"/>
          </a:xfrm>
          <a:prstGeom prst="rect">
            <a:avLst/>
          </a:prstGeom>
          <a:ln w="0">
            <a:noFill/>
          </a:ln>
        </p:spPr>
      </p:pic>
      <p:sp>
        <p:nvSpPr>
          <p:cNvPr id="100" name="Textfeld 73"/>
          <p:cNvSpPr/>
          <p:nvPr/>
        </p:nvSpPr>
        <p:spPr>
          <a:xfrm>
            <a:off x="0" y="5155200"/>
            <a:ext cx="9142920" cy="3027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700"/>
              </a:spcBef>
              <a:buNone/>
            </a:pPr>
            <a:r>
              <a:rPr b="1" lang="en-US" sz="1400" spc="-1" strike="noStrike">
                <a:solidFill>
                  <a:srgbClr val="000000"/>
                </a:solidFill>
                <a:latin typeface="Courier New"/>
                <a:ea typeface="DejaVu Sans"/>
              </a:rPr>
              <a:t>_int </a:t>
            </a:r>
            <a:r>
              <a:rPr b="1" lang="en-US" sz="1400" spc="-1" strike="noStrike">
                <a:solidFill>
                  <a:srgbClr val="000000"/>
                </a:solidFill>
                <a:latin typeface="Arial"/>
                <a:ea typeface="DejaVu Sans"/>
              </a:rPr>
              <a:t>signals refer to the out-shaft of the electric motor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Peculiarities of IEPC</a:t>
            </a:r>
            <a:endParaRPr b="0" lang="en-US" sz="2400" spc="-1" strike="noStrike">
              <a:latin typeface="Arial"/>
            </a:endParaRPr>
          </a:p>
        </p:txBody>
      </p:sp>
      <p:sp>
        <p:nvSpPr>
          <p:cNvPr id="102"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Model parameters (max torque, power maps) refer to IEPC out-shaft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Internally converted to electric motor</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Overload parameters are measured in the gear with the </a:t>
            </a:r>
            <a:br>
              <a:rPr sz="2000"/>
            </a:br>
            <a:r>
              <a:rPr b="0" lang="en-US" sz="2000" spc="-1" strike="noStrike">
                <a:solidFill>
                  <a:srgbClr val="000000"/>
                </a:solidFill>
                <a:latin typeface="Arial"/>
              </a:rPr>
              <a:t>ratio closest to 1 </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2 options for drag curve acc. to Annex Xb:</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 single drag curve is provided </a:t>
            </a:r>
            <a:br>
              <a:rPr sz="1800"/>
            </a:br>
            <a:r>
              <a:rPr b="0" lang="en-US" sz="1800" spc="-1" strike="noStrike">
                <a:solidFill>
                  <a:srgbClr val="000000"/>
                </a:solidFill>
                <a:latin typeface="Arial"/>
              </a:rPr>
              <a:t>(measured in gear with ratio closest to 1)</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 curve for every gear is provided</a:t>
            </a:r>
            <a:endParaRPr b="0" lang="en-US" sz="1800" spc="-1" strike="noStrike">
              <a:latin typeface="Arial"/>
            </a:endParaRPr>
          </a:p>
        </p:txBody>
      </p:sp>
      <p:sp>
        <p:nvSpPr>
          <p:cNvPr id="103" name="PlaceHolder 3"/>
          <p:cNvSpPr>
            <a:spLocks noGrp="1"/>
          </p:cNvSpPr>
          <p:nvPr>
            <p:ph type="sldNum" idx="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05" name="PlaceHolder 2"/>
          <p:cNvSpPr>
            <a:spLocks noGrp="1"/>
          </p:cNvSpPr>
          <p:nvPr>
            <p:ph/>
          </p:nvPr>
        </p:nvSpPr>
        <p:spPr>
          <a:xfrm>
            <a:off x="622440" y="2137320"/>
            <a:ext cx="8393400" cy="95652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powertrain architecture definition</a:t>
            </a:r>
            <a:endParaRPr b="0" lang="en-US" sz="2000" spc="-1" strike="noStrike">
              <a:latin typeface="Arial"/>
            </a:endParaRPr>
          </a:p>
          <a:p>
            <a:pPr lvl="1" marL="743040" indent="-285840">
              <a:lnSpc>
                <a:spcPct val="100000"/>
              </a:lnSpc>
              <a:spcBef>
                <a:spcPts val="281"/>
              </a:spcBef>
              <a:buClr>
                <a:srgbClr val="000000"/>
              </a:buClr>
              <a:buFont typeface="Symbol"/>
              <a:buChar char=""/>
            </a:pPr>
            <a:r>
              <a:rPr b="0" lang="en-US" sz="1400" spc="-1" strike="noStrike">
                <a:solidFill>
                  <a:srgbClr val="000000"/>
                </a:solidFill>
                <a:latin typeface="Arial"/>
              </a:rPr>
              <a:t>Specific system layout is described by setting of 3 parameters</a:t>
            </a:r>
            <a:br>
              <a:rPr sz="1400"/>
            </a:br>
            <a:r>
              <a:rPr b="0" lang="en-US" sz="1400" spc="-1" strike="noStrike">
                <a:solidFill>
                  <a:srgbClr val="000000"/>
                </a:solidFill>
                <a:latin typeface="Arial"/>
              </a:rPr>
              <a:t>(for detailed description please refer to Annex Xb)</a:t>
            </a:r>
            <a:endParaRPr b="0" lang="en-US" sz="1400" spc="-1" strike="noStrike">
              <a:latin typeface="Arial"/>
            </a:endParaRPr>
          </a:p>
        </p:txBody>
      </p:sp>
      <p:sp>
        <p:nvSpPr>
          <p:cNvPr id="106" name="PlaceHolder 3"/>
          <p:cNvSpPr>
            <a:spLocks noGrp="1"/>
          </p:cNvSpPr>
          <p:nvPr>
            <p:ph type="sldNum" idx="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07" name="Tabelle 4"/>
          <p:cNvGraphicFramePr/>
          <p:nvPr/>
        </p:nvGraphicFramePr>
        <p:xfrm>
          <a:off x="29160" y="2980800"/>
          <a:ext cx="9074160" cy="2890440"/>
        </p:xfrm>
        <a:graphic>
          <a:graphicData uri="http://schemas.openxmlformats.org/drawingml/2006/table">
            <a:tbl>
              <a:tblPr/>
              <a:tblGrid>
                <a:gridCol w="542520"/>
                <a:gridCol w="684000"/>
                <a:gridCol w="720000"/>
                <a:gridCol w="972000"/>
                <a:gridCol w="2700000"/>
                <a:gridCol w="3456000"/>
              </a:tblGrid>
              <a:tr h="370800">
                <a:tc>
                  <a:txBody>
                    <a:bodyPr anchor="t">
                      <a:noAutofit/>
                    </a:bodyPr>
                    <a:p>
                      <a:pPr algn="ctr">
                        <a:lnSpc>
                          <a:spcPct val="100000"/>
                        </a:lnSpc>
                        <a:buNone/>
                      </a:pPr>
                      <a:r>
                        <a:rPr b="1" lang="de-AT" sz="800" spc="-1" strike="noStrike">
                          <a:solidFill>
                            <a:srgbClr val="ffffff"/>
                          </a:solidFill>
                          <a:latin typeface="Arial"/>
                        </a:rPr>
                        <a:t>IEPC layout case #</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Differential</a:t>
                      </a:r>
                      <a:br>
                        <a:rPr sz="700"/>
                      </a:br>
                      <a:r>
                        <a:rPr b="1" lang="de-AT" sz="700" spc="-1" strike="noStrike">
                          <a:solidFill>
                            <a:srgbClr val="ffffff"/>
                          </a:solidFill>
                          <a:latin typeface="Arial"/>
                        </a:rPr>
                        <a:t>Included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a:t>
                      </a:r>
                      <a:br>
                        <a:rPr sz="700"/>
                      </a:br>
                      <a:r>
                        <a:rPr b="1" lang="de-AT" sz="700" spc="-1" strike="noStrike">
                          <a:solidFill>
                            <a:srgbClr val="ffffff"/>
                          </a:solidFill>
                          <a:latin typeface="Arial"/>
                        </a:rPr>
                        <a:t>WheelMotor</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DesignTypeWheel</a:t>
                      </a:r>
                      <a:br>
                        <a:rPr sz="700"/>
                      </a:br>
                      <a:r>
                        <a:rPr b="1" lang="de-AT" sz="700" spc="-1" strike="noStrike">
                          <a:solidFill>
                            <a:srgbClr val="ffffff"/>
                          </a:solidFill>
                          <a:latin typeface="Arial"/>
                        </a:rPr>
                        <a:t>MotorMeasured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Layout schematics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Comments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56000">
                <a:tc>
                  <a:txBody>
                    <a:bodyPr anchor="ctr">
                      <a:noAutofit/>
                    </a:bodyPr>
                    <a:p>
                      <a:pP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Regular axle component required in job file</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1" lang="de-AT" sz="800" spc="-1" strike="noStrike">
                          <a:solidFill>
                            <a:srgbClr val="000000"/>
                          </a:solidFill>
                          <a:latin typeface="Wingdings"/>
                        </a:rPr>
                        <a:t></a:t>
                      </a:r>
                      <a:r>
                        <a:rPr b="1" lang="de-AT" sz="800" spc="-1" strike="noStrike">
                          <a:solidFill>
                            <a:srgbClr val="000000"/>
                          </a:solidFill>
                          <a:latin typeface="Arial"/>
                        </a:rPr>
                        <a:t> </a:t>
                      </a:r>
                      <a:r>
                        <a:rPr b="1" lang="de-AT" sz="800" spc="-1" strike="noStrike">
                          <a:solidFill>
                            <a:srgbClr val="000000"/>
                          </a:solidFill>
                          <a:latin typeface="Arial"/>
                        </a:rPr>
                        <a:t>useage of transmission type</a:t>
                      </a:r>
                      <a:br>
                        <a:rPr sz="800"/>
                      </a:br>
                      <a:r>
                        <a:rPr b="1" lang="de-AT" sz="800" spc="-1" strike="noStrike">
                          <a:solidFill>
                            <a:srgbClr val="000000"/>
                          </a:solidFill>
                          <a:latin typeface="Arial"/>
                        </a:rPr>
                        <a:t>„IEPC Transmission – dummy entry“</a:t>
                      </a:r>
                      <a:endParaRPr b="0" lang="en-US" sz="800" spc="-1" strike="noStrike">
                        <a:latin typeface="Arial"/>
                      </a:endParaRPr>
                    </a:p>
                    <a:p>
                      <a:pPr>
                        <a:lnSpc>
                          <a:spcPct val="100000"/>
                        </a:lnSpc>
                        <a:buNone/>
                      </a:pPr>
                      <a:r>
                        <a:rPr b="0" lang="de-AT" sz="800" spc="-1" strike="noStrike">
                          <a:solidFill>
                            <a:srgbClr val="000000"/>
                          </a:solidFill>
                          <a:latin typeface="Arial"/>
                        </a:rPr>
                        <a:t>(allows axle component alone without a min. number of gears)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756000">
                <a:tc>
                  <a:txBody>
                    <a:bodyPr anchor="ctr">
                      <a:noAutofit/>
                    </a:bodyPr>
                    <a:p>
                      <a:pP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de-AT" sz="800" spc="-1" strike="noStrike">
                          <a:solidFill>
                            <a:srgbClr val="000000"/>
                          </a:solidFill>
                          <a:latin typeface="Arial"/>
                        </a:rPr>
                        <a:t>No axle component</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0" lang="de-AT" sz="800" spc="-1" strike="noStrike">
                          <a:solidFill>
                            <a:srgbClr val="000000"/>
                          </a:solidFill>
                          <a:latin typeface="Arial"/>
                        </a:rPr>
                        <a:t>All parameterization via IEPC specific window</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504000">
                <a:tc>
                  <a:txBody>
                    <a:bodyPr anchor="ctr">
                      <a:noAutofit/>
                    </a:bodyPr>
                    <a:p>
                      <a:pPr>
                        <a:lnSpc>
                          <a:spcPct val="100000"/>
                        </a:lnSpc>
                        <a:buNone/>
                      </a:pPr>
                      <a:r>
                        <a:rPr b="0" lang="de-AT" sz="1200" spc="-1" strike="noStrike">
                          <a:solidFill>
                            <a:srgbClr val="000000"/>
                          </a:solidFill>
                          <a:latin typeface="Arial"/>
                        </a:rPr>
                        <a:t>3</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Component test performed in L-config acc. to Annex Xb (only one side)</a:t>
                      </a:r>
                      <a:endParaRPr b="0" lang="en-US" sz="800" spc="-1" strike="noStrike">
                        <a:latin typeface="Arial"/>
                      </a:endParaRPr>
                    </a:p>
                    <a:p>
                      <a:pPr>
                        <a:lnSpc>
                          <a:spcPct val="100000"/>
                        </a:lnSpc>
                        <a:buNone/>
                      </a:pPr>
                      <a:r>
                        <a:rPr b="0" i="1" lang="de-AT" sz="800" spc="-1" strike="noStrike">
                          <a:solidFill>
                            <a:srgbClr val="000000"/>
                          </a:solidFill>
                          <a:latin typeface="Wingdings"/>
                        </a:rPr>
                        <a:t></a:t>
                      </a:r>
                      <a:r>
                        <a:rPr b="0" i="1" lang="de-AT" sz="800" spc="-1" strike="noStrike">
                          <a:solidFill>
                            <a:srgbClr val="000000"/>
                          </a:solidFill>
                          <a:latin typeface="Arial"/>
                        </a:rPr>
                        <a:t> </a:t>
                      </a:r>
                      <a:r>
                        <a:rPr b="0" i="1" lang="de-AT" sz="800" spc="-1" strike="noStrike">
                          <a:solidFill>
                            <a:srgbClr val="000000"/>
                          </a:solidFill>
                          <a:latin typeface="Arial"/>
                        </a:rPr>
                        <a:t>All torque and power values in input data are multiplied with a factor of 2</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504000">
                <a:tc>
                  <a:txBody>
                    <a:bodyPr anchor="ctr">
                      <a:noAutofit/>
                    </a:bodyPr>
                    <a:p>
                      <a:pPr>
                        <a:lnSpc>
                          <a:spcPct val="100000"/>
                        </a:lnSpc>
                        <a:buNone/>
                      </a:pPr>
                      <a:r>
                        <a:rPr b="0" lang="de-AT" sz="1200" spc="-1" strike="noStrike">
                          <a:solidFill>
                            <a:srgbClr val="000000"/>
                          </a:solidFill>
                          <a:latin typeface="Arial"/>
                        </a:rPr>
                        <a:t>4</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cPr anchor="t" marL="90000" marR="90000">
                    <a:lnL>
                      <a:noFill/>
                    </a:lnL>
                    <a:lnR>
                      <a:noFill/>
                    </a:lnR>
                    <a:lnT>
                      <a:noFill/>
                    </a:lnT>
                    <a:lnB>
                      <a:noFill/>
                    </a:lnB>
                    <a:solidFill>
                      <a:srgbClr val="729fcf"/>
                    </a:solidFill>
                  </a:tcPr>
                </a:tc>
                <a:tc>
                  <a:txBody>
                    <a:bodyPr anchor="t">
                      <a:noAutofit/>
                    </a:bodyPr>
                    <a:p>
                      <a:pPr>
                        <a:lnSpc>
                          <a:spcPct val="100000"/>
                        </a:lnSpc>
                        <a:buNone/>
                      </a:pPr>
                      <a:r>
                        <a:rPr b="0" lang="de-AT" sz="800" spc="-1" strike="noStrike">
                          <a:solidFill>
                            <a:srgbClr val="000000"/>
                          </a:solidFill>
                          <a:latin typeface="Arial"/>
                        </a:rPr>
                        <a:t>Component test performed in T-config acc. to Annex Xb (both sides)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pic>
        <p:nvPicPr>
          <p:cNvPr id="108" name="Grafik 5" descr=""/>
          <p:cNvPicPr/>
          <p:nvPr/>
        </p:nvPicPr>
        <p:blipFill>
          <a:blip r:embed="rId1"/>
          <a:stretch/>
        </p:blipFill>
        <p:spPr>
          <a:xfrm>
            <a:off x="2983680" y="3498840"/>
            <a:ext cx="1720440" cy="646920"/>
          </a:xfrm>
          <a:prstGeom prst="rect">
            <a:avLst/>
          </a:prstGeom>
          <a:ln w="0">
            <a:noFill/>
          </a:ln>
        </p:spPr>
      </p:pic>
      <p:pic>
        <p:nvPicPr>
          <p:cNvPr id="109" name="Grafik 6" descr=""/>
          <p:cNvPicPr/>
          <p:nvPr/>
        </p:nvPicPr>
        <p:blipFill>
          <a:blip r:embed="rId2"/>
          <a:stretch/>
        </p:blipFill>
        <p:spPr>
          <a:xfrm>
            <a:off x="2983680" y="4256640"/>
            <a:ext cx="1465560" cy="646920"/>
          </a:xfrm>
          <a:prstGeom prst="rect">
            <a:avLst/>
          </a:prstGeom>
          <a:ln w="0">
            <a:noFill/>
          </a:ln>
        </p:spPr>
      </p:pic>
      <p:pic>
        <p:nvPicPr>
          <p:cNvPr id="110" name="Grafik 7" descr=""/>
          <p:cNvPicPr/>
          <p:nvPr/>
        </p:nvPicPr>
        <p:blipFill>
          <a:blip r:embed="rId3"/>
          <a:stretch/>
        </p:blipFill>
        <p:spPr>
          <a:xfrm>
            <a:off x="2986200" y="4988880"/>
            <a:ext cx="939600" cy="934920"/>
          </a:xfrm>
          <a:prstGeom prst="rect">
            <a:avLst/>
          </a:prstGeom>
          <a:ln w="0">
            <a:noFill/>
          </a:ln>
        </p:spPr>
      </p:pic>
      <p:pic>
        <p:nvPicPr>
          <p:cNvPr id="111" name="Grafik 8" descr=""/>
          <p:cNvPicPr/>
          <p:nvPr/>
        </p:nvPicPr>
        <p:blipFill>
          <a:blip r:embed="rId4"/>
          <a:stretch/>
        </p:blipFill>
        <p:spPr>
          <a:xfrm>
            <a:off x="4516560" y="4256640"/>
            <a:ext cx="1077480" cy="643680"/>
          </a:xfrm>
          <a:prstGeom prst="rect">
            <a:avLst/>
          </a:prstGeom>
          <a:ln w="0">
            <a:noFill/>
          </a:ln>
        </p:spPr>
      </p:pic>
      <p:pic>
        <p:nvPicPr>
          <p:cNvPr id="112" name="Grafik 9" descr=""/>
          <p:cNvPicPr/>
          <p:nvPr/>
        </p:nvPicPr>
        <p:blipFill>
          <a:blip r:embed="rId5"/>
          <a:stretch/>
        </p:blipFill>
        <p:spPr>
          <a:xfrm>
            <a:off x="4141800" y="4988880"/>
            <a:ext cx="939600" cy="934920"/>
          </a:xfrm>
          <a:prstGeom prst="rect">
            <a:avLst/>
          </a:prstGeom>
          <a:ln w="0">
            <a:noFill/>
          </a:ln>
        </p:spPr>
      </p:pic>
      <p:sp>
        <p:nvSpPr>
          <p:cNvPr id="113" name="Rechteck 10"/>
          <p:cNvSpPr/>
          <p:nvPr/>
        </p:nvSpPr>
        <p:spPr>
          <a:xfrm>
            <a:off x="2986200" y="5467680"/>
            <a:ext cx="939600" cy="456120"/>
          </a:xfrm>
          <a:prstGeom prst="rect">
            <a:avLst/>
          </a:prstGeom>
          <a:solidFill>
            <a:schemeClr val="bg1">
              <a:alpha val="80000"/>
            </a:schemeClr>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15"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General parameters</a:t>
            </a:r>
            <a:endParaRPr b="0" lang="en-US" sz="2000" spc="-1" strike="noStrike">
              <a:latin typeface="Arial"/>
            </a:endParaRPr>
          </a:p>
        </p:txBody>
      </p:sp>
      <p:sp>
        <p:nvSpPr>
          <p:cNvPr id="116"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17" name="Tabelle 4"/>
          <p:cNvGraphicFramePr/>
          <p:nvPr/>
        </p:nvGraphicFramePr>
        <p:xfrm>
          <a:off x="933480" y="2647800"/>
          <a:ext cx="7835040" cy="249012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7436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DifferentialIncluded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Set to ‘true’ in the case a differential is part of the IEPC</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DesignTypeWheelMotor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Set to ‘true’ in the case of an IEPC design type wheel 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DesignTypeWheelMotorMeasured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Input only relevant in the case of an IEPC design type wheel motor, in accordance with paragraph 4.1.1.2 of Annex Xb.</a:t>
                      </a:r>
                      <a:endParaRPr b="0" lang="en-US" sz="1200" spc="-1" strike="noStrike">
                        <a:latin typeface="Arial"/>
                      </a:endParaRPr>
                    </a:p>
                    <a:p>
                      <a:pPr>
                        <a:lnSpc>
                          <a:spcPct val="100000"/>
                        </a:lnSpc>
                        <a:buNone/>
                      </a:pPr>
                      <a:r>
                        <a:rPr b="0" lang="en-US" sz="1200" spc="-1" strike="noStrike">
                          <a:solidFill>
                            <a:srgbClr val="000000"/>
                          </a:solidFill>
                          <a:latin typeface="Arial"/>
                        </a:rPr>
                        <a:t>Allowed values: ‘1’, ‘2’</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IEPC component</a:t>
            </a:r>
            <a:endParaRPr b="0" lang="en-US" sz="2400" spc="-1" strike="noStrike">
              <a:latin typeface="Arial"/>
            </a:endParaRPr>
          </a:p>
        </p:txBody>
      </p:sp>
      <p:sp>
        <p:nvSpPr>
          <p:cNvPr id="119"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IEPC performance parameters</a:t>
            </a:r>
            <a:endParaRPr b="0" lang="en-US" sz="2000" spc="-1" strike="noStrike">
              <a:latin typeface="Arial"/>
            </a:endParaRPr>
          </a:p>
        </p:txBody>
      </p:sp>
      <p:sp>
        <p:nvSpPr>
          <p:cNvPr id="120"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21" name="Tabelle 4"/>
          <p:cNvGraphicFramePr/>
          <p:nvPr/>
        </p:nvGraphicFramePr>
        <p:xfrm>
          <a:off x="933480" y="2647800"/>
          <a:ext cx="7835040" cy="264420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43308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ratio, MaxOutputShaftTorque (optional), MaxOutputShaftSpeed (optional)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Only for one voltage level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IEPC Input Form</a:t>
            </a:r>
            <a:endParaRPr b="0" lang="en-US" sz="2400" spc="-1" strike="noStrike">
              <a:latin typeface="Arial"/>
            </a:endParaRPr>
          </a:p>
        </p:txBody>
      </p:sp>
      <p:sp>
        <p:nvSpPr>
          <p:cNvPr id="123" name="PlaceHolder 2"/>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24" name="Grafik 4" descr=""/>
          <p:cNvPicPr/>
          <p:nvPr/>
        </p:nvPicPr>
        <p:blipFill>
          <a:blip r:embed="rId1"/>
          <a:stretch/>
        </p:blipFill>
        <p:spPr>
          <a:xfrm>
            <a:off x="4567680" y="1908720"/>
            <a:ext cx="4449240" cy="3287880"/>
          </a:xfrm>
          <a:prstGeom prst="rect">
            <a:avLst/>
          </a:prstGeom>
          <a:ln w="0">
            <a:noFill/>
          </a:ln>
        </p:spPr>
      </p:pic>
      <p:sp>
        <p:nvSpPr>
          <p:cNvPr id="125" name="Gerade Verbindung mit Pfeil 6"/>
          <p:cNvSpPr/>
          <p:nvPr/>
        </p:nvSpPr>
        <p:spPr>
          <a:xfrm flipH="1" flipV="1">
            <a:off x="4938120" y="4318920"/>
            <a:ext cx="495360" cy="8769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6" name="Gerade Verbindung mit Pfeil 8"/>
          <p:cNvSpPr/>
          <p:nvPr/>
        </p:nvSpPr>
        <p:spPr>
          <a:xfrm flipV="1">
            <a:off x="5435640" y="3551760"/>
            <a:ext cx="1991520" cy="164340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7" name="Grafik 5" descr=""/>
          <p:cNvPicPr/>
          <p:nvPr/>
        </p:nvPicPr>
        <p:blipFill>
          <a:blip r:embed="rId2"/>
          <a:stretch/>
        </p:blipFill>
        <p:spPr>
          <a:xfrm>
            <a:off x="622440" y="1908720"/>
            <a:ext cx="3526920" cy="3027240"/>
          </a:xfrm>
          <a:prstGeom prst="rect">
            <a:avLst/>
          </a:prstGeom>
          <a:ln w="0">
            <a:noFill/>
          </a:ln>
        </p:spPr>
      </p:pic>
      <p:sp>
        <p:nvSpPr>
          <p:cNvPr id="128" name="Pfeil nach rechts 7"/>
          <p:cNvSpPr/>
          <p:nvPr/>
        </p:nvSpPr>
        <p:spPr>
          <a:xfrm>
            <a:off x="4150440" y="2647080"/>
            <a:ext cx="473040" cy="12700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9" name="Textfeld 9"/>
          <p:cNvSpPr/>
          <p:nvPr/>
        </p:nvSpPr>
        <p:spPr>
          <a:xfrm>
            <a:off x="4701960" y="5153400"/>
            <a:ext cx="2442600" cy="8197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Lists with gear entries are synchronized, gears can be added/removed in the gear-list on the right</a:t>
            </a:r>
            <a:endParaRPr b="0" lang="en-US" sz="1200" spc="-1" strike="noStrike">
              <a:latin typeface="Arial"/>
            </a:endParaRPr>
          </a:p>
        </p:txBody>
      </p:sp>
      <p:sp>
        <p:nvSpPr>
          <p:cNvPr id="130" name="Textfeld 11"/>
          <p:cNvSpPr/>
          <p:nvPr/>
        </p:nvSpPr>
        <p:spPr>
          <a:xfrm>
            <a:off x="622440" y="5065560"/>
            <a:ext cx="3526920" cy="4546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Definition of IEPC component via</a:t>
            </a:r>
            <a:br>
              <a:rPr sz="1200"/>
            </a:br>
            <a:r>
              <a:rPr b="1" i="1" lang="en-US" sz="1200" spc="-1" strike="noStrike">
                <a:solidFill>
                  <a:srgbClr val="000000"/>
                </a:solidFill>
                <a:latin typeface="Arial"/>
                <a:ea typeface="DejaVu Sans"/>
              </a:rPr>
              <a:t>“Vehicle \ IEPC-Tab”</a:t>
            </a:r>
            <a:endParaRPr b="0" lang="en-US" sz="1200" spc="-1" strike="noStrike">
              <a:latin typeface="Arial"/>
            </a:endParaRPr>
          </a:p>
        </p:txBody>
      </p:sp>
      <p:sp>
        <p:nvSpPr>
          <p:cNvPr id="131" name="Ellipse 12"/>
          <p:cNvSpPr/>
          <p:nvPr/>
        </p:nvSpPr>
        <p:spPr>
          <a:xfrm>
            <a:off x="529560" y="2379240"/>
            <a:ext cx="578520" cy="1760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2" name="Ellipse 13"/>
          <p:cNvSpPr/>
          <p:nvPr/>
        </p:nvSpPr>
        <p:spPr>
          <a:xfrm>
            <a:off x="1630080" y="3207600"/>
            <a:ext cx="578520" cy="14292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3" name="Gerade Verbindung mit Pfeil 15"/>
          <p:cNvSpPr/>
          <p:nvPr/>
        </p:nvSpPr>
        <p:spPr>
          <a:xfrm flipH="1" flipV="1">
            <a:off x="1697040" y="3477600"/>
            <a:ext cx="186120" cy="33012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4" name="Textfeld 17"/>
          <p:cNvSpPr/>
          <p:nvPr/>
        </p:nvSpPr>
        <p:spPr>
          <a:xfrm>
            <a:off x="1825920" y="3666960"/>
            <a:ext cx="1315080" cy="409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Click for specific IEPC GUI-window</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Gearbox Form for IEPC Vehicles</a:t>
            </a:r>
            <a:endParaRPr b="0" lang="en-US" sz="2400" spc="-1" strike="noStrike">
              <a:latin typeface="Arial"/>
            </a:endParaRPr>
          </a:p>
        </p:txBody>
      </p:sp>
      <p:sp>
        <p:nvSpPr>
          <p:cNvPr id="136" name="PlaceHolder 2"/>
          <p:cNvSpPr>
            <a:spLocks noGrp="1"/>
          </p:cNvSpPr>
          <p:nvPr>
            <p:ph/>
          </p:nvPr>
        </p:nvSpPr>
        <p:spPr>
          <a:xfrm>
            <a:off x="622440" y="2137320"/>
            <a:ext cx="3633480" cy="34808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No gearbox file needs to be provided for IEPC with differential included (case 2)</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New IEPC gearbox type for all other variants where only the axlegear ratio needs to be provided</a:t>
            </a:r>
            <a:endParaRPr b="0" lang="en-US" sz="2000" spc="-1" strike="noStrike">
              <a:latin typeface="Arial"/>
            </a:endParaRPr>
          </a:p>
        </p:txBody>
      </p:sp>
      <p:sp>
        <p:nvSpPr>
          <p:cNvPr id="137"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38" name="Grafik 4" descr=""/>
          <p:cNvPicPr/>
          <p:nvPr/>
        </p:nvPicPr>
        <p:blipFill>
          <a:blip r:embed="rId1"/>
          <a:stretch/>
        </p:blipFill>
        <p:spPr>
          <a:xfrm>
            <a:off x="4500000" y="2137320"/>
            <a:ext cx="3515760" cy="3321360"/>
          </a:xfrm>
          <a:prstGeom prst="rect">
            <a:avLst/>
          </a:prstGeom>
          <a:ln w="0">
            <a:noFill/>
          </a:ln>
        </p:spPr>
      </p:pic>
      <p:sp>
        <p:nvSpPr>
          <p:cNvPr id="139" name="Gerade Verbindung mit Pfeil 5"/>
          <p:cNvSpPr/>
          <p:nvPr/>
        </p:nvSpPr>
        <p:spPr>
          <a:xfrm flipH="1">
            <a:off x="6163560" y="2885400"/>
            <a:ext cx="811080" cy="29124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40" name="Textfeld 6"/>
          <p:cNvSpPr/>
          <p:nvPr/>
        </p:nvSpPr>
        <p:spPr>
          <a:xfrm>
            <a:off x="6977160" y="2596680"/>
            <a:ext cx="2003400" cy="569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Specific Gearbox Type for IEPC. Only requires axlegear to be provided</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Modeling of IHPC component</a:t>
            </a:r>
            <a:endParaRPr b="0" lang="en-US" sz="2400" spc="-1" strike="noStrike">
              <a:latin typeface="Arial"/>
            </a:endParaRPr>
          </a:p>
        </p:txBody>
      </p:sp>
      <p:sp>
        <p:nvSpPr>
          <p:cNvPr id="142"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transmission is modeled as APT-N</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electric motor is modeled as regular electric motor at position P2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Gear-dependent power maps</a:t>
            </a:r>
            <a:endParaRPr b="0" lang="en-US" sz="1800" spc="-1" strike="noStrike">
              <a:latin typeface="Arial"/>
            </a:endParaRPr>
          </a:p>
          <a:p>
            <a:pPr>
              <a:lnSpc>
                <a:spcPct val="100000"/>
              </a:lnSpc>
              <a:buNone/>
            </a:pP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Peculiarities of IHPC</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Drag-curve shall be set to </a:t>
            </a:r>
            <a:r>
              <a:rPr b="1" lang="en-US" sz="1800" spc="-1" strike="noStrike">
                <a:solidFill>
                  <a:srgbClr val="000000"/>
                </a:solidFill>
                <a:latin typeface="Arial"/>
              </a:rPr>
              <a:t>0 Nm</a:t>
            </a:r>
            <a:r>
              <a:rPr b="0" lang="en-US" sz="1800" spc="-1" strike="noStrike">
                <a:solidFill>
                  <a:srgbClr val="000000"/>
                </a:solidFill>
                <a:latin typeface="Arial"/>
              </a:rPr>
              <a:t> acc. to Annex Xb</a:t>
            </a:r>
            <a:endParaRPr b="0" lang="en-US" sz="1800" spc="-1" strike="noStrike">
              <a:latin typeface="Arial"/>
            </a:endParaRPr>
          </a:p>
          <a:p>
            <a:pPr>
              <a:lnSpc>
                <a:spcPct val="100000"/>
              </a:lnSpc>
              <a:buNone/>
            </a:pP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detailed description of component characteristics as well as</a:t>
            </a:r>
            <a:br>
              <a:rPr sz="2000"/>
            </a:br>
            <a:r>
              <a:rPr b="0" lang="en-US" sz="2000" spc="-1" strike="noStrike">
                <a:solidFill>
                  <a:srgbClr val="000000"/>
                </a:solidFill>
                <a:latin typeface="Arial"/>
              </a:rPr>
              <a:t>testing and measurement post-processing methods please refer to Annex Xb</a:t>
            </a:r>
            <a:endParaRPr b="0" lang="en-US" sz="2000" spc="-1" strike="noStrike">
              <a:latin typeface="Arial"/>
            </a:endParaRPr>
          </a:p>
        </p:txBody>
      </p:sp>
      <p:sp>
        <p:nvSpPr>
          <p:cNvPr id="143"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45"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general parameters EM </a:t>
            </a:r>
            <a:r>
              <a:rPr b="0" i="1" lang="en-US" sz="2000" spc="-1" strike="noStrike">
                <a:solidFill>
                  <a:srgbClr val="000000"/>
                </a:solidFill>
                <a:latin typeface="Arial"/>
              </a:rPr>
              <a:t>(same as for basic EM component)</a:t>
            </a:r>
            <a:endParaRPr b="0" lang="en-US" sz="2000" spc="-1" strike="noStrike">
              <a:latin typeface="Arial"/>
            </a:endParaRPr>
          </a:p>
        </p:txBody>
      </p:sp>
      <p:sp>
        <p:nvSpPr>
          <p:cNvPr id="146"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47" name="Tabelle 4"/>
          <p:cNvGraphicFramePr/>
          <p:nvPr/>
        </p:nvGraphicFramePr>
        <p:xfrm>
          <a:off x="933480" y="2647800"/>
          <a:ext cx="7835040" cy="74124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49"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performance parameters EM</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EM component, except </a:t>
            </a:r>
            <a:r>
              <a:rPr b="1" i="1" lang="en-US" sz="2000" spc="-1" strike="noStrike" u="sng">
                <a:solidFill>
                  <a:srgbClr val="000000"/>
                </a:solidFill>
                <a:uFillTx/>
                <a:latin typeface="Arial"/>
              </a:rPr>
              <a:t>multiple El. power maps</a:t>
            </a:r>
            <a:endParaRPr b="0" lang="en-US" sz="2000" spc="-1" strike="noStrike">
              <a:latin typeface="Arial"/>
            </a:endParaRPr>
          </a:p>
        </p:txBody>
      </p:sp>
      <p:sp>
        <p:nvSpPr>
          <p:cNvPr id="150"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51" name="Tabelle 4"/>
          <p:cNvGraphicFramePr/>
          <p:nvPr/>
        </p:nvGraphicFramePr>
        <p:xfrm>
          <a:off x="933480" y="3238560"/>
          <a:ext cx="7835040" cy="258192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gearbox file)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1" lang="en-US" sz="1200" spc="-1" strike="noStrike" u="sng">
                          <a:solidFill>
                            <a:srgbClr val="000000"/>
                          </a:solidFill>
                          <a:uFillTx/>
                          <a:latin typeface="Arial"/>
                        </a:rPr>
                        <a:t>NOT MEASURED</a:t>
                      </a:r>
                      <a:r>
                        <a:rPr b="0" lang="en-US" sz="1200" spc="-1" strike="noStrike">
                          <a:solidFill>
                            <a:srgbClr val="000000"/>
                          </a:solidFill>
                          <a:latin typeface="Arial"/>
                        </a:rPr>
                        <a:t> acc. to Annex Xb, but input of “0 Nm” drag torque reqired!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Input data for IHPC component</a:t>
            </a:r>
            <a:endParaRPr b="0" lang="en-US" sz="2400" spc="-1" strike="noStrike">
              <a:latin typeface="Arial"/>
            </a:endParaRPr>
          </a:p>
        </p:txBody>
      </p:sp>
      <p:sp>
        <p:nvSpPr>
          <p:cNvPr id="153"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IHPC parameters Gearbox</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transmission component</a:t>
            </a:r>
            <a:br>
              <a:rPr sz="2000"/>
            </a:br>
            <a:r>
              <a:rPr b="0" i="1" lang="en-US" sz="2000" spc="-1" strike="noStrike">
                <a:solidFill>
                  <a:srgbClr val="000000"/>
                </a:solidFill>
                <a:latin typeface="Wingdings"/>
              </a:rPr>
              <a:t></a:t>
            </a:r>
            <a:r>
              <a:rPr b="0" i="1" lang="en-US" sz="2000" spc="-1" strike="noStrike">
                <a:solidFill>
                  <a:srgbClr val="000000"/>
                </a:solidFill>
                <a:latin typeface="Arial"/>
              </a:rPr>
              <a:t> transmission type needs to be set to </a:t>
            </a:r>
            <a:r>
              <a:rPr b="1" i="1" lang="en-US" sz="2000" spc="-1" strike="noStrike" u="sng">
                <a:solidFill>
                  <a:srgbClr val="000000"/>
                </a:solidFill>
                <a:uFillTx/>
                <a:latin typeface="Arial"/>
              </a:rPr>
              <a:t>”IHPC Transmission”</a:t>
            </a:r>
            <a:endParaRPr b="0" lang="en-US" sz="2000" spc="-1" strike="noStrike">
              <a:latin typeface="Arial"/>
            </a:endParaRPr>
          </a:p>
        </p:txBody>
      </p:sp>
      <p:sp>
        <p:nvSpPr>
          <p:cNvPr id="154"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55" name="Tabelle 4"/>
          <p:cNvGraphicFramePr/>
          <p:nvPr/>
        </p:nvGraphicFramePr>
        <p:xfrm>
          <a:off x="933480" y="3238560"/>
          <a:ext cx="7835040" cy="148284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identifier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IHPC file)</a:t>
                      </a: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Ratio</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Loss Map</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For each gear</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Methodology how to derive data acc. to Annex Xb</a:t>
                      </a:r>
                      <a:br>
                        <a:rPr sz="1200"/>
                      </a:br>
                      <a:r>
                        <a:rPr b="0" lang="en-US" sz="1200" spc="-1" strike="noStrike">
                          <a:solidFill>
                            <a:srgbClr val="000000"/>
                          </a:solidFill>
                          <a:latin typeface="Arial"/>
                        </a:rPr>
                        <a:t>(esp. braking side needs to be measured separately as well – as opposed to copy-paste for regular transmission testing)</a:t>
                      </a:r>
                      <a:endParaRPr b="0" lang="en-US" sz="1200" spc="-1" strike="noStrike">
                        <a:latin typeface="Arial"/>
                      </a:endParaRPr>
                    </a:p>
                    <a:p>
                      <a:pPr>
                        <a:lnSpc>
                          <a:spcPct val="100000"/>
                        </a:lnSpc>
                        <a:buNone/>
                        <a:tabLst>
                          <a:tab algn="l" pos="0"/>
                        </a:tabLst>
                      </a:pP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6" name="Grafik 36" descr=""/>
          <p:cNvPicPr/>
          <p:nvPr/>
        </p:nvPicPr>
        <p:blipFill>
          <a:blip r:embed="rId1"/>
          <a:stretch/>
        </p:blipFill>
        <p:spPr>
          <a:xfrm>
            <a:off x="6566040" y="1469880"/>
            <a:ext cx="2450160" cy="2747880"/>
          </a:xfrm>
          <a:prstGeom prst="rect">
            <a:avLst/>
          </a:prstGeom>
          <a:ln w="0">
            <a:noFill/>
          </a:ln>
        </p:spPr>
      </p:pic>
      <p:pic>
        <p:nvPicPr>
          <p:cNvPr id="157" name="Grafik 34" descr=""/>
          <p:cNvPicPr/>
          <p:nvPr/>
        </p:nvPicPr>
        <p:blipFill>
          <a:blip r:embed="rId2"/>
          <a:srcRect l="0" t="0" r="0" b="44682"/>
          <a:stretch/>
        </p:blipFill>
        <p:spPr>
          <a:xfrm>
            <a:off x="5650920" y="4423680"/>
            <a:ext cx="3364920" cy="1541520"/>
          </a:xfrm>
          <a:prstGeom prst="rect">
            <a:avLst/>
          </a:prstGeom>
          <a:ln w="0">
            <a:solidFill>
              <a:srgbClr val="000000"/>
            </a:solidFill>
          </a:ln>
        </p:spPr>
      </p:pic>
      <p:pic>
        <p:nvPicPr>
          <p:cNvPr id="158" name="Grafik 27" descr=""/>
          <p:cNvPicPr/>
          <p:nvPr/>
        </p:nvPicPr>
        <p:blipFill>
          <a:blip r:embed="rId3"/>
          <a:srcRect l="0" t="0" r="43153" b="0"/>
          <a:stretch/>
        </p:blipFill>
        <p:spPr>
          <a:xfrm>
            <a:off x="676440" y="1908720"/>
            <a:ext cx="2004480" cy="2471400"/>
          </a:xfrm>
          <a:prstGeom prst="rect">
            <a:avLst/>
          </a:prstGeom>
          <a:ln w="0">
            <a:solidFill>
              <a:srgbClr val="000000"/>
            </a:solidFill>
          </a:ln>
        </p:spPr>
      </p:pic>
      <p:sp>
        <p:nvSpPr>
          <p:cNvPr id="159"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IHPC Input Form</a:t>
            </a:r>
            <a:endParaRPr b="0" lang="en-US" sz="2400" spc="-1" strike="noStrike">
              <a:latin typeface="Arial"/>
            </a:endParaRPr>
          </a:p>
        </p:txBody>
      </p:sp>
      <p:sp>
        <p:nvSpPr>
          <p:cNvPr id="160" name="PlaceHolder 2"/>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
        <p:nvSpPr>
          <p:cNvPr id="161" name="Gerade Verbindung mit Pfeil 6"/>
          <p:cNvSpPr/>
          <p:nvPr/>
        </p:nvSpPr>
        <p:spPr>
          <a:xfrm flipH="1">
            <a:off x="5833080" y="4035240"/>
            <a:ext cx="223920" cy="145764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2" name="Gerade Verbindung mit Pfeil 8"/>
          <p:cNvSpPr/>
          <p:nvPr/>
        </p:nvSpPr>
        <p:spPr>
          <a:xfrm flipV="1">
            <a:off x="6058800" y="3477600"/>
            <a:ext cx="657000" cy="55584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3" name="Pfeil nach rechts 7"/>
          <p:cNvSpPr/>
          <p:nvPr/>
        </p:nvSpPr>
        <p:spPr>
          <a:xfrm>
            <a:off x="5894280" y="2058840"/>
            <a:ext cx="610920" cy="127008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4" name="Textfeld 9"/>
          <p:cNvSpPr/>
          <p:nvPr/>
        </p:nvSpPr>
        <p:spPr>
          <a:xfrm>
            <a:off x="4579200" y="3804480"/>
            <a:ext cx="1478520" cy="45468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601"/>
              </a:spcBef>
              <a:buNone/>
            </a:pPr>
            <a:r>
              <a:rPr b="1" lang="en-US" sz="1200" spc="-1" strike="noStrike">
                <a:solidFill>
                  <a:srgbClr val="000000"/>
                </a:solidFill>
                <a:latin typeface="Arial"/>
                <a:ea typeface="DejaVu Sans"/>
              </a:rPr>
              <a:t>Number of gears</a:t>
            </a:r>
            <a:br>
              <a:rPr sz="1200"/>
            </a:br>
            <a:r>
              <a:rPr b="1" lang="en-US" sz="1200" spc="-1" strike="noStrike">
                <a:solidFill>
                  <a:srgbClr val="000000"/>
                </a:solidFill>
                <a:latin typeface="Arial"/>
                <a:ea typeface="DejaVu Sans"/>
              </a:rPr>
              <a:t>need to match</a:t>
            </a:r>
            <a:endParaRPr b="0" lang="en-US" sz="1200" spc="-1" strike="noStrike">
              <a:latin typeface="Arial"/>
            </a:endParaRPr>
          </a:p>
        </p:txBody>
      </p:sp>
      <p:sp>
        <p:nvSpPr>
          <p:cNvPr id="165" name="Textfeld 11"/>
          <p:cNvSpPr/>
          <p:nvPr/>
        </p:nvSpPr>
        <p:spPr>
          <a:xfrm>
            <a:off x="583560" y="4470120"/>
            <a:ext cx="2489760" cy="10785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ea typeface="DejaVu Sans"/>
              </a:rPr>
              <a:t>Definition of IHPC component as two separate component parts via</a:t>
            </a:r>
            <a:br>
              <a:rPr sz="1200"/>
            </a:br>
            <a:r>
              <a:rPr b="1" lang="en-US" sz="1200" spc="-1" strike="noStrike">
                <a:solidFill>
                  <a:srgbClr val="000000"/>
                </a:solidFill>
                <a:latin typeface="Arial"/>
                <a:ea typeface="DejaVu Sans"/>
              </a:rPr>
              <a:t>#1: </a:t>
            </a:r>
            <a:r>
              <a:rPr b="1" i="1" lang="en-US" sz="1200" spc="-1" strike="noStrike">
                <a:solidFill>
                  <a:srgbClr val="000000"/>
                </a:solidFill>
                <a:latin typeface="Arial"/>
                <a:ea typeface="DejaVu Sans"/>
              </a:rPr>
              <a:t>“Vehicle \ IHPC-Tab”</a:t>
            </a:r>
            <a:endParaRPr b="0" lang="en-US" sz="1200" spc="-1" strike="noStrike">
              <a:latin typeface="Arial"/>
            </a:endParaRPr>
          </a:p>
          <a:p>
            <a:pPr algn="ctr">
              <a:lnSpc>
                <a:spcPct val="100000"/>
              </a:lnSpc>
              <a:spcBef>
                <a:spcPts val="601"/>
              </a:spcBef>
              <a:buNone/>
            </a:pPr>
            <a:r>
              <a:rPr b="1" lang="en-US" sz="1200" spc="-1" strike="noStrike">
                <a:solidFill>
                  <a:srgbClr val="000000"/>
                </a:solidFill>
                <a:latin typeface="Arial"/>
                <a:ea typeface="DejaVu Sans"/>
              </a:rPr>
              <a:t>#2: </a:t>
            </a:r>
            <a:r>
              <a:rPr b="1" i="1" lang="en-US" sz="1200" spc="-1" strike="noStrike">
                <a:solidFill>
                  <a:srgbClr val="000000"/>
                </a:solidFill>
                <a:latin typeface="Arial"/>
                <a:ea typeface="DejaVu Sans"/>
              </a:rPr>
              <a:t>“Gearbox”</a:t>
            </a:r>
            <a:endParaRPr b="0" lang="en-US" sz="1200" spc="-1" strike="noStrike">
              <a:latin typeface="Arial"/>
            </a:endParaRPr>
          </a:p>
        </p:txBody>
      </p:sp>
      <p:sp>
        <p:nvSpPr>
          <p:cNvPr id="166" name="Ellipse 12"/>
          <p:cNvSpPr/>
          <p:nvPr/>
        </p:nvSpPr>
        <p:spPr>
          <a:xfrm>
            <a:off x="583560" y="2413080"/>
            <a:ext cx="578520" cy="10692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7" name="Grafik 16" descr=""/>
          <p:cNvPicPr/>
          <p:nvPr/>
        </p:nvPicPr>
        <p:blipFill>
          <a:blip r:embed="rId4"/>
          <a:srcRect l="0" t="0" r="0" b="34206"/>
          <a:stretch/>
        </p:blipFill>
        <p:spPr>
          <a:xfrm>
            <a:off x="3324600" y="1908720"/>
            <a:ext cx="2508120" cy="1622880"/>
          </a:xfrm>
          <a:prstGeom prst="rect">
            <a:avLst/>
          </a:prstGeom>
          <a:ln w="0">
            <a:solidFill>
              <a:srgbClr val="000000"/>
            </a:solidFill>
          </a:ln>
        </p:spPr>
      </p:pic>
      <p:sp>
        <p:nvSpPr>
          <p:cNvPr id="168" name="Ellipse 13"/>
          <p:cNvSpPr/>
          <p:nvPr/>
        </p:nvSpPr>
        <p:spPr>
          <a:xfrm>
            <a:off x="3357360" y="2801160"/>
            <a:ext cx="578520" cy="142920"/>
          </a:xfrm>
          <a:prstGeom prst="ellipse">
            <a:avLst/>
          </a:prstGeom>
          <a:solidFill>
            <a:srgbClr val="ff0000">
              <a:alpha val="15000"/>
            </a:srgbClr>
          </a:solidFill>
          <a:ln w="28575">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9" name="Gerade Verbindung mit Pfeil 15"/>
          <p:cNvSpPr/>
          <p:nvPr/>
        </p:nvSpPr>
        <p:spPr>
          <a:xfrm flipH="1" flipV="1">
            <a:off x="3701880" y="3024000"/>
            <a:ext cx="186120" cy="33012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0" name="Textfeld 17"/>
          <p:cNvSpPr/>
          <p:nvPr/>
        </p:nvSpPr>
        <p:spPr>
          <a:xfrm>
            <a:off x="3830760" y="3159000"/>
            <a:ext cx="1315080" cy="4093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ea typeface="DejaVu Sans"/>
              </a:rPr>
              <a:t>Click for specific IHPC GUI-window</a:t>
            </a:r>
            <a:endParaRPr b="0" lang="en-US" sz="1050" spc="-1" strike="noStrike">
              <a:latin typeface="Arial"/>
            </a:endParaRPr>
          </a:p>
        </p:txBody>
      </p:sp>
      <p:sp>
        <p:nvSpPr>
          <p:cNvPr id="171" name="Textfeld 19"/>
          <p:cNvSpPr/>
          <p:nvPr/>
        </p:nvSpPr>
        <p:spPr>
          <a:xfrm>
            <a:off x="13680" y="2660040"/>
            <a:ext cx="67608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latin typeface="Arial"/>
            </a:endParaRPr>
          </a:p>
        </p:txBody>
      </p:sp>
      <p:sp>
        <p:nvSpPr>
          <p:cNvPr id="172" name="Textfeld 20"/>
          <p:cNvSpPr/>
          <p:nvPr/>
        </p:nvSpPr>
        <p:spPr>
          <a:xfrm>
            <a:off x="784440" y="3373560"/>
            <a:ext cx="99000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latin typeface="Arial"/>
            </a:endParaRPr>
          </a:p>
        </p:txBody>
      </p:sp>
      <p:sp>
        <p:nvSpPr>
          <p:cNvPr id="173" name="Gerade Verbindung mit Pfeil 21"/>
          <p:cNvSpPr/>
          <p:nvPr/>
        </p:nvSpPr>
        <p:spPr>
          <a:xfrm flipV="1">
            <a:off x="352080" y="2503800"/>
            <a:ext cx="315360" cy="15372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4" name="Gerade Verbindung mit Pfeil 24"/>
          <p:cNvSpPr/>
          <p:nvPr/>
        </p:nvSpPr>
        <p:spPr>
          <a:xfrm flipH="1" flipV="1">
            <a:off x="872640" y="2747880"/>
            <a:ext cx="405360" cy="62424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5" name="Ellipse 25"/>
          <p:cNvSpPr/>
          <p:nvPr/>
        </p:nvSpPr>
        <p:spPr>
          <a:xfrm>
            <a:off x="583560" y="2640600"/>
            <a:ext cx="578520" cy="10692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6" name="Pfeil nach rechts 28"/>
          <p:cNvSpPr/>
          <p:nvPr/>
        </p:nvSpPr>
        <p:spPr>
          <a:xfrm>
            <a:off x="1369800" y="2322360"/>
            <a:ext cx="1872720" cy="36432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ea typeface="DejaVu Sans"/>
              </a:rPr>
              <a:t>item #1</a:t>
            </a:r>
            <a:endParaRPr b="0" lang="en-US" sz="1100" spc="-1" strike="noStrike">
              <a:latin typeface="Arial"/>
            </a:endParaRPr>
          </a:p>
        </p:txBody>
      </p:sp>
      <p:sp>
        <p:nvSpPr>
          <p:cNvPr id="177" name="Pfeil nach rechts 31"/>
          <p:cNvSpPr/>
          <p:nvPr/>
        </p:nvSpPr>
        <p:spPr>
          <a:xfrm rot="1800000">
            <a:off x="831240" y="3837240"/>
            <a:ext cx="4723920" cy="36432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ea typeface="DejaVu Sans"/>
              </a:rPr>
              <a:t>item #2</a:t>
            </a:r>
            <a:endParaRPr b="0" lang="en-US" sz="1100" spc="-1" strike="noStrike">
              <a:latin typeface="Arial"/>
            </a:endParaRPr>
          </a:p>
        </p:txBody>
      </p:sp>
      <p:sp>
        <p:nvSpPr>
          <p:cNvPr id="178" name="Ellipse 35"/>
          <p:cNvSpPr/>
          <p:nvPr/>
        </p:nvSpPr>
        <p:spPr>
          <a:xfrm>
            <a:off x="6062760" y="4896360"/>
            <a:ext cx="934920" cy="14292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9" name="Textfeld 41"/>
          <p:cNvSpPr/>
          <p:nvPr/>
        </p:nvSpPr>
        <p:spPr>
          <a:xfrm>
            <a:off x="6800400" y="4439880"/>
            <a:ext cx="99000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#2:</a:t>
            </a:r>
            <a:br>
              <a:rPr sz="900"/>
            </a:br>
            <a:r>
              <a:rPr b="1" lang="en-US" sz="900" spc="-1" strike="noStrike">
                <a:solidFill>
                  <a:srgbClr val="ff0000"/>
                </a:solidFill>
                <a:latin typeface="Arial"/>
                <a:ea typeface="DejaVu Sans"/>
              </a:rPr>
              <a:t>IHPC-Gearbox</a:t>
            </a:r>
            <a:endParaRPr b="0" lang="en-US" sz="900" spc="-1" strike="noStrike">
              <a:latin typeface="Arial"/>
            </a:endParaRPr>
          </a:p>
        </p:txBody>
      </p:sp>
      <p:sp>
        <p:nvSpPr>
          <p:cNvPr id="180" name="Textfeld 42"/>
          <p:cNvSpPr/>
          <p:nvPr/>
        </p:nvSpPr>
        <p:spPr>
          <a:xfrm>
            <a:off x="7506720" y="1510200"/>
            <a:ext cx="676080" cy="36396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ea typeface="DejaVu Sans"/>
              </a:rPr>
              <a:t>Item #1:</a:t>
            </a:r>
            <a:br>
              <a:rPr sz="900"/>
            </a:br>
            <a:r>
              <a:rPr b="1" lang="en-US" sz="900" spc="-1" strike="noStrike">
                <a:solidFill>
                  <a:srgbClr val="ff0000"/>
                </a:solidFill>
                <a:latin typeface="Arial"/>
                <a:ea typeface="DejaVu Sans"/>
              </a:rPr>
              <a:t>IHPC-EM</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(1/3)</a:t>
            </a:r>
            <a:endParaRPr b="0" lang="en-US" sz="2400" spc="-1" strike="noStrike">
              <a:latin typeface="Arial"/>
            </a:endParaRPr>
          </a:p>
        </p:txBody>
      </p:sp>
      <p:sp>
        <p:nvSpPr>
          <p:cNvPr id="182"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Observation: GenSet often switching between optimal and maximum power, while operating constantly at optimal power would be sufficient</a:t>
            </a:r>
            <a:endParaRPr b="0" lang="en-US" sz="2000" spc="-1" strike="noStrike">
              <a:latin typeface="Arial"/>
            </a:endParaRPr>
          </a:p>
        </p:txBody>
      </p:sp>
      <p:sp>
        <p:nvSpPr>
          <p:cNvPr id="183"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4" name="Grafik 7" descr=""/>
          <p:cNvPicPr/>
          <p:nvPr/>
        </p:nvPicPr>
        <p:blipFill>
          <a:blip r:embed="rId1"/>
          <a:stretch/>
        </p:blipFill>
        <p:spPr>
          <a:xfrm>
            <a:off x="1650240" y="2942640"/>
            <a:ext cx="4498560" cy="275544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(2/3)</a:t>
            </a:r>
            <a:endParaRPr b="0" lang="en-US" sz="2400" spc="-1" strike="noStrike">
              <a:latin typeface="Arial"/>
            </a:endParaRPr>
          </a:p>
        </p:txBody>
      </p:sp>
      <p:sp>
        <p:nvSpPr>
          <p:cNvPr id="186" name="PlaceHolder 2"/>
          <p:cNvSpPr>
            <a:spLocks noGrp="1"/>
          </p:cNvSpPr>
          <p:nvPr>
            <p:ph/>
          </p:nvPr>
        </p:nvSpPr>
        <p:spPr>
          <a:xfrm>
            <a:off x="622440" y="2137320"/>
            <a:ext cx="5025960" cy="34808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Minor changes in Serial Hybrid Strategy</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on as soon as SoC falls below SoC_min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is switched off as soon as SoC reaches SoC_target</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GenSet operation points P_opt and P_max:</a:t>
            </a:r>
            <a:endParaRPr b="0" lang="en-US" sz="16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In total 4 points defined, for GenSet in regular and in de-rating condition</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SoC_min ≤ </a:t>
            </a:r>
            <a:r>
              <a:rPr b="1" lang="en-US" sz="1400" spc="-1" strike="noStrike">
                <a:solidFill>
                  <a:srgbClr val="000000"/>
                </a:solidFill>
                <a:latin typeface="Arial"/>
              </a:rPr>
              <a:t>SoC</a:t>
            </a:r>
            <a:r>
              <a:rPr b="0" lang="en-US" sz="1400" spc="-1" strike="noStrike">
                <a:solidFill>
                  <a:srgbClr val="000000"/>
                </a:solidFill>
                <a:latin typeface="Arial"/>
              </a:rPr>
              <a:t> &lt; SOC_target: P_opt</a:t>
            </a:r>
            <a:endParaRPr b="0" lang="en-US" sz="1400" spc="-1" strike="noStrike">
              <a:latin typeface="Arial"/>
            </a:endParaRPr>
          </a:p>
          <a:p>
            <a:pPr lvl="2" marL="1143000" indent="-228600">
              <a:lnSpc>
                <a:spcPct val="100000"/>
              </a:lnSpc>
              <a:spcBef>
                <a:spcPts val="281"/>
              </a:spcBef>
              <a:buClr>
                <a:srgbClr val="000000"/>
              </a:buClr>
              <a:buFont typeface="Symbol"/>
              <a:buChar char=""/>
            </a:pPr>
            <a:r>
              <a:rPr b="1" lang="en-US" sz="1400" spc="-1" strike="noStrike">
                <a:solidFill>
                  <a:srgbClr val="000000"/>
                </a:solidFill>
                <a:latin typeface="Arial"/>
              </a:rPr>
              <a:t>SoC</a:t>
            </a:r>
            <a:r>
              <a:rPr b="0" lang="en-US" sz="1400" spc="-1" strike="noStrike">
                <a:solidFill>
                  <a:srgbClr val="000000"/>
                </a:solidFill>
                <a:latin typeface="Arial"/>
              </a:rPr>
              <a:t> &lt; SoC_min:</a:t>
            </a:r>
            <a:endParaRPr b="0" lang="en-US" sz="1400" spc="-1" strike="noStrike">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&gt; P_opt: GENSET @ P_max</a:t>
            </a:r>
            <a:endParaRPr b="0" lang="en-US" sz="1200" spc="-1" strike="noStrike">
              <a:latin typeface="Arial"/>
            </a:endParaRPr>
          </a:p>
          <a:p>
            <a:pPr lvl="3" marL="1600200" indent="-228600">
              <a:lnSpc>
                <a:spcPct val="100000"/>
              </a:lnSpc>
              <a:spcBef>
                <a:spcPts val="241"/>
              </a:spcBef>
              <a:buClr>
                <a:srgbClr val="000000"/>
              </a:buClr>
              <a:buFont typeface="Symbol"/>
              <a:buChar char=""/>
            </a:pPr>
            <a:r>
              <a:rPr b="0" lang="en-US" sz="1200" spc="-1" strike="noStrike">
                <a:solidFill>
                  <a:srgbClr val="000000"/>
                </a:solidFill>
                <a:latin typeface="Arial"/>
              </a:rPr>
              <a:t>requested el. power ≤ P_opt: GENSET @ P_opt</a:t>
            </a:r>
            <a:endParaRPr b="0" lang="en-US" sz="1200" spc="-1" strike="noStrike">
              <a:latin typeface="Arial"/>
            </a:endParaRPr>
          </a:p>
          <a:p>
            <a:pPr lvl="1" marL="743040" indent="-285840">
              <a:lnSpc>
                <a:spcPct val="100000"/>
              </a:lnSpc>
              <a:spcBef>
                <a:spcPts val="320"/>
              </a:spcBef>
              <a:buClr>
                <a:srgbClr val="000000"/>
              </a:buClr>
              <a:buFont typeface="Symbol"/>
              <a:buChar char=""/>
            </a:pPr>
            <a:r>
              <a:rPr b="0" i="1" lang="en-US" sz="1600" spc="-1" strike="noStrike">
                <a:solidFill>
                  <a:srgbClr val="000000"/>
                </a:solidFill>
                <a:latin typeface="Arial"/>
              </a:rPr>
              <a:t>Note: SoC_min shall be above battery’s min SoC</a:t>
            </a:r>
            <a:endParaRPr b="0" lang="en-US" sz="1600" spc="-1" strike="noStrike">
              <a:latin typeface="Arial"/>
            </a:endParaRPr>
          </a:p>
        </p:txBody>
      </p:sp>
      <p:sp>
        <p:nvSpPr>
          <p:cNvPr id="187"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8" name="Grafik 4" descr=""/>
          <p:cNvPicPr/>
          <p:nvPr/>
        </p:nvPicPr>
        <p:blipFill>
          <a:blip r:embed="rId1"/>
          <a:stretch/>
        </p:blipFill>
        <p:spPr>
          <a:xfrm>
            <a:off x="5649120" y="4174560"/>
            <a:ext cx="3366720" cy="1362600"/>
          </a:xfrm>
          <a:prstGeom prst="rect">
            <a:avLst/>
          </a:prstGeom>
          <a:ln w="0">
            <a:noFill/>
          </a:ln>
        </p:spPr>
      </p:pic>
      <p:pic>
        <p:nvPicPr>
          <p:cNvPr id="189" name="Grafik 5" descr=""/>
          <p:cNvPicPr/>
          <p:nvPr/>
        </p:nvPicPr>
        <p:blipFill>
          <a:blip r:embed="rId2"/>
          <a:stretch/>
        </p:blipFill>
        <p:spPr>
          <a:xfrm>
            <a:off x="7012440" y="1480680"/>
            <a:ext cx="2003400" cy="2350080"/>
          </a:xfrm>
          <a:prstGeom prst="rect">
            <a:avLst/>
          </a:prstGeom>
          <a:ln w="0">
            <a:noFill/>
          </a:ln>
        </p:spPr>
      </p:pic>
      <p:sp>
        <p:nvSpPr>
          <p:cNvPr id="190" name="Gerade Verbindung mit Pfeil 6"/>
          <p:cNvSpPr/>
          <p:nvPr/>
        </p:nvSpPr>
        <p:spPr>
          <a:xfrm flipV="1">
            <a:off x="6318360" y="2519640"/>
            <a:ext cx="640440" cy="1571400"/>
          </a:xfrm>
          <a:custGeom>
            <a:avLst/>
            <a:gdLst/>
            <a:ahLst/>
            <a:rect l="l" t="t" r="r" b="b"/>
            <a:pathLst>
              <a:path w="21600" h="21600">
                <a:moveTo>
                  <a:pt x="0" y="0"/>
                </a:moveTo>
                <a:lnTo>
                  <a:pt x="21600" y="21600"/>
                </a:lnTo>
              </a:path>
            </a:pathLst>
          </a:custGeom>
          <a:noFill/>
          <a:ln>
            <a:solidFill>
              <a:srgbClr val="ff0000"/>
            </a:solidFill>
            <a:round/>
            <a:headEnd len="med" type="triangle" w="me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Adaptations Serial Hybrid Strategy  (3/3)</a:t>
            </a:r>
            <a:endParaRPr b="0" lang="en-US" sz="2400" spc="-1" strike="noStrike">
              <a:latin typeface="Arial"/>
            </a:endParaRPr>
          </a:p>
        </p:txBody>
      </p:sp>
      <p:sp>
        <p:nvSpPr>
          <p:cNvPr id="192"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GenSet now always operates in optimal point</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Speed profile is unchanged, SoC trace slightly different</a:t>
            </a:r>
            <a:endParaRPr b="0" lang="en-US" sz="2000" spc="-1" strike="noStrike">
              <a:latin typeface="Arial"/>
            </a:endParaRPr>
          </a:p>
        </p:txBody>
      </p:sp>
      <p:sp>
        <p:nvSpPr>
          <p:cNvPr id="193"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94" name="Grafik 7" descr=""/>
          <p:cNvPicPr/>
          <p:nvPr/>
        </p:nvPicPr>
        <p:blipFill>
          <a:blip r:embed="rId1"/>
          <a:stretch/>
        </p:blipFill>
        <p:spPr>
          <a:xfrm>
            <a:off x="1659240" y="2942640"/>
            <a:ext cx="4480920" cy="275544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SoC Correction for HEV-S</a:t>
            </a:r>
            <a:endParaRPr b="0" lang="en-US" sz="2400" spc="-1" strike="noStrike">
              <a:latin typeface="Arial"/>
            </a:endParaRPr>
          </a:p>
        </p:txBody>
      </p:sp>
      <p:sp>
        <p:nvSpPr>
          <p:cNvPr id="19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REESS SoC for HEV is corrected using the engine line</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Engine line makes no sense for HEV-S as the ICE is decoupled from the drivetrain and operates only in certain points</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SoC Correction:</a:t>
            </a:r>
            <a:endParaRPr b="0" lang="en-US" sz="2000" spc="-1" strike="noStrike">
              <a:latin typeface="Arial"/>
            </a:endParaRPr>
          </a:p>
          <a:p>
            <a:pPr>
              <a:lnSpc>
                <a:spcPct val="100000"/>
              </a:lnSpc>
              <a:buNone/>
            </a:pPr>
            <a:endParaRPr b="0" lang="en-US" sz="1800" spc="-1" strike="noStrike">
              <a:latin typeface="Arial"/>
            </a:endParaRPr>
          </a:p>
        </p:txBody>
      </p:sp>
      <p:sp>
        <p:nvSpPr>
          <p:cNvPr id="197"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98" name="Grafik 4" descr=""/>
          <p:cNvPicPr/>
          <p:nvPr/>
        </p:nvPicPr>
        <p:blipFill>
          <a:blip r:embed="rId1"/>
          <a:stretch/>
        </p:blipFill>
        <p:spPr>
          <a:xfrm>
            <a:off x="1735920" y="3544560"/>
            <a:ext cx="2488320" cy="435600"/>
          </a:xfrm>
          <a:prstGeom prst="rect">
            <a:avLst/>
          </a:prstGeom>
          <a:ln w="0">
            <a:noFill/>
          </a:ln>
        </p:spPr>
      </p:pic>
      <p:pic>
        <p:nvPicPr>
          <p:cNvPr id="199" name="Grafik 5" descr=""/>
          <p:cNvPicPr/>
          <p:nvPr/>
        </p:nvPicPr>
        <p:blipFill>
          <a:blip r:embed="rId2"/>
          <a:stretch/>
        </p:blipFill>
        <p:spPr>
          <a:xfrm>
            <a:off x="4686840" y="3607560"/>
            <a:ext cx="1725120" cy="308880"/>
          </a:xfrm>
          <a:prstGeom prst="rect">
            <a:avLst/>
          </a:prstGeom>
          <a:ln w="0">
            <a:noFill/>
          </a:ln>
        </p:spPr>
      </p:pic>
      <p:pic>
        <p:nvPicPr>
          <p:cNvPr id="200" name="Grafik 6" descr=""/>
          <p:cNvPicPr/>
          <p:nvPr/>
        </p:nvPicPr>
        <p:blipFill>
          <a:blip r:embed="rId3"/>
          <a:stretch/>
        </p:blipFill>
        <p:spPr>
          <a:xfrm>
            <a:off x="1453320" y="4127040"/>
            <a:ext cx="2859480" cy="529560"/>
          </a:xfrm>
          <a:prstGeom prst="rect">
            <a:avLst/>
          </a:prstGeom>
          <a:ln w="0">
            <a:noFill/>
          </a:ln>
        </p:spPr>
      </p:pic>
      <p:pic>
        <p:nvPicPr>
          <p:cNvPr id="201" name="Grafik 7" descr=""/>
          <p:cNvPicPr/>
          <p:nvPr/>
        </p:nvPicPr>
        <p:blipFill>
          <a:blip r:embed="rId4"/>
          <a:stretch/>
        </p:blipFill>
        <p:spPr>
          <a:xfrm>
            <a:off x="1453320" y="4777200"/>
            <a:ext cx="2708640" cy="492840"/>
          </a:xfrm>
          <a:prstGeom prst="rect">
            <a:avLst/>
          </a:prstGeom>
          <a:ln w="0">
            <a:noFill/>
          </a:ln>
        </p:spPr>
      </p:pic>
      <p:sp>
        <p:nvSpPr>
          <p:cNvPr id="202" name="Textfeld 8"/>
          <p:cNvSpPr/>
          <p:nvPr/>
        </p:nvSpPr>
        <p:spPr>
          <a:xfrm>
            <a:off x="4557240" y="4253760"/>
            <a:ext cx="3898800" cy="2721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on during the simulation</a:t>
            </a:r>
            <a:endParaRPr b="0" lang="en-US" sz="1200" spc="-1" strike="noStrike">
              <a:latin typeface="Arial"/>
            </a:endParaRPr>
          </a:p>
        </p:txBody>
      </p:sp>
      <p:sp>
        <p:nvSpPr>
          <p:cNvPr id="203" name="Textfeld 9"/>
          <p:cNvSpPr/>
          <p:nvPr/>
        </p:nvSpPr>
        <p:spPr>
          <a:xfrm>
            <a:off x="4584960" y="4885560"/>
            <a:ext cx="4177800" cy="2721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ea typeface="DejaVu Sans"/>
              </a:rPr>
              <a:t>… </a:t>
            </a:r>
            <a:r>
              <a:rPr b="1" i="1" lang="en-US" sz="1200" spc="-1" strike="noStrike">
                <a:solidFill>
                  <a:srgbClr val="000000"/>
                </a:solidFill>
                <a:latin typeface="Arial"/>
                <a:ea typeface="DejaVu Sans"/>
              </a:rPr>
              <a:t>in case the GenSet was not on during the simulation</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0.7.8.2679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05"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Multi-Target Executables in .net 6.0 and .net Framework 4.8 (and .net Framework 4.5, but this will be removed with the next release)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Serial Hybrid Vehicles S2, S3, S4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APT-S/P with E2 and S2 vehicle architecture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Correct handling of retarder positions with HEV and PEV, adding axlegear input retarder option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hashing tool to handle new powertrain components (electric motor, battery, supercap)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Changing EM overload buffer calculation: interpolate between both voltage levels (pre-processing)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Handling of torque limitations (engine torque limit, boosting torque limits, gearbox torque limits) for P2 architecture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Connect electric WHR system to REESS in case of hybrid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LH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GUI improvements: enable/disable some fields in Job Form, Vehicle Form, and Hybrid Strategy Parameters to simplify user interface and avoid erratic entries.</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281"/>
              </a:spcBef>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Implementation</a:t>
            </a:r>
            <a:endParaRPr b="0" lang="en-US" sz="2400" spc="-1" strike="noStrike">
              <a:latin typeface="Arial"/>
            </a:endParaRPr>
          </a:p>
        </p:txBody>
      </p:sp>
      <p:sp>
        <p:nvSpPr>
          <p:cNvPr id="207"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General approach</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Simple operating strategy, not ECMS–based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Three-point controller for GenSet (off/optimal point/maximum power)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Operate GenSet in optimal load-points whenever required and possible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Drivetrain similar to PEV</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Hybrids: GenSet Pre-Processing</a:t>
            </a:r>
            <a:endParaRPr b="0" lang="en-US" sz="2400" spc="-1" strike="noStrike">
              <a:latin typeface="Arial"/>
            </a:endParaRPr>
          </a:p>
        </p:txBody>
      </p:sp>
      <p:sp>
        <p:nvSpPr>
          <p:cNvPr id="209"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Find optimal points for the GenSet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0 to maximum power of the ICE (20 steps)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Iterate from ICE idle speed to n</a:t>
            </a:r>
            <a:r>
              <a:rPr b="0" lang="en-US" sz="1800" spc="-1" strike="noStrike" baseline="-25000">
                <a:solidFill>
                  <a:srgbClr val="000000"/>
                </a:solidFill>
                <a:latin typeface="Arial"/>
              </a:rPr>
              <a:t>95h</a:t>
            </a:r>
            <a:r>
              <a:rPr b="0" lang="en-US" sz="1800" spc="-1" strike="noStrike">
                <a:solidFill>
                  <a:srgbClr val="000000"/>
                </a:solidFill>
                <a:latin typeface="Arial"/>
              </a:rPr>
              <a:t> speed (20 steps)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Calculate electric power and fuel consumption for all load-points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Select operating points:</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electric power, EM de-rated/not de-rated</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Optimal operating point (minimum FC per electric power generated), EM de-rated/not de-rated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Strategy (main principles)</a:t>
            </a:r>
            <a:endParaRPr b="0" lang="en-US" sz="2400" spc="-1" strike="noStrike">
              <a:latin typeface="Arial"/>
            </a:endParaRPr>
          </a:p>
        </p:txBody>
      </p:sp>
      <p:sp>
        <p:nvSpPr>
          <p:cNvPr id="211" name="PlaceHolder 2"/>
          <p:cNvSpPr>
            <a:spLocks noGrp="1"/>
          </p:cNvSpPr>
          <p:nvPr>
            <p:ph/>
          </p:nvPr>
        </p:nvSpPr>
        <p:spPr>
          <a:xfrm>
            <a:off x="468360" y="1582560"/>
            <a:ext cx="5628960" cy="4542480"/>
          </a:xfrm>
          <a:prstGeom prst="rect">
            <a:avLst/>
          </a:prstGeom>
          <a:noFill/>
          <a:ln w="0">
            <a:noFill/>
          </a:ln>
        </p:spPr>
        <p:txBody>
          <a:bodyPr numCol="1" spcCol="0" lIns="90000" rIns="90000" tIns="45000" bIns="45000" anchor="t">
            <a:noAutofit/>
          </a:bodyPr>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max. electric power GenSet can provide</a:t>
            </a:r>
            <a:endParaRPr b="0" lang="en-US" sz="1600" spc="-1" strike="noStrike">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power demand of electric motor, assuming max. electric power (REESS + GenSet)</a:t>
            </a:r>
            <a:endParaRPr b="0" lang="en-US" sz="1600" spc="-1" strike="noStrike">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Depending on drivetrain power demand and SoC turn on ICE and operate GenSet either in optimal point or at maximum power (considering de-rating of GenSet)</a:t>
            </a:r>
            <a:endParaRPr b="0" lang="en-US" sz="1600" spc="-1" strike="noStrike">
              <a:latin typeface="Arial"/>
            </a:endParaRPr>
          </a:p>
        </p:txBody>
      </p:sp>
      <p:pic>
        <p:nvPicPr>
          <p:cNvPr id="212" name="Grafik 4" descr=""/>
          <p:cNvPicPr/>
          <p:nvPr/>
        </p:nvPicPr>
        <p:blipFill>
          <a:blip r:embed="rId1"/>
          <a:stretch/>
        </p:blipFill>
        <p:spPr>
          <a:xfrm>
            <a:off x="5924880" y="2263320"/>
            <a:ext cx="2941920" cy="3073320"/>
          </a:xfrm>
          <a:prstGeom prst="rect">
            <a:avLst/>
          </a:prstGeom>
          <a:ln w="0">
            <a:noFill/>
          </a:ln>
        </p:spPr>
      </p:pic>
      <p:pic>
        <p:nvPicPr>
          <p:cNvPr id="213" name="Grafik 5" descr=""/>
          <p:cNvPicPr/>
          <p:nvPr/>
        </p:nvPicPr>
        <p:blipFill>
          <a:blip r:embed="rId2"/>
          <a:stretch/>
        </p:blipFill>
        <p:spPr>
          <a:xfrm>
            <a:off x="622440" y="3945240"/>
            <a:ext cx="3777120" cy="1712520"/>
          </a:xfrm>
          <a:prstGeom prst="rect">
            <a:avLst/>
          </a:prstGeom>
          <a:ln w="0">
            <a:noFill/>
          </a:ln>
        </p:spPr>
      </p:pic>
      <p:sp>
        <p:nvSpPr>
          <p:cNvPr id="214" name="Textfeld 6"/>
          <p:cNvSpPr/>
          <p:nvPr/>
        </p:nvSpPr>
        <p:spPr>
          <a:xfrm>
            <a:off x="90360" y="5779080"/>
            <a:ext cx="5958000" cy="25704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550"/>
              </a:spcBef>
              <a:buNone/>
            </a:pPr>
            <a:r>
              <a:rPr b="1" i="1" lang="en-US" sz="1100" spc="-1" strike="noStrike">
                <a:solidFill>
                  <a:srgbClr val="808080"/>
                </a:solidFill>
                <a:latin typeface="Arial"/>
                <a:ea typeface="DejaVu Sans"/>
              </a:rPr>
              <a:t>Note: SoC_min and SoC_target are parameters of the SerialHybridStrategy, not REESS</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Hybrids: GenSet</a:t>
            </a:r>
            <a:endParaRPr b="0" lang="en-US" sz="2400" spc="-1" strike="noStrike">
              <a:latin typeface="Arial"/>
            </a:endParaRPr>
          </a:p>
        </p:txBody>
      </p:sp>
      <p:sp>
        <p:nvSpPr>
          <p:cNvPr id="21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b="0" lang="en-US" sz="2000" spc="-1" strike="noStrike">
                <a:solidFill>
                  <a:srgbClr val="000000"/>
                </a:solidFill>
                <a:latin typeface="Wingdings"/>
              </a:rPr>
              <a:t></a:t>
            </a:r>
            <a:r>
              <a:rPr b="0" lang="en-US" sz="2000" spc="-1" strike="noStrike">
                <a:solidFill>
                  <a:srgbClr val="000000"/>
                </a:solidFill>
                <a:latin typeface="Arial"/>
              </a:rPr>
              <a:t> Ramp-up ICE with electric machine switched off (usually 1 or 2 </a:t>
            </a:r>
            <a:br>
              <a:rPr sz="2000"/>
            </a:br>
            <a:r>
              <a:rPr b="0" lang="en-US" sz="2000" spc="-1" strike="noStrike">
                <a:solidFill>
                  <a:srgbClr val="000000"/>
                </a:solidFill>
                <a:latin typeface="Arial"/>
              </a:rPr>
              <a:t>     simulation steps) and then turn on the electric machine</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Serial Hybrid Strategy Parameters</a:t>
            </a:r>
            <a:endParaRPr b="0" lang="en-US" sz="2400" spc="-1" strike="noStrike">
              <a:latin typeface="Arial"/>
            </a:endParaRPr>
          </a:p>
        </p:txBody>
      </p:sp>
      <p:sp>
        <p:nvSpPr>
          <p:cNvPr id="218"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MinSoC</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TargetSoC</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Inhaltsplatzhalter 4" descr=""/>
          <p:cNvPicPr/>
          <p:nvPr/>
        </p:nvPicPr>
        <p:blipFill>
          <a:blip r:embed="rId1"/>
          <a:stretch/>
        </p:blipFill>
        <p:spPr>
          <a:xfrm>
            <a:off x="467640" y="1124640"/>
            <a:ext cx="7625160" cy="454248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GB" sz="2400" spc="-1" strike="noStrike">
                <a:solidFill>
                  <a:srgbClr val="990000"/>
                </a:solidFill>
                <a:latin typeface="Arial"/>
              </a:rPr>
              <a:t>EM: overload buffer calculated from both voltage levels</a:t>
            </a:r>
            <a:endParaRPr b="0" lang="en-US" sz="2400" spc="-1" strike="noStrike">
              <a:latin typeface="Arial"/>
            </a:endParaRPr>
          </a:p>
        </p:txBody>
      </p:sp>
      <p:sp>
        <p:nvSpPr>
          <p:cNvPr id="221"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Input parameters of EM measured for min and max voltage level</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Overload data</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Continuous Torque</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Overload Torque + Overload Duration</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Maximum and Minimum torque limitations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Electric power map</a:t>
            </a:r>
            <a:endParaRPr b="0" lang="en-US" sz="1600" spc="-1" strike="noStrike">
              <a:latin typeface="Arial"/>
            </a:endParaRPr>
          </a:p>
          <a:p>
            <a:pPr marL="343080" indent="-343080">
              <a:lnSpc>
                <a:spcPct val="100000"/>
              </a:lnSpc>
              <a:spcBef>
                <a:spcPts val="320"/>
              </a:spcBef>
              <a:buClr>
                <a:srgbClr val="000000"/>
              </a:buClr>
              <a:buFont typeface="Symbol"/>
              <a:buChar char=""/>
            </a:pPr>
            <a:r>
              <a:rPr b="0" lang="en-US" sz="1600" spc="-1" strike="noStrike">
                <a:solidFill>
                  <a:srgbClr val="000000"/>
                </a:solidFill>
                <a:latin typeface="Arial"/>
              </a:rPr>
              <a:t>Implementation in software:</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From overload data above, thermal buffer is calculated for each voltage level separately (acc. to equations in VECTO user manual</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Applied values for simulation run are calculated by linear interpolation between two voltage levels, where average of usable SOC range is used</a:t>
            </a:r>
            <a:endParaRPr b="0" lang="en-US" sz="16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Overload buffer</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Maximum and Minimum torque limitations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Continuous Torque</a:t>
            </a:r>
            <a:endParaRPr b="0" lang="en-US" sz="1400" spc="-1" strike="noStrike">
              <a:latin typeface="Arial"/>
            </a:endParaRPr>
          </a:p>
        </p:txBody>
      </p:sp>
      <p:pic>
        <p:nvPicPr>
          <p:cNvPr id="222" name="Grafik 5" descr=""/>
          <p:cNvPicPr/>
          <p:nvPr/>
        </p:nvPicPr>
        <p:blipFill>
          <a:blip r:embed="rId1"/>
          <a:stretch/>
        </p:blipFill>
        <p:spPr>
          <a:xfrm>
            <a:off x="6131160" y="4268520"/>
            <a:ext cx="2446920" cy="277920"/>
          </a:xfrm>
          <a:prstGeom prst="rect">
            <a:avLst/>
          </a:prstGeom>
          <a:ln w="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Inhaltsplatzhalter 2"/>
          <p:cNvSpPr/>
          <p:nvPr/>
        </p:nvSpPr>
        <p:spPr>
          <a:xfrm>
            <a:off x="622440" y="1990440"/>
            <a:ext cx="4746600" cy="3445920"/>
          </a:xfrm>
          <a:prstGeom prst="rect">
            <a:avLst/>
          </a:prstGeom>
          <a:noFill/>
          <a:ln w="0">
            <a:noFill/>
          </a:ln>
        </p:spPr>
        <p:style>
          <a:lnRef idx="0"/>
          <a:fillRef idx="0"/>
          <a:effectRef idx="0"/>
          <a:fontRef idx="minor"/>
        </p:style>
        <p:txBody>
          <a:bodyPr lIns="0" rIns="0" tIns="0" bIns="0" anchor="t">
            <a:noAutofit/>
          </a:bodyPr>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Ref. to ticket nr. 1478+1479</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Only relevant for P1 + P2 HEV where EM is located upstream of transmission</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ea typeface="DejaVu Sans"/>
              </a:rPr>
              <a:t>Starting Point: ICE FLD</a:t>
            </a:r>
            <a:endParaRPr b="0" lang="en-US" sz="18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Crop with max ICE torque declared at vehicle level (per gear) </a:t>
            </a:r>
            <a:br>
              <a:rPr sz="1800"/>
            </a:br>
            <a:r>
              <a:rPr b="1" i="1" lang="en-US" sz="1200" spc="-1" strike="noStrike">
                <a:solidFill>
                  <a:srgbClr val="376092"/>
                </a:solidFill>
                <a:latin typeface="Arial"/>
                <a:ea typeface="DejaVu Sans"/>
              </a:rPr>
              <a:t>‘Vehicle/EngineTorqueLimits’ per gear – P196 + P197</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Add boosting torque</a:t>
            </a:r>
            <a:br>
              <a:rPr sz="1800"/>
            </a:br>
            <a:r>
              <a:rPr b="1" i="1" lang="en-US" sz="1200" spc="-1" strike="noStrike">
                <a:solidFill>
                  <a:srgbClr val="376092"/>
                </a:solidFill>
                <a:latin typeface="Arial"/>
                <a:ea typeface="DejaVu Sans"/>
              </a:rPr>
              <a:t>Boosting limitations for parallel HEV – P415 + P416</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ea typeface="DejaVu Sans"/>
              </a:rPr>
              <a:t>In case of P1 or P2: crop with gearbox max input torque (per gear)  </a:t>
            </a:r>
            <a:r>
              <a:rPr b="1" i="1" lang="en-US" sz="1200" spc="-1" strike="noStrike">
                <a:solidFill>
                  <a:srgbClr val="376092"/>
                </a:solidFill>
                <a:latin typeface="Arial"/>
                <a:ea typeface="DejaVu Sans"/>
              </a:rPr>
              <a:t>MaxTorque – P157</a:t>
            </a:r>
            <a:endParaRPr b="0" lang="en-US" sz="1200" spc="-1" strike="noStrike">
              <a:latin typeface="Arial"/>
            </a:endParaRPr>
          </a:p>
          <a:p>
            <a:pPr marL="357120" indent="-357120">
              <a:lnSpc>
                <a:spcPct val="100000"/>
              </a:lnSpc>
              <a:spcBef>
                <a:spcPts val="360"/>
              </a:spcBef>
              <a:buNone/>
              <a:tabLst>
                <a:tab algn="l" pos="0"/>
              </a:tabLst>
            </a:pPr>
            <a:r>
              <a:rPr b="1" lang="en-US" sz="1800" spc="-1" strike="noStrike">
                <a:solidFill>
                  <a:srgbClr val="000000"/>
                </a:solidFill>
                <a:latin typeface="Wingdings"/>
                <a:ea typeface="DejaVu Sans"/>
              </a:rPr>
              <a:t></a:t>
            </a: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Torque limits per gear applied by HybridStrategy</a:t>
            </a:r>
            <a:endParaRPr b="0" lang="en-US" sz="1800" spc="-1" strike="noStrike">
              <a:latin typeface="Arial"/>
            </a:endParaRPr>
          </a:p>
        </p:txBody>
      </p:sp>
      <p:sp>
        <p:nvSpPr>
          <p:cNvPr id="224" name="Textfeld 6"/>
          <p:cNvSpPr/>
          <p:nvPr/>
        </p:nvSpPr>
        <p:spPr>
          <a:xfrm>
            <a:off x="5237640" y="1922040"/>
            <a:ext cx="3517560" cy="257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50"/>
              </a:spcBef>
              <a:buNone/>
            </a:pPr>
            <a:r>
              <a:rPr b="1" lang="en-US" sz="1100" spc="-1" strike="noStrike">
                <a:solidFill>
                  <a:srgbClr val="000000"/>
                </a:solidFill>
                <a:latin typeface="Arial"/>
                <a:ea typeface="DejaVu Sans"/>
              </a:rPr>
              <a:t>Example for P2</a:t>
            </a:r>
            <a:endParaRPr b="0" lang="en-US" sz="1100" spc="-1" strike="noStrike">
              <a:latin typeface="Arial"/>
            </a:endParaRPr>
          </a:p>
        </p:txBody>
      </p:sp>
      <p:pic>
        <p:nvPicPr>
          <p:cNvPr id="225" name="Grafik 7" descr=""/>
          <p:cNvPicPr/>
          <p:nvPr/>
        </p:nvPicPr>
        <p:blipFill>
          <a:blip r:embed="rId1"/>
          <a:stretch/>
        </p:blipFill>
        <p:spPr>
          <a:xfrm>
            <a:off x="5220360" y="2088000"/>
            <a:ext cx="3813480" cy="2790360"/>
          </a:xfrm>
          <a:prstGeom prst="rect">
            <a:avLst/>
          </a:prstGeom>
          <a:ln w="0">
            <a:noFill/>
          </a:ln>
        </p:spPr>
      </p:pic>
      <p:pic>
        <p:nvPicPr>
          <p:cNvPr id="226" name="Grafik 8" descr=""/>
          <p:cNvPicPr/>
          <p:nvPr/>
        </p:nvPicPr>
        <p:blipFill>
          <a:blip r:embed="rId2"/>
          <a:stretch/>
        </p:blipFill>
        <p:spPr>
          <a:xfrm>
            <a:off x="5781960" y="4757760"/>
            <a:ext cx="2814840" cy="1215360"/>
          </a:xfrm>
          <a:prstGeom prst="rect">
            <a:avLst/>
          </a:prstGeom>
          <a:ln w="0">
            <a:noFill/>
          </a:ln>
        </p:spPr>
      </p:pic>
      <p:sp>
        <p:nvSpPr>
          <p:cNvPr id="227"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GB" sz="2400" spc="-1" strike="noStrike">
                <a:solidFill>
                  <a:srgbClr val="990000"/>
                </a:solidFill>
                <a:latin typeface="Arial"/>
              </a:rPr>
              <a:t>Consider gearbox MaxTorque limits for HEV</a:t>
            </a:r>
            <a:endParaRPr b="0" lang="en-US" sz="24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29"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[VECTO-1541] - Implement E2/S2 with APT-S/P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[VECTO-1549] - Error in gearshift behavior for AT transmissions when braking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[VECTO-1466] - 076.2451 E2 significant increase of calculation time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[VECTO-1479] - Maximum gearbox torque not respected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[VECTO-1519] - 077.2457 E2 Gear oscillation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[VECTO-1520] - 077.2457 P2 Crashing at takeoff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[VECTO-1531] - ElectricMotor Lookup Maximum Torque: Object reference not set to an instance of an object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[VECTO-1532] - 077.2547 P2 crashing with 600 RPM idling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[VECTO-1539] - Engine speed ramping up before vehicle halt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[VECTO-1551] - AT-P Transmission Bus Application: Error during braking phase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[VECTO-1559] - battery internal resistance curve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[VECTO-1411] - Switching to new .NET version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[VECTO-1456] - Cycle Cache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[VECTO-1478] - Torque limits only apply to ICE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[VECTO-1521] - Updating tyre dimensions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[VECTO-1522] - VECTO warning if there are more steered axles than steering pump technologies</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en-US" sz="1600" spc="-1" strike="noStrike">
              <a:latin typeface="Arial"/>
            </a:endParaRPr>
          </a:p>
        </p:txBody>
      </p:sp>
      <p:sp>
        <p:nvSpPr>
          <p:cNvPr id="231"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[VECTO-1525] - PCC Preprocessing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[VECTO-1533] - Multi-Target Compilation and .NET Upgrade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[VECTO-1538] - Transmission ratios limitation of input value to &lt;=25</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[VECTO-1540] - Retarder Types AxleGearInputRetarder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[VECTO-1543] - Calculation of EM Overload buffer, and continuous torque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[VECTO-1545] - WHR electric - connect to REESS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[VECTO-1548] - Update Coach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[VECTO-1560] - update toolchain for generating usermanual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[VECTO-1562] - Adapting WHTC Correction Factor weighting for LH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[VECTO-1563] - Electric Motor: Calculation of Overload Buffer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[VECTO-1564] - XML Schema adaptations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[VECTO-1565] - VECTO warning if there are more steered axles than steering pump technologies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[VECTO-1569] - Bugfix: Extrapolation warning in PEV 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[VECTO-1573] - Update LH Cycle and WHTC correction factor weighting</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33"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Changes/Bugfixes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APT-N Gearbox + 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model (drag curve independent of voltage level)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EM electric power map interpolation method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Update/bugfixes PEV shift strategy (influence of drag curve, error in calculation of costs)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calculation E_EM_off_loss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generic shift lines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post-processing fuel consumption correction bus auxiliaries (in case of no alternator)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PCC for xEV</a:t>
            </a:r>
            <a:endParaRPr b="0" lang="en-US" sz="1400" spc="-1" strike="noStrike">
              <a:latin typeface="Arial"/>
            </a:endParaRPr>
          </a:p>
          <a:p>
            <a:pPr>
              <a:lnSpc>
                <a:spcPct val="100000"/>
              </a:lnSpc>
              <a:buNone/>
              <a:tabLst>
                <a:tab algn="l" pos="1886040"/>
              </a:tabLst>
            </a:pPr>
            <a:endParaRPr b="0" lang="en-US" sz="1400" spc="-1" strike="noStrike">
              <a:latin typeface="Arial"/>
            </a:endParaRPr>
          </a:p>
          <a:p>
            <a:pPr>
              <a:lnSpc>
                <a:spcPct val="100000"/>
              </a:lnSpc>
              <a:spcBef>
                <a:spcPts val="320"/>
              </a:spcBef>
              <a:buNone/>
              <a:tabLst>
                <a:tab algn="l" pos="1886040"/>
              </a:tabLst>
            </a:pPr>
            <a:endParaRPr b="0" lang="en-US" sz="1600" spc="-1" strike="noStrike">
              <a:latin typeface="Arial"/>
            </a:endParaRPr>
          </a:p>
          <a:p>
            <a:pPr>
              <a:lnSpc>
                <a:spcPct val="100000"/>
              </a:lnSpc>
              <a:buNone/>
              <a:tabLst>
                <a:tab algn="l" pos="1886040"/>
              </a:tabLst>
            </a:pP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35"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(1/x)</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All topics in this section will also be explained in the next xEV workshop #9 on 11.01.2022</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Also topics for testing and feedback will be discussed in this workshop.</a:t>
            </a:r>
            <a:br>
              <a:rPr sz="1400"/>
            </a:br>
            <a:r>
              <a:rPr b="0" lang="en-US" sz="1400" spc="-1" strike="noStrike">
                <a:solidFill>
                  <a:srgbClr val="000000"/>
                </a:solidFill>
                <a:latin typeface="Arial"/>
              </a:rPr>
              <a:t>Until then, no feedback on the distributed version is expected.</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Calculation of overload buffer for EM</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Overload buffer is currently calculated with data for lower voltage level only</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of calculation method based on two voltage levels will be implemented once all details reg. the method are clarified</a:t>
            </a:r>
            <a:br>
              <a:rPr sz="1000"/>
            </a:br>
            <a:r>
              <a:rPr b="0" lang="en-US" sz="1000" spc="-1" strike="noStrike">
                <a:solidFill>
                  <a:srgbClr val="000000"/>
                </a:solidFill>
                <a:latin typeface="Arial"/>
              </a:rPr>
              <a:t> </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Propulsion Torque Limits (Vehicle Boosting Limits)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Any arbitrary number of values may be declared in between the range of zero and the maximum rotational speed of the ICE full load curve.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Declared values lower than zero are not allowed for the additional torque.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 (“Vehicle Editor – Torque Limits Tab”, “Torque and Speed Limitations”)</a:t>
            </a:r>
            <a:br>
              <a:rPr sz="1000"/>
            </a:br>
            <a:r>
              <a:rPr b="0" lang="en-US" sz="1000" spc="-1" strike="noStrike">
                <a:solidFill>
                  <a:srgbClr val="000000"/>
                </a:solidFill>
                <a:latin typeface="Arial"/>
              </a:rPr>
              <a:t> </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Pulse-duration dependency of internal resistance of battery</a:t>
            </a:r>
            <a:endParaRPr b="0" lang="en-US" sz="1400" spc="-1" strike="noStrike">
              <a:latin typeface="Arial"/>
            </a:endParaRPr>
          </a:p>
          <a:p>
            <a:pPr lvl="2" marL="1143000" indent="-228600">
              <a:lnSpc>
                <a:spcPct val="100000"/>
              </a:lnSpc>
              <a:spcBef>
                <a:spcPts val="281"/>
              </a:spcBef>
              <a:buClr>
                <a:srgbClr val="000000"/>
              </a:buClr>
              <a:buFont typeface="Symbol"/>
              <a:buChar char=""/>
              <a:tabLst>
                <a:tab algn="l" pos="1886040"/>
              </a:tabLst>
            </a:pPr>
            <a:r>
              <a:rPr b="0" lang="en-US" sz="1000" spc="-1" strike="noStrike">
                <a:solidFill>
                  <a:srgbClr val="000000"/>
                </a:solidFill>
                <a:latin typeface="Arial"/>
              </a:rPr>
              <a:t>For detailed explanation refer to user manual</a:t>
            </a:r>
            <a:br>
              <a:rPr sz="1400"/>
            </a:br>
            <a:r>
              <a:rPr b="0" lang="en-US" sz="1400" spc="-1" strike="noStrike">
                <a:solidFill>
                  <a:srgbClr val="000000"/>
                </a:solidFill>
                <a:latin typeface="Arial"/>
              </a:rPr>
              <a:t>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HEV operation strategy method for declaration mode</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Method explained in “User Manual/HEV_DECL_method_20211221.pptx” distributed together with VECTO archive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Generic values defined per (vehicle group, mission, payload and usable SOC range) in “User Manual/HEV_Strategy_Parameters.xlsx” distributed together with VECTO archive</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further details refer to distributed material/recording from xEV workshop #8</a:t>
            </a:r>
            <a:endParaRPr b="0" lang="en-US" sz="10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37"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General comments (2/x)</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Auxiliaries for PEV</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power demand of auxiliaries for both, lorries and buses, need to be parameterized via the “BusAux” GUI window</a:t>
            </a:r>
            <a:br>
              <a:rPr sz="1000"/>
            </a:br>
            <a:br>
              <a:rPr sz="1000"/>
            </a:br>
            <a:br>
              <a:rPr sz="1000"/>
            </a:br>
            <a:br>
              <a:rPr sz="1000"/>
            </a:br>
            <a:r>
              <a:rPr b="0" lang="en-US" sz="1000" spc="-1" strike="noStrike">
                <a:solidFill>
                  <a:srgbClr val="000000"/>
                </a:solidFill>
                <a:latin typeface="Arial"/>
              </a:rPr>
              <a:t> </a:t>
            </a:r>
            <a:endParaRPr b="0" lang="en-US" sz="1000" spc="-1" strike="noStrike">
              <a:latin typeface="Arial"/>
            </a:endParaRPr>
          </a:p>
          <a:p>
            <a:pPr>
              <a:lnSpc>
                <a:spcPct val="100000"/>
              </a:lnSpc>
              <a:buNone/>
              <a:tabLst>
                <a:tab algn="l" pos="1886040"/>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Gearshift model for PEV</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Details explained on next slides</a:t>
            </a:r>
            <a:endParaRPr b="0" lang="en-US" sz="1000" spc="-1" strike="noStrike">
              <a:latin typeface="Arial"/>
            </a:endParaRPr>
          </a:p>
        </p:txBody>
      </p:sp>
      <p:grpSp>
        <p:nvGrpSpPr>
          <p:cNvPr id="238" name="Gruppieren 12"/>
          <p:cNvGrpSpPr/>
          <p:nvPr/>
        </p:nvGrpSpPr>
        <p:grpSpPr>
          <a:xfrm>
            <a:off x="1047600" y="2188080"/>
            <a:ext cx="7963200" cy="2518920"/>
            <a:chOff x="1047600" y="2188080"/>
            <a:chExt cx="7963200" cy="2518920"/>
          </a:xfrm>
        </p:grpSpPr>
        <p:pic>
          <p:nvPicPr>
            <p:cNvPr id="239" name="Grafik 5" descr=""/>
            <p:cNvPicPr/>
            <p:nvPr/>
          </p:nvPicPr>
          <p:blipFill>
            <a:blip r:embed="rId1"/>
            <a:srcRect l="0" t="0" r="53549" b="0"/>
            <a:stretch/>
          </p:blipFill>
          <p:spPr>
            <a:xfrm>
              <a:off x="5004000" y="2188080"/>
              <a:ext cx="2509920" cy="2518920"/>
            </a:xfrm>
            <a:prstGeom prst="rect">
              <a:avLst/>
            </a:prstGeom>
            <a:ln w="0">
              <a:noFill/>
            </a:ln>
          </p:spPr>
        </p:pic>
        <p:grpSp>
          <p:nvGrpSpPr>
            <p:cNvPr id="240" name="Gruppieren 7"/>
            <p:cNvGrpSpPr/>
            <p:nvPr/>
          </p:nvGrpSpPr>
          <p:grpSpPr>
            <a:xfrm>
              <a:off x="1047600" y="2188080"/>
              <a:ext cx="3734640" cy="2518920"/>
              <a:chOff x="1047600" y="2188080"/>
              <a:chExt cx="3734640" cy="2518920"/>
            </a:xfrm>
          </p:grpSpPr>
          <p:pic>
            <p:nvPicPr>
              <p:cNvPr id="241" name="Grafik 4" descr=""/>
              <p:cNvPicPr/>
              <p:nvPr/>
            </p:nvPicPr>
            <p:blipFill>
              <a:blip r:embed="rId2"/>
              <a:stretch/>
            </p:blipFill>
            <p:spPr>
              <a:xfrm>
                <a:off x="1187640" y="2188080"/>
                <a:ext cx="3594600" cy="2518920"/>
              </a:xfrm>
              <a:prstGeom prst="rect">
                <a:avLst/>
              </a:prstGeom>
              <a:ln w="0">
                <a:noFill/>
              </a:ln>
            </p:spPr>
          </p:pic>
          <p:sp>
            <p:nvSpPr>
              <p:cNvPr id="242" name="Ellipse 6"/>
              <p:cNvSpPr/>
              <p:nvPr/>
            </p:nvSpPr>
            <p:spPr>
              <a:xfrm>
                <a:off x="1047600" y="3812760"/>
                <a:ext cx="898920" cy="286920"/>
              </a:xfrm>
              <a:prstGeom prst="ellipse">
                <a:avLst/>
              </a:prstGeom>
              <a:noFill/>
              <a:ln w="19050">
                <a:solidFill>
                  <a:srgbClr val="ff0000"/>
                </a:solidFill>
                <a:round/>
              </a:ln>
            </p:spPr>
            <p:style>
              <a:lnRef idx="0"/>
              <a:fillRef idx="0"/>
              <a:effectRef idx="0"/>
              <a:fontRef idx="minor"/>
            </p:style>
          </p:sp>
        </p:grpSp>
        <p:sp>
          <p:nvSpPr>
            <p:cNvPr id="243" name="Legende mit Linie 1 10"/>
            <p:cNvSpPr/>
            <p:nvPr/>
          </p:nvSpPr>
          <p:spPr>
            <a:xfrm>
              <a:off x="7566480" y="2836080"/>
              <a:ext cx="1444320" cy="337320"/>
            </a:xfrm>
            <a:prstGeom prst="borderCallout1">
              <a:avLst>
                <a:gd name="adj1" fmla="val 18750"/>
                <a:gd name="adj2" fmla="val -8333"/>
                <a:gd name="adj3" fmla="val 70225"/>
                <a:gd name="adj4" fmla="val -65838"/>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buNone/>
                <a:tabLst>
                  <a:tab algn="l" pos="0"/>
                </a:tabLst>
              </a:pPr>
              <a:r>
                <a:rPr b="0" lang="de-DE" sz="1100" spc="-1" strike="noStrike">
                  <a:solidFill>
                    <a:srgbClr val="000000"/>
                  </a:solidFill>
                  <a:latin typeface="Arial"/>
                  <a:ea typeface="DejaVu Sans"/>
                </a:rPr>
                <a:t>Demand during vehicle driving</a:t>
              </a:r>
              <a:endParaRPr b="0" lang="en-US" sz="1100" spc="-1" strike="noStrike">
                <a:latin typeface="Arial"/>
              </a:endParaRPr>
            </a:p>
          </p:txBody>
        </p:sp>
        <p:sp>
          <p:nvSpPr>
            <p:cNvPr id="244" name="Legende mit Linie 1 11"/>
            <p:cNvSpPr/>
            <p:nvPr/>
          </p:nvSpPr>
          <p:spPr>
            <a:xfrm>
              <a:off x="7566480" y="3340080"/>
              <a:ext cx="1444320" cy="337320"/>
            </a:xfrm>
            <a:prstGeom prst="borderCallout1">
              <a:avLst>
                <a:gd name="adj1" fmla="val 18750"/>
                <a:gd name="adj2" fmla="val -8333"/>
                <a:gd name="adj3" fmla="val -28416"/>
                <a:gd name="adj4" fmla="val -65839"/>
              </a:avLst>
            </a:prstGeom>
            <a:noFill/>
            <a:ln w="19050">
              <a:solidFill>
                <a:srgbClr val="ff0000"/>
              </a:solidFill>
              <a:round/>
            </a:ln>
          </p:spPr>
          <p:style>
            <a:lnRef idx="0"/>
            <a:fillRef idx="0"/>
            <a:effectRef idx="0"/>
            <a:fontRef idx="minor"/>
          </p:style>
          <p:txBody>
            <a:bodyPr numCol="1" spcCol="0" lIns="90000" rIns="90000" tIns="45000" bIns="45000" anchor="ctr">
              <a:noAutofit/>
            </a:bodyPr>
            <a:p>
              <a:pPr algn="ctr">
                <a:lnSpc>
                  <a:spcPct val="100000"/>
                </a:lnSpc>
                <a:spcBef>
                  <a:spcPts val="329"/>
                </a:spcBef>
                <a:buNone/>
                <a:tabLst>
                  <a:tab algn="l" pos="0"/>
                </a:tabLst>
              </a:pPr>
              <a:r>
                <a:rPr b="0" lang="de-DE" sz="1100" spc="-1" strike="noStrike">
                  <a:solidFill>
                    <a:srgbClr val="000000"/>
                  </a:solidFill>
                  <a:latin typeface="Arial"/>
                  <a:ea typeface="DejaVu Sans"/>
                </a:rPr>
                <a:t>Demand during vehicle standstill</a:t>
              </a:r>
              <a:endParaRPr b="0" lang="en-US" sz="1100" spc="-1" strike="noStrike">
                <a:latin typeface="Arial"/>
              </a:endParaRPr>
            </a:p>
          </p:txBody>
        </p:sp>
      </p:gr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5" name="Grafik 14" descr=""/>
          <p:cNvPicPr/>
          <p:nvPr/>
        </p:nvPicPr>
        <p:blipFill>
          <a:blip r:embed="rId1"/>
          <a:stretch/>
        </p:blipFill>
        <p:spPr>
          <a:xfrm>
            <a:off x="323640" y="1743840"/>
            <a:ext cx="5758920" cy="4747680"/>
          </a:xfrm>
          <a:prstGeom prst="rect">
            <a:avLst/>
          </a:prstGeom>
          <a:ln w="0">
            <a:noFill/>
          </a:ln>
        </p:spPr>
      </p:pic>
      <p:sp>
        <p:nvSpPr>
          <p:cNvPr id="24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47"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(1/x)</a:t>
            </a:r>
            <a:endParaRPr b="0" lang="en-US" sz="1600" spc="-1" strike="noStrike">
              <a:latin typeface="Arial"/>
            </a:endParaRPr>
          </a:p>
        </p:txBody>
      </p:sp>
      <p:sp>
        <p:nvSpPr>
          <p:cNvPr id="248" name="Textfeld 12"/>
          <p:cNvSpPr/>
          <p:nvPr/>
        </p:nvSpPr>
        <p:spPr>
          <a:xfrm>
            <a:off x="6156000" y="1524960"/>
            <a:ext cx="2986920" cy="467748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Basics:</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Downshift for operation point left of green dot-dashed downshift lines</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Upshift for operation point right of green dot-dashed upshift line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method applied for operation point between downshift and upshift lines (refer to user manual) </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Driving: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Maximum downshift speed always located at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(where 80% of max power is available)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For EM in de-rating </a:t>
            </a:r>
            <a:r>
              <a:rPr b="1" lang="en-US" sz="1000" spc="-1" strike="noStrike">
                <a:solidFill>
                  <a:srgbClr val="000000"/>
                </a:solidFill>
                <a:latin typeface="Arial"/>
                <a:ea typeface="DejaVu Sans"/>
              </a:rPr>
              <a:t>n_P80low</a:t>
            </a:r>
            <a:r>
              <a:rPr b="0" lang="en-US" sz="1000" spc="-1" strike="noStrike">
                <a:solidFill>
                  <a:srgbClr val="000000"/>
                </a:solidFill>
                <a:latin typeface="Arial"/>
                <a:ea typeface="DejaVu Sans"/>
              </a:rPr>
              <a:t> is calculated from the de-rated power curve</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Braking: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EffShift is suppressed for operation point within red shaded area</a:t>
            </a:r>
            <a:br>
              <a:rPr sz="1000"/>
            </a:br>
            <a:r>
              <a:rPr b="0" lang="en-US" sz="1000" spc="-1" strike="noStrike">
                <a:solidFill>
                  <a:srgbClr val="000000"/>
                </a:solidFill>
                <a:latin typeface="Arial"/>
                <a:ea typeface="DejaVu Sans"/>
              </a:rPr>
              <a:t>(2% below max recuperation power)</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New gear after downshift is selected so that operation point is closest to and above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(or only closest to </a:t>
            </a:r>
            <a:r>
              <a:rPr b="1" lang="en-US" sz="1000" spc="-1" strike="noStrike">
                <a:solidFill>
                  <a:srgbClr val="000000"/>
                </a:solidFill>
                <a:latin typeface="Arial"/>
                <a:ea typeface="DejaVu Sans"/>
              </a:rPr>
              <a:t>n_brake_target_norm</a:t>
            </a:r>
            <a:r>
              <a:rPr b="0" lang="en-US" sz="1000" spc="-1" strike="noStrike">
                <a:solidFill>
                  <a:srgbClr val="000000"/>
                </a:solidFill>
                <a:latin typeface="Arial"/>
                <a:ea typeface="DejaVu Sans"/>
              </a:rPr>
              <a:t> in case no operation point with higher speed exists)</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9" name="Grafik 6" descr=""/>
          <p:cNvPicPr/>
          <p:nvPr/>
        </p:nvPicPr>
        <p:blipFill>
          <a:blip r:embed="rId1"/>
          <a:stretch/>
        </p:blipFill>
        <p:spPr>
          <a:xfrm>
            <a:off x="323640" y="1743840"/>
            <a:ext cx="5758920" cy="4747680"/>
          </a:xfrm>
          <a:prstGeom prst="rect">
            <a:avLst/>
          </a:prstGeom>
          <a:ln w="0">
            <a:noFill/>
          </a:ln>
        </p:spPr>
      </p:pic>
      <p:sp>
        <p:nvSpPr>
          <p:cNvPr id="25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51"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Gearshift model for PEV (2/x)</a:t>
            </a:r>
            <a:endParaRPr b="0" lang="en-US" sz="1600" spc="-1" strike="noStrike">
              <a:latin typeface="Arial"/>
            </a:endParaRPr>
          </a:p>
        </p:txBody>
      </p:sp>
      <p:sp>
        <p:nvSpPr>
          <p:cNvPr id="252" name="Textfeld 12"/>
          <p:cNvSpPr/>
          <p:nvPr/>
        </p:nvSpPr>
        <p:spPr>
          <a:xfrm>
            <a:off x="6156000" y="1524960"/>
            <a:ext cx="2986920" cy="109692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ea typeface="DejaVu Sans"/>
              </a:rPr>
              <a:t>All factors in bold red can be tuned via shift parameter file .vtcu</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ea typeface="DejaVu Sans"/>
              </a:rPr>
              <a:t>Refer to sample file for User Manual/PEV_ShiftParameters.vtcu distributed together with VECTO archive</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54"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[VECTO-1460] - APT-N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[VECTO-1501] - Update EM Map interpolation method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[VECTO-1477] - Update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[VECTO-1383] - E2 PEV, 2-speed AMT: "Failed to find operating point"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[VECTO-1384] - E2 PEV, 2-speed AMT: Downshifts missing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[VECTO-1414] - E2 selects high gear at low speed after take-off, does not reach target acc</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[VECTO-1443] - 0.7.5.2356 EC_el_final calculated from REESS terminal signals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[VECTO-1445] - 073.2356, E2 Missing Downshifts, simulation abort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[VECTO-1464] - Engine Off not working with activated PCC (Hybrid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[VECTO-1465] - PEV PCCState oscillates between Interrupt and UseCase1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[VECTO-1467] - PCC HEV Small Spike at end of UseCase1 when Target speed is reached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[VECTO-1468] - EM map interpolation comments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[VECTO-1470] - 076.2463 EM drag torque questions/findings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[VECTO-1482] - Hybrid Vehicle EM speed gets very high, no gearshift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[VECTO-1483] - Job aborting: E4_Group 5 LH_ll_LongHaul_mod5_id_2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[VECTO-1484] - Job aborting: P2_Group5_s2c0_rep_Payload_LongHaul_mod5_id_27</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[VECTO-1486] - NG PI fuel type not working with Engine GUI (.veng)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[VECTO-1487] - Calculation of EM efficiency during recuperation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[VECTO-1490] - Exceeded max iterations: Operating Point could not be found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en-US" sz="1600" spc="-1" strike="noStrike">
              <a:latin typeface="Arial"/>
            </a:endParaRPr>
          </a:p>
        </p:txBody>
      </p:sp>
      <p:sp>
        <p:nvSpPr>
          <p:cNvPr id="256"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[VECTO-1491] - Electric Energy Storage Editor does not show values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[VECTO-1499] - Energy balance when ICE is turned on in a P1 hybrid configuration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[VECTO-1514] - Modeldata uses wrong inertia in case multiple EMs are used on a position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[VECTO-1515] - Output in vsum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[VECTO-1516] - GUI: PEV vehicle, disable hybrid parameters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[VECTO-1489] - Engine-off eco-roll for P1 hybrids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[VECTO-1448] - 075.2356, E2 Selecting high gear in downhill, needs to use wheel brakes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[VECTO-1472] - Do not end PCC if acceleration is still high enough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[VECTO-1473] - Additional tyre dimensions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[VECTO-1476] - Update EM GUI, EM component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[VECTO-1493] - Use EngineStartStop in PCC-Events for Hybrid P1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[VECTO-1498] - Crosswind correction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[VECTO-1508] - EM-Off Losses in .vsum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[VECTO-1509] - SP Technology "Electric" already contains mechanical power demand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[VECTO-1510] - Remove selection of shift strategy in job dialog</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[VECTO-1511] - Error Message for "HEVs and BEVs not supported in Declaration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[VECTO-1512] - Adapt shift lines for xEV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[VECTO-1513] - Bus Aux post-processing correction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[VECTO-1481] - New warning message regarding transmission: what does it mean?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0.7.6.2451 Development Version</a:t>
            </a:r>
            <a:br>
              <a:rPr sz="2400"/>
            </a:br>
            <a:r>
              <a:rPr b="1" lang="en-US" sz="1600" spc="-1" strike="noStrike">
                <a:solidFill>
                  <a:srgbClr val="990000"/>
                </a:solidFill>
                <a:latin typeface="Arial"/>
              </a:rPr>
              <a:t>September 2021</a:t>
            </a:r>
            <a:endParaRPr b="0" lang="en-US" sz="1600" spc="-1" strike="noStrike">
              <a:latin typeface="Arial"/>
            </a:endParaRPr>
          </a:p>
        </p:txBody>
      </p:sp>
      <p:sp>
        <p:nvSpPr>
          <p:cNvPr id="258"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ADAS for HEV and PEV vehicles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For HEV vehicles interaction of PCC and HEV strategy under further analysis</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electric motor model: support for different voltage levels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modular battery components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Update battery model: pulse-duration dependent internal resistance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0.7.5.2353 Development Version</a:t>
            </a:r>
            <a:br>
              <a:rPr sz="2400"/>
            </a:br>
            <a:r>
              <a:rPr b="1" lang="en-US" sz="1600" spc="-1" strike="noStrike">
                <a:solidFill>
                  <a:srgbClr val="990000"/>
                </a:solidFill>
                <a:latin typeface="Arial"/>
              </a:rPr>
              <a:t>June 2021</a:t>
            </a:r>
            <a:endParaRPr b="0" lang="en-US" sz="1600" spc="-1" strike="noStrike">
              <a:latin typeface="Arial"/>
            </a:endParaRPr>
          </a:p>
        </p:txBody>
      </p:sp>
      <p:sp>
        <p:nvSpPr>
          <p:cNvPr id="260" name="PlaceHolder 2"/>
          <p:cNvSpPr>
            <a:spLocks noGrp="1"/>
          </p:cNvSpPr>
          <p:nvPr>
            <p:ph/>
          </p:nvPr>
        </p:nvSpPr>
        <p:spPr>
          <a:xfrm>
            <a:off x="323640" y="1268640"/>
            <a:ext cx="8496000" cy="4823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Additional Powertrain architectures</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P1 AMT and APT-S/P</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P2.5 (transmission ratio EM per gear)</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P3 &amp; P4 with APT transmissions</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Loss-map for electric machine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Bus auxiliaries in engineering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Combine Bus auxiliaries with HEV powertrains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Refactoring Engine Stop/Start approach</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ICE is always off during simulation, balance missing energy in case ICE is on / ICE is off for all auxiliaries in .vmod.</a:t>
            </a:r>
            <a:endParaRPr b="0" lang="en-US" sz="10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Correct for missing aux energy in post-processing (not fully implemented in this version)</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Added vehicle propulsion limits (relative to ICE max torque)</a:t>
            </a:r>
            <a:endParaRPr b="0" lang="en-US" sz="1400" spc="-1" strike="noStrike">
              <a:latin typeface="Arial"/>
            </a:endParaRPr>
          </a:p>
          <a:p>
            <a:pPr lvl="2" marL="1143000" indent="-22860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P2, P3, and P4</a:t>
            </a:r>
            <a:endParaRPr b="0" lang="en-US" sz="10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Refactored EM model: continuous torque, overload torque as separate inputs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0.7.3.2164 Development Version</a:t>
            </a:r>
            <a:br>
              <a:rPr sz="2400"/>
            </a:br>
            <a:r>
              <a:rPr b="1" lang="en-US" sz="1600" spc="-1" strike="noStrike">
                <a:solidFill>
                  <a:srgbClr val="990000"/>
                </a:solidFill>
                <a:latin typeface="Arial"/>
              </a:rPr>
              <a:t>December 2020</a:t>
            </a:r>
            <a:endParaRPr b="0" lang="en-US" sz="1600" spc="-1" strike="noStrike">
              <a:latin typeface="Arial"/>
            </a:endParaRPr>
          </a:p>
        </p:txBody>
      </p:sp>
      <p:sp>
        <p:nvSpPr>
          <p:cNvPr id="262" name="PlaceHolder 2"/>
          <p:cNvSpPr>
            <a:spLocks noGrp="1"/>
          </p:cNvSpPr>
          <p:nvPr>
            <p:ph/>
          </p:nvPr>
        </p:nvSpPr>
        <p:spPr>
          <a:xfrm>
            <a:off x="323640" y="1268640"/>
            <a:ext cx="8496000" cy="1727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in shift strategy for PEV (E2)</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Bugfixes SuperCap model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Removed E_REESS from .vmod file, calculate delta_E_REESS from P_REESS in .vsum file</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0.7.2.2118 Development Version</a:t>
            </a:r>
            <a:br>
              <a:rPr sz="2400"/>
            </a:br>
            <a:r>
              <a:rPr b="1" lang="en-US" sz="1600" spc="-1" strike="noStrike">
                <a:solidFill>
                  <a:srgbClr val="990000"/>
                </a:solidFill>
                <a:latin typeface="Arial"/>
              </a:rPr>
              <a:t>October 2020</a:t>
            </a:r>
            <a:endParaRPr b="0" lang="en-US" sz="1600" spc="-1" strike="noStrike">
              <a:latin typeface="Arial"/>
            </a:endParaRPr>
          </a:p>
        </p:txBody>
      </p:sp>
      <p:sp>
        <p:nvSpPr>
          <p:cNvPr id="264" name="PlaceHolder 2"/>
          <p:cNvSpPr>
            <a:spLocks noGrp="1"/>
          </p:cNvSpPr>
          <p:nvPr>
            <p:ph/>
          </p:nvPr>
        </p:nvSpPr>
        <p:spPr>
          <a:xfrm>
            <a:off x="323640" y="1268640"/>
            <a:ext cx="8496000" cy="1727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PEV architecture E2 with EffShift-like gearshift strategy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REESS Dialog (.vimax)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Bugfix in output of EM overload output in .vmod file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0.7.1.2108 Development Version</a:t>
            </a:r>
            <a:br>
              <a:rPr sz="2400"/>
            </a:br>
            <a:r>
              <a:rPr b="1" lang="en-US" sz="1600" spc="-1" strike="noStrike">
                <a:solidFill>
                  <a:srgbClr val="990000"/>
                </a:solidFill>
                <a:latin typeface="Arial"/>
              </a:rPr>
              <a:t>October 2020</a:t>
            </a:r>
            <a:endParaRPr b="0" lang="en-US" sz="1600" spc="-1" strike="noStrike">
              <a:latin typeface="Arial"/>
            </a:endParaRPr>
          </a:p>
        </p:txBody>
      </p:sp>
      <p:sp>
        <p:nvSpPr>
          <p:cNvPr id="266" name="PlaceHolder 2"/>
          <p:cNvSpPr>
            <a:spLocks noGrp="1"/>
          </p:cNvSpPr>
          <p:nvPr>
            <p:ph/>
          </p:nvPr>
        </p:nvSpPr>
        <p:spPr>
          <a:xfrm>
            <a:off x="323640" y="1268640"/>
            <a:ext cx="8496000" cy="1727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en-US" sz="16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More stable operating point search hybrid strategy</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Bugfixes hybrid strategy</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Super Cap as REESS </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Adding electric machine thermal de-rating</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Modified battery model: max charge/discharge current over state of charge</a:t>
            </a:r>
            <a:endParaRPr b="0" lang="en-US" sz="1100" spc="-1" strike="noStrike">
              <a:latin typeface="Arial"/>
            </a:endParaRPr>
          </a:p>
          <a:p>
            <a:pPr lvl="1" marL="743040" indent="-285840">
              <a:lnSpc>
                <a:spcPct val="100000"/>
              </a:lnSpc>
              <a:spcBef>
                <a:spcPts val="221"/>
              </a:spcBef>
              <a:buClr>
                <a:srgbClr val="000000"/>
              </a:buClr>
              <a:buFont typeface="Symbol"/>
              <a:buChar char=""/>
              <a:tabLst>
                <a:tab algn="l" pos="1886040"/>
              </a:tabLst>
            </a:pPr>
            <a:r>
              <a:rPr b="0" lang="en-US" sz="1100" spc="-1" strike="noStrike">
                <a:solidFill>
                  <a:srgbClr val="000000"/>
                </a:solidFill>
                <a:latin typeface="Arial"/>
              </a:rPr>
              <a:t>Improvements simulation time hybrid vehicles</a:t>
            </a:r>
            <a:endParaRPr b="0" lang="en-US" sz="1100" spc="-1" strike="noStrike">
              <a:latin typeface="Arial"/>
            </a:endParaRPr>
          </a:p>
        </p:txBody>
      </p:sp>
      <p:sp>
        <p:nvSpPr>
          <p:cNvPr id="267" name="Textfeld 3"/>
          <p:cNvSpPr/>
          <p:nvPr/>
        </p:nvSpPr>
        <p:spPr>
          <a:xfrm>
            <a:off x="719640" y="3161160"/>
            <a:ext cx="7703640" cy="72900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1400" spc="-1" strike="noStrike">
                <a:solidFill>
                  <a:srgbClr val="000000"/>
                </a:solidFill>
                <a:latin typeface="Arial"/>
                <a:ea typeface="DejaVu Sans"/>
              </a:rPr>
              <a:t>Note: </a:t>
            </a:r>
            <a:r>
              <a:rPr b="0" lang="en-US" sz="1400" spc="-1" strike="noStrike">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0.7.0.2076 Development Version</a:t>
            </a:r>
            <a:br>
              <a:rPr sz="2400"/>
            </a:br>
            <a:r>
              <a:rPr b="1" lang="en-US" sz="1600" spc="-1" strike="noStrike">
                <a:solidFill>
                  <a:srgbClr val="990000"/>
                </a:solidFill>
                <a:latin typeface="Arial"/>
              </a:rPr>
              <a:t>September 2020</a:t>
            </a:r>
            <a:endParaRPr b="0" lang="en-US" sz="1600" spc="-1" strike="noStrike">
              <a:latin typeface="Arial"/>
            </a:endParaRPr>
          </a:p>
        </p:txBody>
      </p:sp>
      <p:sp>
        <p:nvSpPr>
          <p:cNvPr id="269" name="PlaceHolder 2"/>
          <p:cNvSpPr>
            <a:spLocks noGrp="1"/>
          </p:cNvSpPr>
          <p:nvPr>
            <p:ph/>
          </p:nvPr>
        </p:nvSpPr>
        <p:spPr>
          <a:xfrm>
            <a:off x="323640" y="1268640"/>
            <a:ext cx="8496000" cy="5111640"/>
          </a:xfrm>
          <a:prstGeom prst="rect">
            <a:avLst/>
          </a:prstGeom>
          <a:noFill/>
          <a:ln w="0">
            <a:noFill/>
          </a:ln>
        </p:spPr>
        <p:txBody>
          <a:bodyPr numCol="1" spcCol="0" lIns="90000" rIns="90000" tIns="45000" bIns="45000" anchor="t">
            <a:noAutofit/>
          </a:bodyPr>
          <a:p>
            <a:pPr marL="343080" indent="-343080">
              <a:lnSpc>
                <a:spcPct val="100000"/>
              </a:lnSpc>
              <a:spcBef>
                <a:spcPts val="241"/>
              </a:spcBef>
              <a:buClr>
                <a:srgbClr val="000000"/>
              </a:buClr>
              <a:buFont typeface="Symbol"/>
              <a:buChar char=""/>
              <a:tabLst>
                <a:tab algn="l" pos="1886040"/>
              </a:tabLst>
            </a:pPr>
            <a:r>
              <a:rPr b="1" lang="en-US" sz="1200" spc="-1" strike="noStrike">
                <a:solidFill>
                  <a:srgbClr val="000000"/>
                </a:solidFill>
                <a:latin typeface="Arial"/>
              </a:rPr>
              <a:t>Changes</a:t>
            </a:r>
            <a:endParaRPr b="0" lang="en-US" sz="12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i="1" lang="en-US" sz="1000" spc="-1" strike="noStrike">
                <a:solidFill>
                  <a:srgbClr val="000000"/>
                </a:solidFill>
                <a:latin typeface="Arial"/>
              </a:rPr>
              <a:t>This release is the first beta version with capabilities to simulate hybrid and battery electric vehicles</a:t>
            </a:r>
            <a:r>
              <a:rPr b="0" lang="en-US" sz="1000" spc="-1" strike="noStrike">
                <a:solidFill>
                  <a:srgbClr val="000000"/>
                </a:solidFill>
                <a:latin typeface="Arial"/>
              </a:rPr>
              <a:t>.</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It covers powertrain architectures “P2”, “P3”, “P4” for hybrid electric vehicles (HEV) and  “E3”, “E4” for battery electric vehicles (PEV, pure electric vehicles).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The definitions of the powertrain architectures and other input parameters on vehicle level can be found in the document </a:t>
            </a:r>
            <a:r>
              <a:rPr b="0" i="1" lang="en-US" sz="1000" spc="-1" strike="noStrike">
                <a:solidFill>
                  <a:srgbClr val="000000"/>
                </a:solidFill>
                <a:latin typeface="Arial"/>
              </a:rPr>
              <a:t>Input parameters vehicle level 20200907.docx</a:t>
            </a:r>
            <a:r>
              <a:rPr b="0" lang="en-US" sz="1000" spc="-1" strike="noStrike">
                <a:solidFill>
                  <a:srgbClr val="000000"/>
                </a:solidFill>
                <a:latin typeface="Arial"/>
              </a:rPr>
              <a:t>. This document is an excerpt of working document 3 of the HDV CO2 Editing board. Items marked in red are not yet featured by the tool and will follow in the next releases. </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Known limitations</a:t>
            </a:r>
            <a:endParaRPr b="0" lang="en-US" sz="10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Electric machine system overload feature not available – work in progress</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Supercaps not implemented – work in progress</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Engine Stop Start Utility Factor has to be set to 1 – further discussions in task force needed how UF-approach shall be aligned with hybrid control strategy</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P_aux_el are electric auxiliaries connected to the high-voltage system. For hybrid electric vehicles this model parameter shall currently be set to 0. – further discussions in task force needed</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APTs with HEV – to be implemented</a:t>
            </a:r>
            <a:endParaRPr b="0" lang="en-US" sz="900" spc="-1" strike="noStrike">
              <a:latin typeface="Arial"/>
            </a:endParaRPr>
          </a:p>
          <a:p>
            <a:pPr lvl="2" marL="1143000" indent="-228600">
              <a:lnSpc>
                <a:spcPct val="100000"/>
              </a:lnSpc>
              <a:spcBef>
                <a:spcPts val="181"/>
              </a:spcBef>
              <a:buClr>
                <a:srgbClr val="000000"/>
              </a:buClr>
              <a:buFont typeface="Symbol"/>
              <a:buChar char=""/>
              <a:tabLst>
                <a:tab algn="l" pos="1886040"/>
              </a:tabLst>
            </a:pPr>
            <a:r>
              <a:rPr b="0" lang="en-US" sz="900" spc="-1" strike="noStrike">
                <a:solidFill>
                  <a:srgbClr val="000000"/>
                </a:solidFill>
                <a:latin typeface="Arial"/>
              </a:rPr>
              <a:t>Eco-roll and PCC not implemented</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0.6.1.1975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271" name="PlaceHolder 2"/>
          <p:cNvSpPr>
            <a:spLocks noGrp="1"/>
          </p:cNvSpPr>
          <p:nvPr>
            <p:ph/>
          </p:nvPr>
        </p:nvSpPr>
        <p:spPr>
          <a:xfrm>
            <a:off x="323640" y="1268640"/>
            <a:ext cx="8640000" cy="5111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Bugfixes </a:t>
            </a:r>
            <a:endParaRPr b="0" lang="en-US" sz="16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Change passenger density primary vehicle for IU cycle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primary vehicle: ignore TPMLM (to limit payload, do not abort simulation)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completed vehicle: limit total mass with TPMLM (abort simulation)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consider l_drivetrain. this length is subtracted from internal length for HVAC calculation only (bus volume for ventilation, max cooling capacity); completed vehicle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set alternator gear efficiency to 1 to align with lorries (currently 0.92)</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electric system / radio: all vehicles are equipped with radio. modify consumed amps to consider 'usage factor' - updated already in master excel.</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generic values for primary HF vehicles CdxA</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check/correct internal height for coaches (shall be 1.8m)</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subtract driver compartment from total volume for max cooling capacity passengers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HVAC: add configuration #10, add sanity checks (i.e. if driver AC is provided for configurations #2,</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Steering pump power demand: tubing factor only applied for first steered axle (as the additionally steered axles are close to the engine and the distance is not known)</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Allow enabling/disabling LAC in declaration mode via GUI (not persistent). Additional input on “Options” tab to set min activation speed</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 file: E_AUX_SUM matches sum of individual AUX entries; bugfix writing P_busAux_ES_mech</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Update user manual on VTP cycle file format</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APT gearbox (all gears) generic efficiency 0.925</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retarder: set factor for generic retarder losses from 0.5 to 1 (i.e., use standardvalues)</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VTP engineering mode - vsum actual CF different to declaration mode</a:t>
            </a:r>
            <a:endParaRPr b="0" lang="en-US" sz="1000" spc="-1" strike="noStrike">
              <a:latin typeface="Arial"/>
            </a:endParaRPr>
          </a:p>
          <a:p>
            <a:pPr marL="343080" indent="-34308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Improvements</a:t>
            </a:r>
            <a:endParaRPr b="0" lang="en-US" sz="12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Switch GUI to 64bit mode (see VECTO-1270)</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New normalization/denormalization method for generic engine FC-Map (see VECTO-1269) </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.vsum-file: new entries P_ice_fcmap, P_wheel_in, k_vehline (previous k_vehline is now k_engline</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Bus VTP: Fan Parameter C4</a:t>
            </a:r>
            <a:endParaRPr b="0" lang="en-US" sz="1000" spc="-1" strike="noStrike">
              <a:latin typeface="Arial"/>
            </a:endParaRPr>
          </a:p>
          <a:p>
            <a:pPr lvl="1" marL="743040" indent="-285840">
              <a:lnSpc>
                <a:spcPct val="100000"/>
              </a:lnSpc>
              <a:spcBef>
                <a:spcPts val="201"/>
              </a:spcBef>
              <a:buClr>
                <a:srgbClr val="000000"/>
              </a:buClr>
              <a:buFont typeface="Symbol"/>
              <a:buChar char=""/>
              <a:tabLst>
                <a:tab algn="l" pos="1886040"/>
              </a:tabLst>
            </a:pPr>
            <a:r>
              <a:rPr b="0" lang="en-US" sz="1000" spc="-1" strike="noStrike">
                <a:solidFill>
                  <a:srgbClr val="000000"/>
                </a:solidFill>
                <a:latin typeface="Arial"/>
              </a:rPr>
              <a:t>don't write CIF for primary vehicle</a:t>
            </a:r>
            <a:endParaRPr b="0" lang="en-US" sz="1000" spc="-1" strike="noStrike">
              <a:latin typeface="Arial"/>
            </a:endParaRPr>
          </a:p>
          <a:p>
            <a:pPr>
              <a:lnSpc>
                <a:spcPct val="100000"/>
              </a:lnSpc>
              <a:buNone/>
              <a:tabLst>
                <a:tab algn="l" pos="1886040"/>
              </a:tabLst>
            </a:pPr>
            <a:endParaRPr b="0" lang="en-US" sz="1000" spc="-1" strike="noStrike">
              <a:latin typeface="Arial"/>
            </a:endParaRPr>
          </a:p>
          <a:p>
            <a:pPr>
              <a:lnSpc>
                <a:spcPct val="100000"/>
              </a:lnSpc>
              <a:buNone/>
              <a:tabLst>
                <a:tab algn="l" pos="1886040"/>
              </a:tabLst>
            </a:pP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273" name="PlaceHolder 2"/>
          <p:cNvSpPr>
            <a:spLocks noGrp="1"/>
          </p:cNvSpPr>
          <p:nvPr>
            <p:ph/>
          </p:nvPr>
        </p:nvSpPr>
        <p:spPr>
          <a:xfrm>
            <a:off x="323640" y="1268640"/>
            <a:ext cx="8640000" cy="511164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Improvements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Declaration mode for complete and completed buses via “factor method”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heavy buses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VTP mode for dual-fuel vehicles (new cycle file required!)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t>
            </a:r>
            <a:r>
              <a:rPr b="0" lang="en-US" sz="1600" spc="-1" strike="noStrike">
                <a:solidFill>
                  <a:srgbClr val="000000"/>
                </a:solidFill>
                <a:latin typeface="Arial"/>
              </a:rPr>
              <a:t>Single bus” mode with generic data from segmentation table completed vehicle (previous version used generic data from primary vehicle)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highway sections on coach cycle (required for PCC)</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graphical user interface (VECTO3.exe) (</a:t>
            </a:r>
            <a:r>
              <a:rPr b="0" i="1" lang="en-US" sz="1600" spc="-1" strike="noStrike">
                <a:solidFill>
                  <a:srgbClr val="953735"/>
                </a:solidFill>
                <a:latin typeface="Arial"/>
              </a:rPr>
              <a:t>alpha version!</a:t>
            </a:r>
            <a:r>
              <a:rPr b="0" lang="en-US" sz="1600" spc="-1" strike="noStrike">
                <a:solidFill>
                  <a:srgbClr val="000000"/>
                </a:solidFill>
                <a:latin typeface="Arial"/>
              </a:rPr>
              <a:t>)</a:t>
            </a:r>
            <a:endParaRPr b="0" lang="en-US" sz="16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complete(d) bus job file (PIF + completed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Creating &amp; editing single bus job file (primary XML + completed XML)</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Simulation of all types of VECTO jobs</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Currently, other existing job files can not be edited in the new GUI – planned to be extended in future</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Functionality similar to currently official VECTO version, for further information see separate user manual on new GUI</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XML reports (MRF, CIF, PIF) according to draft Annex IV</a:t>
            </a:r>
            <a:endParaRPr b="0" lang="en-US" sz="1600" spc="-1" strike="noStrike">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a:t>
            </a:r>
            <a:r>
              <a:rPr b="0" lang="en-US" sz="1600" spc="-1" strike="noStrike">
                <a:solidFill>
                  <a:srgbClr val="000000"/>
                </a:solidFill>
                <a:latin typeface="Arial"/>
              </a:rPr>
              <a:t> allow adding torque converter data to PIF manually (not added by VECTO automatically)  to investigate on generic TC data for APT-P (see generic vehicles for reference)</a:t>
            </a:r>
            <a:endParaRPr b="0" lang="en-US" sz="1600" spc="-1" strike="noStrike">
              <a:latin typeface="Arial"/>
            </a:endParaRPr>
          </a:p>
          <a:p>
            <a:pPr lvl="1" marL="743040" indent="-285840">
              <a:lnSpc>
                <a:spcPct val="100000"/>
              </a:lnSpc>
              <a:spcBef>
                <a:spcPts val="320"/>
              </a:spcBef>
              <a:buClr>
                <a:srgbClr val="953735"/>
              </a:buClr>
              <a:buFont typeface="Symbol"/>
              <a:buChar char=""/>
              <a:tabLst>
                <a:tab algn="l" pos="1886040"/>
              </a:tabLst>
            </a:pPr>
            <a:r>
              <a:rPr b="0" i="1" lang="en-US" sz="1600" spc="-1" strike="noStrike">
                <a:solidFill>
                  <a:srgbClr val="953735"/>
                </a:solidFill>
                <a:latin typeface="Arial"/>
              </a:rPr>
              <a:t>Expert feature: </a:t>
            </a:r>
            <a:r>
              <a:rPr b="0" lang="en-US" sz="1600" spc="-1" strike="noStrike">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en-US" sz="1600" spc="-1" strike="noStrike">
              <a:latin typeface="Arial"/>
            </a:endParaRPr>
          </a:p>
        </p:txBody>
      </p:sp>
      <p:sp>
        <p:nvSpPr>
          <p:cNvPr id="27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heavy buses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for engine fan</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Consider electric auxiliaries (fan, steering pump) as electrical consumer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power demand pneumatic system with mechanical clutch</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electrical consumers LED bonus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Correction for double compensation of smart electrics (battery &amp; generated vs. consumed)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Correcting passenger count depending on HVAC configuration</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Bugfixes medium lorries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technologies for electric steering pump</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tyre xml supported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Bugfixes graphical user interface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sample data VTP</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0.6.0.1908 Development Version</a:t>
            </a:r>
            <a:br>
              <a:rPr sz="2400"/>
            </a:br>
            <a:r>
              <a:rPr b="1" lang="en-US" sz="1600" spc="-1" strike="noStrike">
                <a:solidFill>
                  <a:srgbClr val="990000"/>
                </a:solidFill>
                <a:latin typeface="Arial"/>
              </a:rPr>
              <a:t>March. 2020</a:t>
            </a:r>
            <a:endParaRPr b="0" lang="en-US" sz="1600" spc="-1" strike="noStrike">
              <a:latin typeface="Arial"/>
            </a:endParaRPr>
          </a:p>
        </p:txBody>
      </p:sp>
      <p:sp>
        <p:nvSpPr>
          <p:cNvPr id="27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Consider vehicle’s max speed when validating input data, calculating velocity drop during traction interruption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Reading vehicle design speed (85km/h) from segment table (also related to vehicle’s max speed)</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JobEditor GUI – toolbar with icons not visible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Fix null-reference exception simulating vehicles in engineering mode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0.6.0.1884 Development Version</a:t>
            </a:r>
            <a:br>
              <a:rPr sz="2400"/>
            </a:br>
            <a:r>
              <a:rPr b="1" lang="en-US" sz="1600" spc="-1" strike="noStrike">
                <a:solidFill>
                  <a:srgbClr val="990000"/>
                </a:solidFill>
                <a:latin typeface="Arial"/>
              </a:rPr>
              <a:t>Feb. 2020</a:t>
            </a:r>
            <a:endParaRPr b="0" lang="en-US" sz="1600" spc="-1" strike="noStrike">
              <a:latin typeface="Arial"/>
            </a:endParaRPr>
          </a:p>
        </p:txBody>
      </p:sp>
      <p:sp>
        <p:nvSpPr>
          <p:cNvPr id="27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P0 hybrids in bus auxiliaries model</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“primary bus” (declaration mode)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“single bus” – combine input parameters of primary bus and completed bus to a single simulation (no factor method) (declaration mode)</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medium lorries</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Support for vehicles with front-wheel drive (axlegear included in gearbox)</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VTP Mode for medium lorries</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New XML schema for new vehicle categories, adapted XML schema for generated reports (MRF, CIF, PIF)</a:t>
            </a:r>
            <a:endParaRPr b="0" lang="en-US" sz="1800" spc="-1" strike="noStrike">
              <a:latin typeface="Arial"/>
            </a:endParaRPr>
          </a:p>
          <a:p>
            <a:pPr marL="457200">
              <a:lnSpc>
                <a:spcPct val="100000"/>
              </a:lnSpc>
              <a:spcBef>
                <a:spcPts val="320"/>
              </a:spcBef>
              <a:buNone/>
              <a:tabLst>
                <a:tab algn="l" pos="0"/>
              </a:tabLst>
            </a:pPr>
            <a:endParaRPr b="0" lang="en-US" sz="1600" spc="-1" strike="noStrike">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This development version includes all features already included in version 0.5.0</a:t>
            </a:r>
            <a:endParaRPr b="0" lang="en-US" sz="1600" spc="-1" strike="noStrike">
              <a:latin typeface="Arial"/>
            </a:endParaRPr>
          </a:p>
          <a:p>
            <a:pPr marL="457200">
              <a:lnSpc>
                <a:spcPct val="100000"/>
              </a:lnSpc>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0.5.0 Development Version</a:t>
            </a:r>
            <a:br>
              <a:rPr sz="2400"/>
            </a:br>
            <a:r>
              <a:rPr b="1" lang="en-US" sz="1600" spc="-1" strike="noStrike">
                <a:solidFill>
                  <a:srgbClr val="990000"/>
                </a:solidFill>
                <a:latin typeface="Arial"/>
              </a:rPr>
              <a:t>Dec. 2019</a:t>
            </a:r>
            <a:endParaRPr b="0" lang="en-US" sz="1600" spc="-1" strike="noStrike">
              <a:latin typeface="Arial"/>
            </a:endParaRPr>
          </a:p>
        </p:txBody>
      </p:sp>
      <p:sp>
        <p:nvSpPr>
          <p:cNvPr id="28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 </a:t>
            </a:r>
            <a:endParaRPr b="0" lang="en-US" sz="1800" spc="-1" strike="noStrike">
              <a:latin typeface="Arial"/>
            </a:endParaRPr>
          </a:p>
          <a:p>
            <a:pPr lvl="1" marL="743040" indent="-28584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Adding in-the-loop simulation of advanced driver assistant systems (ADAS)</a:t>
            </a:r>
            <a:endParaRPr b="0" lang="en-US" sz="18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Engine stop-start during vehicle stop</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Eco-roll with and without engine stop</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Predictive cruise control: dip coasting, crest coasting</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dual-fuel vehicles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Adding support for waste- / exhaust-heat recovery systems (electrical and mechanical)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New gear shift strategy (EffShift) for AMT and AT transmissions</a:t>
            </a:r>
            <a:endParaRPr b="0" lang="en-US" sz="1600" spc="-1" strike="noStrike">
              <a:latin typeface="Arial"/>
            </a:endParaRPr>
          </a:p>
          <a:p>
            <a:pPr marL="457200">
              <a:lnSpc>
                <a:spcPct val="100000"/>
              </a:lnSpc>
              <a:spcBef>
                <a:spcPts val="320"/>
              </a:spcBef>
              <a:buNone/>
              <a:tabLst>
                <a:tab algn="l" pos="0"/>
              </a:tabLst>
            </a:pPr>
            <a:endParaRPr b="0" lang="en-US" sz="1600" spc="-1" strike="noStrike">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Details on the new models, model parameters, and new signals in the output are described in the user manual</a:t>
            </a:r>
            <a:endParaRPr b="0" lang="en-US" sz="1600" spc="-1" strike="noStrike">
              <a:latin typeface="Arial"/>
            </a:endParaRPr>
          </a:p>
          <a:p>
            <a:pPr marL="457200">
              <a:lnSpc>
                <a:spcPct val="100000"/>
              </a:lnSpc>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3.3.10.2401 Official Release</a:t>
            </a:r>
            <a:br>
              <a:rPr sz="2400"/>
            </a:br>
            <a:r>
              <a:rPr b="1" lang="en-US" sz="1600" spc="-1" strike="noStrike">
                <a:solidFill>
                  <a:srgbClr val="990000"/>
                </a:solidFill>
                <a:latin typeface="Arial"/>
              </a:rPr>
              <a:t>2020-07-29</a:t>
            </a:r>
            <a:endParaRPr b="0" lang="en-US" sz="1600" spc="-1" strike="noStrike">
              <a:latin typeface="Arial"/>
            </a:endParaRPr>
          </a:p>
        </p:txBody>
      </p:sp>
      <p:sp>
        <p:nvSpPr>
          <p:cNvPr id="28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Handling of exempted vehicles (not changed since release candidate) – see next slides for details</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3.3.10.2401</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latin typeface="Arial"/>
            </a:endParaRPr>
          </a:p>
        </p:txBody>
      </p:sp>
      <p:sp>
        <p:nvSpPr>
          <p:cNvPr id="28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[VECTO-1421] – Added vehicle sub-group (CO</a:t>
            </a:r>
            <a:r>
              <a:rPr b="0" lang="en-US" sz="1600" spc="-1" strike="noStrike" baseline="-25000">
                <a:solidFill>
                  <a:srgbClr val="000000"/>
                </a:solidFill>
                <a:latin typeface="Arial"/>
              </a:rPr>
              <a:t>2</a:t>
            </a:r>
            <a:r>
              <a:rPr b="0" lang="en-US" sz="1600" spc="-1" strike="noStrike">
                <a:solidFill>
                  <a:srgbClr val="000000"/>
                </a:solidFill>
                <a:latin typeface="Arial"/>
              </a:rPr>
              <a:t>-standards to MRF and CIF)</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1449] – Handling of exempted vehicles: See next slide for details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[VECTO-1404] – Corrected URL for CSS in MRF and CIF</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[VECTO-1419] – Simulation abort in urban cycle: failed to find operating point on search braking power with TC gear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[VECTO-1439] – Bugfix handling duplicate entries in engine full-load curve when intersecting with max-torque of gearbox</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[VECTO-1429] – error in XML schema 2.x for exempted vehicles – MaxNetPower1/2 are optional input parameters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en-US" sz="1600" spc="-1" strike="noStrike">
              <a:latin typeface="Arial"/>
            </a:endParaRPr>
          </a:p>
        </p:txBody>
      </p:sp>
      <p:sp>
        <p:nvSpPr>
          <p:cNvPr id="28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479"/>
              </a:spcBef>
              <a:buNone/>
              <a:tabLst>
                <a:tab algn="l" pos="0"/>
              </a:tabLst>
            </a:pPr>
            <a:r>
              <a:rPr b="1" lang="en-US" sz="2400" spc="-1" strike="noStrike">
                <a:solidFill>
                  <a:srgbClr val="990000"/>
                </a:solidFill>
                <a:latin typeface="Arial"/>
              </a:rPr>
              <a:t>Handling of exempted vehicles</a:t>
            </a:r>
            <a:endParaRPr b="0" lang="en-US" sz="24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Axle configuration and sleeper cab are optional input parameters for exempted vehicles (XML schema 1.0 and 2.2.1).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OEMs are recommended to provide these parameters for exempted vehicles.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the axle configuration is provided as input parameter, the MRF contains the vehicle group.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The sleeper cab input parameter is also part of the MRF if provided as input.</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0" lang="en-US" sz="1800" spc="-1" strike="noStrike">
                <a:solidFill>
                  <a:srgbClr val="000000"/>
                </a:solidFill>
                <a:latin typeface="Arial"/>
              </a:rPr>
              <a:t>Input parameters MaxNetPower1/2 are optional input parameters for all exempted vehicles. </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If provided in the input these parameters are part of the MRF for all exempted vehicle types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It is recommended that those parameters are used to specify the rated power also for PEV (pure electric vehicles)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3.3.9.2175 Official Release</a:t>
            </a:r>
            <a:br>
              <a:rPr sz="2400"/>
            </a:br>
            <a:r>
              <a:rPr b="1" lang="en-US" sz="1600" spc="-1" strike="noStrike">
                <a:solidFill>
                  <a:srgbClr val="990000"/>
                </a:solidFill>
                <a:latin typeface="Arial"/>
              </a:rPr>
              <a:t>2020-12-15</a:t>
            </a:r>
            <a:endParaRPr b="0" lang="en-US" sz="1600" spc="-1" strike="noStrike">
              <a:latin typeface="Arial"/>
            </a:endParaRPr>
          </a:p>
        </p:txBody>
      </p:sp>
      <p:sp>
        <p:nvSpPr>
          <p:cNvPr id="28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version 3.3.9.2147)</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 – regression update</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3.3.9.2147 Release Candidate</a:t>
            </a:r>
            <a:br>
              <a:rPr sz="2400"/>
            </a:br>
            <a:r>
              <a:rPr b="1" lang="en-US" sz="1600" spc="-1" strike="noStrike">
                <a:solidFill>
                  <a:srgbClr val="990000"/>
                </a:solidFill>
                <a:latin typeface="Arial"/>
              </a:rPr>
              <a:t>2020-11-17</a:t>
            </a:r>
            <a:endParaRPr b="0" lang="en-US" sz="1600" spc="-1" strike="noStrike">
              <a:latin typeface="Arial"/>
            </a:endParaRPr>
          </a:p>
        </p:txBody>
      </p:sp>
      <p:sp>
        <p:nvSpPr>
          <p:cNvPr id="29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[VECTO-1331] - VTP Mode does not function for vehicles of group 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[VECTO-1355] - VTP Simulation Abort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[VECTO-1356] - PTO Losses not considered in VTP simulation</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[VECTO-1361] - Torque Converter in use for the First and Second Gear VTP file does not allow for this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[VECTO-1372] - Deviation of CdxA Input vs. Output for HDV16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[VECTO-1374] - VECTO VTP error</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[VECTO-1360] - make unit tests execute in parallel</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3.3.8.2052 Official Release</a:t>
            </a:r>
            <a:br>
              <a:rPr sz="2400"/>
            </a:br>
            <a:r>
              <a:rPr b="1" lang="en-US" sz="1600" spc="-1" strike="noStrike">
                <a:solidFill>
                  <a:srgbClr val="990000"/>
                </a:solidFill>
                <a:latin typeface="Arial"/>
              </a:rPr>
              <a:t>2020-08-14</a:t>
            </a:r>
            <a:endParaRPr b="0" lang="en-US" sz="1600" spc="-1" strike="noStrike">
              <a:latin typeface="Arial"/>
            </a:endParaRPr>
          </a:p>
        </p:txBody>
      </p:sp>
      <p:sp>
        <p:nvSpPr>
          <p:cNvPr id="29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No additional bugfixes compared to VECTO 3.3.8.2024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3.3.8.2024 Release Candidate</a:t>
            </a:r>
            <a:br>
              <a:rPr sz="2400"/>
            </a:br>
            <a:r>
              <a:rPr b="1" lang="en-US" sz="1600" spc="-1" strike="noStrike">
                <a:solidFill>
                  <a:srgbClr val="990000"/>
                </a:solidFill>
                <a:latin typeface="Arial"/>
              </a:rPr>
              <a:t>2020-07-17</a:t>
            </a:r>
            <a:endParaRPr b="0" lang="en-US" sz="1600" spc="-1" strike="noStrike">
              <a:latin typeface="Arial"/>
            </a:endParaRPr>
          </a:p>
        </p:txBody>
      </p:sp>
      <p:sp>
        <p:nvSpPr>
          <p:cNvPr id="29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[VECTO-1288] - Simulation Abort UD RL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[VECTO-1327] - Simulation abort Construction RefLoad: unexpected response ResponseOverload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[VECTO-1266] - Gear 4 Loss-Map was extrapolated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3.3.7.1964 Official Release</a:t>
            </a:r>
            <a:br>
              <a:rPr sz="2400"/>
            </a:br>
            <a:r>
              <a:rPr b="1" lang="en-US" sz="1600" spc="-1" strike="noStrike">
                <a:solidFill>
                  <a:srgbClr val="990000"/>
                </a:solidFill>
                <a:latin typeface="Arial"/>
              </a:rPr>
              <a:t>2020-05-18</a:t>
            </a:r>
            <a:endParaRPr b="0" lang="en-US" sz="1600" spc="-1" strike="noStrike">
              <a:latin typeface="Arial"/>
            </a:endParaRPr>
          </a:p>
        </p:txBody>
      </p:sp>
      <p:sp>
        <p:nvSpPr>
          <p:cNvPr id="29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[VECTO-1254] - Hashing method does not ignore certain XML attributes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[VECTO-1259] - Mission profile weighting factors for vehicles of group 16 are not correct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3.3.6.1916 Official Release</a:t>
            </a:r>
            <a:br>
              <a:rPr sz="2400"/>
            </a:br>
            <a:r>
              <a:rPr b="1" lang="en-US" sz="1600" spc="-1" strike="noStrike">
                <a:solidFill>
                  <a:srgbClr val="990000"/>
                </a:solidFill>
                <a:latin typeface="Arial"/>
              </a:rPr>
              <a:t>2020-03-31</a:t>
            </a:r>
            <a:endParaRPr b="0" lang="en-US" sz="1600" spc="-1" strike="noStrike">
              <a:latin typeface="Arial"/>
            </a:endParaRPr>
          </a:p>
        </p:txBody>
      </p:sp>
      <p:sp>
        <p:nvSpPr>
          <p:cNvPr id="29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[VECTO-1250] - Error creating new gearbox file from scratch</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3.3.6.1898 Release Candidate</a:t>
            </a:r>
            <a:br>
              <a:rPr sz="2400"/>
            </a:br>
            <a:r>
              <a:rPr b="1" lang="en-US" sz="1600" spc="-1" strike="noStrike">
                <a:solidFill>
                  <a:srgbClr val="990000"/>
                </a:solidFill>
                <a:latin typeface="Arial"/>
              </a:rPr>
              <a:t>2020-03-13</a:t>
            </a:r>
            <a:endParaRPr b="0" lang="en-US" sz="1600" spc="-1" strike="noStrike">
              <a:latin typeface="Arial"/>
            </a:endParaRPr>
          </a:p>
        </p:txBody>
      </p:sp>
      <p:sp>
        <p:nvSpPr>
          <p:cNvPr id="30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[VECTO-1239] - Adaptation of Mission Profile Weighting Factors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[VECTO-1241] - Engineering mode: Adding support for additional PTO activations</a:t>
            </a:r>
            <a:endParaRPr b="0" lang="en-US" sz="16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[VECTO-1243] - Bug in VTP mode for heavy lorries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[VECTO-1234] - urban cycle at reference load not running for bug when find braking operating point</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3.3.5.1812 Official Release</a:t>
            </a:r>
            <a:br>
              <a:rPr sz="2400"/>
            </a:br>
            <a:r>
              <a:rPr b="1" lang="en-US" sz="1600" spc="-1" strike="noStrike">
                <a:solidFill>
                  <a:srgbClr val="990000"/>
                </a:solidFill>
                <a:latin typeface="Arial"/>
              </a:rPr>
              <a:t>2019-12-18</a:t>
            </a:r>
            <a:endParaRPr b="0" lang="en-US" sz="1600" spc="-1" strike="noStrike">
              <a:latin typeface="Arial"/>
            </a:endParaRPr>
          </a:p>
        </p:txBody>
      </p:sp>
      <p:sp>
        <p:nvSpPr>
          <p:cNvPr id="30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3.3.5.1783-RC)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[VECTO-1220] - Simulation Abort Urban Delivery RefLoad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3.3.5.1783 Release Candidate</a:t>
            </a:r>
            <a:br>
              <a:rPr sz="2400"/>
            </a:br>
            <a:r>
              <a:rPr b="1" lang="en-US" sz="1600" spc="-1" strike="noStrike">
                <a:solidFill>
                  <a:srgbClr val="990000"/>
                </a:solidFill>
                <a:latin typeface="Arial"/>
              </a:rPr>
              <a:t>2019-11-19</a:t>
            </a:r>
            <a:endParaRPr b="0" lang="en-US" sz="1600" spc="-1" strike="noStrike">
              <a:latin typeface="Arial"/>
            </a:endParaRPr>
          </a:p>
        </p:txBody>
      </p:sp>
      <p:sp>
        <p:nvSpPr>
          <p:cNvPr id="30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[VECTO-1194] - Handling input parameter 'vocational' for groups other than 4, 5, 9, 10</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[VECTO-1147] - Updating declaration mode cycles values in user manual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[VECTO-1207] - run VECTO in 64bit mode by default</a:t>
            </a:r>
            <a:endParaRPr b="0" lang="en-US" sz="1600" spc="-1" strike="noStrike">
              <a:latin typeface="Arial"/>
            </a:endParaRPr>
          </a:p>
          <a:p>
            <a:pPr>
              <a:lnSpc>
                <a:spcPct val="100000"/>
              </a:lnSpc>
              <a:spcBef>
                <a:spcPts val="360"/>
              </a:spcBef>
              <a:buNone/>
              <a:tabLst>
                <a:tab algn="l" pos="1886040"/>
              </a:tabLst>
            </a:pPr>
            <a:endParaRPr b="0" lang="en-US" sz="18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[VECTO-1159] - Simulation Abort in UrbanDelivery LowLoading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[VECTO-1189] - Error in delaunay triangulation invariant violated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[VECTO-1209] - Unexpected Response Response 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[VECTO-1211] - Simulation Abort Urban Delivery Ref 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[VECTO-1214] - Validation of input data fails when gearbox speed limits are applied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3.3.4.1716 Official Release</a:t>
            </a:r>
            <a:br>
              <a:rPr sz="2400"/>
            </a:br>
            <a:r>
              <a:rPr b="1" lang="en-US" sz="1600" spc="-1" strike="noStrike">
                <a:solidFill>
                  <a:srgbClr val="990000"/>
                </a:solidFill>
                <a:latin typeface="Arial"/>
              </a:rPr>
              <a:t>2019-09-13</a:t>
            </a:r>
            <a:endParaRPr b="0" lang="en-US" sz="1600" spc="-1" strike="noStrike">
              <a:latin typeface="Arial"/>
            </a:endParaRPr>
          </a:p>
        </p:txBody>
      </p:sp>
      <p:sp>
        <p:nvSpPr>
          <p:cNvPr id="30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3.3.4.1686-RC)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[VECTO-1074] - Vecto Calculation Aborts with Interpolation Error ([VECTO-1046])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[VECTO-1111] - Simulation Abort in Municipal Reference Load</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3.3.4.1686 Release Candidate</a:t>
            </a:r>
            <a:br>
              <a:rPr sz="2400"/>
            </a:br>
            <a:r>
              <a:rPr b="1" lang="en-US" sz="1600" spc="-1" strike="noStrike">
                <a:solidFill>
                  <a:srgbClr val="990000"/>
                </a:solidFill>
                <a:latin typeface="Arial"/>
              </a:rPr>
              <a:t>2019-08-14</a:t>
            </a:r>
            <a:endParaRPr b="0" lang="en-US" sz="1600" spc="-1" strike="noStrike">
              <a:latin typeface="Arial"/>
            </a:endParaRPr>
          </a:p>
        </p:txBody>
      </p:sp>
      <p:sp>
        <p:nvSpPr>
          <p:cNvPr id="30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[VECTO-1042] - Add option to write results into a certain directory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[VECTO-1064] - add weighting factors for vehicle groups 1, 2, 3, 11, 12, 16</a:t>
            </a:r>
            <a:endParaRPr b="0" lang="en-US" sz="1600" spc="-1" strike="noStrike">
              <a:latin typeface="Arial"/>
            </a:endParaRPr>
          </a:p>
          <a:p>
            <a:pPr>
              <a:lnSpc>
                <a:spcPct val="100000"/>
              </a:lnSpc>
              <a:buNone/>
              <a:tabLst>
                <a:tab algn="l" pos="1886040"/>
              </a:tabLst>
            </a:pP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[VECTO-1030] - Exceeded max iterations when searching for operating point! Failed to find operating point!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[VECTO-1032] - Gear 5 LossMap data was extrapolated in Declaration Mode: range for loss map is not sufficient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[VECTO-1067] - Vair and Beta correction for Aerodynamics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[VECTO-1000] - Error Loss-Map extrapolation in Declaration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[VECTO-1040] - Gear 6 LossMap data was extrapolated in Declaration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[VECTO-1047] - Failed to find operating point on construction cycle, ref load, AT gearbox</a:t>
            </a:r>
            <a:endParaRPr b="0" lang="en-US" sz="16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3.3.3.1639 Official Release</a:t>
            </a:r>
            <a:br>
              <a:rPr sz="2400"/>
            </a:br>
            <a:r>
              <a:rPr b="1" lang="en-US" sz="1600" spc="-1" strike="noStrike">
                <a:solidFill>
                  <a:srgbClr val="990000"/>
                </a:solidFill>
                <a:latin typeface="Arial"/>
              </a:rPr>
              <a:t>2019-06-27</a:t>
            </a:r>
            <a:endParaRPr b="0" lang="en-US" sz="1600" spc="-1" strike="noStrike">
              <a:latin typeface="Arial"/>
            </a:endParaRPr>
          </a:p>
        </p:txBody>
      </p:sp>
      <p:sp>
        <p:nvSpPr>
          <p:cNvPr id="31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3.3.3.1609-RC)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[VECTO-1003] - Vecto Error: Loss-Map extrapolation in declaration mode required</a:t>
            </a:r>
            <a:br>
              <a:rPr sz="1600"/>
            </a:br>
            <a:r>
              <a:rPr b="0" lang="en-US" sz="1600" spc="-1" strike="noStrike">
                <a:solidFill>
                  <a:srgbClr val="000000"/>
                </a:solidFill>
                <a:latin typeface="Arial"/>
              </a:rPr>
              <a:t>(issue VECTO-991)</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[VECTO-1006] - Failed to find torque converter operating point on UD cycle </a:t>
            </a:r>
            <a:br>
              <a:rPr sz="1600"/>
            </a:br>
            <a:r>
              <a:rPr b="0" lang="en-US" sz="1600" spc="-1" strike="noStrike">
                <a:solidFill>
                  <a:srgbClr val="000000"/>
                </a:solidFill>
                <a:latin typeface="Arial"/>
              </a:rPr>
              <a:t>(issue VECTO-996)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[VECTO-1010] - Unexpected Response: ResponseOverload in UD cycle </a:t>
            </a:r>
            <a:br>
              <a:rPr sz="1600"/>
            </a:br>
            <a:r>
              <a:rPr b="0" lang="en-US" sz="1600" spc="-1" strike="noStrike">
                <a:solidFill>
                  <a:srgbClr val="000000"/>
                </a:solidFill>
                <a:latin typeface="Arial"/>
              </a:rPr>
              <a:t>(issue VECTO-996)</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[VECTO-1015] - XML Schema not correctly identified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[VECTO-1019] - Error opening job in case a file is missing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[VECTO-1020] - HashingTool Crashes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[VECTO-1021] - Invalid hash of job data</a:t>
            </a:r>
            <a:endParaRPr b="0" lang="en-US" sz="1600" spc="-1" strike="noStrike">
              <a:latin typeface="Arial"/>
            </a:endParaRPr>
          </a:p>
          <a:p>
            <a:pPr>
              <a:lnSpc>
                <a:spcPct val="100000"/>
              </a:lnSpc>
              <a:buNone/>
              <a:tabLst>
                <a:tab algn="l" pos="1886040"/>
              </a:tabLst>
            </a:pPr>
            <a:endParaRPr b="0" lang="en-US" sz="16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3.3.3.1609 Release Candidate</a:t>
            </a:r>
            <a:br>
              <a:rPr sz="2400"/>
            </a:br>
            <a:r>
              <a:rPr b="1" lang="en-US" sz="1600" spc="-1" strike="noStrike">
                <a:solidFill>
                  <a:srgbClr val="990000"/>
                </a:solidFill>
                <a:latin typeface="Arial"/>
              </a:rPr>
              <a:t>2019-05-29</a:t>
            </a:r>
            <a:endParaRPr b="0" lang="en-US" sz="1600" spc="-1" strike="noStrike">
              <a:latin typeface="Arial"/>
            </a:endParaRPr>
          </a:p>
        </p:txBody>
      </p:sp>
      <p:sp>
        <p:nvSpPr>
          <p:cNvPr id="31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 </a:t>
            </a: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[VECTO-916] - Adding new tyre sizes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[VECTO-946] - Refactoring XML reading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[VECTO-965] - Add input fields for ADAS into VECTO GUI</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[VECTO-966] - Allow selecting Tank System for NG engines in GUI</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[VECTO-932] - Consistency in NA values in the vsum file</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[VECTO-954] - Failed to find operating point for braking power (Fix for Notification Art. 10(2) - [VECTO-952])</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[VECTO-979] - VECTO Simulation abort with 8-speed MT transmission (Fix for Notification Art. 10(2) - [VECTO-978])</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[VECTO-931] - AT error in VECTO version 3.3.2.1519</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[VECTO-950] - Error when loading Engine Full-load curve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[VECTO-967] - Engine-Only mode: Engine Torque reported in .vmod does not match the provided cycle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[VECTO-980] - Error during simulation run</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3.3.2.1548 Official Release</a:t>
            </a:r>
            <a:br>
              <a:rPr sz="2400"/>
            </a:br>
            <a:r>
              <a:rPr b="1" lang="en-US" sz="1600" spc="-1" strike="noStrike">
                <a:solidFill>
                  <a:srgbClr val="990000"/>
                </a:solidFill>
                <a:latin typeface="Arial"/>
              </a:rPr>
              <a:t>2019-03-29</a:t>
            </a:r>
            <a:endParaRPr b="0" lang="en-US" sz="1600" spc="-1" strike="noStrike">
              <a:latin typeface="Arial"/>
            </a:endParaRPr>
          </a:p>
        </p:txBody>
      </p:sp>
      <p:sp>
        <p:nvSpPr>
          <p:cNvPr id="31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3.3.2.1519-RC)</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[VECTO-904] - Range for gear loss map not sufficient.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[VECTO-909] - 3.3.2.1519: Problems running more than one input .xml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[VECTO-917] - TargetVelocity (0.0000) and VehicleVelocity (&gt;0) must be zero when vehicle is halting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[VECTO-918] - RegionalDeliveryEMS LowLoading - ResponseSpeedLimitExceeded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[VECTO-920] - Urban Delivery: Simulation Run Aborted, TargetVelocity and VehicleVelocity must be zero when vehicle is halting!</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1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[VECTO-869] - change new vehicle input fields (ADAS, sleeper cab, etc.) to be mandatory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[VECTO-784] - Configuration file for VECTO log files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[VECTO-865] - Extend Sum-Data</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[VECTO-873] - Add digest value to SumData</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[VECTO-729] - Bugs APT submodel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[VECTO-787] - APT: DrivingAction Accelerate after Overload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[VECTO-789] - APT: ResponseUnderload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[VECTO-797] - VECTO abort with AT transmission and TC table value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[VECTO-798] - VECTO abort with certified AT transmission data and certified TC data</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[VECTO-807] - VECTO errors in vehicle class 1/2/3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[VECTO-827] - Torque converter inertia </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[VECTO-838] - APT: ResponseOverload</a:t>
            </a:r>
            <a:endParaRPr b="0" lang="en-US" sz="1600" spc="-1" strike="noStrike">
              <a:latin typeface="Arial"/>
            </a:endParaRPr>
          </a:p>
        </p:txBody>
      </p:sp>
      <p:sp>
        <p:nvSpPr>
          <p:cNvPr id="318"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20" name="PlaceHolder 2"/>
          <p:cNvSpPr>
            <a:spLocks noGrp="1"/>
          </p:cNvSpPr>
          <p:nvPr>
            <p:ph/>
          </p:nvPr>
        </p:nvSpPr>
        <p:spPr>
          <a:xfrm>
            <a:off x="323640" y="1340640"/>
            <a:ext cx="8819280" cy="511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[VECTO-843] - AT Transmissions problem on VECTO 3.3.1.1463</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[VECTO-844] - Error with AT gearbox model</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[VECTO-847] - Simulation abort due to error in NLog?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[VECTO-848] - AT Gearbox Simulation abort (was: Problem related to Tyres?)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[VECTO-858] - Urban Delivery Abort - with APT-S Transmission and TC</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[VECTO-861] - 3.3.1: Torque converter not working correctly</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[VECTO-872] - MRF/CIF: Torque Converter certification method and certification nbr not correctly set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[VECTO-879] - SIMULATION RUN ABORTED DistanceRun got an unexpected resp.</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[VECTO-883] - Traction interruption may be too long</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[VECTO-815] - Unexpected Response: 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[VECTO-816] - object reference not set to an instance of an object</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[VECTO-817] - TargetVelocity and VehicleVelocity must not be 0</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[VECTO-820] - DistanceRun got an unexpected response: ResponseSpeedLimitExceeded</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[VECTO-864] - Prevent VECTO loss-map extension to result in negative torque loss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en-US" sz="1600" spc="-1" strike="noStrike">
              <a:latin typeface="Arial"/>
            </a:endParaRPr>
          </a:p>
        </p:txBody>
      </p:sp>
      <p:sp>
        <p:nvSpPr>
          <p:cNvPr id="322" name="PlaceHolder 2"/>
          <p:cNvSpPr>
            <a:spLocks noGrp="1"/>
          </p:cNvSpPr>
          <p:nvPr>
            <p:ph/>
          </p:nvPr>
        </p:nvSpPr>
        <p:spPr>
          <a:xfrm>
            <a:off x="323640" y="1340640"/>
            <a:ext cx="8496000" cy="511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Installation Option </a:t>
            </a:r>
            <a:r>
              <a:rPr b="0" lang="en-US" sz="1800" spc="-1" strike="noStrike">
                <a:solidFill>
                  <a:srgbClr val="000000"/>
                </a:solidFill>
                <a:latin typeface="Arial"/>
              </a:rPr>
              <a:t>(VECTO-784)</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3.3.2 adds a new feature to run as ‘installed application’ instead of the ‘portable’ mode</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 as ‘installed application’</a:t>
            </a:r>
            <a:endParaRPr b="0" lang="en-US" sz="16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Needs no write permissions to the VECTO application folder</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configuration files and settings are written to %AppData%\VECTO\&lt;Version&gt;</a:t>
            </a:r>
            <a:endParaRPr b="0" lang="en-US" sz="1200" spc="-1" strike="noStrike">
              <a:latin typeface="Arial"/>
            </a:endParaRPr>
          </a:p>
          <a:p>
            <a:pPr lvl="2" marL="1143000" indent="-228600">
              <a:lnSpc>
                <a:spcPct val="100000"/>
              </a:lnSpc>
              <a:spcBef>
                <a:spcPts val="241"/>
              </a:spcBef>
              <a:buClr>
                <a:srgbClr val="000000"/>
              </a:buClr>
              <a:buFont typeface="Symbol"/>
              <a:buChar char=""/>
              <a:tabLst>
                <a:tab algn="l" pos="1886040"/>
              </a:tabLst>
            </a:pPr>
            <a:r>
              <a:rPr b="0" lang="en-US" sz="1200" spc="-1" strike="noStrike">
                <a:solidFill>
                  <a:srgbClr val="000000"/>
                </a:solidFill>
                <a:latin typeface="Arial"/>
              </a:rPr>
              <a:t>All log files are written to %LocalAppData%\VECTO\&lt;Version&gt;</a:t>
            </a:r>
            <a:endParaRPr b="0" lang="en-US" sz="12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Switch to ‘installed application’</a:t>
            </a:r>
            <a:endParaRPr b="0" lang="en-US" sz="1600" spc="-1" strike="noStrike">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Copy the VECTO directory and all its files and subdirectories to the appropriate location where the user has execute permissions</a:t>
            </a:r>
            <a:endParaRPr b="0" lang="en-US" sz="1200" spc="-1" strike="noStrike">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Edit the file ‘</a:t>
            </a:r>
            <a:r>
              <a:rPr b="0" i="1" lang="en-US" sz="1200" spc="-1" strike="noStrike">
                <a:solidFill>
                  <a:srgbClr val="000000"/>
                </a:solidFill>
                <a:latin typeface="Arial"/>
              </a:rPr>
              <a:t>install.ini</a:t>
            </a:r>
            <a:r>
              <a:rPr b="0" lang="en-US" sz="1200" spc="-1" strike="noStrike">
                <a:solidFill>
                  <a:srgbClr val="000000"/>
                </a:solidFill>
                <a:latin typeface="Arial"/>
              </a:rPr>
              <a:t>’ and remove the comment character (#) in the line containing </a:t>
            </a:r>
            <a:br>
              <a:rPr sz="1200"/>
            </a:br>
            <a:r>
              <a:rPr b="0" lang="en-US" sz="1200" spc="-1" strike="noStrike">
                <a:solidFill>
                  <a:srgbClr val="000000"/>
                </a:solidFill>
                <a:latin typeface="Arial"/>
              </a:rPr>
              <a:t>	</a:t>
            </a:r>
            <a:r>
              <a:rPr b="1" lang="en-US" sz="1200" spc="-1" strike="noStrike">
                <a:solidFill>
                  <a:srgbClr val="000000"/>
                </a:solidFill>
                <a:latin typeface="Courier New"/>
              </a:rPr>
              <a:t>ExecutionMode = install</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3.3.1.1492 Official Release</a:t>
            </a:r>
            <a:br>
              <a:rPr sz="2400"/>
            </a:br>
            <a:r>
              <a:rPr b="1" lang="en-US" sz="1600" spc="-1" strike="noStrike">
                <a:solidFill>
                  <a:srgbClr val="990000"/>
                </a:solidFill>
                <a:latin typeface="Arial"/>
              </a:rPr>
              <a:t>2019-02-01</a:t>
            </a:r>
            <a:endParaRPr b="0" lang="en-US" sz="1600" spc="-1" strike="noStrike">
              <a:latin typeface="Arial"/>
            </a:endParaRPr>
          </a:p>
        </p:txBody>
      </p:sp>
      <p:sp>
        <p:nvSpPr>
          <p:cNvPr id="324"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3.3.1.1463-RC)</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[VECTO-845] - Fixing bug for VECTO-840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[VECTO-826] - DistanceRun got an unexpected response: ResponseSpeedLimitExceeded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[VECTO-837] - VECTO GUI displays incorrect cycles prior to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[VECTO-831] - Addition of indication to be added in Help and Release notes for simulations with LNG</a:t>
            </a:r>
            <a:endParaRPr b="0" lang="en-US" sz="1400" spc="-1" strike="noStrike">
              <a:latin typeface="Arial"/>
            </a:endParaRPr>
          </a:p>
        </p:txBody>
      </p:sp>
      <p:sp>
        <p:nvSpPr>
          <p:cNvPr id="325" name="Textfeld 4"/>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2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 according to 2017/2400 amendments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[VECTO-761] - Adaptation of input XML Schema</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[VECTO-762] - Extension of Input Interfaces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[VECTO-763] - Extension of Segmentation Table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[VECTO-764] - ADAS benefits (according to Annex III Point 8. of amendment to 2017/2400)</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[VECTO-766] - Update power demand auxiliaries (for extended segmentation table)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[VECTO-767] - Report for exempted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[VECTO-768] - VTP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[VECTO-770] - Fuel Types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[VECTO-771] - Handling of exempted vehicles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[VECTO-824] - Throw exception for certain combinations of exempted vehicle parameters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[VECTO-773] - Correction Factor for Reference Fuel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[VECTO-790] - Adapt generic data for construction/municipal utility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[VECTO-493] - Implementation of generic body weights and air drag values for construction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[VECTO-565] - Consideration of LNG as possible fuel is missing</a:t>
            </a:r>
            <a:endParaRPr b="0" lang="en-US" sz="1400" spc="-1" strike="noStrike">
              <a:latin typeface="Arial"/>
            </a:endParaRPr>
          </a:p>
        </p:txBody>
      </p:sp>
      <p:sp>
        <p:nvSpPr>
          <p:cNvPr id="328"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30" name="PlaceHolder 2"/>
          <p:cNvSpPr>
            <a:spLocks noGrp="1"/>
          </p:cNvSpPr>
          <p:nvPr>
            <p:ph/>
          </p:nvPr>
        </p:nvSpPr>
        <p:spPr>
          <a:xfrm>
            <a:off x="323640" y="1196640"/>
            <a:ext cx="8640000" cy="158292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New input parameters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b="0" lang="en-US" sz="1400" spc="-1" strike="noStrike" baseline="30000">
                <a:solidFill>
                  <a:srgbClr val="000000"/>
                </a:solidFill>
                <a:latin typeface="Arial"/>
              </a:rPr>
              <a:t>st</a:t>
            </a:r>
            <a:r>
              <a:rPr b="0" lang="en-US" sz="1400" spc="-1" strike="noStrike">
                <a:solidFill>
                  <a:srgbClr val="000000"/>
                </a:solidFill>
                <a:latin typeface="Arial"/>
              </a:rPr>
              <a:t> July 2019 the new input fields will become mandatory. Further details are provided in the timetable on the next page.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Default values when the new input parameters are not provided:</a:t>
            </a:r>
            <a:endParaRPr b="0" lang="en-US" sz="1400" spc="-1" strike="noStrike">
              <a:latin typeface="Arial"/>
            </a:endParaRPr>
          </a:p>
        </p:txBody>
      </p:sp>
      <p:sp>
        <p:nvSpPr>
          <p:cNvPr id="331"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32" name="Tabelle 4"/>
          <p:cNvGraphicFramePr/>
          <p:nvPr/>
        </p:nvGraphicFramePr>
        <p:xfrm>
          <a:off x="1475640" y="2768760"/>
          <a:ext cx="6021720" cy="2891160"/>
        </p:xfrm>
        <a:graphic>
          <a:graphicData uri="http://schemas.openxmlformats.org/drawingml/2006/table">
            <a:tbl>
              <a:tblPr/>
              <a:tblGrid>
                <a:gridCol w="2092320"/>
                <a:gridCol w="3929760"/>
              </a:tblGrid>
              <a:tr h="183960">
                <a:tc gridSpan="2">
                  <a:txBody>
                    <a:bodyPr lIns="33480" rIns="33480" anchor="t">
                      <a:noAutofit/>
                    </a:bodyPr>
                    <a:p>
                      <a:pPr>
                        <a:lnSpc>
                          <a:spcPct val="115000"/>
                        </a:lnSpc>
                        <a:buNone/>
                      </a:pPr>
                      <a:r>
                        <a:rPr b="1" lang="en-GB" sz="1050" spc="-1" strike="noStrike">
                          <a:solidFill>
                            <a:srgbClr val="ffffff"/>
                          </a:solidFill>
                          <a:latin typeface="Arial"/>
                        </a:rPr>
                        <a:t>Input parameters vehicle – Table 1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67560">
                <a:tc>
                  <a:txBody>
                    <a:bodyPr lIns="33480" rIns="33480" anchor="t">
                      <a:noAutofit/>
                    </a:bodyPr>
                    <a:p>
                      <a:pPr>
                        <a:lnSpc>
                          <a:spcPct val="115000"/>
                        </a:lnSpc>
                        <a:buNone/>
                      </a:pPr>
                      <a:r>
                        <a:rPr b="1" lang="en-GB" sz="1050" spc="-1" strike="noStrike">
                          <a:solidFill>
                            <a:srgbClr val="ffffff"/>
                          </a:solidFill>
                          <a:latin typeface="Arial"/>
                        </a:rPr>
                        <a:t>VehicleCategory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 default value but input 'rigid truck' will be converted automatically into 'rigid lorry'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52800">
                <a:tc>
                  <a:txBody>
                    <a:bodyPr lIns="33480" rIns="33480" anchor="t">
                      <a:noAutofit/>
                    </a:bodyPr>
                    <a:p>
                      <a:pPr>
                        <a:lnSpc>
                          <a:spcPct val="115000"/>
                        </a:lnSpc>
                        <a:buNone/>
                      </a:pPr>
                      <a:r>
                        <a:rPr b="1" lang="en-GB" sz="1050" spc="-1" strike="noStrike">
                          <a:solidFill>
                            <a:srgbClr val="ffffff"/>
                          </a:solidFill>
                          <a:latin typeface="Arial"/>
                        </a:rPr>
                        <a:t>ZeroEmissionVehicle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52800">
                <a:tc>
                  <a:txBody>
                    <a:bodyPr lIns="33480" rIns="33480" anchor="t">
                      <a:noAutofit/>
                    </a:bodyPr>
                    <a:p>
                      <a:pPr>
                        <a:lnSpc>
                          <a:spcPct val="115000"/>
                        </a:lnSpc>
                        <a:buNone/>
                      </a:pPr>
                      <a:r>
                        <a:rPr b="1" lang="en-GB" sz="1050" spc="-1" strike="noStrike">
                          <a:solidFill>
                            <a:srgbClr val="ffffff"/>
                          </a:solidFill>
                          <a:latin typeface="Arial"/>
                        </a:rPr>
                        <a:t>NgTankSystem</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'Compressed' (only applicable to gas vehicles)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83960">
                <a:tc>
                  <a:txBody>
                    <a:bodyPr lIns="33480" rIns="33480" anchor="t">
                      <a:noAutofit/>
                    </a:bodyPr>
                    <a:p>
                      <a:pPr>
                        <a:lnSpc>
                          <a:spcPct val="115000"/>
                        </a:lnSpc>
                        <a:buNone/>
                      </a:pPr>
                      <a:r>
                        <a:rPr b="1" lang="en-GB" sz="1050" spc="-1" strike="noStrike">
                          <a:solidFill>
                            <a:srgbClr val="ffffff"/>
                          </a:solidFill>
                          <a:latin typeface="Arial"/>
                        </a:rPr>
                        <a:t>SleeperCab</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'Yes'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183960">
                <a:tc gridSpan="2">
                  <a:txBody>
                    <a:bodyPr lIns="33480" rIns="33480" anchor="t">
                      <a:noAutofit/>
                    </a:bodyPr>
                    <a:p>
                      <a:pPr>
                        <a:lnSpc>
                          <a:spcPct val="115000"/>
                        </a:lnSpc>
                        <a:buNone/>
                      </a:pPr>
                      <a:r>
                        <a:rPr b="1" lang="en-GB" sz="1050" spc="-1" strike="noStrike">
                          <a:solidFill>
                            <a:srgbClr val="ffffff"/>
                          </a:solidFill>
                          <a:latin typeface="Arial"/>
                        </a:rPr>
                        <a:t>Input parameters ADAS – Pt. 8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50560">
                <a:tc>
                  <a:txBody>
                    <a:bodyPr lIns="33480" rIns="33480" anchor="t">
                      <a:noAutofit/>
                    </a:bodyPr>
                    <a:p>
                      <a:pPr>
                        <a:lnSpc>
                          <a:spcPct val="115000"/>
                        </a:lnSpc>
                        <a:buNone/>
                      </a:pPr>
                      <a:r>
                        <a:rPr b="1" lang="en-GB" sz="1050" spc="-1" strike="noStrike">
                          <a:solidFill>
                            <a:srgbClr val="ffffff"/>
                          </a:solidFill>
                          <a:latin typeface="Arial"/>
                        </a:rPr>
                        <a:t>EngineStartStop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buNone/>
                      </a:pPr>
                      <a:r>
                        <a:rPr b="1" lang="en-GB" sz="1050" spc="-1" strike="noStrike">
                          <a:solidFill>
                            <a:srgbClr val="ffffff"/>
                          </a:solidFill>
                          <a:latin typeface="Arial"/>
                        </a:rPr>
                        <a:t>EcoRollWithoutEngineStop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16000">
                <a:tc>
                  <a:txBody>
                    <a:bodyPr lIns="33480" rIns="33480" anchor="t">
                      <a:noAutofit/>
                    </a:bodyPr>
                    <a:p>
                      <a:pPr>
                        <a:lnSpc>
                          <a:spcPct val="115000"/>
                        </a:lnSpc>
                        <a:buNone/>
                      </a:pPr>
                      <a:r>
                        <a:rPr b="1" lang="en-GB" sz="1050" spc="-1" strike="noStrike">
                          <a:solidFill>
                            <a:srgbClr val="ffffff"/>
                          </a:solidFill>
                          <a:latin typeface="Arial"/>
                        </a:rPr>
                        <a:t>EcoRollWithEngineStop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anchor="t">
                      <a:noAutofit/>
                    </a:bodyPr>
                    <a:p>
                      <a:pPr>
                        <a:lnSpc>
                          <a:spcPct val="115000"/>
                        </a:lnSpc>
                        <a:buNone/>
                      </a:pPr>
                      <a:r>
                        <a:rPr b="1" lang="en-GB" sz="1050" spc="-1" strike="noStrike">
                          <a:solidFill>
                            <a:srgbClr val="ffffff"/>
                          </a:solidFill>
                          <a:latin typeface="Arial"/>
                        </a:rPr>
                        <a:t>PredictiveCruiseControl</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
        <p:nvSpPr>
          <p:cNvPr id="333" name="Inhaltsplatzhalter 2"/>
          <p:cNvSpPr/>
          <p:nvPr/>
        </p:nvSpPr>
        <p:spPr>
          <a:xfrm>
            <a:off x="166320" y="5661360"/>
            <a:ext cx="8640000" cy="934920"/>
          </a:xfrm>
          <a:prstGeom prst="rect">
            <a:avLst/>
          </a:prstGeom>
          <a:noFill/>
          <a:ln w="0">
            <a:noFill/>
          </a:ln>
        </p:spPr>
        <p:style>
          <a:lnRef idx="0"/>
          <a:fillRef idx="0"/>
          <a:effectRef idx="0"/>
          <a:fontRef idx="minor"/>
        </p:style>
        <p:txBody>
          <a:bodyPr numCol="1" spcCol="0" lIns="90000" rIns="90000" tIns="45000" bIns="45000" anchor="t">
            <a:noAutofit/>
          </a:bodyPr>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DejaVu Sans"/>
              </a:rPr>
              <a:t>Currently </a:t>
            </a:r>
            <a:r>
              <a:rPr b="1" lang="en-US" sz="1400" spc="-1" strike="noStrike">
                <a:solidFill>
                  <a:srgbClr val="000000"/>
                </a:solidFill>
                <a:latin typeface="Arial"/>
                <a:ea typeface="DejaVu Sans"/>
              </a:rPr>
              <a:t>only</a:t>
            </a:r>
            <a:r>
              <a:rPr b="0" lang="en-US" sz="1400" spc="-1" strike="noStrike">
                <a:solidFill>
                  <a:srgbClr val="000000"/>
                </a:solidFill>
                <a:latin typeface="Arial"/>
                <a:ea typeface="DejaVu Sans"/>
              </a:rPr>
              <a:t> the fuel type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for the </a:t>
            </a:r>
            <a:r>
              <a:rPr b="1" lang="en-US" sz="1400" spc="-1" strike="noStrike">
                <a:solidFill>
                  <a:srgbClr val="000000"/>
                </a:solidFill>
                <a:latin typeface="Arial"/>
                <a:ea typeface="DejaVu Sans"/>
              </a:rPr>
              <a:t>engine certification </a:t>
            </a:r>
            <a:r>
              <a:rPr b="0" lang="en-US" sz="1400" spc="-1" strike="noStrike">
                <a:solidFill>
                  <a:srgbClr val="000000"/>
                </a:solidFill>
                <a:latin typeface="Arial"/>
                <a:ea typeface="DejaVu Sans"/>
              </a:rPr>
              <a:t>is allowed by 2017/2400. For LNG vehicles, therefore, the engine fuel type has to be set to ‘</a:t>
            </a:r>
            <a:r>
              <a:rPr b="1" lang="en-US" sz="1400" spc="-1" strike="noStrike">
                <a:solidFill>
                  <a:srgbClr val="000000"/>
                </a:solidFill>
                <a:latin typeface="Arial"/>
                <a:ea typeface="DejaVu Sans"/>
              </a:rPr>
              <a:t>NG PI</a:t>
            </a:r>
            <a:r>
              <a:rPr b="0" lang="en-US" sz="1400" spc="-1" strike="noStrike">
                <a:solidFill>
                  <a:srgbClr val="000000"/>
                </a:solidFill>
                <a:latin typeface="Arial"/>
                <a:ea typeface="DejaVu Sans"/>
              </a:rPr>
              <a:t>’ and at the vehicle level NgTankSystem has to be set to </a:t>
            </a:r>
            <a:r>
              <a:rPr b="1" lang="en-US" sz="1400" spc="-1" strike="noStrike">
                <a:solidFill>
                  <a:srgbClr val="000000"/>
                </a:solidFill>
                <a:latin typeface="Arial"/>
                <a:ea typeface="DejaVu Sans"/>
              </a:rPr>
              <a:t>liquefied</a:t>
            </a:r>
            <a:r>
              <a:rPr b="0" lang="en-US" sz="1400" spc="-1" strike="noStrike">
                <a:solidFill>
                  <a:srgbClr val="000000"/>
                </a:solidFill>
                <a:latin typeface="Arial"/>
                <a:ea typeface="DejaVu Sans"/>
              </a:rPr>
              <a:t>. For CNG the same engine fuel type is used but NgTankSystem has to be set to </a:t>
            </a:r>
            <a:r>
              <a:rPr b="1" lang="en-US" sz="1400" spc="-1" strike="noStrike">
                <a:solidFill>
                  <a:srgbClr val="000000"/>
                </a:solidFill>
                <a:latin typeface="Arial"/>
                <a:ea typeface="DejaVu Sans"/>
              </a:rPr>
              <a:t>compressed</a:t>
            </a:r>
            <a:r>
              <a:rPr b="0" lang="en-US" sz="1400" spc="-1" strike="noStrike">
                <a:solidFill>
                  <a:srgbClr val="000000"/>
                </a:solidFill>
                <a:latin typeface="Arial"/>
                <a:ea typeface="DejaVu Sans"/>
              </a:rPr>
              <a: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35" name="PlaceHolder 2"/>
          <p:cNvSpPr>
            <a:spLocks noGrp="1"/>
          </p:cNvSpPr>
          <p:nvPr>
            <p:ph/>
          </p:nvPr>
        </p:nvSpPr>
        <p:spPr>
          <a:xfrm>
            <a:off x="323640" y="1628640"/>
            <a:ext cx="8640000" cy="158292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Timetable</a:t>
            </a:r>
            <a:endParaRPr b="0" lang="en-US" sz="1800" spc="-1" strike="noStrike">
              <a:latin typeface="Arial"/>
            </a:endParaRPr>
          </a:p>
        </p:txBody>
      </p:sp>
      <p:sp>
        <p:nvSpPr>
          <p:cNvPr id="336"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37" name="Tabelle 5"/>
          <p:cNvGraphicFramePr/>
          <p:nvPr/>
        </p:nvGraphicFramePr>
        <p:xfrm>
          <a:off x="899640" y="2100600"/>
          <a:ext cx="7786440" cy="2763720"/>
        </p:xfrm>
        <a:graphic>
          <a:graphicData uri="http://schemas.openxmlformats.org/drawingml/2006/table">
            <a:tbl>
              <a:tblPr/>
              <a:tblGrid>
                <a:gridCol w="1800000"/>
                <a:gridCol w="1512000"/>
                <a:gridCol w="4474800"/>
              </a:tblGrid>
              <a:tr h="370800">
                <a:tc>
                  <a:txBody>
                    <a:bodyPr anchor="t">
                      <a:noAutofit/>
                    </a:bodyPr>
                    <a:p>
                      <a:pPr>
                        <a:lnSpc>
                          <a:spcPct val="100000"/>
                        </a:lnSpc>
                        <a:buNone/>
                      </a:pPr>
                      <a:r>
                        <a:rPr b="1" lang="en-US" sz="1800" spc="-1" strike="noStrike">
                          <a:solidFill>
                            <a:srgbClr val="ffffff"/>
                          </a:solidFill>
                          <a:latin typeface="Arial"/>
                        </a:rPr>
                        <a:t>Planned Date</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Version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Description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640440">
                <a:tc>
                  <a:txBody>
                    <a:bodyPr anchor="t">
                      <a:noAutofit/>
                    </a:bodyPr>
                    <a:p>
                      <a:pPr>
                        <a:lnSpc>
                          <a:spcPct val="100000"/>
                        </a:lnSpc>
                        <a:buNone/>
                      </a:pPr>
                      <a:r>
                        <a:rPr b="0" lang="en-US" sz="1800" spc="-1" strike="noStrike">
                          <a:solidFill>
                            <a:srgbClr val="000000"/>
                          </a:solidFill>
                          <a:latin typeface="Arial"/>
                        </a:rPr>
                        <a:t>1. Feb.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3.3.1.x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Release of official version of release candidate 3.3.1.1463</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40440">
                <a:tc>
                  <a:txBody>
                    <a:bodyPr anchor="t">
                      <a:noAutofit/>
                    </a:bodyPr>
                    <a:p>
                      <a:pPr>
                        <a:lnSpc>
                          <a:spcPct val="100000"/>
                        </a:lnSpc>
                        <a:buNone/>
                      </a:pPr>
                      <a:r>
                        <a:rPr b="0" lang="en-US" sz="1800" spc="-1" strike="noStrike">
                          <a:solidFill>
                            <a:srgbClr val="000000"/>
                          </a:solidFill>
                          <a:latin typeface="Arial"/>
                        </a:rPr>
                        <a:t>1. March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3.3.2.x-RC</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Release candidate, new input parameters are mandatory (+ further bugfixes)</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April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3.3.2.x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Official version of VECTO 3.3.2</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en-US" sz="1800" spc="-1" strike="noStrike">
                          <a:solidFill>
                            <a:srgbClr val="000000"/>
                          </a:solidFill>
                          <a:latin typeface="Arial"/>
                        </a:rPr>
                        <a:t>1. May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Mandatory use of 3.3.1.x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July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Mandatory use of 3.3.2.x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3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Changes/Improvements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[VECTO-799] - Remove TUG Logos from Simulation Tool,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[VECTO-808] - Add Monitoring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[VECTO-754] - Extending Loss-Maps in case of AT gearbox for each gear, axlegear, gearbox </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[VECTO-779] - Update Construction Cycle - shorter stop times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[VECTO-783] - Rename columns in segmentation table and GUI</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[VECTO-709] - VTP editor from user manual not matching new VECTO one: updated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[VECTO-785] - Handling of Vehicles that cannot reach the cycle's target speed: Limit max speed in driver model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[VECTO-716] - Validate data in Settings Tab: update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[VECTO-793] - Inconsistency between GUI, Help and Regulation: update wording in GUI and user manual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[VECTO-796] - Adaptation of FuelProperties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[VECTO-806] - extend loss-maps (gbx, axl, angl) for MT and AMT transmissions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[VECTO-750] - Simulation error DrivingAction: adapt downshift rules for AT to drive over hill with 6% inclination</a:t>
            </a:r>
            <a:endParaRPr b="0" lang="en-US" sz="1400" spc="-1" strike="noStrike">
              <a:latin typeface="Arial"/>
            </a:endParaRPr>
          </a:p>
          <a:p>
            <a:pPr>
              <a:lnSpc>
                <a:spcPct val="100000"/>
              </a:lnSpc>
              <a:spcBef>
                <a:spcPts val="320"/>
              </a:spcBef>
              <a:buNone/>
              <a:tabLst>
                <a:tab algn="l" pos="1886040"/>
              </a:tabLst>
            </a:pPr>
            <a:endParaRPr b="0" lang="en-US" sz="1600" spc="-1" strike="noStrike">
              <a:latin typeface="Arial"/>
            </a:endParaRPr>
          </a:p>
        </p:txBody>
      </p:sp>
      <p:sp>
        <p:nvSpPr>
          <p:cNvPr id="340"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42" name="PlaceHolder 2"/>
          <p:cNvSpPr>
            <a:spLocks noGrp="1"/>
          </p:cNvSpPr>
          <p:nvPr>
            <p:ph/>
          </p:nvPr>
        </p:nvSpPr>
        <p:spPr>
          <a:xfrm>
            <a:off x="323640" y="1628640"/>
            <a:ext cx="8640000" cy="50292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Update of Fuel Properties [VECTO-796]</a:t>
            </a:r>
            <a:endParaRPr b="0" lang="en-US" sz="1800" spc="-1" strike="noStrike">
              <a:latin typeface="Arial"/>
            </a:endParaRPr>
          </a:p>
        </p:txBody>
      </p:sp>
      <p:sp>
        <p:nvSpPr>
          <p:cNvPr id="343" name="Textfeld 3"/>
          <p:cNvSpPr/>
          <p:nvPr/>
        </p:nvSpPr>
        <p:spPr>
          <a:xfrm>
            <a:off x="8142840" y="6228000"/>
            <a:ext cx="790920" cy="36396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ea typeface="DejaVu Sans"/>
              </a:rPr>
              <a:t>cont.</a:t>
            </a:r>
            <a:endParaRPr b="0" lang="en-US" sz="1800" spc="-1" strike="noStrike">
              <a:latin typeface="Arial"/>
            </a:endParaRPr>
          </a:p>
        </p:txBody>
      </p:sp>
      <p:graphicFrame>
        <p:nvGraphicFramePr>
          <p:cNvPr id="344" name="Tabelle 4"/>
          <p:cNvGraphicFramePr/>
          <p:nvPr/>
        </p:nvGraphicFramePr>
        <p:xfrm>
          <a:off x="468360" y="2606400"/>
          <a:ext cx="8217720" cy="2148840"/>
        </p:xfrm>
        <a:graphic>
          <a:graphicData uri="http://schemas.openxmlformats.org/drawingml/2006/table">
            <a:tbl>
              <a:tblPr/>
              <a:tblGrid>
                <a:gridCol w="947160"/>
                <a:gridCol w="1369440"/>
                <a:gridCol w="947160"/>
                <a:gridCol w="947160"/>
                <a:gridCol w="947160"/>
                <a:gridCol w="3060000"/>
              </a:tblGrid>
              <a:tr h="342360">
                <a:tc>
                  <a:txBody>
                    <a:bodyPr anchor="b">
                      <a:noAutofit/>
                    </a:bodyPr>
                    <a:p>
                      <a:pPr algn="ctr">
                        <a:lnSpc>
                          <a:spcPct val="100000"/>
                        </a:lnSpc>
                        <a:buNone/>
                      </a:pPr>
                      <a:r>
                        <a:rPr b="0" lang="de-AT" sz="1000" spc="-1" strike="noStrike">
                          <a:solidFill>
                            <a:srgbClr val="000000"/>
                          </a:solidFill>
                          <a:latin typeface="Arial"/>
                        </a:rPr>
                        <a:t>Fuel type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Reference for fuel properties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Density</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CO2 emission factor</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Lower Heating Value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Data Source</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[kg/m³]</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[g_CO2/g_Fuel]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[MJ/kg]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Diesel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B7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836</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3.13</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42.7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 </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820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1.81</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25.4</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Petrol</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E10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748</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3.04</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41.5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786</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2.10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29.3</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en-US" sz="1000" spc="-1" strike="noStrike">
                          <a:solidFill>
                            <a:srgbClr val="000000"/>
                          </a:solidFill>
                          <a:latin typeface="Arial"/>
                        </a:rPr>
                        <a:t>Calculated from E0 and E100  from 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b">
                      <a:noAutofit/>
                    </a:bodyPr>
                    <a:p>
                      <a:pP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3.02</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46.0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anchor="ctr">
                      <a:noAutofit/>
                    </a:bodyPr>
                    <a:p>
                      <a:pPr>
                        <a:lnSpc>
                          <a:spcPct val="100000"/>
                        </a:lnSpc>
                        <a:buNone/>
                      </a:pPr>
                      <a:r>
                        <a:rPr b="0" lang="de-AT" sz="1000" spc="-1" strike="noStrike">
                          <a:solidFill>
                            <a:srgbClr val="000000"/>
                          </a:solidFill>
                          <a:latin typeface="Arial"/>
                        </a:rPr>
                        <a:t>CNG</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CNG (H-Gas)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2.69</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48.0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anchor="b">
                      <a:noAutofit/>
                    </a:bodyPr>
                    <a:p>
                      <a:pPr>
                        <a:lnSpc>
                          <a:spcPct val="100000"/>
                        </a:lnSpc>
                        <a:buNone/>
                      </a:pPr>
                      <a:r>
                        <a:rPr b="0" lang="de-AT" sz="1000" spc="-1" strike="noStrike">
                          <a:solidFill>
                            <a:srgbClr val="000000"/>
                          </a:solidFill>
                          <a:latin typeface="Arial"/>
                        </a:rPr>
                        <a:t>LNG</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LNG (EU mix. 2016/2030)</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2.77</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gn="ctr">
                        <a:lnSpc>
                          <a:spcPct val="100000"/>
                        </a:lnSpc>
                        <a:buNone/>
                      </a:pPr>
                      <a:r>
                        <a:rPr b="0" lang="de-AT" sz="1000" spc="-1" strike="noStrike">
                          <a:solidFill>
                            <a:srgbClr val="000000"/>
                          </a:solidFill>
                          <a:latin typeface="Arial"/>
                        </a:rPr>
                        <a:t>49.1</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gridSpan="4">
                  <a:txBody>
                    <a:bodyPr anchor="b">
                      <a:noAutofit/>
                    </a:bodyPr>
                    <a:p>
                      <a:pPr>
                        <a:lnSpc>
                          <a:spcPct val="100000"/>
                        </a:lnSpc>
                        <a:buNone/>
                      </a:pPr>
                      <a:r>
                        <a:rPr b="0" lang="en-US" sz="1000" spc="-1" strike="noStrike">
                          <a:solidFill>
                            <a:srgbClr val="000000"/>
                          </a:solidFill>
                          <a:latin typeface="Arial"/>
                        </a:rPr>
                        <a:t>* VECTO does not provide volume based figures for gaseous fuels</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a:txBody>
                    <a:bodyPr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
        <p:nvSpPr>
          <p:cNvPr id="345" name="Rectangle 3"/>
          <p:cNvSpPr/>
          <p:nvPr/>
        </p:nvSpPr>
        <p:spPr>
          <a:xfrm>
            <a:off x="396000" y="5153040"/>
            <a:ext cx="8141760" cy="569880"/>
          </a:xfrm>
          <a:prstGeom prst="rect">
            <a:avLst/>
          </a:prstGeom>
          <a:noFill/>
          <a:ln w="0">
            <a:noFill/>
          </a:ln>
        </p:spPr>
        <p:style>
          <a:lnRef idx="0"/>
          <a:fillRef idx="0"/>
          <a:effectRef idx="0"/>
          <a:fontRef idx="minor"/>
        </p:style>
        <p:txBody>
          <a:bodyPr numCol="1" spcCol="0" lIns="90000" rIns="90000" tIns="45000" bIns="45000" anchor="ctr">
            <a:spAutoFit/>
          </a:bodyPr>
          <a:p>
            <a:pPr marL="357120" indent="-357120">
              <a:lnSpc>
                <a:spcPct val="100000"/>
              </a:lnSpc>
              <a:buNone/>
              <a:tabLst>
                <a:tab algn="l" pos="0"/>
              </a:tabLst>
            </a:pPr>
            <a:r>
              <a:rPr b="0" lang="de-AT" sz="1050" spc="-1" strike="noStrike">
                <a:solidFill>
                  <a:srgbClr val="000000"/>
                </a:solidFill>
                <a:latin typeface="Arial"/>
                <a:ea typeface="DejaVu Sans"/>
              </a:rPr>
              <a:t>CONCAWE/JEC (2018): </a:t>
            </a:r>
            <a:r>
              <a:rPr b="0" lang="en-GB" sz="1050" spc="-1" strike="noStrike">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b="0" lang="en-GB" sz="1050" spc="-1" strike="noStrike">
                <a:solidFill>
                  <a:srgbClr val="000000"/>
                </a:solidFill>
                <a:latin typeface="Arial"/>
                <a:ea typeface="DejaVu Sans"/>
              </a:rPr>
              <a:t>Well-To-Wheels Analysis Of Future Automotive Fuels And Powertrains in the European Context – Heavy Duty vehicles</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en-US" sz="1600" spc="-1" strike="noStrike">
              <a:latin typeface="Arial"/>
            </a:endParaRPr>
          </a:p>
        </p:txBody>
      </p:sp>
      <p:sp>
        <p:nvSpPr>
          <p:cNvPr id="34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[VECTO-819] - object reference not set to an instance of an object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[VECTO-818] - SearchOperatingPoint: Unknown response type.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[VECTO-813] - Error "Infinity [] is not allowed for SI-Value"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[VECTO-769] - DrivingAction Brake: request failed after braking power was found.ResponseEngineSpeedTooHigh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[VECTO-804] - Error on simulation with VECTO 3.3.0.1433</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[VECTO-805] - Total vehicle mass exceeds TPMLM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[VECTO-811] - AMT: ResponseGearShift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[VECTO-812] - AMT: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[VECTO-822] - SIMULATION RUN ABORTED by Infinity</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[VECTO-792] - Vecto Hashing Tool - error object reference not set to an instance of an object (overwriting Date element)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[VECTO-696] - Problem with Primary Retarder: regression update, set torque loss to 0 for 0 speed and engaged gear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[VECTO-776] - Decision Factor (DF)  field is emptied after each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[VECTO-814] - Error: DistanceRun got an unexpected response: ResponseGearshift</a:t>
            </a:r>
            <a:endParaRPr b="0" lang="en-US" sz="1400" spc="-1" strike="noStrike">
              <a:latin typeface="Arial"/>
            </a:endParaRPr>
          </a:p>
          <a:p>
            <a:pPr>
              <a:lnSpc>
                <a:spcPct val="100000"/>
              </a:lnSpc>
              <a:buNone/>
              <a:tabLst>
                <a:tab algn="l" pos="188604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3.3.0.1433 Official Release</a:t>
            </a:r>
            <a:br>
              <a:rPr sz="2400"/>
            </a:br>
            <a:r>
              <a:rPr b="1" lang="en-US" sz="1600" spc="-1" strike="noStrike">
                <a:solidFill>
                  <a:srgbClr val="990000"/>
                </a:solidFill>
                <a:latin typeface="Arial"/>
              </a:rPr>
              <a:t>2018-12-04</a:t>
            </a:r>
            <a:endParaRPr b="0" lang="en-US" sz="1600" spc="-1" strike="noStrike">
              <a:latin typeface="Arial"/>
            </a:endParaRPr>
          </a:p>
        </p:txBody>
      </p:sp>
      <p:sp>
        <p:nvSpPr>
          <p:cNvPr id="34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3.3.0.1398)</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[VECTO-795] – VECTO Hashing Tool crashes</a:t>
            </a:r>
            <a:endParaRPr b="0" lang="en-US" sz="16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0" lang="en-US" sz="1600" spc="-1" strike="noStrike">
                <a:solidFill>
                  <a:srgbClr val="000000"/>
                </a:solidFill>
                <a:latin typeface="Arial"/>
              </a:rPr>
              <a:t>[VECTO-802] – Error in XML schema for manufacturer's record file</a:t>
            </a:r>
            <a:endParaRPr b="0" lang="en-US" sz="16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 (compared to 3.3.0.1250)</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 (compared to 3.3.0.1250)</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3.3.0.1398 Release Candiate</a:t>
            </a:r>
            <a:br>
              <a:rPr sz="2400"/>
            </a:br>
            <a:r>
              <a:rPr b="1" lang="en-US" sz="1600" spc="-1" strike="noStrike">
                <a:solidFill>
                  <a:srgbClr val="990000"/>
                </a:solidFill>
                <a:latin typeface="Arial"/>
              </a:rPr>
              <a:t>2018-10-30</a:t>
            </a:r>
            <a:endParaRPr b="0" lang="en-US" sz="1600" spc="-1" strike="noStrike">
              <a:latin typeface="Arial"/>
            </a:endParaRPr>
          </a:p>
        </p:txBody>
      </p:sp>
      <p:sp>
        <p:nvSpPr>
          <p:cNvPr id="35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[VECTO-723] - Simulation aborts with engine speed too high in RD cycle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[VECTO-724] - Simulation aborts with error 'EngineSpeedTooHigh' - duplicate of VECTO-744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[VECTO-730] - Simulation Aborts with ResponseOverload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[VECTO-744] - ResponseEngineSpeedTooHigh (due to torque limits in gearbox)</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[VECTO-731] - Case Mismatch - Torque Converter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[VECTO-711] - Elements without types in CIF and MRF</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[VECTO-757] - Correct contact mail address in Hashing 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[VECTO-703] - PTO output in MRF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[VECTO-704] - Allow VTP-simulations for AT gearboxes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latin typeface="Arial"/>
            </a:endParaRPr>
          </a:p>
        </p:txBody>
      </p:sp>
      <p:sp>
        <p:nvSpPr>
          <p:cNvPr id="35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[VECTO-665] - Adding style information to XML Reports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[VECTO-669] - Group 1 vehicle comprises vehicles with gross vehicle weight &gt; 7.5t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[VECTO-672] - Keep manual choice for "Validate data"</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[VECTO-682] - VTP Simulation in declaration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[VECTO-652] - VTP: Check Cycle matches simulation mode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[VECTO-683] - VTP: Quality and plausibility checks for recorded data from VTP</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[VECTO-685] - VTP Programming of standard VECTO VTP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[VECTO-689] - Additional Tyre sizes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[VECTO-702] - Hashing tool: adapt warnings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[VECTO-667] - Removing NCV Correction Factor</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[VECTO-679] - Engine n95h computation gives wrong (too high) engine speed (above measured FLD, n70h)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[VECTO-693] - extend vehicle performance in manufacturer record</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en-US" sz="1600" spc="-1" strike="noStrike">
              <a:latin typeface="Arial"/>
            </a:endParaRPr>
          </a:p>
        </p:txBody>
      </p:sp>
      <p:sp>
        <p:nvSpPr>
          <p:cNvPr id="35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[VECTO-656] - Distance computation in vsum</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[VECTO-666] - CF_RegPer no effect in vehicle simulation -- added to the engine correction factors</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[VECTO-687] - Saving a Engine-Only Job is not possible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[VECTO-695] - Bug in vectocmd.exe - process does not terminate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[VECTO-699] - Output in manufacturer report and customer report (VECTO) uses different units than described in legislation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[VECTO-700] - errorr in simulation with 0 stop time at the beginning of the cycle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3.2.1.1133</a:t>
            </a:r>
            <a:br>
              <a:rPr sz="2400"/>
            </a:br>
            <a:r>
              <a:rPr b="1" lang="en-US" sz="1600" spc="-1" strike="noStrike">
                <a:solidFill>
                  <a:srgbClr val="990000"/>
                </a:solidFill>
                <a:latin typeface="Arial"/>
              </a:rPr>
              <a:t>2018-02-07</a:t>
            </a:r>
            <a:endParaRPr b="0" lang="en-US" sz="1600" spc="-1" strike="noStrike">
              <a:latin typeface="Arial"/>
            </a:endParaRPr>
          </a:p>
        </p:txBody>
      </p:sp>
      <p:sp>
        <p:nvSpPr>
          <p:cNvPr id="35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Improvement</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[VECTO-634] - VTP Mode: specific fuel consumption</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[VECTO-642] - VECTO BUG – secondary retarder losses: </a:t>
            </a:r>
            <a:br>
              <a:rPr sz="1400"/>
            </a:br>
            <a:r>
              <a:rPr b="1" lang="en-US" sz="1400" spc="-1" strike="noStrike">
                <a:solidFill>
                  <a:srgbClr val="000000"/>
                </a:solidFill>
                <a:latin typeface="Arial"/>
              </a:rPr>
              <a:t>IMPORTANT:</a:t>
            </a:r>
            <a:r>
              <a:rPr b="0" lang="en-US" sz="1400" spc="-1" strike="noStrike">
                <a:solidFill>
                  <a:srgbClr val="000000"/>
                </a:solidFill>
                <a:latin typeface="Arial"/>
              </a:rPr>
              <a:t> Fuel-consumption relevant bug! wrong calculation of retarder losses for retarder ratio not equal to 1</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[VECTO-624] - Crash w/o comment: Infinite recursion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[VECTO-627] - Cannot open Engine-Only Job</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[VECTO-629] - Vecto crashes without errror message (same issue as VECTO-624)</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[VECTO-639] - Failed to find operating point for braking power: cycle with low target speed (3km/h). allow driving with slipping clutch</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[VECTO-640] - Exceeded max. iterations: driving fully-loaded vehicle steep uphill. fixed by allowing full-stop and drive off again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[VECTO-633] - unable to start VTP Mode simulation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[VECTO-645] - Encountered error while validating Vecto output (generated by API) through Hashing tool for vehicle without retarder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3.2.1.1079</a:t>
            </a:r>
            <a:br>
              <a:rPr sz="2400"/>
            </a:br>
            <a:r>
              <a:rPr b="1" lang="en-US" sz="1600" spc="-1" strike="noStrike">
                <a:solidFill>
                  <a:srgbClr val="990000"/>
                </a:solidFill>
                <a:latin typeface="Arial"/>
              </a:rPr>
              <a:t>2017-12-15</a:t>
            </a:r>
            <a:endParaRPr b="0" lang="en-US" sz="1600" spc="-1" strike="noStrike">
              <a:latin typeface="Arial"/>
            </a:endParaRPr>
          </a:p>
        </p:txBody>
      </p:sp>
      <p:sp>
        <p:nvSpPr>
          <p:cNvPr id="35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Improvement</a:t>
            </a:r>
            <a:endParaRPr b="0" lang="en-US" sz="16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[VECTO-618] - Add Hash value of tyres to manufacturer's record file</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[VECTO-590] - Handling of hash values: customer's record contains hash of manufacturer's record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[VECTO-612] - Continuously changing hashes: Info in GUI of HashingTool</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[VECTO-560] - Change Mail-Address of general VECTO contact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[VECTO-616] - SI-Unit - display derived unit instead of base units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Bugfixes</a:t>
            </a:r>
            <a:endParaRPr b="0" lang="en-US" sz="18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[VECTO-608] - Power balance in EPT-mode not closed</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 </a:t>
            </a:r>
            <a:r>
              <a:rPr b="0" lang="en-US" sz="1400" spc="-1" strike="noStrike">
                <a:solidFill>
                  <a:srgbClr val="000000"/>
                </a:solidFill>
                <a:latin typeface="Arial"/>
              </a:rPr>
              <a:t>[VECTO-611] - Invalid input. Cannot cast Newtonsoft.Json.Linq.JObject to Newtonsoft.Json.Linq.Jtoken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[VECTO-610] - TyreCertificationNumber missing in Manufacturer Report</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[VECTO-613] - Incomplete description of allowed values of LegislativeClass (p251) in VECTO parameter documentation</a:t>
            </a:r>
            <a:endParaRPr b="0" lang="en-US" sz="1400" spc="-1" strike="noStrike">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[VECTO-625] - Update XML Schema: Tyre dimensions according to Technicall Annex, trailing spaces in enums</a:t>
            </a:r>
            <a:endParaRPr b="0" lang="en-US" sz="1400" spc="-1" strike="noStrike">
              <a:latin typeface="Arial"/>
            </a:endParaRPr>
          </a:p>
          <a:p>
            <a:pPr marL="343080" indent="-343080">
              <a:lnSpc>
                <a:spcPct val="100000"/>
              </a:lnSpc>
              <a:spcBef>
                <a:spcPts val="360"/>
              </a:spcBef>
              <a:buClr>
                <a:srgbClr val="000000"/>
              </a:buClr>
              <a:buFont typeface="Symbol"/>
              <a:buChar char=""/>
              <a:tabLst>
                <a:tab algn="l" pos="1886040"/>
              </a:tabLst>
            </a:pPr>
            <a:r>
              <a:rPr b="1" lang="en-US" sz="1800" spc="-1" strike="noStrike">
                <a:solidFill>
                  <a:srgbClr val="000000"/>
                </a:solidFill>
                <a:latin typeface="Arial"/>
              </a:rPr>
              <a:t>Support</a:t>
            </a:r>
            <a:endParaRPr b="0" lang="en-US" sz="1800" spc="-1" strike="noStrike">
              <a:latin typeface="Arial"/>
            </a:endParaRPr>
          </a:p>
          <a:p>
            <a:pPr lvl="1" marL="743040" indent="-28584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 </a:t>
            </a:r>
            <a:r>
              <a:rPr b="0" lang="en-US" sz="1400" spc="-1" strike="noStrike">
                <a:solidFill>
                  <a:srgbClr val="000000"/>
                </a:solidFill>
                <a:latin typeface="Arial"/>
              </a:rPr>
              <a:t>[VECTO-615] - Error torque interpolation in declaration jobs exported to XMLImprovements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3.2.1.1054</a:t>
            </a:r>
            <a:br>
              <a:rPr sz="2400"/>
            </a:br>
            <a:r>
              <a:rPr b="1" lang="en-US" sz="1600" spc="-1" strike="noStrike">
                <a:solidFill>
                  <a:srgbClr val="990000"/>
                </a:solidFill>
                <a:latin typeface="Arial"/>
              </a:rPr>
              <a:t>2017-11-20</a:t>
            </a:r>
            <a:endParaRPr b="0" lang="en-US" sz="1600" spc="-1" strike="noStrike">
              <a:latin typeface="Arial"/>
            </a:endParaRPr>
          </a:p>
        </p:txBody>
      </p:sp>
      <p:sp>
        <p:nvSpPr>
          <p:cNvPr id="36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[VECTO-592] - VTP Simulation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[VECTO-605] - Improve simulation speed</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[VECTO-602] - Error in simulation without airdrag component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[VECTO-589] - Scheme .xml error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7360" cy="5749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VTP Simulation Mode</a:t>
            </a:r>
            <a:endParaRPr b="0" lang="en-US" sz="2400" spc="-1" strike="noStrike">
              <a:latin typeface="Arial"/>
            </a:endParaRPr>
          </a:p>
        </p:txBody>
      </p:sp>
      <p:sp>
        <p:nvSpPr>
          <p:cNvPr id="363" name="PlaceHolder 2"/>
          <p:cNvSpPr>
            <a:spLocks noGrp="1"/>
          </p:cNvSpPr>
          <p:nvPr>
            <p:ph/>
          </p:nvPr>
        </p:nvSpPr>
        <p:spPr>
          <a:xfrm>
            <a:off x="468360" y="1196640"/>
            <a:ext cx="8217360" cy="5111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0" lang="en-US" sz="1800" spc="-1" strike="noStrike">
                <a:solidFill>
                  <a:srgbClr val="000000"/>
                </a:solidFill>
                <a:latin typeface="Arial"/>
              </a:rPr>
              <a:t>Verification Test Procedure (VTP) Simulation Mode</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Similar to Pwheel mode, different cycle format (see user manual)</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Requires:</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Vehicle in declaration mode (XML)</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Measured driving cycle</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Parameters for engine-fan model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 calculates the gear based on the wheel speed and engine speed (and vehicle parameters) and ignores the gear provided in the driving cycle</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Fuel consumption interpolation is done using the engine speed from the cycle and calculated power demand (to avoid wrong engine speeds due to wrong gear selection)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Simulation uses all auxiliaries except engine fan</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Engine fan is modeled separately, power demand depends on fan speed (see user manual)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Auxiliary power selected according to segment table, BUT power demand depends on vehicle speed</a:t>
            </a:r>
            <a:endParaRPr b="0" lang="en-US" sz="16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&lt; 50 km/h: Urban</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50 &lt;= v &lt; 70 km/h: Rural</a:t>
            </a:r>
            <a:endParaRPr b="0" lang="en-US" sz="1200" spc="-1" strike="noStrike">
              <a:latin typeface="Arial"/>
            </a:endParaRPr>
          </a:p>
          <a:p>
            <a:pPr lvl="2" marL="1143000" indent="-228600">
              <a:lnSpc>
                <a:spcPct val="100000"/>
              </a:lnSpc>
              <a:spcBef>
                <a:spcPts val="241"/>
              </a:spcBef>
              <a:buClr>
                <a:srgbClr val="000000"/>
              </a:buClr>
              <a:buFont typeface="Symbol"/>
              <a:buChar char=""/>
            </a:pPr>
            <a:r>
              <a:rPr b="0" lang="en-US" sz="1200" spc="-1" strike="noStrike">
                <a:solidFill>
                  <a:srgbClr val="000000"/>
                </a:solidFill>
                <a:latin typeface="Arial"/>
              </a:rPr>
              <a:t>v &gt;70 km/h: Long haul</a:t>
            </a:r>
            <a:endParaRPr b="0" lang="en-US" sz="12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Gear and fuel consumption in the driving cycle are optional for now, may be used in future versions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3.2.0.1022</a:t>
            </a:r>
            <a:br>
              <a:rPr sz="2400"/>
            </a:br>
            <a:r>
              <a:rPr b="1" lang="en-US" sz="1600" spc="-1" strike="noStrike">
                <a:solidFill>
                  <a:srgbClr val="990000"/>
                </a:solidFill>
                <a:latin typeface="Arial"/>
              </a:rPr>
              <a:t>2017-10-19</a:t>
            </a:r>
            <a:endParaRPr b="0" lang="en-US" sz="1600" spc="-1" strike="noStrike">
              <a:latin typeface="Arial"/>
            </a:endParaRPr>
          </a:p>
        </p:txBody>
      </p:sp>
      <p:sp>
        <p:nvSpPr>
          <p:cNvPr id="36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[VECTO-585, VECTO-587] – VECTO Simulation aborts when run as WCF Service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[VECTO-586] – Gearshiftcout in reports too high</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Use of old library references .net framework 2.0</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3.2.0.1005</a:t>
            </a:r>
            <a:br>
              <a:rPr sz="2400"/>
            </a:br>
            <a:r>
              <a:rPr b="1" lang="en-US" sz="1600" spc="-1" strike="noStrike">
                <a:solidFill>
                  <a:srgbClr val="990000"/>
                </a:solidFill>
                <a:latin typeface="Arial"/>
              </a:rPr>
              <a:t>2017-10-02</a:t>
            </a:r>
            <a:endParaRPr b="0" lang="en-US" sz="1600" spc="-1" strike="noStrike">
              <a:latin typeface="Arial"/>
            </a:endParaRPr>
          </a:p>
        </p:txBody>
      </p:sp>
      <p:sp>
        <p:nvSpPr>
          <p:cNvPr id="36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1" lang="en-US" sz="1600" spc="-1" strike="noStrike">
                <a:solidFill>
                  <a:srgbClr val="000000"/>
                </a:solidFill>
                <a:latin typeface="Arial"/>
              </a:rPr>
              <a:t>Release of Vecto Hashing Tool</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[VECTO-557] Engine speed simulated too high during long stops</a:t>
            </a:r>
            <a:endParaRPr b="0" lang="en-US" sz="1400" spc="-1" strike="noStrike">
              <a:latin typeface="Arial"/>
            </a:endParaRPr>
          </a:p>
          <a:p>
            <a:pPr>
              <a:lnSpc>
                <a:spcPct val="100000"/>
              </a:lnSpc>
              <a:spcBef>
                <a:spcPts val="320"/>
              </a:spcBef>
              <a:buNone/>
              <a:tabLst>
                <a:tab algn="l" pos="0"/>
              </a:tabLst>
            </a:pPr>
            <a:endParaRPr b="0" lang="en-US" sz="1600" spc="-1" strike="noStrike">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[VECTO-569] - ‘Engine Retarder’ not correctly recognized as input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[VECTO-571] - Customer Report – wrong output format of average RRC</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[VECTO-573] - Correction of displayed units in graph window</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[VECTO-575] - Correction of simulation aborts (due to gearbox inertia,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[VECTO-577] - Correction of XML export functionality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[VECTO-579] - Bug fix GUI crashes on invalid input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[VECTO-558] - Correction of output in .vsum file – BFColdHot always 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[VECTO-564] - Bug fix: correct output of vehicle group in XML report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[VECTO-566] - Vehicle height not correctly read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[VECTO-545] - Update documentation on Settings dialog</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3.2.0.940</a:t>
            </a:r>
            <a:br>
              <a:rPr sz="2400"/>
            </a:br>
            <a:r>
              <a:rPr b="1" lang="en-US" sz="1600" spc="-1" strike="noStrike">
                <a:solidFill>
                  <a:srgbClr val="990000"/>
                </a:solidFill>
                <a:latin typeface="Arial"/>
              </a:rPr>
              <a:t>2017-07-28</a:t>
            </a:r>
            <a:endParaRPr b="0" lang="en-US" sz="1600" spc="-1" strike="noStrike">
              <a:latin typeface="Arial"/>
            </a:endParaRPr>
          </a:p>
        </p:txBody>
      </p:sp>
      <p:sp>
        <p:nvSpPr>
          <p:cNvPr id="36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[VECTO-546] - GearboxCertificationOptionType Option 2 not accepted by VECTO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[VECTO-547] - Engine Manufacturer and Engine Model are empty in .vsum </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[VECTO-548] - online user manual</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[VECTO-549] - Inconsistent (and wrong) decimal separator in XML output (manufacturer report)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[VECTO-551] - Average Tyre RRC not in Customer Information File output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[VECTO-536] - GUI: improvements vehicle dialog (add missing pictures for vehicle categories)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[VECTO-550] - Allow custom settings for AirDensity in Engineering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[VECTO-552] - set engine rated power, rated speed to computed values from FLD if not provided as input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371"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[VECTO-366] added EMS vehicle configuration, EMS is only simulated when engine rated power &gt; 300kW</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[VECTO-463] add pneumatic system technology 'vacuum pump‘</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[VECTO-465] change RRC value of trailers (declaration mode) from 0.00555 to 0.0055 (due to limits in user interface)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[VECTO-477] AT Gearbox, powershift losses: remove inertia factor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[VECTO-471] update cross-wind correction model: height-dependent wind speed (see Excel spreadsheet in User Manual folder for details)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[VECTO-367] Add Vehicle Design Speed to segmentation table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[VECTO-470] Add XML reading and export functionality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[VECTO-486] Adding hashing library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[VECTO-469] Limit engine max torque (either due to vehicle or gearbox limits), limit gearbox input speed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[VECTO-466] Update vehicle payloads: 10% loaded and reference load are simulated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[VECTO-467] Add generic PTO activation in municipal cycle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[VECTO-468] Add PTO losses (idle) in declaration mode</a:t>
            </a:r>
            <a:endParaRPr b="0" lang="en-US" sz="14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400" spc="-1" strike="noStrike">
                <a:solidFill>
                  <a:srgbClr val="000000"/>
                </a:solidFill>
                <a:latin typeface="Arial"/>
              </a:rPr>
              <a:t>[VECTO-479</a:t>
            </a:r>
            <a:r>
              <a:rPr b="0" lang="en-US" sz="1600" spc="-1" strike="noStrike">
                <a:solidFill>
                  <a:srgbClr val="000000"/>
                </a:solidFill>
                <a:latin typeface="Arial"/>
              </a:rPr>
              <a:t>] Added PTO option 'only one engaged gearwheel above oil level' with 0 losses</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37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[VECTO-483] Adapt CdxA supplement for additional trailers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[VECTO-494] Implementation of different fuel types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[VECTO-502] Implementing standard values for air-drag area (if not measured)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[VECTO-501] Implement engine idle speed set in vehicle (must be higher than engine's idle speed value)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[VECTO-504] Adding HVAC technology 'none‘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[VECTO-489] Extrapolate gearbox lossmaps (required when torque limitation by gearbox is ignored)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[VECTO-505] Implement AT transmissions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[VECTO-507] Allow to ignore validation of model data when starting a simulation (significant improvement on simulation startup time - about 10s)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[VECTO-506] modified method how torque-converter characteristics in drag is extended. allow drag-values in the input, only add one point at a high speed ratio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[VECTO-509] Add axle-type (vehicle driven, vehicle non-driven, trailer) to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[VECTO-511] Add engine idle speed to Vehicle input form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[VECTO-510] Write XML reports (manufacturer, customer information)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[VECTO-474] new driving cycles for Municipal and Regional Delivery</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375"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[VECTO-522] step-up ratio for using torque converter in second gear set to 1.85 for busses (still 1.8 for trucks)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[VECTO-525] remove info-box with max loading in GUI</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[VECTO-533] allow second driven axle, rdyn is calculated as average of both driven axles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[VECTO-537] new Suburban driving cycles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[VECTO-541] increase declaration mode PT1 curve to higher speeds (2500 is too low for some engines)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[VECTO-542] reduce overspeed in declaration mode to 2.5km/h</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en-US" sz="1600" spc="-1" strike="noStrike">
              <a:latin typeface="Arial"/>
            </a:endParaRPr>
          </a:p>
        </p:txBody>
      </p:sp>
      <p:sp>
        <p:nvSpPr>
          <p:cNvPr id="377"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[VECTO-462] fix: decision if PTO cycle is simulated</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[VECTO-473] fix: adapt range for validation of torque converter characteristics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[VECTO-464] fix: extrapolation of engine full-load curve gives neg. max. torque. Limit engine speed to n95h</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[VECTO-480] fix: a_pos in .vsum was less than zero</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[VECTO-487] fix: Duration of PTO cycle was computed incorrectly if PTO cycle does not start at t=0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[VECTO-514] fix: sort entries in .vsum numerically, not lexically</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[VECTO-516] fix: consider axlegear losses for estimation of acceleration after gearshifts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[VECTO-517] fix: valid shift polygon was considered invalid when extended to very high torque ranges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[VECTO-424] fix: VectoCore.dll could not be found when the current working directory is different to the directory of the vectocmd.exe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[VECTO-425] fix: vectocmd.exe - check if the output is redirected, and skip updating of the progress bar when this is the case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[VECTO-426] fix: vectocmd.exe - log errors to STDERR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[VECTO-519] fix: computation of n95h fails for a valid full-load curve due to numerical inaccuracy. add tolerance when searching for solutions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[VECTO-520] fix: gearashift count in vsum is 0</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3.1.2.810</a:t>
            </a:r>
            <a:br>
              <a:rPr sz="2400"/>
            </a:br>
            <a:r>
              <a:rPr b="1" lang="en-US" sz="1600" spc="-1" strike="noStrike">
                <a:solidFill>
                  <a:srgbClr val="990000"/>
                </a:solidFill>
                <a:latin typeface="Arial"/>
              </a:rPr>
              <a:t>2017-01-18</a:t>
            </a:r>
            <a:endParaRPr b="0" lang="en-US" sz="1600" spc="-1" strike="noStrike">
              <a:latin typeface="Arial"/>
            </a:endParaRPr>
          </a:p>
        </p:txBody>
      </p:sp>
      <p:sp>
        <p:nvSpPr>
          <p:cNvPr id="379"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[VECTO-445] Additional columns in vsum file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splitting shift losses among multiple simulation intervals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Allow coasting overspeed only if vehicle speed &gt; 0</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Torque converter: better handling of ‘creeping’ situations</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[VECTO-443] Bugfix in AMT shift strategy: skip gears not working correctly</a:t>
            </a:r>
            <a:endParaRPr b="0" lang="en-US" sz="1400" spc="-1" strike="noStrike">
              <a:latin typeface="Arial"/>
            </a:endParaRPr>
          </a:p>
          <a:p>
            <a:pPr>
              <a:lnSpc>
                <a:spcPct val="100000"/>
              </a:lnSpc>
              <a:spcBef>
                <a:spcPts val="281"/>
              </a:spcBef>
              <a:buNone/>
              <a:tabLst>
                <a:tab algn="l" pos="0"/>
              </a:tabLst>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3.1.2.796</a:t>
            </a:r>
            <a:br>
              <a:rPr sz="2400"/>
            </a:br>
            <a:r>
              <a:rPr b="1" lang="en-US" sz="1600" spc="-1" strike="noStrike">
                <a:solidFill>
                  <a:srgbClr val="990000"/>
                </a:solidFill>
                <a:latin typeface="Arial"/>
              </a:rPr>
              <a:t>2017-03-07</a:t>
            </a:r>
            <a:endParaRPr b="0" lang="en-US" sz="1600" spc="-1" strike="noStrike">
              <a:latin typeface="Arial"/>
            </a:endParaRPr>
          </a:p>
        </p:txBody>
      </p:sp>
      <p:sp>
        <p:nvSpPr>
          <p:cNvPr id="381" name="PlaceHolder 2"/>
          <p:cNvSpPr>
            <a:spLocks noGrp="1"/>
          </p:cNvSpPr>
          <p:nvPr>
            <p:ph/>
          </p:nvPr>
        </p:nvSpPr>
        <p:spPr>
          <a:xfrm>
            <a:off x="323640" y="1196640"/>
            <a:ext cx="8640000" cy="5183640"/>
          </a:xfrm>
          <a:prstGeom prst="rect">
            <a:avLst/>
          </a:prstGeom>
          <a:noFill/>
          <a:ln w="0">
            <a:noFill/>
          </a:ln>
        </p:spPr>
        <p:txBody>
          <a:bodyPr numCol="1" spcCol="0" lIns="90000" rIns="90000" tIns="45000" bIns="45000" anchor="t">
            <a:noAutofit/>
          </a:bodyPr>
          <a:p>
            <a:pPr>
              <a:lnSpc>
                <a:spcPct val="100000"/>
              </a:lnSpc>
              <a:spcBef>
                <a:spcPts val="241"/>
              </a:spcBef>
              <a:buNone/>
              <a:tabLst>
                <a:tab algn="l" pos="0"/>
              </a:tabLst>
            </a:pPr>
            <a:r>
              <a:rPr b="1" lang="en-US" sz="1200" spc="-1" strike="noStrike">
                <a:solidFill>
                  <a:srgbClr val="000000"/>
                </a:solidFill>
                <a:latin typeface="Arial"/>
              </a:rPr>
              <a:t>Improvements: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[VECTO-405] Adding clutch-losses for AMT/MT gearboxes during drive-off, reduce drive-off distance after stop from 1m to 0.25m, set clutch closing speed (normalized) to 6.5%, changes in clutch model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[VECTO-379] Make GUI more tolerant against missing files. Instead of aborting reading the input data the GUI shows a suffix for missing input files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[VECTO-411] Allow a traction interruption of 0s for AMT/MT gearboxes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[VECTO-408] Gearbox Inertia for AT gearboxes set to 0</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[VECTO-419] Adapted error messages, added list of errors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[VECTO-421,VECTO-439] Added volume-related results to vsum file (volume is computed based on default bodies)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 Energy balance (vsum) and balance of engine power output and power consumers (vmod) level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[VECTO-430] AT shift strategy: upshifts may happen too early</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[VECTO-431] AMT shift strategy always started in first gear due to changes in clutch model</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[VECTO-433] adapt generic vehicles: use typical WHTC correction factors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[VECTO-437] set vehicle speed at clutch-closed to 1.3 m/s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[VECTO-436] fix simulation aborts with AT gearbox (neg. braking power, unexpected response, underload)</a:t>
            </a:r>
            <a:endParaRPr b="0" lang="en-US" sz="1200" spc="-1" strike="noStrike">
              <a:latin typeface="Arial"/>
            </a:endParaRPr>
          </a:p>
          <a:p>
            <a:pPr>
              <a:lnSpc>
                <a:spcPct val="100000"/>
              </a:lnSpc>
              <a:spcBef>
                <a:spcPts val="241"/>
              </a:spcBef>
              <a:buNone/>
              <a:tabLst>
                <a:tab algn="l" pos="0"/>
              </a:tabLst>
            </a:pPr>
            <a:r>
              <a:rPr b="1" lang="en-US" sz="1200" spc="-1" strike="noStrike">
                <a:solidFill>
                  <a:srgbClr val="000000"/>
                </a:solidFill>
                <a:latin typeface="Arial"/>
              </a:rPr>
              <a:t>Bugfixes:</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[VECTO-415] Powershift Losses were not considered for AT gearboxes with PowerSplit</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[VECTO-416] Measured Speed with gear failed when cycle contained parts with eco-roll (computation of next gear failed)</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[VECTO-428] Sum of timeshares adds up to 100%</a:t>
            </a:r>
            <a:endParaRPr b="0" lang="en-US" sz="1200" spc="-1" strike="noStrike">
              <a:latin typeface="Arial"/>
            </a:endParaRPr>
          </a:p>
          <a:p>
            <a:pPr marL="343080" indent="-343080">
              <a:lnSpc>
                <a:spcPct val="100000"/>
              </a:lnSpc>
              <a:spcBef>
                <a:spcPts val="241"/>
              </a:spcBef>
              <a:buClr>
                <a:srgbClr val="000000"/>
              </a:buClr>
              <a:buFont typeface="Symbol"/>
              <a:buChar char=""/>
              <a:tabLst>
                <a:tab algn="l" pos="0"/>
              </a:tabLst>
            </a:pPr>
            <a:r>
              <a:rPr b="0" lang="en-US" sz="1200" spc="-1" strike="noStrike">
                <a:solidFill>
                  <a:srgbClr val="000000"/>
                </a:solidFill>
                <a:latin typeface="Arial"/>
              </a:rPr>
              <a:t>[VECTO-429] Min Velocity for lookahead coasting was not written to JSON file</a:t>
            </a:r>
            <a:endParaRPr b="0" lang="en-US" sz="1200" spc="-1" strike="noStrike">
              <a:latin typeface="Arial"/>
            </a:endParaRPr>
          </a:p>
          <a:p>
            <a:pPr>
              <a:lnSpc>
                <a:spcPct val="100000"/>
              </a:lnSpc>
              <a:spcBef>
                <a:spcPts val="241"/>
              </a:spcBef>
              <a:buNone/>
              <a:tabLst>
                <a:tab algn="l" pos="0"/>
              </a:tabLst>
            </a:pP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3.1.1.748</a:t>
            </a:r>
            <a:br>
              <a:rPr sz="2400"/>
            </a:br>
            <a:r>
              <a:rPr b="1" lang="en-US" sz="1600" spc="-1" strike="noStrike">
                <a:solidFill>
                  <a:srgbClr val="990000"/>
                </a:solidFill>
                <a:latin typeface="Arial"/>
              </a:rPr>
              <a:t>2017-01-18</a:t>
            </a:r>
            <a:endParaRPr b="0" lang="en-US" sz="1600" spc="-1" strike="noStrike">
              <a:latin typeface="Arial"/>
            </a:endParaRPr>
          </a:p>
        </p:txBody>
      </p:sp>
      <p:sp>
        <p:nvSpPr>
          <p:cNvPr id="383" name="PlaceHolder 2"/>
          <p:cNvSpPr>
            <a:spLocks noGrp="1"/>
          </p:cNvSpPr>
          <p:nvPr>
            <p:ph/>
          </p:nvPr>
        </p:nvSpPr>
        <p:spPr>
          <a:xfrm>
            <a:off x="323640" y="1628640"/>
            <a:ext cx="8640000" cy="475128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[VECTO-404] Driving Cycle with PTO stopped simulation after first PTO activation</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3.1.1.742</a:t>
            </a:r>
            <a:br>
              <a:rPr sz="2400"/>
            </a:br>
            <a:r>
              <a:rPr b="1" lang="en-US" sz="1600" spc="-1" strike="noStrike">
                <a:solidFill>
                  <a:srgbClr val="990000"/>
                </a:solidFill>
                <a:latin typeface="Arial"/>
              </a:rPr>
              <a:t>2017-01-12</a:t>
            </a:r>
            <a:endParaRPr b="0" lang="en-US" sz="1600" spc="-1" strike="noStrike">
              <a:latin typeface="Arial"/>
            </a:endParaRPr>
          </a:p>
        </p:txBody>
      </p:sp>
      <p:sp>
        <p:nvSpPr>
          <p:cNvPr id="385" name="PlaceHolder 2"/>
          <p:cNvSpPr>
            <a:spLocks noGrp="1"/>
          </p:cNvSpPr>
          <p:nvPr>
            <p:ph/>
          </p:nvPr>
        </p:nvSpPr>
        <p:spPr>
          <a:xfrm>
            <a:off x="323640" y="1196640"/>
            <a:ext cx="8640000" cy="5183640"/>
          </a:xfrm>
          <a:prstGeom prst="rect">
            <a:avLst/>
          </a:prstGeom>
          <a:noFill/>
          <a:ln w="0">
            <a:noFill/>
          </a:ln>
        </p:spPr>
        <p:txBody>
          <a:bodyPr numCol="1" spcCol="0" lIns="90000" rIns="90000" tIns="45000" bIns="4500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[VECTO-390, VECTO-400] Adapt engine speed to estimated engine speed after gear shift during traction interruption (double clutching)</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[VECTO-396, VECTO-388] Add shift losses for AT power shifts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[VECTO-389] new gear shift rules for AT gearboxes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[VECTO-387] added max input speed for torque converter</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[VECTO-385] Automatically add generic torque converter data for drag</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[VECTO-399] Add missions and loadings for vehicle categories 11, 12, and 16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[VECTO-384] cleanup memory after simulation run</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[VECTO-394] new option for vectocmd to disable all output</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[VECTO-392] make the GUI scale depending on the Windows font size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[VECTO-391] Gearbox output speed and output torque added to .vmod files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[VECTO-386] Gearbox window: disable input fields not applicable for the selected gearbox type</a:t>
            </a:r>
            <a:endParaRPr b="0" lang="en-US" sz="1400" spc="-1" strike="noStrike">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[VECTO-401] Computation of n_95h etc. fails if engine’s max torque is constant 0 </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Lookup of Airdrag parameters in declaration mode</a:t>
            </a:r>
            <a:endParaRPr b="0" lang="en-US" sz="1400" spc="-1" strike="noStrike">
              <a:latin typeface="Arial"/>
            </a:endParaRPr>
          </a:p>
          <a:p>
            <a:pPr marL="343080" indent="-343080">
              <a:lnSpc>
                <a:spcPct val="100000"/>
              </a:lnSpc>
              <a:spcBef>
                <a:spcPts val="281"/>
              </a:spcBef>
              <a:buClr>
                <a:srgbClr val="000000"/>
              </a:buClr>
              <a:buFont typeface="Symbol"/>
              <a:buChar char=""/>
              <a:tabLst>
                <a:tab algn="l" pos="0"/>
              </a:tabLst>
            </a:pPr>
            <a:r>
              <a:rPr b="0" lang="en-US" sz="1400" spc="-1" strike="noStrike">
                <a:solidFill>
                  <a:srgbClr val="000000"/>
                </a:solidFill>
                <a:latin typeface="Arial"/>
              </a:rPr>
              <a:t>[VECTO-378] Improved file-handling in AAUX module</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en-US" sz="1600" spc="-1" strike="noStrike">
              <a:latin typeface="Arial"/>
            </a:endParaRPr>
          </a:p>
        </p:txBody>
      </p:sp>
      <p:sp>
        <p:nvSpPr>
          <p:cNvPr id="387" name="PlaceHolder 2"/>
          <p:cNvSpPr>
            <a:spLocks noGrp="1"/>
          </p:cNvSpPr>
          <p:nvPr>
            <p:ph/>
          </p:nvPr>
        </p:nvSpPr>
        <p:spPr>
          <a:xfrm>
            <a:off x="323640" y="1196640"/>
            <a:ext cx="8640000" cy="5183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[VECTO-375] Fixed bug when braking during slope change from negative to positive values.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[VECTO-372] Added check for unusual acceleration/deceleration data which could lead to error when halting.</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[VECTO-371] Added additional behavior to overcome such situations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[VECTO-370] Added additional behavior to overcome such situations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[VECTO-369] CrosswindCorrection is now saved and read again from JSON files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[VECTO-373] WHTC-Engineering correction factor now correctly read/write in JSON files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[VECTO-368] Fixed validation for specific cases when values are intentionally invalid.</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[VECTO-357] Updated GUI to not show ECO-Roll option to avoid confusion</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AT-ShiftStrategy regarding the Torque Converter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numerous bugs in MeasuredSpeed Mode (and MeasuredSpeed with Gear) in connection with AT-Gearbox and TorqueConverter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Fixed a bug when PTO-Cycle was missing</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axle loss maps for Generic Vehicles in Declaration Mode to match technical annex</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Corrected SumFile Cruise Time Share. Added that timeshares must add up to 100%</a:t>
            </a:r>
            <a:endParaRPr b="0" lang="en-US" sz="1600" spc="-1" strike="noStrike">
              <a:latin typeface="Arial"/>
            </a:endParaRPr>
          </a:p>
          <a:p>
            <a:pPr>
              <a:lnSpc>
                <a:spcPct val="100000"/>
              </a:lnSpc>
              <a:spcBef>
                <a:spcPts val="320"/>
              </a:spcBef>
              <a:buNone/>
              <a:tabLst>
                <a:tab algn="l" pos="0"/>
              </a:tabLst>
            </a:pP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p:nvPr>
        </p:nvSpPr>
        <p:spPr>
          <a:xfrm>
            <a:off x="468360" y="1412640"/>
            <a:ext cx="8494920" cy="4967640"/>
          </a:xfrm>
          <a:prstGeom prst="rect">
            <a:avLst/>
          </a:prstGeom>
          <a:noFill/>
          <a:ln w="0">
            <a:noFill/>
          </a:ln>
        </p:spPr>
        <p:txBody>
          <a:bodyPr numCol="1" spcCol="0" lIns="90000" rIns="90000" tIns="45000" bIns="4500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[VECTO-355] Updated documentation, added powertrain schematics in chapter "Simulation Models"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[VECTO-374] Check range for Torque Converter speed ratio input data to be at least between 0 and 2.2</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many error messages to be more explicit about the reason of error</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"Mission Profiles" Directory with driving cycles publicly available in the application root directory.</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"Declaration" directory with the declaration data files in the application root directory.</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warning when engine inertia is 0</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Added check that engine speed must not fall below idle speed (even in measured speed mode)</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Shift curve validation for AT gearboxes: shift curves may now overlap due to different shift logic in AutomaticTransmissions.</a:t>
            </a:r>
            <a:endParaRPr b="0" lang="en-US" sz="1600" spc="-1" strike="noStrike">
              <a:latin typeface="Arial"/>
            </a:endParaRPr>
          </a:p>
          <a:p>
            <a:pPr marL="343080" indent="-343080">
              <a:lnSpc>
                <a:spcPct val="100000"/>
              </a:lnSpc>
              <a:spcBef>
                <a:spcPts val="320"/>
              </a:spcBef>
              <a:buClr>
                <a:srgbClr val="000000"/>
              </a:buClr>
              <a:buFont typeface="Symbol"/>
              <a:buChar char=""/>
              <a:tabLst>
                <a:tab algn="l" pos="0"/>
              </a:tabLst>
            </a:pPr>
            <a:r>
              <a:rPr b="0" lang="en-US" sz="1600" spc="-1" strike="noStrike">
                <a:solidFill>
                  <a:srgbClr val="000000"/>
                </a:solidFill>
                <a:latin typeface="Arial"/>
              </a:rPr>
              <a:t>Updated Crosswind Coefficients for </a:t>
            </a:r>
            <a:r>
              <a:rPr b="0" lang="de-AT" sz="1600" spc="-1" strike="noStrike">
                <a:solidFill>
                  <a:srgbClr val="000000"/>
                </a:solidFill>
                <a:latin typeface="Arial"/>
              </a:rPr>
              <a:t>Tractor+Semitrailer</a:t>
            </a:r>
            <a:endParaRPr b="0" lang="en-US" sz="1600" spc="-1" strike="noStrike">
              <a:latin typeface="Arial"/>
            </a:endParaRPr>
          </a:p>
          <a:p>
            <a:pPr>
              <a:lnSpc>
                <a:spcPct val="100000"/>
              </a:lnSpc>
              <a:spcBef>
                <a:spcPts val="320"/>
              </a:spcBef>
              <a:buNone/>
              <a:tabLst>
                <a:tab algn="l" pos="0"/>
              </a:tabLst>
            </a:pPr>
            <a:endParaRPr b="0" lang="en-US" sz="1600" spc="-1" strike="noStrike">
              <a:latin typeface="Arial"/>
            </a:endParaRPr>
          </a:p>
        </p:txBody>
      </p:sp>
      <p:sp>
        <p:nvSpPr>
          <p:cNvPr id="389" name="Titel 1"/>
          <p:cNvSpPr/>
          <p:nvPr/>
        </p:nvSpPr>
        <p:spPr>
          <a:xfrm>
            <a:off x="468360" y="476640"/>
            <a:ext cx="8217360" cy="68004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buNone/>
            </a:pPr>
            <a:r>
              <a:rPr b="1" lang="en-US" sz="2400" spc="-1" strike="noStrike">
                <a:solidFill>
                  <a:srgbClr val="990000"/>
                </a:solidFill>
                <a:latin typeface="Arial"/>
                <a:ea typeface="DejaVu Sans"/>
              </a:rPr>
              <a:t>Vecto 3.1.0.683</a:t>
            </a:r>
            <a:br>
              <a:rPr sz="2400"/>
            </a:br>
            <a:r>
              <a:rPr b="1" lang="en-US" sz="1600" spc="-1" strike="noStrike">
                <a:solidFill>
                  <a:srgbClr val="990000"/>
                </a:solidFill>
                <a:latin typeface="Arial"/>
                <a:ea typeface="DejaVu Sans"/>
              </a:rPr>
              <a:t>2016-11-14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3.1.0.662</a:t>
            </a:r>
            <a:br>
              <a:rPr sz="2400"/>
            </a:br>
            <a:r>
              <a:rPr b="1" lang="en-US" sz="1600" spc="-1" strike="noStrike">
                <a:solidFill>
                  <a:srgbClr val="990000"/>
                </a:solidFill>
                <a:latin typeface="Arial"/>
              </a:rPr>
              <a:t>2016-10-24</a:t>
            </a:r>
            <a:endParaRPr b="0" lang="en-US" sz="1600" spc="-1" strike="noStrike">
              <a:latin typeface="Arial"/>
            </a:endParaRPr>
          </a:p>
        </p:txBody>
      </p:sp>
      <p:sp>
        <p:nvSpPr>
          <p:cNvPr id="391" name="PlaceHolder 2"/>
          <p:cNvSpPr>
            <a:spLocks noGrp="1"/>
          </p:cNvSpPr>
          <p:nvPr>
            <p:ph/>
          </p:nvPr>
        </p:nvSpPr>
        <p:spPr>
          <a:xfrm>
            <a:off x="468360" y="1412640"/>
            <a:ext cx="8494920" cy="4967640"/>
          </a:xfrm>
          <a:prstGeom prst="rect">
            <a:avLst/>
          </a:prstGeom>
          <a:noFill/>
          <a:ln w="0">
            <a:noFill/>
          </a:ln>
        </p:spPr>
        <p:txBody>
          <a:bodyPr numCol="1" spcCol="0" lIns="90000" rIns="90000" tIns="45000" bIns="45000" anchor="t">
            <a:noAutofit/>
          </a:bodyPr>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Bugfixes</a:t>
            </a:r>
            <a:r>
              <a:rPr b="0" lang="en-US" sz="1800" spc="-1" strike="noStrike">
                <a:solidFill>
                  <a:srgbClr val="000000"/>
                </a:solidFill>
                <a:latin typeface="Arial"/>
              </a:rPr>
              <a:t>:</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[VECTO-360] Fixed error during startup of VECTO (loading of DLLs).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[VECTO-361] Fixed classification of vehicles with GVM of exactly 7500kg</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[VECTO-364] Fixed an error in measured speed mode (run aborts).</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[VECTO-363] Compute shift polygons in declaration mode now uses correct boundary for full load margin.</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[VECTO-365] Fixed editing gears in declaration mode</a:t>
            </a:r>
            <a:endParaRPr b="0" lang="en-US" sz="1600" spc="-1" strike="noStrike">
              <a:latin typeface="Arial"/>
            </a:endParaRPr>
          </a:p>
          <a:p>
            <a:pPr marL="343080" indent="-343080">
              <a:lnSpc>
                <a:spcPct val="100000"/>
              </a:lnSpc>
              <a:spcBef>
                <a:spcPts val="360"/>
              </a:spcBef>
              <a:buClr>
                <a:srgbClr val="000000"/>
              </a:buClr>
              <a:buFont typeface="Symbol"/>
              <a:buChar char=""/>
            </a:pPr>
            <a:r>
              <a:rPr b="1" lang="en-US" sz="1800" spc="-1" strike="noStrike">
                <a:solidFill>
                  <a:srgbClr val="000000"/>
                </a:solidFill>
                <a:latin typeface="Arial"/>
              </a:rPr>
              <a:t>Improvements</a:t>
            </a:r>
            <a:r>
              <a:rPr b="0" lang="en-US" sz="1800" spc="-1" strike="noStrike">
                <a:solidFill>
                  <a:srgbClr val="000000"/>
                </a:solidFill>
                <a:latin typeface="Arial"/>
              </a:rPr>
              <a:t>:</a:t>
            </a:r>
            <a:endParaRPr b="0" lang="en-US" sz="18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[VECTO-355] User Manual updated (Screenshots, Descriptions, File Formats, Vecto V2 Comments removed).</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[VECTO-317] Declaration data for Wheel sizes updated</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[VECTO-359] Simplified code regarding PT1 behavior.</a:t>
            </a:r>
            <a:endParaRPr b="0" lang="en-US" sz="1600" spc="-1" strike="noStrike">
              <a:latin typeface="Arial"/>
            </a:endParaRPr>
          </a:p>
          <a:p>
            <a:pPr lvl="1" marL="743040" indent="-285840">
              <a:lnSpc>
                <a:spcPct val="100000"/>
              </a:lnSpc>
              <a:spcBef>
                <a:spcPts val="320"/>
              </a:spcBef>
              <a:buClr>
                <a:srgbClr val="000000"/>
              </a:buClr>
              <a:buFont typeface="Symbol"/>
              <a:buChar char=""/>
            </a:pPr>
            <a:r>
              <a:rPr b="0" lang="en-US" sz="1600" spc="-1" strike="noStrike">
                <a:solidFill>
                  <a:srgbClr val="000000"/>
                </a:solidFill>
                <a:latin typeface="Arial"/>
              </a:rPr>
              <a:t>[VECTO-323] PTO-Cycle may now be left empty when not used in driving cycle.</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latin typeface="Arial"/>
            </a:endParaRPr>
          </a:p>
        </p:txBody>
      </p:sp>
      <p:sp>
        <p:nvSpPr>
          <p:cNvPr id="393" name="PlaceHolder 2"/>
          <p:cNvSpPr>
            <a:spLocks noGrp="1"/>
          </p:cNvSpPr>
          <p:nvPr>
            <p:ph/>
          </p:nvPr>
        </p:nvSpPr>
        <p:spPr>
          <a:xfrm>
            <a:off x="468360" y="1412640"/>
            <a:ext cx="8494920" cy="4712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VECTO Core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Refactoring of the User-Interface Backend: loading, saving files and validating user input uses Vecto 3 models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AT-Gearbox Model: differentiate between AT gearbox with serial torque converter and AT gearbox using powersplit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Numbering of gears with AT gearbox corresponds to mechanical gears, new column TC_locked in .vmod file to indicate if torque converter is active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Torque converter gear no longer allowed in input (added by Vecto depending on the AT model)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implementation of torque converter model (analytic solutions)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PTO option for municipal utility vehicles: PTO idle losses, separate PTO cycle during standstill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Angledrive Component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Option for constant Auxiliary Power Demand in Job-File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en-US" sz="1600" spc="-1" strike="noStrike">
              <a:latin typeface="Arial"/>
            </a:endParaRPr>
          </a:p>
        </p:txBody>
      </p:sp>
      <p:sp>
        <p:nvSpPr>
          <p:cNvPr id="395" name="PlaceHolder 2"/>
          <p:cNvSpPr>
            <a:spLocks noGrp="1"/>
          </p:cNvSpPr>
          <p:nvPr>
            <p:ph/>
          </p:nvPr>
        </p:nvSpPr>
        <p:spPr>
          <a:xfrm>
            <a:off x="468360" y="1268640"/>
            <a:ext cx="8494920" cy="4856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 (cont.)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Normalize x/y values before triangulating Delaunay map (transmission loss-maps, fuel consumption loss map)</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Additional fuel consumption correction factor in declaration mode: cold/hot balancing factor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Added fuel consumption correction factor (WHTC, Cold/Hot balancing, …) in engineering mode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Update auxiliaries power demand according to latest whitebook</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multiple steered axles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Adapted engine idle controller (during declutch) – engine speed decreases faster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SUM-File: split E_axl_gbx into two columns, E_axl and E_gbx</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columns in mod-file: PTO, torque converter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full-load curve per gear, only single value MaxTorque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Removed rims (dynamic wheel radius depends on wheel type)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Fixes in AAUX module: open correct file-browser, save selected files</a:t>
            </a:r>
            <a:endParaRPr b="0" lang="en-US" sz="1800" spc="-1" strike="noStrike">
              <a:latin typeface="Arial"/>
            </a:endParaRPr>
          </a:p>
          <a:p>
            <a:pPr>
              <a:lnSpc>
                <a:spcPct val="100000"/>
              </a:lnSpc>
              <a:buNone/>
            </a:pP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296640" y="476640"/>
            <a:ext cx="8451000" cy="574920"/>
          </a:xfrm>
          <a:prstGeom prst="rect">
            <a:avLst/>
          </a:prstGeom>
          <a:noFill/>
          <a:ln w="0">
            <a:noFill/>
          </a:ln>
        </p:spPr>
        <p:txBody>
          <a:bodyPr numCol="1" spcCol="0" lIns="90000" rIns="90000" tIns="45000" bIns="45000" anchor="ctr">
            <a:noAutofit/>
          </a:bodyPr>
          <a:p>
            <a:pPr>
              <a:lnSpc>
                <a:spcPct val="100000"/>
              </a:lnSpc>
              <a:buNone/>
            </a:pPr>
            <a:r>
              <a:rPr b="1" lang="en-US" sz="2400" spc="-1" strike="noStrike">
                <a:solidFill>
                  <a:srgbClr val="990000"/>
                </a:solidFill>
                <a:latin typeface="Arial"/>
              </a:rPr>
              <a:t>Status quo VECTO software and open issues (Oct. 2016)</a:t>
            </a:r>
            <a:endParaRPr b="0" lang="en-US" sz="2400" spc="-1" strike="noStrike">
              <a:latin typeface="Arial"/>
            </a:endParaRPr>
          </a:p>
        </p:txBody>
      </p:sp>
      <p:sp>
        <p:nvSpPr>
          <p:cNvPr id="397" name="Textfeld 2"/>
          <p:cNvSpPr/>
          <p:nvPr/>
        </p:nvSpPr>
        <p:spPr>
          <a:xfrm>
            <a:off x="323640" y="908640"/>
            <a:ext cx="8496000" cy="394560"/>
          </a:xfrm>
          <a:prstGeom prst="rect">
            <a:avLst/>
          </a:prstGeom>
          <a:noFill/>
          <a:ln w="0">
            <a:noFill/>
          </a:ln>
        </p:spPr>
        <p:style>
          <a:lnRef idx="0"/>
          <a:fillRef idx="0"/>
          <a:effectRef idx="0"/>
          <a:fontRef idx="minor"/>
        </p:style>
        <p:txBody>
          <a:bodyPr lIns="90000" rIns="90000" tIns="45000" bIns="45000" anchor="t">
            <a:spAutoFit/>
          </a:bodyPr>
          <a:p>
            <a:pPr>
              <a:lnSpc>
                <a:spcPct val="100000"/>
              </a:lnSpc>
              <a:spcBef>
                <a:spcPts val="1001"/>
              </a:spcBef>
              <a:buNone/>
            </a:pPr>
            <a:r>
              <a:rPr b="1" lang="de-AT" sz="2000" spc="-1" strike="noStrike">
                <a:solidFill>
                  <a:srgbClr val="000000"/>
                </a:solidFill>
                <a:latin typeface="Arial"/>
                <a:ea typeface="DejaVu Sans"/>
              </a:rPr>
              <a:t>Next issues on the to do list</a:t>
            </a:r>
            <a:endParaRPr b="0" lang="en-US" sz="2000" spc="-1" strike="noStrike">
              <a:latin typeface="Arial"/>
            </a:endParaRPr>
          </a:p>
        </p:txBody>
      </p:sp>
      <p:sp>
        <p:nvSpPr>
          <p:cNvPr id="398" name="Textfeld 6"/>
          <p:cNvSpPr/>
          <p:nvPr/>
        </p:nvSpPr>
        <p:spPr>
          <a:xfrm>
            <a:off x="539640" y="1484640"/>
            <a:ext cx="8352000" cy="487872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Further development of the AT model</a:t>
            </a:r>
            <a:br>
              <a:rPr sz="1400"/>
            </a:br>
            <a:r>
              <a:rPr b="0" lang="en-GB" sz="1400" spc="-1" strike="noStrike">
                <a:solidFill>
                  <a:srgbClr val="000000"/>
                </a:solidFill>
                <a:latin typeface="Arial"/>
                <a:ea typeface="DejaVu Sans"/>
              </a:rPr>
              <a:t>Consideration of losses during power shifts, update of gear shift logics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Reimplementation of engine stop/start</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implementation of EMS vehicle configurations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r>
              <a:rPr b="1" lang="en-GB" sz="1400" spc="-1" strike="noStrike" u="sng">
                <a:solidFill>
                  <a:srgbClr val="000000"/>
                </a:solidFill>
                <a:uFillTx/>
                <a:latin typeface="Arial"/>
                <a:ea typeface="DejaVu Sans"/>
              </a:rPr>
              <a:t>Items waiting for decision on methods and resources: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Update engine data (according to update of Annex II)</a:t>
            </a:r>
            <a:br>
              <a:rPr sz="1400"/>
            </a:br>
            <a:r>
              <a:rPr b="0" lang="en-GB" sz="1400" spc="-1" strike="noStrike">
                <a:solidFill>
                  <a:srgbClr val="000000"/>
                </a:solidFill>
                <a:latin typeface="Arial"/>
                <a:ea typeface="DejaVu Sans"/>
              </a:rPr>
              <a:t>Other fuels than diesel, “top torque” feature, correction factor for periodic regerating DPFs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Declaration mode: </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Revision of calculated vehicle loads</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implementation of refuse cycle (instead “municipal”)</a:t>
            </a:r>
            <a:br>
              <a:rPr sz="1400"/>
            </a:br>
            <a:r>
              <a:rPr b="0" lang="en-GB" sz="1400" spc="-1" strike="noStrike">
                <a:solidFill>
                  <a:srgbClr val="000000"/>
                </a:solidFill>
                <a:latin typeface="Arial"/>
                <a:ea typeface="DejaVu Sans"/>
              </a:rPr>
              <a:t>Update of driving cycle, consideration of generic PTO loads during collection part,</a:t>
            </a:r>
            <a:br>
              <a:rPr sz="1400"/>
            </a:br>
            <a:r>
              <a:rPr b="0" lang="en-GB" sz="1400" spc="-1" strike="noStrike">
                <a:solidFill>
                  <a:srgbClr val="000000"/>
                </a:solidFill>
                <a:latin typeface="Arial"/>
                <a:ea typeface="DejaVu Sans"/>
              </a:rPr>
              <a:t>generic body weight and payload</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VECTO output (approval authorities, customer info, monitoring)</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ea typeface="DejaVu Sans"/>
              </a:rPr>
              <a:t>Buses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ea typeface="DejaVu Sans"/>
              </a:rPr>
              <a:t>Predictive ADAS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3.0.4.565</a:t>
            </a:r>
            <a:br>
              <a:rPr sz="2400"/>
            </a:br>
            <a:r>
              <a:rPr b="1" lang="en-US" sz="1600" spc="-1" strike="noStrike">
                <a:solidFill>
                  <a:srgbClr val="990000"/>
                </a:solidFill>
                <a:latin typeface="Arial"/>
              </a:rPr>
              <a:t>2016-07-19</a:t>
            </a:r>
            <a:endParaRPr b="0" lang="en-US" sz="1600" spc="-1" strike="noStrike">
              <a:latin typeface="Arial"/>
            </a:endParaRPr>
          </a:p>
        </p:txBody>
      </p:sp>
      <p:sp>
        <p:nvSpPr>
          <p:cNvPr id="400"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AAUX HVAC Dialog does not store path to ActuationsMap and SSMSource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check for axle loads in declaration mode renders editing dialog useless </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2.2: Simulation aborts (Vecto terminates) when simulating EngineOnly cycles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Vecto 3: Building SimulationRun EngineOnly simulation failed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86240"/>
            <a:ext cx="8217360" cy="4813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3.0.4.544</a:t>
            </a:r>
            <a:br>
              <a:rPr sz="2400"/>
            </a:br>
            <a:r>
              <a:rPr b="1" lang="en-US" sz="1600" spc="-1" strike="noStrike">
                <a:solidFill>
                  <a:srgbClr val="990000"/>
                </a:solidFill>
                <a:latin typeface="Arial"/>
              </a:rPr>
              <a:t>2016-06-28</a:t>
            </a:r>
            <a:endParaRPr b="0" lang="en-US" sz="1600" spc="-1" strike="noStrike">
              <a:latin typeface="Arial"/>
            </a:endParaRPr>
          </a:p>
        </p:txBody>
      </p:sp>
      <p:sp>
        <p:nvSpPr>
          <p:cNvPr id="402" name="PlaceHolder 2"/>
          <p:cNvSpPr>
            <a:spLocks noGrp="1"/>
          </p:cNvSpPr>
          <p:nvPr>
            <p:ph/>
          </p:nvPr>
        </p:nvSpPr>
        <p:spPr>
          <a:xfrm>
            <a:off x="539640" y="1628640"/>
            <a:ext cx="8063640" cy="4352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gear shift strategy according to White Book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coasting strategy according to White Book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New input parameters (enineering mode) for coasting and gear shift behavior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Use SI units in Advanced Auxiliaries Module and compile with strict compiler settings (no implicit casts, etc.)</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Allow efficiency for transmission losses (in engineering mode)</a:t>
            </a:r>
            <a:endParaRPr b="0" lang="en-US" sz="1800" spc="-1" strike="noStrike">
              <a:latin typeface="Arial"/>
            </a:endParaRPr>
          </a:p>
          <a:p>
            <a:pPr>
              <a:lnSpc>
                <a:spcPct val="100000"/>
              </a:lnSpc>
              <a:spcBef>
                <a:spcPts val="400"/>
              </a:spcBef>
              <a:buNone/>
            </a:pP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Auxiliary TechList not read from JSON input data</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in driver strategy</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Bugfixes in MeasuredSpeed mode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(1)</a:t>
            </a:r>
            <a:endParaRPr b="0" lang="en-US" sz="2400" spc="-1" strike="noStrike">
              <a:latin typeface="Arial"/>
            </a:endParaRPr>
          </a:p>
        </p:txBody>
      </p:sp>
      <p:sp>
        <p:nvSpPr>
          <p:cNvPr id="404"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b="1" lang="en-US" sz="2000" spc="-1" strike="noStrike">
                <a:solidFill>
                  <a:srgbClr val="000000"/>
                </a:solidFill>
                <a:latin typeface="Arial"/>
              </a:rPr>
              <a:t>and</a:t>
            </a:r>
            <a:r>
              <a:rPr b="0" lang="en-US" sz="2000" spc="-1" strike="noStrike">
                <a:solidFill>
                  <a:srgbClr val="000000"/>
                </a:solidFill>
                <a:latin typeface="Arial"/>
              </a:rPr>
              <a:t> “heavy_urban” or “suburban” or “interurban” or “urban”; </a:t>
            </a:r>
            <a:r>
              <a:rPr b="1" lang="en-US" sz="2000" spc="-1" strike="noStrike">
                <a:solidFill>
                  <a:srgbClr val="000000"/>
                </a:solidFill>
                <a:latin typeface="Arial"/>
              </a:rPr>
              <a:t>or</a:t>
            </a:r>
            <a:r>
              <a:rPr b="0" lang="en-US" sz="2000" spc="-1" strike="noStrike">
                <a:solidFill>
                  <a:srgbClr val="000000"/>
                </a:solidFill>
                <a:latin typeface="Arial"/>
              </a:rPr>
              <a:t> the cycle contains “coach” (</a:t>
            </a:r>
            <a:r>
              <a:rPr b="0" i="1" lang="en-US" sz="2000" spc="-1" strike="noStrike">
                <a:solidFill>
                  <a:srgbClr val="000000"/>
                </a:solidFill>
                <a:latin typeface="Arial"/>
              </a:rPr>
              <a:t>case insensitive</a:t>
            </a:r>
            <a:r>
              <a:rPr b="0" lang="en-US" sz="2000" spc="-1" strike="noStrike">
                <a:solidFill>
                  <a:srgbClr val="000000"/>
                </a:solidFill>
                <a:latin typeface="Arial"/>
              </a:rPr>
              <a:t>)) the actuations file already contains the number of activations and the cycle time. For other cycles the filename without extension is used to lookup the activations in the .APAC file (</a:t>
            </a:r>
            <a:r>
              <a:rPr b="0" i="1" lang="en-US" sz="2000" spc="-1" strike="noStrike">
                <a:solidFill>
                  <a:srgbClr val="000000"/>
                </a:solidFill>
                <a:latin typeface="Arial"/>
              </a:rPr>
              <a:t>case sensitive</a:t>
            </a:r>
            <a:r>
              <a:rPr b="0" lang="en-US" sz="2000" spc="-1" strike="noStrike">
                <a:solidFill>
                  <a:srgbClr val="000000"/>
                </a:solidFill>
                <a:latin typeface="Arial"/>
              </a:rPr>
              <a:t>)</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7360" cy="5029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(2)</a:t>
            </a:r>
            <a:endParaRPr b="0" lang="en-US" sz="2400" spc="-1" strike="noStrike">
              <a:latin typeface="Arial"/>
            </a:endParaRPr>
          </a:p>
        </p:txBody>
      </p:sp>
      <p:sp>
        <p:nvSpPr>
          <p:cNvPr id="406" name="PlaceHolder 2"/>
          <p:cNvSpPr>
            <a:spLocks noGrp="1"/>
          </p:cNvSpPr>
          <p:nvPr>
            <p:ph/>
          </p:nvPr>
        </p:nvSpPr>
        <p:spPr>
          <a:xfrm>
            <a:off x="179640" y="1124640"/>
            <a:ext cx="8856000" cy="532764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.vmod file contains both, the fuel consumption calculated by VectoCore (per simulation interval) and AAUX (accumulated and per simulation interval).</a:t>
            </a:r>
            <a:br>
              <a:rPr sz="1800"/>
            </a:br>
            <a:r>
              <a:rPr b="0" lang="en-US" sz="1800" spc="-1" strike="noStrike">
                <a:solidFill>
                  <a:srgbClr val="000000"/>
                </a:solidFill>
                <a:latin typeface="Arial"/>
              </a:rPr>
              <a:t>Columns in .vmod file:</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AA_TotalCycleFC_Grams [g]: accumulated fuel consumption as computed by the AAUX model, considering smart consumers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[g/h]: fuel consumption as computed by VectoCore interpolating in the FC-Map, using an average base load of auxiliaries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[g/h]: fuel consumption corrected due to engine stop/start (currently not applicable)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[g/h]: WHTC-corrected fuel consumption (not applicable in engineering mode)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[g/h]: fuel consumption per simulation interval, derived from AA_TotalCycleFC_Grams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[g/h]: final fuel consumption value with all (applicable) corrections applied (stop/start, WHTC, smart auxiliaries)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7640" y="548640"/>
            <a:ext cx="8217360" cy="5029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Notes for using Vecto 3.x with AAUX (3)</a:t>
            </a:r>
            <a:endParaRPr b="0" lang="en-US" sz="2400" spc="-1" strike="noStrike">
              <a:latin typeface="Arial"/>
            </a:endParaRPr>
          </a:p>
        </p:txBody>
      </p:sp>
      <p:sp>
        <p:nvSpPr>
          <p:cNvPr id="408" name="PlaceHolder 2"/>
          <p:cNvSpPr>
            <a:spLocks noGrp="1"/>
          </p:cNvSpPr>
          <p:nvPr>
            <p:ph/>
          </p:nvPr>
        </p:nvSpPr>
        <p:spPr>
          <a:xfrm>
            <a:off x="251640" y="1628640"/>
            <a:ext cx="8640000" cy="46072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Output .vsum</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Columns in .vsum file:</a:t>
            </a:r>
            <a:endParaRPr b="0" lang="en-US" sz="18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FC-Map: total fuel consumption as computed by VectoCore interpolating in the FC-Map, using an average base load of auxiliaries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FC-AUXc: total fuel consumption corrected due to engine stop/start (currently not applicable)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FC-WHTCc: WHTC-corrected fuel consumption (not applicable in engineering mode)</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FC-AAUX: fuel consumption per simulation interval, derived from AA_TotalCycleFC_Grams</a:t>
            </a:r>
            <a:endParaRPr b="0" lang="en-US" sz="1400" spc="-1" strike="noStrike">
              <a:latin typeface="Arial"/>
            </a:endParaRPr>
          </a:p>
          <a:p>
            <a:pPr lvl="2" marL="1143000" indent="-228600">
              <a:lnSpc>
                <a:spcPct val="100000"/>
              </a:lnSpc>
              <a:spcBef>
                <a:spcPts val="281"/>
              </a:spcBef>
              <a:buClr>
                <a:srgbClr val="000000"/>
              </a:buClr>
              <a:buFont typeface="Symbol"/>
              <a:buChar char=""/>
            </a:pPr>
            <a:r>
              <a:rPr b="0" lang="en-US" sz="1400" spc="-1" strike="noStrike">
                <a:solidFill>
                  <a:srgbClr val="000000"/>
                </a:solidFill>
                <a:latin typeface="Arial"/>
              </a:rPr>
              <a:t>FC-Final: final fuel consumption value with all (applicable) corrections applied (stop/start, WHTC, smart auxiliaries)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570240"/>
            <a:ext cx="8217360" cy="48132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3.0.3.537</a:t>
            </a:r>
            <a:br>
              <a:rPr sz="2400"/>
            </a:br>
            <a:r>
              <a:rPr b="1" lang="en-US" sz="1600" spc="-1" strike="noStrike">
                <a:solidFill>
                  <a:srgbClr val="990000"/>
                </a:solidFill>
                <a:latin typeface="Arial"/>
              </a:rPr>
              <a:t>2016-06-21</a:t>
            </a:r>
            <a:endParaRPr b="0" lang="en-US" sz="1600" spc="-1" strike="noStrike">
              <a:latin typeface="Arial"/>
            </a:endParaRPr>
          </a:p>
        </p:txBody>
      </p:sp>
      <p:sp>
        <p:nvSpPr>
          <p:cNvPr id="410" name="PlaceHolder 2"/>
          <p:cNvSpPr>
            <a:spLocks noGrp="1"/>
          </p:cNvSpPr>
          <p:nvPr>
            <p:ph/>
          </p:nvPr>
        </p:nvSpPr>
        <p:spPr>
          <a:xfrm>
            <a:off x="179640" y="1124640"/>
            <a:ext cx="8784000" cy="485640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Plot shift lines as computed according to WB 2016 declaration mode in GUI</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GUI: Buttons to add/remove auxiliaries are visible again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calculation of WHTC correction factor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consider gearbox inertia (engineering mode) for searching operating point</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Wrong output of road gradient in measured speed mode (correct gradient for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Fuel consumption in .vsum file now accounts for AdvancedAuxiliaries model</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GraphDrawer (Vecto): handle new .vmod format of Vecto 3</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AdvancedAuxiliaries: language-settings independent input parsing</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Paux was ignored when running Vecto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Error in massive multithreaded execution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unhandled response during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Fix output columns in .vmod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Vecto 3.0.3.495</a:t>
            </a:r>
            <a:br>
              <a:rPr sz="2400"/>
            </a:br>
            <a:r>
              <a:rPr b="1" lang="en-US" sz="1600" spc="-1" strike="noStrike">
                <a:solidFill>
                  <a:srgbClr val="990000"/>
                </a:solidFill>
                <a:latin typeface="Arial"/>
              </a:rPr>
              <a:t>2016-05-10</a:t>
            </a:r>
            <a:endParaRPr b="0" lang="en-US" sz="1600" spc="-1" strike="noStrike">
              <a:latin typeface="Arial"/>
            </a:endParaRPr>
          </a:p>
        </p:txBody>
      </p:sp>
      <p:sp>
        <p:nvSpPr>
          <p:cNvPr id="412"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Main Updates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Support for Advanced Auxiliaries (Ricardo) in Vecto 3.0.3 and Vecto 2.2</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Performance improvements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Gearshift polygons according to WB 2016</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Revision of SUM-data file, changed order of columns, changed column headers</a:t>
            </a:r>
            <a:endParaRPr b="0" lang="en-US" sz="18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Bugfixes</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Delaunay Maps: additional check for duplicate input points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Creation of PDF Report when running multiple jobs at once</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Sanity checks for gear shift lines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Improvements DriverStrategy: handling special cases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3" name="Grafik 6" descr=""/>
          <p:cNvPicPr/>
          <p:nvPr/>
        </p:nvPicPr>
        <p:blipFill>
          <a:blip r:embed="rId1"/>
          <a:stretch/>
        </p:blipFill>
        <p:spPr>
          <a:xfrm>
            <a:off x="971640" y="1049400"/>
            <a:ext cx="7487640" cy="4749840"/>
          </a:xfrm>
          <a:prstGeom prst="rect">
            <a:avLst/>
          </a:prstGeom>
          <a:ln w="0">
            <a:noFill/>
          </a:ln>
        </p:spPr>
      </p:pic>
      <p:sp>
        <p:nvSpPr>
          <p:cNvPr id="414" name="PlaceHolder 1"/>
          <p:cNvSpPr>
            <a:spLocks noGrp="1"/>
          </p:cNvSpPr>
          <p:nvPr>
            <p:ph type="title"/>
          </p:nvPr>
        </p:nvSpPr>
        <p:spPr>
          <a:xfrm>
            <a:off x="468360" y="4766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Performance Comparison</a:t>
            </a:r>
            <a:endParaRPr b="0" lang="en-US" sz="2400" spc="-1" strike="noStrike">
              <a:latin typeface="Arial"/>
            </a:endParaRPr>
          </a:p>
        </p:txBody>
      </p:sp>
      <p:sp>
        <p:nvSpPr>
          <p:cNvPr id="415" name="Textfeld 4"/>
          <p:cNvSpPr/>
          <p:nvPr/>
        </p:nvSpPr>
        <p:spPr>
          <a:xfrm rot="16200000">
            <a:off x="1163160" y="2851560"/>
            <a:ext cx="675360" cy="2570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100" spc="-1" strike="noStrike">
                <a:solidFill>
                  <a:srgbClr val="000000"/>
                </a:solidFill>
                <a:latin typeface="Arial"/>
                <a:ea typeface="DejaVu Sans"/>
              </a:rPr>
              <a:t>Time [s]</a:t>
            </a:r>
            <a:endParaRPr b="0" lang="en-US" sz="1100" spc="-1" strike="noStrike">
              <a:latin typeface="Arial"/>
            </a:endParaRPr>
          </a:p>
        </p:txBody>
      </p:sp>
      <p:sp>
        <p:nvSpPr>
          <p:cNvPr id="416" name="Textfeld 5"/>
          <p:cNvSpPr/>
          <p:nvPr/>
        </p:nvSpPr>
        <p:spPr>
          <a:xfrm>
            <a:off x="102240" y="5764680"/>
            <a:ext cx="83016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800" spc="-1" strike="noStrike">
                <a:solidFill>
                  <a:srgbClr val="000000"/>
                </a:solidFill>
                <a:latin typeface="Arial"/>
                <a:ea typeface="DejaVu Sans"/>
              </a:rPr>
              <a:t>Total execution time (15 runs in parallel):  Vecto 3.0.2: 6min 6s; </a:t>
            </a:r>
            <a:r>
              <a:rPr b="1" lang="en-US" sz="1800" spc="-1" strike="noStrike">
                <a:solidFill>
                  <a:srgbClr val="000000"/>
                </a:solidFill>
                <a:latin typeface="Arial"/>
                <a:ea typeface="DejaVu Sans"/>
              </a:rPr>
              <a:t>Vecto 3.0.3: 35s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Rectangle 3"/>
          <p:cNvSpPr/>
          <p:nvPr/>
        </p:nvSpPr>
        <p:spPr>
          <a:xfrm>
            <a:off x="0" y="778680"/>
            <a:ext cx="9142920" cy="344880"/>
          </a:xfrm>
          <a:prstGeom prst="rect">
            <a:avLst/>
          </a:prstGeom>
          <a:noFill/>
          <a:ln w="0">
            <a:noFill/>
          </a:ln>
        </p:spPr>
        <p:style>
          <a:lnRef idx="0"/>
          <a:fillRef idx="0"/>
          <a:effectRef idx="0"/>
          <a:fontRef idx="minor"/>
        </p:style>
        <p:txBody>
          <a:bodyPr numCol="1" spcCol="0" lIns="90000" rIns="90000" tIns="45000" bIns="45000" anchor="ctr">
            <a:noAutofit/>
          </a:bodyPr>
          <a:p>
            <a:pPr algn="ctr">
              <a:lnSpc>
                <a:spcPct val="100000"/>
              </a:lnSpc>
              <a:buNone/>
            </a:pPr>
            <a:r>
              <a:rPr b="1" lang="en-GB" sz="2800" spc="-1" strike="noStrike">
                <a:solidFill>
                  <a:srgbClr val="990000"/>
                </a:solidFill>
                <a:latin typeface="Arial"/>
                <a:ea typeface="DejaVu Sans"/>
              </a:rPr>
              <a:t>VECTO 3.0.2</a:t>
            </a:r>
            <a:br>
              <a:rPr sz="2800"/>
            </a:br>
            <a:r>
              <a:rPr b="1" lang="en-GB" sz="1600" spc="-1" strike="noStrike">
                <a:solidFill>
                  <a:srgbClr val="990000"/>
                </a:solidFill>
                <a:latin typeface="Arial"/>
                <a:ea typeface="DejaVu Sans"/>
              </a:rPr>
              <a:t>2016-03-11</a:t>
            </a:r>
            <a:endParaRPr b="0" lang="en-US" sz="1600" spc="-1" strike="noStrike">
              <a:latin typeface="Arial"/>
            </a:endParaRPr>
          </a:p>
        </p:txBody>
      </p:sp>
      <p:sp>
        <p:nvSpPr>
          <p:cNvPr id="418" name="Textfeld 5"/>
          <p:cNvSpPr/>
          <p:nvPr/>
        </p:nvSpPr>
        <p:spPr>
          <a:xfrm>
            <a:off x="251640" y="1124640"/>
            <a:ext cx="8496000" cy="5147640"/>
          </a:xfrm>
          <a:prstGeom prst="rect">
            <a:avLst/>
          </a:prstGeom>
          <a:noFill/>
          <a:ln w="0">
            <a:noFill/>
          </a:ln>
        </p:spPr>
        <p:style>
          <a:lnRef idx="0"/>
          <a:fillRef idx="0"/>
          <a:effectRef idx="0"/>
          <a:fontRef idx="minor"/>
        </p:style>
        <p:txBody>
          <a:bodyPr lIns="90000" rIns="90000" tIns="45000" bIns="45000" anchor="t">
            <a:spAutoFit/>
          </a:bodyPr>
          <a:p>
            <a:pPr>
              <a:lnSpc>
                <a:spcPct val="150000"/>
              </a:lnSpc>
              <a:spcBef>
                <a:spcPts val="601"/>
              </a:spcBef>
              <a:buNone/>
            </a:pPr>
            <a:r>
              <a:rPr b="1" lang="en-GB" sz="2000" spc="-1" strike="noStrike">
                <a:solidFill>
                  <a:srgbClr val="000000"/>
                </a:solidFill>
                <a:latin typeface="Arial"/>
                <a:ea typeface="DejaVu Sans"/>
              </a:rPr>
              <a:t>Main updates</a:t>
            </a:r>
            <a:endParaRPr b="0" lang="en-US" sz="2000" spc="-1" strike="noStrike">
              <a:latin typeface="Arial"/>
            </a:endParaRPr>
          </a:p>
          <a:p>
            <a:pPr marL="343080" indent="-343080">
              <a:lnSpc>
                <a:spcPct val="130000"/>
              </a:lnSpc>
              <a:spcBef>
                <a:spcPts val="601"/>
              </a:spcBef>
              <a:buClr>
                <a:srgbClr val="000000"/>
              </a:buClr>
              <a:buFont typeface="Arial"/>
              <a:buChar char="•"/>
            </a:pPr>
            <a:r>
              <a:rPr b="0" lang="en-GB" sz="1400" spc="-1" strike="noStrike">
                <a:solidFill>
                  <a:srgbClr val="000000"/>
                </a:solidFill>
                <a:latin typeface="Arial"/>
                <a:ea typeface="DejaVu Sans"/>
              </a:rPr>
              <a:t>New simulation modes: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Pwheel (SiCo),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Measured Speed (with/without gear)</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ea typeface="DejaVu Sans"/>
              </a:rPr>
              <a:t>v_air/beta cross-wind correction (vcdb)</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Adaptations of powertrain components architecture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Move wheels inertia from vehicle to wheels</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Auxiliaries no longer connected via clutch to the engine but via a separate port</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Engine checks overload of gearbox and engine overload</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Fixed some driving behavior related issues in VectoCore: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ea typeface="DejaVu Sans"/>
              </a:rPr>
              <a:t>When the vehicle comes to a halt during gear shift, instead of aborting the cycle, it tries to drive away again with an appropriate gear.</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ModData Format changed for better information and clarity</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Added validation of input values (according to latest VectoInputParameters.xls)</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ea typeface="DejaVu Sans"/>
              </a:rPr>
              <a:t>Various bugfixes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Pwheel (SiCo) Mode</a:t>
            </a:r>
            <a:endParaRPr b="0" lang="en-US" sz="2400" spc="-1" strike="noStrike">
              <a:latin typeface="Arial"/>
            </a:endParaRPr>
          </a:p>
        </p:txBody>
      </p:sp>
      <p:sp>
        <p:nvSpPr>
          <p:cNvPr id="420"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 as already available in Vecto 2.2 also added in Vecto 3.0.2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specifies power at wheel, engine speed, gear, and auxiliary power</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No driver model in the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The Vecto gear-shift model is overruled.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creating reference results for SiCo tests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Simulation Models / Pwheel Input (SiCo)</a:t>
            </a:r>
            <a:endParaRPr b="0" lang="en-US" sz="1800" spc="-1" strike="noStrike">
              <a:latin typeface="Arial"/>
            </a:endParaRPr>
          </a:p>
          <a:p>
            <a:pPr>
              <a:lnSpc>
                <a:spcPct val="100000"/>
              </a:lnSpc>
              <a:buNone/>
            </a:pPr>
            <a:endParaRPr b="0" lang="en-US" sz="1800" spc="-1" strike="noStrike">
              <a:latin typeface="Arial"/>
            </a:endParaRPr>
          </a:p>
          <a:p>
            <a:pPr>
              <a:lnSpc>
                <a:spcPct val="100000"/>
              </a:lnSpc>
              <a:spcBef>
                <a:spcPts val="400"/>
              </a:spcBef>
              <a:buNone/>
            </a:pP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Measured Speed Mode</a:t>
            </a:r>
            <a:endParaRPr b="0" lang="en-US" sz="2400" spc="-1" strike="noStrike">
              <a:latin typeface="Arial"/>
            </a:endParaRPr>
          </a:p>
        </p:txBody>
      </p:sp>
      <p:sp>
        <p:nvSpPr>
          <p:cNvPr id="422"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Functionality already available in Vecto 2.2 added in Vecto 3.0.2</a:t>
            </a:r>
            <a:endParaRPr b="0" lang="en-US" sz="20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Driving cycle not defined by target speed but by actual speed. No driver model in the simulation.</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Gear and engine speed can be specified in the driving cycle. In this case the Vecto gear-shift model is overruled.</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Function used for “proof of concept” purposes</a:t>
            </a:r>
            <a:endParaRPr b="0" lang="en-US" sz="1800" spc="-1" strike="noStrike">
              <a:latin typeface="Arial"/>
            </a:endParaRPr>
          </a:p>
          <a:p>
            <a:pPr lvl="1" marL="743040" indent="-285840">
              <a:lnSpc>
                <a:spcPct val="100000"/>
              </a:lnSpc>
              <a:spcBef>
                <a:spcPts val="360"/>
              </a:spcBef>
              <a:buClr>
                <a:srgbClr val="000000"/>
              </a:buClr>
              <a:buFont typeface="Symbol"/>
              <a:buChar char=""/>
            </a:pPr>
            <a:r>
              <a:rPr b="0" lang="en-US" sz="1800" spc="-1" strike="noStrike">
                <a:solidFill>
                  <a:srgbClr val="000000"/>
                </a:solidFill>
                <a:latin typeface="Arial"/>
              </a:rPr>
              <a:t>For details see user manual: Calculation Modes / Engineering Mode / Measured Speed</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.vmod File Update</a:t>
            </a:r>
            <a:endParaRPr b="0" lang="en-US" sz="2400" spc="-1" strike="noStrike">
              <a:latin typeface="Arial"/>
            </a:endParaRPr>
          </a:p>
        </p:txBody>
      </p:sp>
      <p:sp>
        <p:nvSpPr>
          <p:cNvPr id="424"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b="0" lang="en-US" sz="2000" spc="-1" strike="noStrike">
              <a:latin typeface="Arial"/>
            </a:endParaRPr>
          </a:p>
          <a:p>
            <a:pPr marL="343080" indent="-343080">
              <a:lnSpc>
                <a:spcPct val="100000"/>
              </a:lnSpc>
              <a:spcBef>
                <a:spcPts val="400"/>
              </a:spcBef>
              <a:buClr>
                <a:srgbClr val="000000"/>
              </a:buClr>
              <a:buFont typeface="Symbol"/>
              <a:buChar char=""/>
            </a:pPr>
            <a:r>
              <a:rPr b="0" lang="en-US" sz="2000" spc="-1" strike="noStrike">
                <a:solidFill>
                  <a:srgbClr val="000000"/>
                </a:solidFill>
                <a:latin typeface="Arial"/>
              </a:rPr>
              <a:t>For details see the user manual: Input and Output / Modal Results (.vmod)</a:t>
            </a:r>
            <a:endParaRPr b="0" lang="en-US" sz="2000" spc="-1" strike="noStrike">
              <a:latin typeface="Arial"/>
            </a:endParaRPr>
          </a:p>
        </p:txBody>
      </p:sp>
    </p:spTree>
  </p:cSld>
  <mc:AlternateContent>
    <mc:Choice Requires="p14">
      <p:transition spd="slow" p14:dur="2000"/>
    </mc:Choice>
    <mc:Fallback>
      <p:transition spd="slow"/>
    </mc:Fallback>
  </mc:AlternateContent>
</p:sld>
</file>

<file path=ppt/slides/slide1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468360" y="714240"/>
            <a:ext cx="8217360" cy="680040"/>
          </a:xfrm>
          <a:prstGeom prst="rect">
            <a:avLst/>
          </a:prstGeom>
          <a:noFill/>
          <a:ln w="0">
            <a:noFill/>
          </a:ln>
        </p:spPr>
        <p:txBody>
          <a:bodyPr numCol="1" spcCol="0" lIns="90000" rIns="90000" tIns="45000" bIns="45000" anchor="ctr">
            <a:noAutofit/>
          </a:bodyPr>
          <a:p>
            <a:pPr algn="ctr">
              <a:lnSpc>
                <a:spcPct val="100000"/>
              </a:lnSpc>
              <a:buNone/>
            </a:pPr>
            <a:r>
              <a:rPr b="1" lang="en-US" sz="2400" spc="-1" strike="noStrike">
                <a:solidFill>
                  <a:srgbClr val="990000"/>
                </a:solidFill>
                <a:latin typeface="Arial"/>
              </a:rPr>
              <a:t>Changelog 3.0.2</a:t>
            </a:r>
            <a:endParaRPr b="0" lang="en-US" sz="2400" spc="-1" strike="noStrike">
              <a:latin typeface="Arial"/>
            </a:endParaRPr>
          </a:p>
        </p:txBody>
      </p:sp>
      <p:sp>
        <p:nvSpPr>
          <p:cNvPr id="426" name="PlaceHolder 2"/>
          <p:cNvSpPr>
            <a:spLocks noGrp="1"/>
          </p:cNvSpPr>
          <p:nvPr>
            <p:ph/>
          </p:nvPr>
        </p:nvSpPr>
        <p:spPr>
          <a:xfrm>
            <a:off x="468360" y="1582560"/>
            <a:ext cx="8217360" cy="4542480"/>
          </a:xfrm>
          <a:prstGeom prst="rect">
            <a:avLst/>
          </a:prstGeom>
          <a:noFill/>
          <a:ln w="0">
            <a:noFill/>
          </a:ln>
        </p:spPr>
        <p:txBody>
          <a:bodyPr numCol="1" spcCol="0" lIns="90000" rIns="90000" tIns="45000" bIns="45000" anchor="t">
            <a:noAutofit/>
          </a:bodyPr>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simulation modes: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Measured Speed with Gear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Pwheel (SiCo)</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Adaptations of powertrain components architecture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Move wheels inertia from vehicle to wheels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Auxiliaries no longer connected via clutch to the engine but via a separate port</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Engine checks overload of gearbox and engine overload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Fixed some driving behavior related issues in VectoCore: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When the vehicle comes to a halt during gear shift, instead of aborting the cycle, it tries to drive away again with an appropriate gear.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[ModData Format](#modal-results-.vmod) changed for better information and clarity</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Entries in the sum-file are sorted in the same way as in Vecto 2.2</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In engineering mode the execution mode (distance-based, time-based measured speed, time-based measured speed with gear, engine only) are detected based on the cycle</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Added validation of input values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Gravity constant set to 9.80665 (NIST standard acceleration for gravity)</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Improved input data handling: sort input values of full-load curves (engine, gbx, retarder)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Better Integration of VectoCore into GUI (Notifications and Messages)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v_air/beta cross-wind correction (vcdb) impemented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For all calculations the averaged values of the current simulation step are used for interpolations in loss-maps.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Allow extrapolation of loss maps in engineering mode (warnings)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input data handling: separate InputDataProvider interfaces for model data</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Refactoring of result handling: separate result container and output writer</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New Long-Haul driving cycle included</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User Manual updated for VECTO V3.x</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Fix: sparse representation of declaration cycles had some missing entries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computation of engine's preferred speed </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wrong vehicle class lookup</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duplicate entries in intersected full-load curves</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retarder takes the retarder ratio into account for lossmap lookup</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use unique identifier for jobs in job list</a:t>
            </a:r>
            <a:endParaRPr b="0" lang="en-US" sz="800" spc="-1" strike="noStrike">
              <a:latin typeface="Arial"/>
            </a:endParaRPr>
          </a:p>
          <a:p>
            <a:pPr marL="343080" indent="-343080">
              <a:lnSpc>
                <a:spcPct val="100000"/>
              </a:lnSpc>
              <a:spcBef>
                <a:spcPts val="159"/>
              </a:spcBef>
              <a:buClr>
                <a:srgbClr val="000000"/>
              </a:buClr>
              <a:buFont typeface="Symbol"/>
              <a:buChar char=""/>
            </a:pPr>
            <a:r>
              <a:rPr b="0" lang="en-US" sz="800" spc="-1" strike="noStrike">
                <a:solidFill>
                  <a:srgbClr val="000000"/>
                </a:solidFill>
                <a:latin typeface="Arial"/>
              </a:rPr>
              <a:t>- Bugfix: error in triagulation of fuel consumption map</a:t>
            </a:r>
            <a:endParaRPr b="0" lang="en-US" sz="8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15</TotalTime>
  <Application>LibreOffice/7.3.4.2$Windows_X86_64 LibreOffice_project/728fec16bd5f605073805c3c9e7c4212a0120dc5</Application>
  <AppVersion>15.0000</AppVersion>
  <Words>13020</Words>
  <Paragraphs>1296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2010-01-07T15:28:02Z</dcterms:created>
  <dc:creator>martinrexeis</dc:creator>
  <dc:description/>
  <dc:language>en-US</dc:language>
  <cp:lastModifiedBy/>
  <cp:lastPrinted>2013-01-22T12:03:30Z</cp:lastPrinted>
  <dcterms:modified xsi:type="dcterms:W3CDTF">2022-11-30T14:25:03Z</dcterms:modified>
  <cp:revision>1279</cp:revision>
  <dc:subject/>
  <dc:title>Folie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