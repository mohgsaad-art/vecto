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media/image28.png" ContentType="image/png"/>
  <Override PartName="/ppt/media/image1.jpeg" ContentType="image/jpeg"/>
  <Override PartName="/ppt/media/image3.png" ContentType="image/pn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32.wmf" ContentType="image/x-wmf"/>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26.png" ContentType="image/png"/>
  <Override PartName="/ppt/media/image27.png" ContentType="image/png"/>
  <Override PartName="/ppt/media/image29.png" ContentType="image/png"/>
  <Override PartName="/ppt/media/image30.png" ContentType="image/png"/>
  <Override PartName="/ppt/media/image31.png" ContentType="image/png"/>
  <Override PartName="/ppt/media/image33.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slides/_rels/slide115.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slide" Target="slides/slide115.xml"/><Relationship Id="rId1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1" name="Text Box 24"/>
          <p:cNvSpPr/>
          <p:nvPr/>
        </p:nvSpPr>
        <p:spPr>
          <a:xfrm>
            <a:off x="7996320" y="6599160"/>
            <a:ext cx="92304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pPr>
            <a:fld id="{2A60B73F-C0E5-4DCA-9C90-2F0EB4B97CAA}" type="slidenum">
              <a:rPr b="1" lang="de-AT" sz="1000" spc="-1" strike="noStrike">
                <a:solidFill>
                  <a:srgbClr val="7d7d7d"/>
                </a:solidFill>
                <a:latin typeface="Verdana"/>
                <a:ea typeface="DejaVu Sans"/>
              </a:rPr>
              <a:t>&lt;number&gt;</a:t>
            </a:fld>
            <a:endParaRPr b="0" lang="en-US" sz="1000" spc="-1" strike="noStrike">
              <a:solidFill>
                <a:srgbClr val="000000"/>
              </a:solidFill>
              <a:latin typeface="Arial"/>
            </a:endParaRPr>
          </a:p>
        </p:txBody>
      </p:sp>
      <p:sp>
        <p:nvSpPr>
          <p:cNvPr id="2" name="Text Box 30"/>
          <p:cNvSpPr/>
          <p:nvPr/>
        </p:nvSpPr>
        <p:spPr>
          <a:xfrm>
            <a:off x="144360" y="6627960"/>
            <a:ext cx="1880280" cy="2134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pPr>
            <a:r>
              <a:rPr b="0" lang="en-US" sz="1100" spc="-1" strike="noStrike">
                <a:solidFill>
                  <a:srgbClr val="000000"/>
                </a:solidFill>
                <a:latin typeface="Verdana"/>
                <a:ea typeface="DejaVu Sans"/>
              </a:rPr>
              <a:t>VECTO Release Notes</a:t>
            </a:r>
            <a:endParaRPr b="0" lang="en-US" sz="1100" spc="-1" strike="noStrike">
              <a:solidFill>
                <a:srgbClr val="000000"/>
              </a:solidFill>
              <a:latin typeface="Arial"/>
            </a:endParaRPr>
          </a:p>
        </p:txBody>
      </p:sp>
      <p:pic>
        <p:nvPicPr>
          <p:cNvPr id="3" name="Picture 2" descr=""/>
          <p:cNvPicPr/>
          <p:nvPr/>
        </p:nvPicPr>
        <p:blipFill>
          <a:blip r:embed="rId2"/>
          <a:stretch/>
        </p:blipFill>
        <p:spPr>
          <a:xfrm>
            <a:off x="7389360" y="37800"/>
            <a:ext cx="1418760" cy="35028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5960" cy="3297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45" name="Text Box 24"/>
          <p:cNvSpPr/>
          <p:nvPr/>
        </p:nvSpPr>
        <p:spPr>
          <a:xfrm>
            <a:off x="7996320" y="6599160"/>
            <a:ext cx="92304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pPr>
            <a:fld id="{28C45A63-1026-4741-98C8-38B78D07DB10}" type="slidenum">
              <a:rPr b="1" lang="de-AT" sz="1000" spc="-1" strike="noStrike">
                <a:solidFill>
                  <a:srgbClr val="7d7d7d"/>
                </a:solidFill>
                <a:latin typeface="Verdana"/>
                <a:ea typeface="DejaVu Sans"/>
              </a:rPr>
              <a:t>&lt;number&gt;</a:t>
            </a:fld>
            <a:endParaRPr b="0" lang="en-US" sz="1000" spc="-1" strike="noStrike">
              <a:solidFill>
                <a:srgbClr val="000000"/>
              </a:solidFill>
              <a:latin typeface="Arial"/>
            </a:endParaRPr>
          </a:p>
        </p:txBody>
      </p:sp>
      <p:sp>
        <p:nvSpPr>
          <p:cNvPr id="46" name="Text Box 30"/>
          <p:cNvSpPr/>
          <p:nvPr/>
        </p:nvSpPr>
        <p:spPr>
          <a:xfrm>
            <a:off x="144360" y="6627960"/>
            <a:ext cx="1880280" cy="2134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pPr>
            <a:r>
              <a:rPr b="0" lang="en-US" sz="1100" spc="-1" strike="noStrike">
                <a:solidFill>
                  <a:srgbClr val="000000"/>
                </a:solidFill>
                <a:latin typeface="Verdana"/>
                <a:ea typeface="DejaVu Sans"/>
              </a:rPr>
              <a:t>VECTO Release Notes</a:t>
            </a:r>
            <a:endParaRPr b="0" lang="en-US" sz="1100" spc="-1" strike="noStrike">
              <a:solidFill>
                <a:srgbClr val="000000"/>
              </a:solidFill>
              <a:latin typeface="Arial"/>
            </a:endParaRPr>
          </a:p>
        </p:txBody>
      </p:sp>
      <p:pic>
        <p:nvPicPr>
          <p:cNvPr id="47" name="Picture 2" descr=""/>
          <p:cNvPicPr/>
          <p:nvPr/>
        </p:nvPicPr>
        <p:blipFill>
          <a:blip r:embed="rId2"/>
          <a:stretch/>
        </p:blipFill>
        <p:spPr>
          <a:xfrm>
            <a:off x="7389360" y="37800"/>
            <a:ext cx="1418760" cy="35028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5960" cy="3297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3.xml"/>
</Relationships>
</file>

<file path=ppt/slides/_rels/slide28.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31.png"/><Relationship Id="rId3"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2.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2.wmf"/><Relationship Id="rId2"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5.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 Box 94"/>
          <p:cNvSpPr/>
          <p:nvPr/>
        </p:nvSpPr>
        <p:spPr>
          <a:xfrm>
            <a:off x="539640" y="1052640"/>
            <a:ext cx="8133840" cy="39452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pPr>
            <a:r>
              <a:rPr b="1" lang="en-US" sz="3200" spc="-1" strike="noStrike">
                <a:solidFill>
                  <a:srgbClr val="990000"/>
                </a:solidFill>
                <a:latin typeface="Arial"/>
                <a:ea typeface="DejaVu Sans"/>
              </a:rPr>
              <a:t>VECTO 3.x</a:t>
            </a:r>
            <a:endParaRPr b="0" lang="en-US" sz="3200" spc="-1" strike="noStrike">
              <a:solidFill>
                <a:srgbClr val="000000"/>
              </a:solidFill>
              <a:latin typeface="Arial"/>
            </a:endParaRPr>
          </a:p>
          <a:p>
            <a:pPr algn="ctr">
              <a:lnSpc>
                <a:spcPct val="100000"/>
              </a:lnSpc>
              <a:spcBef>
                <a:spcPts val="1001"/>
              </a:spcBef>
            </a:pPr>
            <a:r>
              <a:rPr b="1" lang="en-US" sz="2000" spc="-1" strike="noStrike">
                <a:solidFill>
                  <a:srgbClr val="990000"/>
                </a:solidFill>
                <a:latin typeface="Arial"/>
                <a:ea typeface="DejaVu Sans"/>
              </a:rPr>
              <a:t>3.5.2022</a:t>
            </a:r>
            <a:endParaRPr b="0" lang="en-US" sz="2000" spc="-1" strike="noStrike">
              <a:solidFill>
                <a:srgbClr val="000000"/>
              </a:solidFill>
              <a:latin typeface="Arial"/>
            </a:endParaRPr>
          </a:p>
          <a:p>
            <a:pPr algn="ctr">
              <a:lnSpc>
                <a:spcPct val="100000"/>
              </a:lnSpc>
              <a:spcBef>
                <a:spcPts val="1001"/>
              </a:spcBef>
            </a:pPr>
            <a:endParaRPr b="0" lang="en-US" sz="2000" spc="-1" strike="noStrike">
              <a:solidFill>
                <a:srgbClr val="000000"/>
              </a:solidFill>
              <a:latin typeface="Arial"/>
            </a:endParaRPr>
          </a:p>
          <a:p>
            <a:pPr algn="ctr">
              <a:lnSpc>
                <a:spcPct val="100000"/>
              </a:lnSpc>
              <a:spcBef>
                <a:spcPts val="1001"/>
              </a:spcBef>
            </a:pPr>
            <a:endParaRPr b="0" lang="en-US" sz="2000" spc="-1" strike="noStrike">
              <a:solidFill>
                <a:srgbClr val="000000"/>
              </a:solidFill>
              <a:latin typeface="Arial"/>
            </a:endParaRPr>
          </a:p>
          <a:p>
            <a:pPr algn="ctr">
              <a:lnSpc>
                <a:spcPct val="100000"/>
              </a:lnSpc>
              <a:spcBef>
                <a:spcPts val="1199"/>
              </a:spcBef>
            </a:pPr>
            <a:endParaRPr b="0" lang="en-US" sz="2400" spc="-1" strike="noStrike">
              <a:solidFill>
                <a:srgbClr val="000000"/>
              </a:solidFill>
              <a:latin typeface="Arial"/>
            </a:endParaRPr>
          </a:p>
          <a:p>
            <a:pPr algn="ctr">
              <a:lnSpc>
                <a:spcPct val="100000"/>
              </a:lnSpc>
              <a:spcBef>
                <a:spcPts val="1199"/>
              </a:spcBef>
            </a:pPr>
            <a:endParaRPr b="0" lang="en-US" sz="2400" spc="-1" strike="noStrike">
              <a:solidFill>
                <a:srgbClr val="000000"/>
              </a:solidFill>
              <a:latin typeface="Arial"/>
            </a:endParaRPr>
          </a:p>
          <a:p>
            <a:pPr algn="ctr">
              <a:lnSpc>
                <a:spcPct val="100000"/>
              </a:lnSpc>
              <a:spcBef>
                <a:spcPts val="1199"/>
              </a:spcBef>
            </a:pPr>
            <a:endParaRPr b="0" lang="en-US" sz="2400" spc="-1" strike="noStrike">
              <a:solidFill>
                <a:srgbClr val="000000"/>
              </a:solidFill>
              <a:latin typeface="Arial"/>
            </a:endParaRPr>
          </a:p>
          <a:p>
            <a:pPr algn="ctr">
              <a:lnSpc>
                <a:spcPct val="100000"/>
              </a:lnSpc>
              <a:spcBef>
                <a:spcPts val="1199"/>
              </a:spcBef>
            </a:pPr>
            <a:r>
              <a:rPr b="1" lang="en-US" sz="2400" spc="-1" strike="noStrike">
                <a:solidFill>
                  <a:srgbClr val="990000"/>
                </a:solidFill>
                <a:latin typeface="Arial"/>
                <a:ea typeface="DejaVu Sans"/>
              </a:rPr>
              <a:t>Release Notes</a:t>
            </a:r>
            <a:endParaRPr b="0" lang="en-US" sz="2400" spc="-1" strike="noStrike">
              <a:solidFill>
                <a:srgbClr val="000000"/>
              </a:solidFill>
              <a:latin typeface="Arial"/>
            </a:endParaRPr>
          </a:p>
        </p:txBody>
      </p:sp>
      <p:pic>
        <p:nvPicPr>
          <p:cNvPr id="89" name="Picture 2" descr=""/>
          <p:cNvPicPr/>
          <p:nvPr/>
        </p:nvPicPr>
        <p:blipFill>
          <a:blip r:embed="rId1"/>
          <a:stretch/>
        </p:blipFill>
        <p:spPr>
          <a:xfrm>
            <a:off x="2483640" y="2421000"/>
            <a:ext cx="4173840" cy="162504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4"/>
          <p:cNvSpPr/>
          <p:nvPr/>
        </p:nvSpPr>
        <p:spPr>
          <a:xfrm>
            <a:off x="468360" y="714240"/>
            <a:ext cx="8215920" cy="678600"/>
          </a:xfrm>
          <a:prstGeom prst="rect">
            <a:avLst/>
          </a:prstGeom>
          <a:noFill/>
          <a:ln w="0">
            <a:noFill/>
          </a:ln>
        </p:spPr>
        <p:style>
          <a:lnRef idx="0"/>
          <a:fillRef idx="0"/>
          <a:effectRef idx="0"/>
          <a:fontRef idx="minor"/>
        </p:style>
        <p:txBody>
          <a:bodyPr numCol="1" spcCol="0" lIns="0" rIns="0" tIns="0" bIns="0" anchor="ctr">
            <a:noAutofit/>
          </a:bodyPr>
          <a:p>
            <a:pPr algn="ctr">
              <a:lnSpc>
                <a:spcPct val="100000"/>
              </a:lnSpc>
            </a:pPr>
            <a:r>
              <a:rPr b="1" lang="en-US" sz="2400" spc="-1" strike="noStrike">
                <a:solidFill>
                  <a:srgbClr val="990000"/>
                </a:solidFill>
                <a:latin typeface="Arial"/>
                <a:ea typeface="DejaVu Sans"/>
              </a:rPr>
              <a:t>Vecto 0.7.9.2958 JRC Development Version</a:t>
            </a:r>
            <a:r>
              <a:rPr b="0" lang="en-US" sz="2400" spc="-1" strike="noStrike">
                <a:solidFill>
                  <a:srgbClr val="000000"/>
                </a:solidFill>
                <a:latin typeface="Arial"/>
                <a:ea typeface="DejaVu Sans"/>
              </a:rPr>
              <a:t> </a:t>
            </a:r>
            <a:br>
              <a:rPr sz="2400"/>
            </a:br>
            <a:r>
              <a:rPr b="1" lang="en-US" sz="1600" spc="-1" strike="noStrike">
                <a:solidFill>
                  <a:srgbClr val="990000"/>
                </a:solidFill>
                <a:latin typeface="Arial"/>
                <a:ea typeface="DejaVu Sans"/>
              </a:rPr>
              <a:t>February 2023</a:t>
            </a:r>
            <a:endParaRPr b="0" lang="en-US" sz="1600" spc="-1" strike="noStrike">
              <a:solidFill>
                <a:srgbClr val="000000"/>
              </a:solidFill>
              <a:latin typeface="Arial"/>
            </a:endParaRPr>
          </a:p>
        </p:txBody>
      </p:sp>
      <p:sp>
        <p:nvSpPr>
          <p:cNvPr id="91" name="PlaceHolder 5"/>
          <p:cNvSpPr/>
          <p:nvPr/>
        </p:nvSpPr>
        <p:spPr>
          <a:xfrm>
            <a:off x="419760" y="1600200"/>
            <a:ext cx="8493480" cy="482076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Important Note</a:t>
            </a:r>
            <a:br>
              <a:rPr sz="1600"/>
            </a:br>
            <a:r>
              <a:rPr b="0" lang="en-US" sz="1600" spc="-1" strike="noStrike">
                <a:solidFill>
                  <a:srgbClr val="000000"/>
                </a:solidFill>
                <a:latin typeface="Arial"/>
                <a:ea typeface="DejaVu Sans"/>
              </a:rPr>
              <a:t>This is a special development release by JRC to validate the time-runs for parallel HEVs. </a:t>
            </a:r>
            <a:br>
              <a:rPr sz="1600"/>
            </a:br>
            <a:r>
              <a:rPr b="0" lang="en-US" sz="1600" spc="-1" strike="noStrike">
                <a:solidFill>
                  <a:srgbClr val="000000"/>
                </a:solidFill>
                <a:latin typeface="Arial"/>
                <a:ea typeface="DejaVu Sans"/>
              </a:rPr>
              <a:t> </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Changes</a:t>
            </a:r>
            <a:endParaRPr b="0" lang="en-US" sz="16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Implementation of measured speed cycle for parallel HEVs (P1, P2, P2.5, P3, P4, IHPC).</a:t>
            </a:r>
            <a:endParaRPr b="0" lang="en-US" sz="14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Implementation of measured speed with gear cycle for parallel HEVs (P1, P2, P2.5, P3, P4, IHPC).  </a:t>
            </a:r>
            <a:endParaRPr b="0" lang="en-US" sz="14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The P2 vehicle job “Generic Vehicles\Engineering Mode\GenericVehicle_Group2_P2_EM\Class2_RigidTruck_ParHyb_ENG_timeruns.vecto” is preconfigured to run time-run cycles.</a:t>
            </a:r>
            <a:br>
              <a:rPr sz="1400"/>
            </a:br>
            <a:r>
              <a:rPr b="0" lang="en-US" sz="1400" spc="-1" strike="noStrike">
                <a:solidFill>
                  <a:srgbClr val="000000"/>
                </a:solidFill>
                <a:latin typeface="Arial"/>
                <a:ea typeface="DejaVu Sans"/>
              </a:rPr>
              <a:t> </a:t>
            </a:r>
            <a:endParaRPr b="0" lang="en-US" sz="14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Bugfixes</a:t>
            </a:r>
            <a:endParaRPr b="0" lang="en-US" sz="16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[VECTO-1673] - Incorrect results for battery energy/power in .vsum and .vmod in version VECTO-0.7.9.2864-DEV</a:t>
            </a:r>
            <a:endParaRPr b="0" lang="en-US" sz="1400" spc="-1" strike="noStrike">
              <a:solidFill>
                <a:srgbClr val="000000"/>
              </a:solidFill>
              <a:latin typeface="Arial"/>
            </a:endParaRPr>
          </a:p>
          <a:p>
            <a:pPr>
              <a:lnSpc>
                <a:spcPct val="100000"/>
              </a:lnSpc>
              <a:spcBef>
                <a:spcPts val="281"/>
              </a:spcBef>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714240"/>
            <a:ext cx="8215920" cy="678600"/>
          </a:xfrm>
          <a:prstGeom prst="rect">
            <a:avLst/>
          </a:prstGeom>
          <a:noFill/>
          <a:ln w="0">
            <a:noFill/>
          </a:ln>
        </p:spPr>
        <p:txBody>
          <a:bodyPr numCol="1" spcCol="0" lIns="0" rIns="0" tIns="0" bIns="0" anchor="ctr">
            <a:noAutofit/>
          </a:bodyPr>
          <a:p>
            <a:pPr indent="0" algn="ctr">
              <a:lnSpc>
                <a:spcPct val="100000"/>
              </a:lnSpc>
              <a:buNone/>
              <a:tabLst>
                <a:tab algn="l" pos="0"/>
              </a:tabLst>
            </a:pPr>
            <a:r>
              <a:rPr b="1" lang="en-US" sz="2400" spc="-1" strike="noStrike">
                <a:solidFill>
                  <a:srgbClr val="990000"/>
                </a:solidFill>
                <a:latin typeface="Arial"/>
              </a:rPr>
              <a:t>Vecto 0.7.9.2864 JRC Development Version</a:t>
            </a:r>
            <a:r>
              <a:rPr b="0" lang="en-US" sz="2400" spc="-1" strike="noStrike">
                <a:solidFill>
                  <a:srgbClr val="000000"/>
                </a:solidFill>
                <a:latin typeface="Arial"/>
              </a:rPr>
              <a:t> </a:t>
            </a:r>
            <a:br>
              <a:rPr sz="2400"/>
            </a:br>
            <a:r>
              <a:rPr b="1" lang="en-US" sz="1600" spc="-1" strike="noStrike">
                <a:solidFill>
                  <a:srgbClr val="990000"/>
                </a:solidFill>
                <a:latin typeface="Arial"/>
              </a:rPr>
              <a:t>November 2022</a:t>
            </a:r>
            <a:endParaRPr b="0" lang="en-US" sz="1600" spc="-1" strike="noStrike">
              <a:solidFill>
                <a:srgbClr val="000000"/>
              </a:solidFill>
              <a:latin typeface="Arial"/>
            </a:endParaRPr>
          </a:p>
        </p:txBody>
      </p:sp>
      <p:sp>
        <p:nvSpPr>
          <p:cNvPr id="93" name="PlaceHolder 2"/>
          <p:cNvSpPr/>
          <p:nvPr/>
        </p:nvSpPr>
        <p:spPr>
          <a:xfrm>
            <a:off x="419760" y="1600200"/>
            <a:ext cx="8493480" cy="482076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Important Note</a:t>
            </a:r>
            <a:br>
              <a:rPr sz="1600"/>
            </a:br>
            <a:r>
              <a:rPr b="0" lang="en-US" sz="1600" spc="-1" strike="noStrike">
                <a:solidFill>
                  <a:srgbClr val="000000"/>
                </a:solidFill>
                <a:latin typeface="Arial"/>
                <a:ea typeface="DejaVu Sans"/>
              </a:rPr>
              <a:t>This is a special development release by JRC to validate the time-runs for BEVs. </a:t>
            </a:r>
            <a:br>
              <a:rPr sz="1600"/>
            </a:br>
            <a:r>
              <a:rPr b="0" lang="en-US" sz="1600" spc="-1" strike="noStrike">
                <a:solidFill>
                  <a:srgbClr val="000000"/>
                </a:solidFill>
                <a:latin typeface="Arial"/>
                <a:ea typeface="DejaVu Sans"/>
              </a:rPr>
              <a:t> </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measured speed cycle for BEVs (E2, E3, E4, IEPC)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measured speed with gear for BEVs (E2, IEPC)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Pwheel mode for BEVs (E2, E3, E4, IEPC)</a:t>
            </a:r>
            <a:br>
              <a:rPr sz="1400"/>
            </a:br>
            <a:r>
              <a:rPr b="0" lang="en-US" sz="1400" spc="-1" strike="noStrike">
                <a:solidFill>
                  <a:srgbClr val="000000"/>
                </a:solidFill>
                <a:latin typeface="Arial"/>
                <a:ea typeface="DejaVu Sans"/>
              </a:rPr>
              <a:t>In this type of cycle, the input field </a:t>
            </a:r>
            <a:r>
              <a:rPr b="1" lang="en-US" sz="1400" spc="-1" strike="noStrike">
                <a:solidFill>
                  <a:srgbClr val="000000"/>
                </a:solidFill>
                <a:latin typeface="Arial"/>
                <a:ea typeface="DejaVu Sans"/>
              </a:rPr>
              <a:t>&lt;n&gt;</a:t>
            </a:r>
            <a:r>
              <a:rPr b="0" lang="en-US" sz="1400" spc="-1" strike="noStrike">
                <a:solidFill>
                  <a:srgbClr val="000000"/>
                </a:solidFill>
                <a:latin typeface="Arial"/>
                <a:ea typeface="DejaVu Sans"/>
              </a:rPr>
              <a:t> stands for the speed of the electric motor.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Mode\GenericVehicleE2\BEV_ENG_timeruns.vecto” is preconfigured to run time-run cycles.</a:t>
            </a: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a:p>
            <a:pPr>
              <a:lnSpc>
                <a:spcPct val="100000"/>
              </a:lnSpc>
              <a:spcBef>
                <a:spcPts val="281"/>
              </a:spcBef>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en-US" sz="1600" spc="-1" strike="noStrike">
              <a:solidFill>
                <a:srgbClr val="000000"/>
              </a:solidFill>
              <a:latin typeface="Arial"/>
            </a:endParaRPr>
          </a:p>
        </p:txBody>
      </p:sp>
      <p:sp>
        <p:nvSpPr>
          <p:cNvPr id="95"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IHPC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Adaptations HEV-S strategy, SoC correction for HEV-S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PTO idle drag losses for PEV, adapting PTO idle losses according to 2nd amendment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Hashing tool crashes in .net version 6.0</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Corrected length for BusAux volume calculation</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Modeling of IEPC component</a:t>
            </a:r>
            <a:endParaRPr b="0" lang="en-US" sz="2400" spc="-1" strike="noStrike">
              <a:solidFill>
                <a:srgbClr val="000000"/>
              </a:solidFill>
              <a:latin typeface="Arial"/>
            </a:endParaRPr>
          </a:p>
        </p:txBody>
      </p:sp>
      <p:sp>
        <p:nvSpPr>
          <p:cNvPr id="97"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is modelled as APT-N transmission and electric machine</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Using already available models, same shift strategy as for E2/S2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Simplified transmission in case of single-speed IEPC</a:t>
            </a:r>
            <a:endParaRPr b="0" lang="en-US" sz="1800" spc="-1" strike="noStrike">
              <a:solidFill>
                <a:srgbClr val="000000"/>
              </a:solidFill>
              <a:latin typeface="Arial"/>
            </a:endParaRPr>
          </a:p>
        </p:txBody>
      </p:sp>
      <p:sp>
        <p:nvSpPr>
          <p:cNvPr id="98" name="PlaceHolder 3"/>
          <p:cNvSpPr>
            <a:spLocks noGrp="1"/>
          </p:cNvSpPr>
          <p:nvPr>
            <p:ph type="sldNum" idx="1"/>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99" name="Grafik 72" descr=""/>
          <p:cNvPicPr/>
          <p:nvPr/>
        </p:nvPicPr>
        <p:blipFill>
          <a:blip r:embed="rId1"/>
          <a:stretch/>
        </p:blipFill>
        <p:spPr>
          <a:xfrm>
            <a:off x="2500920" y="3562200"/>
            <a:ext cx="3911760" cy="1590480"/>
          </a:xfrm>
          <a:prstGeom prst="rect">
            <a:avLst/>
          </a:prstGeom>
          <a:ln w="0">
            <a:noFill/>
          </a:ln>
        </p:spPr>
      </p:pic>
      <p:sp>
        <p:nvSpPr>
          <p:cNvPr id="100" name="Textfeld 73"/>
          <p:cNvSpPr/>
          <p:nvPr/>
        </p:nvSpPr>
        <p:spPr>
          <a:xfrm>
            <a:off x="0" y="5155200"/>
            <a:ext cx="9141480" cy="3027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pPr>
            <a:r>
              <a:rPr b="1" lang="en-US" sz="1400" spc="-1" strike="noStrike">
                <a:solidFill>
                  <a:srgbClr val="000000"/>
                </a:solidFill>
                <a:latin typeface="Courier New"/>
                <a:ea typeface="DejaVu Sans"/>
              </a:rPr>
              <a:t>_int </a:t>
            </a:r>
            <a:r>
              <a:rPr b="1" lang="en-US" sz="1400" spc="-1" strike="noStrike">
                <a:solidFill>
                  <a:srgbClr val="000000"/>
                </a:solidFill>
                <a:latin typeface="Arial"/>
                <a:ea typeface="DejaVu Sans"/>
              </a:rPr>
              <a:t>signals refer to the out-shaft of the electric motor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Peculiarities of IEPC</a:t>
            </a:r>
            <a:endParaRPr b="0" lang="en-US" sz="2400" spc="-1" strike="noStrike">
              <a:solidFill>
                <a:srgbClr val="000000"/>
              </a:solidFill>
              <a:latin typeface="Arial"/>
            </a:endParaRPr>
          </a:p>
        </p:txBody>
      </p:sp>
      <p:sp>
        <p:nvSpPr>
          <p:cNvPr id="102"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Model parameters (max torque, power maps) refer to IEPC out-shaft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Internally converted to electric motor</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2 options for drag curve acc. to Annex Xb:</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 curve for every gear is provided</a:t>
            </a:r>
            <a:endParaRPr b="0" lang="en-US" sz="1800" spc="-1" strike="noStrike">
              <a:solidFill>
                <a:srgbClr val="000000"/>
              </a:solidFill>
              <a:latin typeface="Arial"/>
            </a:endParaRPr>
          </a:p>
        </p:txBody>
      </p:sp>
      <p:sp>
        <p:nvSpPr>
          <p:cNvPr id="103" name="PlaceHolder 3"/>
          <p:cNvSpPr>
            <a:spLocks noGrp="1"/>
          </p:cNvSpPr>
          <p:nvPr>
            <p:ph type="sldNum" idx="2"/>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IEPC component</a:t>
            </a:r>
            <a:endParaRPr b="0" lang="en-US" sz="2400" spc="-1" strike="noStrike">
              <a:solidFill>
                <a:srgbClr val="000000"/>
              </a:solidFill>
              <a:latin typeface="Arial"/>
            </a:endParaRPr>
          </a:p>
        </p:txBody>
      </p:sp>
      <p:sp>
        <p:nvSpPr>
          <p:cNvPr id="105" name="PlaceHolder 2"/>
          <p:cNvSpPr>
            <a:spLocks noGrp="1"/>
          </p:cNvSpPr>
          <p:nvPr>
            <p:ph/>
          </p:nvPr>
        </p:nvSpPr>
        <p:spPr>
          <a:xfrm>
            <a:off x="622440" y="2137320"/>
            <a:ext cx="8391960" cy="9550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powertrain architecture definition</a:t>
            </a:r>
            <a:endParaRPr b="0" lang="en-US" sz="2000" spc="-1" strike="noStrike">
              <a:solidFill>
                <a:srgbClr val="000000"/>
              </a:solidFill>
              <a:latin typeface="Arial"/>
            </a:endParaRPr>
          </a:p>
          <a:p>
            <a:pPr lvl="1" marL="743040" indent="-285840">
              <a:lnSpc>
                <a:spcPct val="100000"/>
              </a:lnSpc>
              <a:spcBef>
                <a:spcPts val="281"/>
              </a:spcBef>
              <a:buClr>
                <a:srgbClr val="000000"/>
              </a:buClr>
              <a:buFont typeface="Symbol"/>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en-US" sz="1400" spc="-1" strike="noStrike">
              <a:solidFill>
                <a:srgbClr val="000000"/>
              </a:solidFill>
              <a:latin typeface="Arial"/>
            </a:endParaRPr>
          </a:p>
        </p:txBody>
      </p:sp>
      <p:sp>
        <p:nvSpPr>
          <p:cNvPr id="106" name="PlaceHolder 3"/>
          <p:cNvSpPr>
            <a:spLocks noGrp="1"/>
          </p:cNvSpPr>
          <p:nvPr>
            <p:ph type="sldNum" idx="3"/>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07" name="Tabelle 4"/>
          <p:cNvGraphicFramePr/>
          <p:nvPr/>
        </p:nvGraphicFramePr>
        <p:xfrm>
          <a:off x="29160" y="2980800"/>
          <a:ext cx="9074160" cy="29552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pPr>
                      <a:r>
                        <a:rPr b="1" lang="de-AT" sz="800" spc="-1" strike="noStrike">
                          <a:solidFill>
                            <a:srgbClr val="ffffff"/>
                          </a:solidFill>
                          <a:latin typeface="Arial"/>
                        </a:rPr>
                        <a:t>IEPC layout case #</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800" spc="-1" strike="noStrike">
                          <a:solidFill>
                            <a:srgbClr val="ffffff"/>
                          </a:solidFill>
                          <a:latin typeface="Arial"/>
                        </a:rPr>
                        <a:t>Layout schematics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800" spc="-1" strike="noStrike">
                          <a:solidFill>
                            <a:srgbClr val="ffffff"/>
                          </a:solidFill>
                          <a:latin typeface="Arial"/>
                        </a:rPr>
                        <a:t>Comments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pPr>
                      <a:r>
                        <a:rPr b="0" lang="de-AT" sz="1200" spc="-1" strike="noStrike">
                          <a:solidFill>
                            <a:srgbClr val="000000"/>
                          </a:solidFill>
                          <a:latin typeface="Arial"/>
                        </a:rPr>
                        <a:t>1</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n.a.</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de-AT" sz="800" spc="-1" strike="noStrike">
                          <a:solidFill>
                            <a:srgbClr val="000000"/>
                          </a:solidFill>
                          <a:latin typeface="Arial"/>
                        </a:rPr>
                        <a:t>Regular axle component required in job file</a:t>
                      </a:r>
                      <a:endParaRPr b="0" lang="en-US" sz="800" spc="-1" strike="noStrike">
                        <a:solidFill>
                          <a:srgbClr val="000000"/>
                        </a:solidFill>
                        <a:latin typeface="Arial"/>
                      </a:endParaRPr>
                    </a:p>
                    <a:p>
                      <a:pPr>
                        <a:lnSpc>
                          <a:spcPct val="100000"/>
                        </a:lnSpc>
                      </a:pPr>
                      <a:endParaRPr b="0" lang="en-US" sz="800" spc="-1" strike="noStrike">
                        <a:solidFill>
                          <a:srgbClr val="000000"/>
                        </a:solidFill>
                        <a:latin typeface="Arial"/>
                      </a:endParaRPr>
                    </a:p>
                    <a:p>
                      <a:pPr>
                        <a:lnSpc>
                          <a:spcPct val="100000"/>
                        </a:lnSpc>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solidFill>
                          <a:srgbClr val="000000"/>
                        </a:solidFill>
                        <a:latin typeface="Arial"/>
                      </a:endParaRPr>
                    </a:p>
                    <a:p>
                      <a:pPr>
                        <a:lnSpc>
                          <a:spcPct val="100000"/>
                        </a:lnSpc>
                      </a:pPr>
                      <a:r>
                        <a:rPr b="0" lang="de-AT" sz="800" spc="-1" strike="noStrike">
                          <a:solidFill>
                            <a:srgbClr val="000000"/>
                          </a:solidFill>
                          <a:latin typeface="Arial"/>
                        </a:rPr>
                        <a:t>(allows axle component alone without a min. number of gears)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pPr>
                      <a:r>
                        <a:rPr b="0" lang="de-AT" sz="1200" spc="-1" strike="noStrike">
                          <a:solidFill>
                            <a:srgbClr val="000000"/>
                          </a:solidFill>
                          <a:latin typeface="Arial"/>
                        </a:rPr>
                        <a:t>2</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Yes</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n.a.</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de-AT" sz="800" spc="-1" strike="noStrike">
                          <a:solidFill>
                            <a:srgbClr val="000000"/>
                          </a:solidFill>
                          <a:latin typeface="Arial"/>
                        </a:rPr>
                        <a:t>No axle component</a:t>
                      </a:r>
                      <a:endParaRPr b="0" lang="en-US" sz="800" spc="-1" strike="noStrike">
                        <a:solidFill>
                          <a:srgbClr val="000000"/>
                        </a:solidFill>
                        <a:latin typeface="Arial"/>
                      </a:endParaRPr>
                    </a:p>
                    <a:p>
                      <a:pPr>
                        <a:lnSpc>
                          <a:spcPct val="100000"/>
                        </a:lnSpc>
                      </a:pPr>
                      <a:endParaRPr b="0" lang="en-US" sz="800" spc="-1" strike="noStrike">
                        <a:solidFill>
                          <a:srgbClr val="000000"/>
                        </a:solidFill>
                        <a:latin typeface="Arial"/>
                      </a:endParaRPr>
                    </a:p>
                    <a:p>
                      <a:pPr>
                        <a:lnSpc>
                          <a:spcPct val="100000"/>
                        </a:lnSpc>
                      </a:pPr>
                      <a:r>
                        <a:rPr b="0" lang="de-AT" sz="800" spc="-1" strike="noStrike">
                          <a:solidFill>
                            <a:srgbClr val="000000"/>
                          </a:solidFill>
                          <a:latin typeface="Arial"/>
                        </a:rPr>
                        <a:t>All parameterization via IEPC specific window</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pPr>
                      <a:r>
                        <a:rPr b="0" lang="de-AT" sz="1200" spc="-1" strike="noStrike">
                          <a:solidFill>
                            <a:srgbClr val="000000"/>
                          </a:solidFill>
                          <a:latin typeface="Arial"/>
                        </a:rPr>
                        <a:t>3</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Yes</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1</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de-AT" sz="800" spc="-1" strike="noStrike">
                          <a:solidFill>
                            <a:srgbClr val="000000"/>
                          </a:solidFill>
                          <a:latin typeface="Arial"/>
                        </a:rPr>
                        <a:t>Component test performed in L-config acc. to Annex Xb (only one side)</a:t>
                      </a:r>
                      <a:endParaRPr b="0" lang="en-US" sz="800" spc="-1" strike="noStrike">
                        <a:solidFill>
                          <a:srgbClr val="000000"/>
                        </a:solidFill>
                        <a:latin typeface="Arial"/>
                      </a:endParaRPr>
                    </a:p>
                    <a:p>
                      <a:pPr>
                        <a:lnSpc>
                          <a:spcPct val="100000"/>
                        </a:lnSpc>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pPr>
                      <a:r>
                        <a:rPr b="0" lang="de-AT" sz="1200" spc="-1" strike="noStrike">
                          <a:solidFill>
                            <a:srgbClr val="000000"/>
                          </a:solidFill>
                          <a:latin typeface="Arial"/>
                        </a:rPr>
                        <a:t>4</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Yes</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2</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anchor="t">
                      <a:noAutofit/>
                    </a:bodyPr>
                    <a:p>
                      <a:pPr>
                        <a:lnSpc>
                          <a:spcPct val="100000"/>
                        </a:lnSpc>
                      </a:pPr>
                      <a:r>
                        <a:rPr b="0" lang="de-AT" sz="800" spc="-1" strike="noStrike">
                          <a:solidFill>
                            <a:srgbClr val="000000"/>
                          </a:solidFill>
                          <a:latin typeface="Arial"/>
                        </a:rPr>
                        <a:t>Component test performed in T-config acc. to Annex Xb (both sides)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08" name="Grafik 5" descr=""/>
          <p:cNvPicPr/>
          <p:nvPr/>
        </p:nvPicPr>
        <p:blipFill>
          <a:blip r:embed="rId1"/>
          <a:stretch/>
        </p:blipFill>
        <p:spPr>
          <a:xfrm>
            <a:off x="2983680" y="3498840"/>
            <a:ext cx="1719000" cy="645480"/>
          </a:xfrm>
          <a:prstGeom prst="rect">
            <a:avLst/>
          </a:prstGeom>
          <a:ln w="0">
            <a:noFill/>
          </a:ln>
        </p:spPr>
      </p:pic>
      <p:pic>
        <p:nvPicPr>
          <p:cNvPr id="109" name="Grafik 6" descr=""/>
          <p:cNvPicPr/>
          <p:nvPr/>
        </p:nvPicPr>
        <p:blipFill>
          <a:blip r:embed="rId2"/>
          <a:stretch/>
        </p:blipFill>
        <p:spPr>
          <a:xfrm>
            <a:off x="2983680" y="4256640"/>
            <a:ext cx="1464120" cy="645480"/>
          </a:xfrm>
          <a:prstGeom prst="rect">
            <a:avLst/>
          </a:prstGeom>
          <a:ln w="0">
            <a:noFill/>
          </a:ln>
        </p:spPr>
      </p:pic>
      <p:pic>
        <p:nvPicPr>
          <p:cNvPr id="110" name="Grafik 7" descr=""/>
          <p:cNvPicPr/>
          <p:nvPr/>
        </p:nvPicPr>
        <p:blipFill>
          <a:blip r:embed="rId3"/>
          <a:stretch/>
        </p:blipFill>
        <p:spPr>
          <a:xfrm>
            <a:off x="2986200" y="4988880"/>
            <a:ext cx="938160" cy="933480"/>
          </a:xfrm>
          <a:prstGeom prst="rect">
            <a:avLst/>
          </a:prstGeom>
          <a:ln w="0">
            <a:noFill/>
          </a:ln>
        </p:spPr>
      </p:pic>
      <p:pic>
        <p:nvPicPr>
          <p:cNvPr id="111" name="Grafik 8" descr=""/>
          <p:cNvPicPr/>
          <p:nvPr/>
        </p:nvPicPr>
        <p:blipFill>
          <a:blip r:embed="rId4"/>
          <a:stretch/>
        </p:blipFill>
        <p:spPr>
          <a:xfrm>
            <a:off x="4516560" y="4256640"/>
            <a:ext cx="1076040" cy="642240"/>
          </a:xfrm>
          <a:prstGeom prst="rect">
            <a:avLst/>
          </a:prstGeom>
          <a:ln w="0">
            <a:noFill/>
          </a:ln>
        </p:spPr>
      </p:pic>
      <p:pic>
        <p:nvPicPr>
          <p:cNvPr id="112" name="Grafik 9" descr=""/>
          <p:cNvPicPr/>
          <p:nvPr/>
        </p:nvPicPr>
        <p:blipFill>
          <a:blip r:embed="rId5"/>
          <a:stretch/>
        </p:blipFill>
        <p:spPr>
          <a:xfrm>
            <a:off x="4141800" y="4988880"/>
            <a:ext cx="938160" cy="933480"/>
          </a:xfrm>
          <a:prstGeom prst="rect">
            <a:avLst/>
          </a:prstGeom>
          <a:ln w="0">
            <a:noFill/>
          </a:ln>
        </p:spPr>
      </p:pic>
      <p:sp>
        <p:nvSpPr>
          <p:cNvPr id="113" name="Rechteck 10"/>
          <p:cNvSpPr/>
          <p:nvPr/>
        </p:nvSpPr>
        <p:spPr>
          <a:xfrm>
            <a:off x="2986200" y="5467680"/>
            <a:ext cx="938160" cy="45468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IEPC component</a:t>
            </a:r>
            <a:endParaRPr b="0" lang="en-US" sz="2400" spc="-1" strike="noStrike">
              <a:solidFill>
                <a:srgbClr val="000000"/>
              </a:solidFill>
              <a:latin typeface="Arial"/>
            </a:endParaRPr>
          </a:p>
        </p:txBody>
      </p:sp>
      <p:sp>
        <p:nvSpPr>
          <p:cNvPr id="115"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General parameters</a:t>
            </a:r>
            <a:endParaRPr b="0" lang="en-US" sz="2000" spc="-1" strike="noStrike">
              <a:solidFill>
                <a:srgbClr val="000000"/>
              </a:solidFill>
              <a:latin typeface="Arial"/>
            </a:endParaRPr>
          </a:p>
        </p:txBody>
      </p:sp>
      <p:sp>
        <p:nvSpPr>
          <p:cNvPr id="116" name="PlaceHolder 3"/>
          <p:cNvSpPr>
            <a:spLocks noGrp="1"/>
          </p:cNvSpPr>
          <p:nvPr>
            <p:ph type="sldNum" idx="4"/>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17" name="Tabelle 4"/>
          <p:cNvGraphicFramePr/>
          <p:nvPr/>
        </p:nvGraphicFramePr>
        <p:xfrm>
          <a:off x="933480" y="2647800"/>
          <a:ext cx="7835040" cy="2490480"/>
        </p:xfrm>
        <a:graphic>
          <a:graphicData uri="http://schemas.openxmlformats.org/drawingml/2006/table">
            <a:tbl>
              <a:tblPr/>
              <a:tblGrid>
                <a:gridCol w="2730240"/>
                <a:gridCol w="510516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pPr>
                      <a:r>
                        <a:rPr b="0" lang="de-AT" sz="1200" spc="-1" strike="noStrike">
                          <a:solidFill>
                            <a:srgbClr val="000000"/>
                          </a:solidFill>
                          <a:latin typeface="Arial"/>
                        </a:rPr>
                        <a:t>RotationalInertia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Determined in accordance with point 8 of Appendix 8 of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DifferentialIncluded</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Set to ‘true’ in the case a differential is part of the IEPC</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de-AT" sz="1200" spc="-1" strike="noStrike">
                          <a:solidFill>
                            <a:srgbClr val="000000"/>
                          </a:solidFill>
                          <a:latin typeface="Arial"/>
                        </a:rPr>
                        <a:t>DesignTypeWheelMotor</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Set to ‘true’ in the case of an IEPC design type wheel motor</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pPr>
                      <a:r>
                        <a:rPr b="0" lang="de-AT" sz="1200" spc="-1" strike="noStrike">
                          <a:solidFill>
                            <a:srgbClr val="000000"/>
                          </a:solidFill>
                          <a:latin typeface="Arial"/>
                        </a:rPr>
                        <a:t>DesignTypeWheelMotorMeasured</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Allowed values: ‘1’, ‘2’</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IEPC component</a:t>
            </a:r>
            <a:endParaRPr b="0" lang="en-US" sz="2400" spc="-1" strike="noStrike">
              <a:solidFill>
                <a:srgbClr val="000000"/>
              </a:solidFill>
              <a:latin typeface="Arial"/>
            </a:endParaRPr>
          </a:p>
        </p:txBody>
      </p:sp>
      <p:sp>
        <p:nvSpPr>
          <p:cNvPr id="119"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performance parameters</a:t>
            </a:r>
            <a:endParaRPr b="0" lang="en-US" sz="2000" spc="-1" strike="noStrike">
              <a:solidFill>
                <a:srgbClr val="000000"/>
              </a:solidFill>
              <a:latin typeface="Arial"/>
            </a:endParaRPr>
          </a:p>
        </p:txBody>
      </p:sp>
      <p:sp>
        <p:nvSpPr>
          <p:cNvPr id="120" name="PlaceHolder 3"/>
          <p:cNvSpPr>
            <a:spLocks noGrp="1"/>
          </p:cNvSpPr>
          <p:nvPr>
            <p:ph type="sldNum" idx="5"/>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21" name="Tabelle 4"/>
          <p:cNvGraphicFramePr/>
          <p:nvPr/>
        </p:nvGraphicFramePr>
        <p:xfrm>
          <a:off x="933480" y="2647800"/>
          <a:ext cx="7835040" cy="2644560"/>
        </p:xfrm>
        <a:graphic>
          <a:graphicData uri="http://schemas.openxmlformats.org/drawingml/2006/table">
            <a:tbl>
              <a:tblPr/>
              <a:tblGrid>
                <a:gridCol w="2730240"/>
                <a:gridCol w="510516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pPr>
                      <a:r>
                        <a:rPr b="0" lang="de-AT" sz="1200" spc="-1" strike="noStrike">
                          <a:solidFill>
                            <a:srgbClr val="000000"/>
                          </a:solidFill>
                          <a:latin typeface="Arial"/>
                        </a:rPr>
                        <a:t>Gear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 number, ratio, MaxOutputShaftTorque (optional), MaxOutputShaftSpeed (optional)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pPr>
                      <a:r>
                        <a:rPr b="0" lang="de-AT" sz="1200" spc="-1" strike="noStrike">
                          <a:solidFill>
                            <a:srgbClr val="000000"/>
                          </a:solidFill>
                          <a:latin typeface="Arial"/>
                        </a:rPr>
                        <a:t>Overload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Overload and Continuous operation point and Overload Time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Measured in gear closest to ratio 1 acc. to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Max/min torque limits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Drag torque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Only for one voltage level acc. to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Electric power maps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IEPC Input Form</a:t>
            </a:r>
            <a:endParaRPr b="0" lang="en-US" sz="2400" spc="-1" strike="noStrike">
              <a:solidFill>
                <a:srgbClr val="000000"/>
              </a:solidFill>
              <a:latin typeface="Arial"/>
            </a:endParaRPr>
          </a:p>
        </p:txBody>
      </p:sp>
      <p:sp>
        <p:nvSpPr>
          <p:cNvPr id="123" name="PlaceHolder 2"/>
          <p:cNvSpPr>
            <a:spLocks noGrp="1"/>
          </p:cNvSpPr>
          <p:nvPr>
            <p:ph type="sldNum" idx="6"/>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24" name="Grafik 4" descr=""/>
          <p:cNvPicPr/>
          <p:nvPr/>
        </p:nvPicPr>
        <p:blipFill>
          <a:blip r:embed="rId1"/>
          <a:stretch/>
        </p:blipFill>
        <p:spPr>
          <a:xfrm>
            <a:off x="4567680" y="1908720"/>
            <a:ext cx="4447800" cy="3286440"/>
          </a:xfrm>
          <a:prstGeom prst="rect">
            <a:avLst/>
          </a:prstGeom>
          <a:ln w="0">
            <a:noFill/>
          </a:ln>
        </p:spPr>
      </p:pic>
      <p:sp>
        <p:nvSpPr>
          <p:cNvPr id="125" name="Gerade Verbindung mit Pfeil 6"/>
          <p:cNvSpPr/>
          <p:nvPr/>
        </p:nvSpPr>
        <p:spPr>
          <a:xfrm flipH="1" flipV="1">
            <a:off x="4936680" y="4317480"/>
            <a:ext cx="493920" cy="875520"/>
          </a:xfrm>
          <a:custGeom>
            <a:avLst/>
            <a:gdLst>
              <a:gd name="textAreaLeft" fmla="*/ -720 w 493920"/>
              <a:gd name="textAreaRight" fmla="*/ 494640 w 493920"/>
              <a:gd name="textAreaTop" fmla="*/ -720 h 875520"/>
              <a:gd name="textAreaBottom" fmla="*/ 876240 h 87552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6" name="Gerade Verbindung mit Pfeil 8"/>
          <p:cNvSpPr/>
          <p:nvPr/>
        </p:nvSpPr>
        <p:spPr>
          <a:xfrm flipV="1">
            <a:off x="5435640" y="3550320"/>
            <a:ext cx="1990080" cy="1641960"/>
          </a:xfrm>
          <a:custGeom>
            <a:avLst/>
            <a:gdLst>
              <a:gd name="textAreaLeft" fmla="*/ 0 w 1990080"/>
              <a:gd name="textAreaRight" fmla="*/ 1991520 w 1990080"/>
              <a:gd name="textAreaTop" fmla="*/ 720 h 1641960"/>
              <a:gd name="textAreaBottom" fmla="*/ 1644120 h 164196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pic>
        <p:nvPicPr>
          <p:cNvPr id="127" name="Grafik 5" descr=""/>
          <p:cNvPicPr/>
          <p:nvPr/>
        </p:nvPicPr>
        <p:blipFill>
          <a:blip r:embed="rId2"/>
          <a:stretch/>
        </p:blipFill>
        <p:spPr>
          <a:xfrm>
            <a:off x="622440" y="1908720"/>
            <a:ext cx="3525480" cy="3025800"/>
          </a:xfrm>
          <a:prstGeom prst="rect">
            <a:avLst/>
          </a:prstGeom>
          <a:ln w="0">
            <a:noFill/>
          </a:ln>
        </p:spPr>
      </p:pic>
      <p:sp>
        <p:nvSpPr>
          <p:cNvPr id="128" name="Pfeil nach rechts 7"/>
          <p:cNvSpPr/>
          <p:nvPr/>
        </p:nvSpPr>
        <p:spPr>
          <a:xfrm>
            <a:off x="4150440" y="2647080"/>
            <a:ext cx="471600" cy="12686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9" name="Textfeld 9"/>
          <p:cNvSpPr/>
          <p:nvPr/>
        </p:nvSpPr>
        <p:spPr>
          <a:xfrm>
            <a:off x="4701960" y="5153400"/>
            <a:ext cx="2441160" cy="8197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pPr>
            <a:r>
              <a:rPr b="1" lang="en-US" sz="1200" spc="-1" strike="noStrike">
                <a:solidFill>
                  <a:srgbClr val="000000"/>
                </a:solidFill>
                <a:latin typeface="Arial"/>
                <a:ea typeface="DejaVu Sans"/>
              </a:rPr>
              <a:t>Lists with gear entries are synchronized, gears can be added/removed in the gear-list on the right</a:t>
            </a:r>
            <a:endParaRPr b="0" lang="en-US" sz="1200" spc="-1" strike="noStrike">
              <a:solidFill>
                <a:srgbClr val="000000"/>
              </a:solidFill>
              <a:latin typeface="Arial"/>
            </a:endParaRPr>
          </a:p>
        </p:txBody>
      </p:sp>
      <p:sp>
        <p:nvSpPr>
          <p:cNvPr id="130" name="Textfeld 11"/>
          <p:cNvSpPr/>
          <p:nvPr/>
        </p:nvSpPr>
        <p:spPr>
          <a:xfrm>
            <a:off x="622440" y="5065560"/>
            <a:ext cx="3525480" cy="454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pPr>
            <a:r>
              <a:rPr b="1" lang="en-US" sz="1200" spc="-1" strike="noStrike">
                <a:solidFill>
                  <a:srgbClr val="000000"/>
                </a:solidFill>
                <a:latin typeface="Arial"/>
                <a:ea typeface="DejaVu Sans"/>
              </a:rPr>
              <a:t>Definition of IEPC component via</a:t>
            </a:r>
            <a:br>
              <a:rPr sz="1200"/>
            </a:br>
            <a:r>
              <a:rPr b="1" i="1" lang="en-US" sz="1200" spc="-1" strike="noStrike">
                <a:solidFill>
                  <a:srgbClr val="000000"/>
                </a:solidFill>
                <a:latin typeface="Arial"/>
                <a:ea typeface="DejaVu Sans"/>
              </a:rPr>
              <a:t>“Vehicle \ IEPC-Tab”</a:t>
            </a:r>
            <a:endParaRPr b="0" lang="en-US" sz="1200" spc="-1" strike="noStrike">
              <a:solidFill>
                <a:srgbClr val="000000"/>
              </a:solidFill>
              <a:latin typeface="Arial"/>
            </a:endParaRPr>
          </a:p>
        </p:txBody>
      </p:sp>
      <p:sp>
        <p:nvSpPr>
          <p:cNvPr id="131" name="Ellipse 12"/>
          <p:cNvSpPr/>
          <p:nvPr/>
        </p:nvSpPr>
        <p:spPr>
          <a:xfrm>
            <a:off x="529560" y="2379240"/>
            <a:ext cx="577080" cy="17460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2" name="Ellipse 13"/>
          <p:cNvSpPr/>
          <p:nvPr/>
        </p:nvSpPr>
        <p:spPr>
          <a:xfrm>
            <a:off x="1630080" y="3207600"/>
            <a:ext cx="577080" cy="1414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3" name="Gerade Verbindung mit Pfeil 15"/>
          <p:cNvSpPr/>
          <p:nvPr/>
        </p:nvSpPr>
        <p:spPr>
          <a:xfrm flipH="1" flipV="1">
            <a:off x="1695600" y="3476160"/>
            <a:ext cx="184680" cy="328680"/>
          </a:xfrm>
          <a:custGeom>
            <a:avLst/>
            <a:gdLst>
              <a:gd name="textAreaLeft" fmla="*/ 720 w 184680"/>
              <a:gd name="textAreaRight" fmla="*/ 186840 w 184680"/>
              <a:gd name="textAreaTop" fmla="*/ 720 h 328680"/>
              <a:gd name="textAreaBottom" fmla="*/ 330840 h 328680"/>
            </a:gdLst>
            <a:ahLst/>
            <a:rect l="textAreaLeft" t="textAreaTop" r="textAreaRight" b="textAreaBottom"/>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4" name="Textfeld 17"/>
          <p:cNvSpPr/>
          <p:nvPr/>
        </p:nvSpPr>
        <p:spPr>
          <a:xfrm>
            <a:off x="1825920" y="3666960"/>
            <a:ext cx="131364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pPr>
            <a:r>
              <a:rPr b="1" lang="en-US" sz="1050" spc="-1" strike="noStrike">
                <a:solidFill>
                  <a:srgbClr val="ff0000"/>
                </a:solidFill>
                <a:latin typeface="Arial"/>
                <a:ea typeface="DejaVu Sans"/>
              </a:rPr>
              <a:t>Click for specific IEPC GUI-window</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Gearbox Form for IEPC Vehicles</a:t>
            </a:r>
            <a:endParaRPr b="0" lang="en-US" sz="2400" spc="-1" strike="noStrike">
              <a:solidFill>
                <a:srgbClr val="000000"/>
              </a:solidFill>
              <a:latin typeface="Arial"/>
            </a:endParaRPr>
          </a:p>
        </p:txBody>
      </p:sp>
      <p:sp>
        <p:nvSpPr>
          <p:cNvPr id="136" name="PlaceHolder 2"/>
          <p:cNvSpPr>
            <a:spLocks noGrp="1"/>
          </p:cNvSpPr>
          <p:nvPr>
            <p:ph/>
          </p:nvPr>
        </p:nvSpPr>
        <p:spPr>
          <a:xfrm>
            <a:off x="622440" y="2137320"/>
            <a:ext cx="3632040" cy="3479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No gearbox file needs to be provided for IEPC with differential included (case 2)</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New IEPC gearbox type for all other variants where only the axlegear ratio needs to be provided</a:t>
            </a:r>
            <a:endParaRPr b="0" lang="en-US" sz="2000" spc="-1" strike="noStrike">
              <a:solidFill>
                <a:srgbClr val="000000"/>
              </a:solidFill>
              <a:latin typeface="Arial"/>
            </a:endParaRPr>
          </a:p>
        </p:txBody>
      </p:sp>
      <p:sp>
        <p:nvSpPr>
          <p:cNvPr id="137" name="PlaceHolder 3"/>
          <p:cNvSpPr>
            <a:spLocks noGrp="1"/>
          </p:cNvSpPr>
          <p:nvPr>
            <p:ph type="sldNum" idx="7"/>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38" name="Grafik 4" descr=""/>
          <p:cNvPicPr/>
          <p:nvPr/>
        </p:nvPicPr>
        <p:blipFill>
          <a:blip r:embed="rId1"/>
          <a:stretch/>
        </p:blipFill>
        <p:spPr>
          <a:xfrm>
            <a:off x="4500000" y="2137320"/>
            <a:ext cx="3514320" cy="3319920"/>
          </a:xfrm>
          <a:prstGeom prst="rect">
            <a:avLst/>
          </a:prstGeom>
          <a:ln w="0">
            <a:noFill/>
          </a:ln>
        </p:spPr>
      </p:pic>
      <p:sp>
        <p:nvSpPr>
          <p:cNvPr id="139" name="Gerade Verbindung mit Pfeil 5"/>
          <p:cNvSpPr/>
          <p:nvPr/>
        </p:nvSpPr>
        <p:spPr>
          <a:xfrm flipH="1">
            <a:off x="6162120" y="2885400"/>
            <a:ext cx="809640" cy="289800"/>
          </a:xfrm>
          <a:custGeom>
            <a:avLst/>
            <a:gdLst>
              <a:gd name="textAreaLeft" fmla="*/ 720 w 809640"/>
              <a:gd name="textAreaRight" fmla="*/ 811800 w 809640"/>
              <a:gd name="textAreaTop" fmla="*/ 0 h 289800"/>
              <a:gd name="textAreaBottom" fmla="*/ 291240 h 289800"/>
            </a:gdLst>
            <a:ahLst/>
            <a:rect l="textAreaLeft" t="textAreaTop" r="textAreaRight" b="textAreaBottom"/>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0" name="Textfeld 6"/>
          <p:cNvSpPr/>
          <p:nvPr/>
        </p:nvSpPr>
        <p:spPr>
          <a:xfrm>
            <a:off x="6977160" y="2596680"/>
            <a:ext cx="2001960" cy="569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pPr>
            <a:r>
              <a:rPr b="1" lang="en-US" sz="1050" spc="-1" strike="noStrike">
                <a:solidFill>
                  <a:srgbClr val="ff0000"/>
                </a:solidFill>
                <a:latin typeface="Arial"/>
                <a:ea typeface="DejaVu Sans"/>
              </a:rPr>
              <a:t>Specific Gearbox Type for IEPC. Only requires axlegear to be provided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Modeling of IHPC component</a:t>
            </a:r>
            <a:endParaRPr b="0" lang="en-US" sz="2400" spc="-1" strike="noStrike">
              <a:solidFill>
                <a:srgbClr val="000000"/>
              </a:solidFill>
              <a:latin typeface="Arial"/>
            </a:endParaRPr>
          </a:p>
        </p:txBody>
      </p:sp>
      <p:sp>
        <p:nvSpPr>
          <p:cNvPr id="142"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transmission is modeled as APT-N</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electric motor is modeled as regular electric motor at position P2</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Gear-dependent power maps</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tabLst>
                <a:tab algn="l" pos="0"/>
              </a:tabLst>
            </a:pPr>
            <a:r>
              <a:rPr b="0" lang="en-US" sz="2000" spc="-1" strike="noStrike">
                <a:solidFill>
                  <a:srgbClr val="000000"/>
                </a:solidFill>
                <a:latin typeface="Arial"/>
              </a:rPr>
              <a:t>Peculiarities of IHPC</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tabLst>
                <a:tab algn="l" pos="0"/>
              </a:tabLst>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en-US" sz="2000" spc="-1" strike="noStrike">
              <a:solidFill>
                <a:srgbClr val="000000"/>
              </a:solidFill>
              <a:latin typeface="Arial"/>
            </a:endParaRPr>
          </a:p>
        </p:txBody>
      </p:sp>
      <p:sp>
        <p:nvSpPr>
          <p:cNvPr id="143" name="PlaceHolder 3"/>
          <p:cNvSpPr>
            <a:spLocks noGrp="1"/>
          </p:cNvSpPr>
          <p:nvPr>
            <p:ph type="sldNum" idx="8"/>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IHPC component</a:t>
            </a:r>
            <a:endParaRPr b="0" lang="en-US" sz="2400" spc="-1" strike="noStrike">
              <a:solidFill>
                <a:srgbClr val="000000"/>
              </a:solidFill>
              <a:latin typeface="Arial"/>
            </a:endParaRPr>
          </a:p>
        </p:txBody>
      </p:sp>
      <p:sp>
        <p:nvSpPr>
          <p:cNvPr id="145"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en-US" sz="2000" spc="-1" strike="noStrike">
              <a:solidFill>
                <a:srgbClr val="000000"/>
              </a:solidFill>
              <a:latin typeface="Arial"/>
            </a:endParaRPr>
          </a:p>
        </p:txBody>
      </p:sp>
      <p:sp>
        <p:nvSpPr>
          <p:cNvPr id="146" name="PlaceHolder 3"/>
          <p:cNvSpPr>
            <a:spLocks noGrp="1"/>
          </p:cNvSpPr>
          <p:nvPr>
            <p:ph type="sldNum" idx="9"/>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47" name="Tabelle 4"/>
          <p:cNvGraphicFramePr/>
          <p:nvPr/>
        </p:nvGraphicFramePr>
        <p:xfrm>
          <a:off x="933480" y="2647800"/>
          <a:ext cx="7835040" cy="1145160"/>
        </p:xfrm>
        <a:graphic>
          <a:graphicData uri="http://schemas.openxmlformats.org/drawingml/2006/table">
            <a:tbl>
              <a:tblPr/>
              <a:tblGrid>
                <a:gridCol w="2730240"/>
                <a:gridCol w="510516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pPr>
                      <a:r>
                        <a:rPr b="0" lang="de-AT" sz="1200" spc="-1" strike="noStrike">
                          <a:solidFill>
                            <a:srgbClr val="000000"/>
                          </a:solidFill>
                          <a:latin typeface="Arial"/>
                        </a:rPr>
                        <a:t>RotationalInertia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Determined in accordance with point 8 of Appendix 8 of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IHPC component</a:t>
            </a:r>
            <a:endParaRPr b="0" lang="en-US" sz="2400" spc="-1" strike="noStrike">
              <a:solidFill>
                <a:srgbClr val="000000"/>
              </a:solidFill>
              <a:latin typeface="Arial"/>
            </a:endParaRPr>
          </a:p>
        </p:txBody>
      </p:sp>
      <p:sp>
        <p:nvSpPr>
          <p:cNvPr id="149"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en-US" sz="2000" spc="-1" strike="noStrike">
              <a:solidFill>
                <a:srgbClr val="000000"/>
              </a:solidFill>
              <a:latin typeface="Arial"/>
            </a:endParaRPr>
          </a:p>
        </p:txBody>
      </p:sp>
      <p:sp>
        <p:nvSpPr>
          <p:cNvPr id="150" name="PlaceHolder 3"/>
          <p:cNvSpPr>
            <a:spLocks noGrp="1"/>
          </p:cNvSpPr>
          <p:nvPr>
            <p:ph type="sldNum" idx="10"/>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51" name="Tabelle 4"/>
          <p:cNvGraphicFramePr/>
          <p:nvPr/>
        </p:nvGraphicFramePr>
        <p:xfrm>
          <a:off x="933480" y="3238560"/>
          <a:ext cx="7835040" cy="2582280"/>
        </p:xfrm>
        <a:graphic>
          <a:graphicData uri="http://schemas.openxmlformats.org/drawingml/2006/table">
            <a:tbl>
              <a:tblPr/>
              <a:tblGrid>
                <a:gridCol w="2419200"/>
                <a:gridCol w="541620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pPr>
                      <a:r>
                        <a:rPr b="0" lang="de-AT" sz="1200" spc="-1" strike="noStrike">
                          <a:solidFill>
                            <a:srgbClr val="000000"/>
                          </a:solidFill>
                          <a:latin typeface="Arial"/>
                        </a:rPr>
                        <a:t>Gear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 number (needs to match with specifications in gearbox file)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pPr>
                      <a:r>
                        <a:rPr b="0" lang="de-AT" sz="1200" spc="-1" strike="noStrike">
                          <a:solidFill>
                            <a:srgbClr val="000000"/>
                          </a:solidFill>
                          <a:latin typeface="Arial"/>
                        </a:rPr>
                        <a:t>Overload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Overload and Continuous operation point and Overload Time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Measured in gear closest to ratio 1 acc. to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Max/min torque limits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Drag torque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Electric power maps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IHPC component</a:t>
            </a:r>
            <a:endParaRPr b="0" lang="en-US" sz="2400" spc="-1" strike="noStrike">
              <a:solidFill>
                <a:srgbClr val="000000"/>
              </a:solidFill>
              <a:latin typeface="Arial"/>
            </a:endParaRPr>
          </a:p>
        </p:txBody>
      </p:sp>
      <p:sp>
        <p:nvSpPr>
          <p:cNvPr id="153"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en-US" sz="2000" spc="-1" strike="noStrike">
              <a:solidFill>
                <a:srgbClr val="000000"/>
              </a:solidFill>
              <a:latin typeface="Arial"/>
            </a:endParaRPr>
          </a:p>
        </p:txBody>
      </p:sp>
      <p:sp>
        <p:nvSpPr>
          <p:cNvPr id="154" name="PlaceHolder 3"/>
          <p:cNvSpPr>
            <a:spLocks noGrp="1"/>
          </p:cNvSpPr>
          <p:nvPr>
            <p:ph type="sldNum" idx="11"/>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55" name="Tabelle 4"/>
          <p:cNvGraphicFramePr/>
          <p:nvPr/>
        </p:nvGraphicFramePr>
        <p:xfrm>
          <a:off x="933480" y="3238560"/>
          <a:ext cx="7835040" cy="2523240"/>
        </p:xfrm>
        <a:graphic>
          <a:graphicData uri="http://schemas.openxmlformats.org/drawingml/2006/table">
            <a:tbl>
              <a:tblPr/>
              <a:tblGrid>
                <a:gridCol w="2419200"/>
                <a:gridCol w="541620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pPr>
                      <a:r>
                        <a:rPr b="0" lang="de-AT" sz="1200" spc="-1" strike="noStrike">
                          <a:solidFill>
                            <a:srgbClr val="000000"/>
                          </a:solidFill>
                          <a:latin typeface="Arial"/>
                        </a:rPr>
                        <a:t>Gear identifier</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 (number needs to match with specifications in IHPC file)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Ratio</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de-AT" sz="1200" spc="-1" strike="noStrike">
                          <a:solidFill>
                            <a:srgbClr val="000000"/>
                          </a:solidFill>
                          <a:latin typeface="Arial"/>
                        </a:rPr>
                        <a:t>Loss Map</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tabLst>
                          <a:tab algn="l" pos="0"/>
                        </a:tabLst>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6" name="Grafik 36" descr=""/>
          <p:cNvPicPr/>
          <p:nvPr/>
        </p:nvPicPr>
        <p:blipFill>
          <a:blip r:embed="rId1"/>
          <a:stretch/>
        </p:blipFill>
        <p:spPr>
          <a:xfrm>
            <a:off x="6566040" y="1469880"/>
            <a:ext cx="2448720" cy="2746440"/>
          </a:xfrm>
          <a:prstGeom prst="rect">
            <a:avLst/>
          </a:prstGeom>
          <a:ln w="0">
            <a:noFill/>
          </a:ln>
        </p:spPr>
      </p:pic>
      <p:pic>
        <p:nvPicPr>
          <p:cNvPr id="157" name="Grafik 34" descr=""/>
          <p:cNvPicPr/>
          <p:nvPr/>
        </p:nvPicPr>
        <p:blipFill>
          <a:blip r:embed="rId2"/>
          <a:srcRect l="0" t="0" r="0" b="44708"/>
          <a:stretch/>
        </p:blipFill>
        <p:spPr>
          <a:xfrm>
            <a:off x="5650920" y="4423680"/>
            <a:ext cx="3363480" cy="1540080"/>
          </a:xfrm>
          <a:prstGeom prst="rect">
            <a:avLst/>
          </a:prstGeom>
          <a:ln w="0">
            <a:solidFill>
              <a:srgbClr val="000000"/>
            </a:solidFill>
          </a:ln>
        </p:spPr>
      </p:pic>
      <p:pic>
        <p:nvPicPr>
          <p:cNvPr id="158" name="Grafik 27" descr=""/>
          <p:cNvPicPr/>
          <p:nvPr/>
        </p:nvPicPr>
        <p:blipFill>
          <a:blip r:embed="rId3"/>
          <a:srcRect l="0" t="0" r="43153" b="0"/>
          <a:stretch/>
        </p:blipFill>
        <p:spPr>
          <a:xfrm>
            <a:off x="676440" y="1908720"/>
            <a:ext cx="2003040" cy="2469960"/>
          </a:xfrm>
          <a:prstGeom prst="rect">
            <a:avLst/>
          </a:prstGeom>
          <a:ln w="0">
            <a:solidFill>
              <a:srgbClr val="000000"/>
            </a:solidFill>
          </a:ln>
        </p:spPr>
      </p:pic>
      <p:sp>
        <p:nvSpPr>
          <p:cNvPr id="159"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IHPC Input Form</a:t>
            </a:r>
            <a:endParaRPr b="0" lang="en-US" sz="2400" spc="-1" strike="noStrike">
              <a:solidFill>
                <a:srgbClr val="000000"/>
              </a:solidFill>
              <a:latin typeface="Arial"/>
            </a:endParaRPr>
          </a:p>
        </p:txBody>
      </p:sp>
      <p:sp>
        <p:nvSpPr>
          <p:cNvPr id="160" name="PlaceHolder 2"/>
          <p:cNvSpPr>
            <a:spLocks noGrp="1"/>
          </p:cNvSpPr>
          <p:nvPr>
            <p:ph type="sldNum" idx="12"/>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sp>
        <p:nvSpPr>
          <p:cNvPr id="161" name="Gerade Verbindung mit Pfeil 6"/>
          <p:cNvSpPr/>
          <p:nvPr/>
        </p:nvSpPr>
        <p:spPr>
          <a:xfrm flipH="1">
            <a:off x="5831640" y="4035240"/>
            <a:ext cx="222480" cy="1456200"/>
          </a:xfrm>
          <a:custGeom>
            <a:avLst/>
            <a:gdLst>
              <a:gd name="textAreaLeft" fmla="*/ -720 w 222480"/>
              <a:gd name="textAreaRight" fmla="*/ 223200 w 222480"/>
              <a:gd name="textAreaTop" fmla="*/ 0 h 1456200"/>
              <a:gd name="textAreaBottom" fmla="*/ 1457640 h 145620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2" name="Gerade Verbindung mit Pfeil 8"/>
          <p:cNvSpPr/>
          <p:nvPr/>
        </p:nvSpPr>
        <p:spPr>
          <a:xfrm flipV="1">
            <a:off x="6058800" y="3476160"/>
            <a:ext cx="655560" cy="554400"/>
          </a:xfrm>
          <a:custGeom>
            <a:avLst/>
            <a:gdLst>
              <a:gd name="textAreaLeft" fmla="*/ 0 w 655560"/>
              <a:gd name="textAreaRight" fmla="*/ 657000 w 655560"/>
              <a:gd name="textAreaTop" fmla="*/ -720 h 554400"/>
              <a:gd name="textAreaBottom" fmla="*/ 555120 h 55440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3" name="Pfeil nach rechts 7"/>
          <p:cNvSpPr/>
          <p:nvPr/>
        </p:nvSpPr>
        <p:spPr>
          <a:xfrm>
            <a:off x="5894280" y="2058840"/>
            <a:ext cx="609480" cy="12686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4" name="Textfeld 9"/>
          <p:cNvSpPr/>
          <p:nvPr/>
        </p:nvSpPr>
        <p:spPr>
          <a:xfrm>
            <a:off x="4579200" y="3804480"/>
            <a:ext cx="1477080" cy="4546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pPr>
            <a:r>
              <a:rPr b="1" lang="en-US" sz="1200" spc="-1" strike="noStrike">
                <a:solidFill>
                  <a:srgbClr val="000000"/>
                </a:solidFill>
                <a:latin typeface="Arial"/>
                <a:ea typeface="DejaVu Sans"/>
              </a:rPr>
              <a:t>Number of gears</a:t>
            </a:r>
            <a:br>
              <a:rPr sz="1200"/>
            </a:br>
            <a:r>
              <a:rPr b="1" lang="en-US" sz="1200" spc="-1" strike="noStrike">
                <a:solidFill>
                  <a:srgbClr val="000000"/>
                </a:solidFill>
                <a:latin typeface="Arial"/>
                <a:ea typeface="DejaVu Sans"/>
              </a:rPr>
              <a:t>need to match</a:t>
            </a:r>
            <a:endParaRPr b="0" lang="en-US" sz="1200" spc="-1" strike="noStrike">
              <a:solidFill>
                <a:srgbClr val="000000"/>
              </a:solidFill>
              <a:latin typeface="Arial"/>
            </a:endParaRPr>
          </a:p>
        </p:txBody>
      </p:sp>
      <p:sp>
        <p:nvSpPr>
          <p:cNvPr id="165" name="Textfeld 11"/>
          <p:cNvSpPr/>
          <p:nvPr/>
        </p:nvSpPr>
        <p:spPr>
          <a:xfrm>
            <a:off x="583560" y="4470120"/>
            <a:ext cx="2488320" cy="10785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pPr>
            <a:r>
              <a:rPr b="1" lang="en-US" sz="1200" spc="-1" strike="noStrike">
                <a:solidFill>
                  <a:srgbClr val="000000"/>
                </a:solidFill>
                <a:latin typeface="Arial"/>
                <a:ea typeface="DejaVu Sans"/>
              </a:rPr>
              <a:t>Definition of IHPC component as two separate component parts via</a:t>
            </a:r>
            <a:br>
              <a:rPr sz="1200"/>
            </a:br>
            <a:r>
              <a:rPr b="1" lang="en-US" sz="1200" spc="-1" strike="noStrike">
                <a:solidFill>
                  <a:srgbClr val="000000"/>
                </a:solidFill>
                <a:latin typeface="Arial"/>
                <a:ea typeface="DejaVu Sans"/>
              </a:rPr>
              <a:t>#1: </a:t>
            </a:r>
            <a:r>
              <a:rPr b="1" i="1" lang="en-US" sz="1200" spc="-1" strike="noStrike">
                <a:solidFill>
                  <a:srgbClr val="000000"/>
                </a:solidFill>
                <a:latin typeface="Arial"/>
                <a:ea typeface="DejaVu Sans"/>
              </a:rPr>
              <a:t>“Vehicle \ IHPC-Tab”</a:t>
            </a:r>
            <a:endParaRPr b="0" lang="en-US" sz="1200" spc="-1" strike="noStrike">
              <a:solidFill>
                <a:srgbClr val="000000"/>
              </a:solidFill>
              <a:latin typeface="Arial"/>
            </a:endParaRPr>
          </a:p>
          <a:p>
            <a:pPr algn="ctr">
              <a:lnSpc>
                <a:spcPct val="100000"/>
              </a:lnSpc>
              <a:spcBef>
                <a:spcPts val="601"/>
              </a:spcBef>
            </a:pPr>
            <a:r>
              <a:rPr b="1" lang="en-US" sz="1200" spc="-1" strike="noStrike">
                <a:solidFill>
                  <a:srgbClr val="000000"/>
                </a:solidFill>
                <a:latin typeface="Arial"/>
                <a:ea typeface="DejaVu Sans"/>
              </a:rPr>
              <a:t>#2: </a:t>
            </a:r>
            <a:r>
              <a:rPr b="1" i="1" lang="en-US" sz="1200" spc="-1" strike="noStrike">
                <a:solidFill>
                  <a:srgbClr val="000000"/>
                </a:solidFill>
                <a:latin typeface="Arial"/>
                <a:ea typeface="DejaVu Sans"/>
              </a:rPr>
              <a:t>“Gearbox”</a:t>
            </a:r>
            <a:endParaRPr b="0" lang="en-US" sz="1200" spc="-1" strike="noStrike">
              <a:solidFill>
                <a:srgbClr val="000000"/>
              </a:solidFill>
              <a:latin typeface="Arial"/>
            </a:endParaRPr>
          </a:p>
        </p:txBody>
      </p:sp>
      <p:sp>
        <p:nvSpPr>
          <p:cNvPr id="166" name="Ellipse 12"/>
          <p:cNvSpPr/>
          <p:nvPr/>
        </p:nvSpPr>
        <p:spPr>
          <a:xfrm>
            <a:off x="583560" y="2413080"/>
            <a:ext cx="577080" cy="1054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0600" bIns="30600" anchor="t">
            <a:noAutofit/>
          </a:bodyPr>
          <a:p>
            <a:pPr>
              <a:lnSpc>
                <a:spcPct val="100000"/>
              </a:lnSpc>
            </a:pPr>
            <a:endParaRPr b="0" lang="en-US" sz="1800" spc="-1" strike="noStrike">
              <a:solidFill>
                <a:srgbClr val="000000"/>
              </a:solidFill>
              <a:latin typeface="Arial"/>
              <a:ea typeface="DejaVu Sans"/>
            </a:endParaRPr>
          </a:p>
        </p:txBody>
      </p:sp>
      <p:pic>
        <p:nvPicPr>
          <p:cNvPr id="167" name="Grafik 16" descr=""/>
          <p:cNvPicPr/>
          <p:nvPr/>
        </p:nvPicPr>
        <p:blipFill>
          <a:blip r:embed="rId4"/>
          <a:srcRect l="0" t="0" r="0" b="34206"/>
          <a:stretch/>
        </p:blipFill>
        <p:spPr>
          <a:xfrm>
            <a:off x="3324600" y="1908720"/>
            <a:ext cx="2506680" cy="1621440"/>
          </a:xfrm>
          <a:prstGeom prst="rect">
            <a:avLst/>
          </a:prstGeom>
          <a:ln w="0">
            <a:solidFill>
              <a:srgbClr val="000000"/>
            </a:solidFill>
          </a:ln>
        </p:spPr>
      </p:pic>
      <p:sp>
        <p:nvSpPr>
          <p:cNvPr id="168" name="Ellipse 13"/>
          <p:cNvSpPr/>
          <p:nvPr/>
        </p:nvSpPr>
        <p:spPr>
          <a:xfrm>
            <a:off x="3357360" y="2801160"/>
            <a:ext cx="577080" cy="14148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9" name="Gerade Verbindung mit Pfeil 15"/>
          <p:cNvSpPr/>
          <p:nvPr/>
        </p:nvSpPr>
        <p:spPr>
          <a:xfrm flipH="1" flipV="1">
            <a:off x="3700440" y="3022560"/>
            <a:ext cx="184680" cy="328680"/>
          </a:xfrm>
          <a:custGeom>
            <a:avLst/>
            <a:gdLst>
              <a:gd name="textAreaLeft" fmla="*/ 720 w 184680"/>
              <a:gd name="textAreaRight" fmla="*/ 186840 w 184680"/>
              <a:gd name="textAreaTop" fmla="*/ 720 h 328680"/>
              <a:gd name="textAreaBottom" fmla="*/ 330840 h 328680"/>
            </a:gdLst>
            <a:ahLst/>
            <a:rect l="textAreaLeft" t="textAreaTop" r="textAreaRight" b="textAreaBottom"/>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0" name="Textfeld 17"/>
          <p:cNvSpPr/>
          <p:nvPr/>
        </p:nvSpPr>
        <p:spPr>
          <a:xfrm>
            <a:off x="3830760" y="3159000"/>
            <a:ext cx="131364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pPr>
            <a:r>
              <a:rPr b="1" lang="en-US" sz="1050" spc="-1" strike="noStrike">
                <a:solidFill>
                  <a:srgbClr val="ff0000"/>
                </a:solidFill>
                <a:latin typeface="Arial"/>
                <a:ea typeface="DejaVu Sans"/>
              </a:rPr>
              <a:t>Click for specific IHPC GUI-window</a:t>
            </a:r>
            <a:endParaRPr b="0" lang="en-US" sz="1050" spc="-1" strike="noStrike">
              <a:solidFill>
                <a:srgbClr val="000000"/>
              </a:solidFill>
              <a:latin typeface="Arial"/>
            </a:endParaRPr>
          </a:p>
        </p:txBody>
      </p:sp>
      <p:sp>
        <p:nvSpPr>
          <p:cNvPr id="171" name="Textfeld 19"/>
          <p:cNvSpPr/>
          <p:nvPr/>
        </p:nvSpPr>
        <p:spPr>
          <a:xfrm>
            <a:off x="13680" y="2660040"/>
            <a:ext cx="67464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solidFill>
                <a:srgbClr val="000000"/>
              </a:solidFill>
              <a:latin typeface="Arial"/>
            </a:endParaRPr>
          </a:p>
        </p:txBody>
      </p:sp>
      <p:sp>
        <p:nvSpPr>
          <p:cNvPr id="172" name="Textfeld 20"/>
          <p:cNvSpPr/>
          <p:nvPr/>
        </p:nvSpPr>
        <p:spPr>
          <a:xfrm>
            <a:off x="784440" y="3373560"/>
            <a:ext cx="98856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solidFill>
                <a:srgbClr val="000000"/>
              </a:solidFill>
              <a:latin typeface="Arial"/>
            </a:endParaRPr>
          </a:p>
        </p:txBody>
      </p:sp>
      <p:sp>
        <p:nvSpPr>
          <p:cNvPr id="173" name="Gerade Verbindung mit Pfeil 21"/>
          <p:cNvSpPr/>
          <p:nvPr/>
        </p:nvSpPr>
        <p:spPr>
          <a:xfrm flipV="1">
            <a:off x="352080" y="2502360"/>
            <a:ext cx="313920" cy="152280"/>
          </a:xfrm>
          <a:custGeom>
            <a:avLst/>
            <a:gdLst>
              <a:gd name="textAreaLeft" fmla="*/ 0 w 313920"/>
              <a:gd name="textAreaRight" fmla="*/ 315360 w 313920"/>
              <a:gd name="textAreaTop" fmla="*/ 720 h 152280"/>
              <a:gd name="textAreaBottom" fmla="*/ 154440 h 15228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4" name="Gerade Verbindung mit Pfeil 24"/>
          <p:cNvSpPr/>
          <p:nvPr/>
        </p:nvSpPr>
        <p:spPr>
          <a:xfrm flipH="1" flipV="1">
            <a:off x="871200" y="2746440"/>
            <a:ext cx="403920" cy="622800"/>
          </a:xfrm>
          <a:custGeom>
            <a:avLst/>
            <a:gdLst>
              <a:gd name="textAreaLeft" fmla="*/ -720 w 403920"/>
              <a:gd name="textAreaRight" fmla="*/ 404640 w 403920"/>
              <a:gd name="textAreaTop" fmla="*/ -720 h 622800"/>
              <a:gd name="textAreaBottom" fmla="*/ 623520 h 62280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5" name="Ellipse 25"/>
          <p:cNvSpPr/>
          <p:nvPr/>
        </p:nvSpPr>
        <p:spPr>
          <a:xfrm>
            <a:off x="583560" y="2640600"/>
            <a:ext cx="577080" cy="1054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0600" bIns="30600" anchor="t">
            <a:noAutofit/>
          </a:bodyPr>
          <a:p>
            <a:pPr>
              <a:lnSpc>
                <a:spcPct val="100000"/>
              </a:lnSpc>
            </a:pPr>
            <a:endParaRPr b="0" lang="en-US" sz="1800" spc="-1" strike="noStrike">
              <a:solidFill>
                <a:srgbClr val="000000"/>
              </a:solidFill>
              <a:latin typeface="Arial"/>
              <a:ea typeface="DejaVu Sans"/>
            </a:endParaRPr>
          </a:p>
        </p:txBody>
      </p:sp>
      <p:sp>
        <p:nvSpPr>
          <p:cNvPr id="176" name="Pfeil nach rechts 28"/>
          <p:cNvSpPr/>
          <p:nvPr/>
        </p:nvSpPr>
        <p:spPr>
          <a:xfrm>
            <a:off x="1369800" y="2322360"/>
            <a:ext cx="1871280" cy="3628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pPr>
            <a:r>
              <a:rPr b="1" lang="de-AT" sz="1100" spc="-1" strike="noStrike">
                <a:solidFill>
                  <a:srgbClr val="ffffff"/>
                </a:solidFill>
                <a:latin typeface="Arial"/>
                <a:ea typeface="DejaVu Sans"/>
              </a:rPr>
              <a:t>item #1</a:t>
            </a:r>
            <a:endParaRPr b="0" lang="en-US" sz="1100" spc="-1" strike="noStrike">
              <a:solidFill>
                <a:srgbClr val="000000"/>
              </a:solidFill>
              <a:latin typeface="Arial"/>
            </a:endParaRPr>
          </a:p>
        </p:txBody>
      </p:sp>
      <p:sp>
        <p:nvSpPr>
          <p:cNvPr id="177" name="Pfeil nach rechts 31"/>
          <p:cNvSpPr/>
          <p:nvPr/>
        </p:nvSpPr>
        <p:spPr>
          <a:xfrm rot="1800000">
            <a:off x="830880" y="3836160"/>
            <a:ext cx="4722480" cy="3628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pPr>
            <a:r>
              <a:rPr b="1" lang="de-AT" sz="1100" spc="-1" strike="noStrike">
                <a:solidFill>
                  <a:srgbClr val="ffffff"/>
                </a:solidFill>
                <a:latin typeface="Arial"/>
                <a:ea typeface="DejaVu Sans"/>
              </a:rPr>
              <a:t>item #2</a:t>
            </a:r>
            <a:endParaRPr b="0" lang="en-US" sz="1100" spc="-1" strike="noStrike">
              <a:solidFill>
                <a:srgbClr val="000000"/>
              </a:solidFill>
              <a:latin typeface="Arial"/>
            </a:endParaRPr>
          </a:p>
        </p:txBody>
      </p:sp>
      <p:sp>
        <p:nvSpPr>
          <p:cNvPr id="178" name="Ellipse 35"/>
          <p:cNvSpPr/>
          <p:nvPr/>
        </p:nvSpPr>
        <p:spPr>
          <a:xfrm>
            <a:off x="6062760" y="4896360"/>
            <a:ext cx="933480" cy="1414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9" name="Textfeld 41"/>
          <p:cNvSpPr/>
          <p:nvPr/>
        </p:nvSpPr>
        <p:spPr>
          <a:xfrm>
            <a:off x="6800400" y="4439880"/>
            <a:ext cx="98856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solidFill>
                <a:srgbClr val="000000"/>
              </a:solidFill>
              <a:latin typeface="Arial"/>
            </a:endParaRPr>
          </a:p>
        </p:txBody>
      </p:sp>
      <p:sp>
        <p:nvSpPr>
          <p:cNvPr id="180" name="Textfeld 42"/>
          <p:cNvSpPr/>
          <p:nvPr/>
        </p:nvSpPr>
        <p:spPr>
          <a:xfrm>
            <a:off x="7506720" y="1510200"/>
            <a:ext cx="67464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Adaptations Serial Hybrid Strategy  (1/3)</a:t>
            </a:r>
            <a:endParaRPr b="0" lang="en-US" sz="2400" spc="-1" strike="noStrike">
              <a:solidFill>
                <a:srgbClr val="000000"/>
              </a:solidFill>
              <a:latin typeface="Arial"/>
            </a:endParaRPr>
          </a:p>
        </p:txBody>
      </p:sp>
      <p:sp>
        <p:nvSpPr>
          <p:cNvPr id="182"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en-US" sz="2000" spc="-1" strike="noStrike">
              <a:solidFill>
                <a:srgbClr val="000000"/>
              </a:solidFill>
              <a:latin typeface="Arial"/>
            </a:endParaRPr>
          </a:p>
        </p:txBody>
      </p:sp>
      <p:sp>
        <p:nvSpPr>
          <p:cNvPr id="183" name="PlaceHolder 3"/>
          <p:cNvSpPr>
            <a:spLocks noGrp="1"/>
          </p:cNvSpPr>
          <p:nvPr>
            <p:ph type="sldNum" idx="13"/>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84" name="Grafik 7" descr=""/>
          <p:cNvPicPr/>
          <p:nvPr/>
        </p:nvPicPr>
        <p:blipFill>
          <a:blip r:embed="rId1"/>
          <a:stretch/>
        </p:blipFill>
        <p:spPr>
          <a:xfrm>
            <a:off x="1650240" y="2942640"/>
            <a:ext cx="4497120" cy="275400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Adaptations Serial Hybrid Strategy  (2/3)</a:t>
            </a:r>
            <a:endParaRPr b="0" lang="en-US" sz="2400" spc="-1" strike="noStrike">
              <a:solidFill>
                <a:srgbClr val="000000"/>
              </a:solidFill>
              <a:latin typeface="Arial"/>
            </a:endParaRPr>
          </a:p>
        </p:txBody>
      </p:sp>
      <p:sp>
        <p:nvSpPr>
          <p:cNvPr id="186" name="PlaceHolder 2"/>
          <p:cNvSpPr>
            <a:spLocks noGrp="1"/>
          </p:cNvSpPr>
          <p:nvPr>
            <p:ph/>
          </p:nvPr>
        </p:nvSpPr>
        <p:spPr>
          <a:xfrm>
            <a:off x="622440" y="2137320"/>
            <a:ext cx="5024520" cy="34794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Minor changes in Serial Hybrid Strategy</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on as soon as SoC falls below SoC_min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off as soon as SoC reaches SoC_target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operation points P_opt and P_max:</a:t>
            </a:r>
            <a:endParaRPr b="0" lang="en-US" sz="16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In total 4 points defined, for GenSet in regular and in de-rating condition</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en-US" sz="1400" spc="-1" strike="noStrike">
              <a:solidFill>
                <a:srgbClr val="000000"/>
              </a:solidFill>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&gt; P_opt: GENSET @ P_max</a:t>
            </a:r>
            <a:endParaRPr b="0" lang="en-US" sz="1200" spc="-1" strike="noStrike">
              <a:solidFill>
                <a:srgbClr val="000000"/>
              </a:solidFill>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 P_opt: GENSET @ P_opt</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i="1" lang="en-US" sz="1600" spc="-1" strike="noStrike">
                <a:solidFill>
                  <a:srgbClr val="000000"/>
                </a:solidFill>
                <a:latin typeface="Arial"/>
              </a:rPr>
              <a:t>Note: SoC_min shall be above battery’s min SoC</a:t>
            </a:r>
            <a:endParaRPr b="0" lang="en-US" sz="1600" spc="-1" strike="noStrike">
              <a:solidFill>
                <a:srgbClr val="000000"/>
              </a:solidFill>
              <a:latin typeface="Arial"/>
            </a:endParaRPr>
          </a:p>
        </p:txBody>
      </p:sp>
      <p:sp>
        <p:nvSpPr>
          <p:cNvPr id="187" name="PlaceHolder 3"/>
          <p:cNvSpPr>
            <a:spLocks noGrp="1"/>
          </p:cNvSpPr>
          <p:nvPr>
            <p:ph type="sldNum" idx="14"/>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88" name="Grafik 4" descr=""/>
          <p:cNvPicPr/>
          <p:nvPr/>
        </p:nvPicPr>
        <p:blipFill>
          <a:blip r:embed="rId1"/>
          <a:stretch/>
        </p:blipFill>
        <p:spPr>
          <a:xfrm>
            <a:off x="5649120" y="4174560"/>
            <a:ext cx="3365280" cy="1361160"/>
          </a:xfrm>
          <a:prstGeom prst="rect">
            <a:avLst/>
          </a:prstGeom>
          <a:ln w="0">
            <a:noFill/>
          </a:ln>
        </p:spPr>
      </p:pic>
      <p:pic>
        <p:nvPicPr>
          <p:cNvPr id="189" name="Grafik 5" descr=""/>
          <p:cNvPicPr/>
          <p:nvPr/>
        </p:nvPicPr>
        <p:blipFill>
          <a:blip r:embed="rId2"/>
          <a:stretch/>
        </p:blipFill>
        <p:spPr>
          <a:xfrm>
            <a:off x="7012440" y="1480680"/>
            <a:ext cx="2001960" cy="2348640"/>
          </a:xfrm>
          <a:prstGeom prst="rect">
            <a:avLst/>
          </a:prstGeom>
          <a:ln w="0">
            <a:noFill/>
          </a:ln>
        </p:spPr>
      </p:pic>
      <p:sp>
        <p:nvSpPr>
          <p:cNvPr id="190" name="Gerade Verbindung mit Pfeil 6"/>
          <p:cNvSpPr/>
          <p:nvPr/>
        </p:nvSpPr>
        <p:spPr>
          <a:xfrm flipV="1">
            <a:off x="6318360" y="2518200"/>
            <a:ext cx="639000" cy="1569960"/>
          </a:xfrm>
          <a:custGeom>
            <a:avLst/>
            <a:gdLst>
              <a:gd name="textAreaLeft" fmla="*/ 0 w 639000"/>
              <a:gd name="textAreaRight" fmla="*/ 640440 w 639000"/>
              <a:gd name="textAreaTop" fmla="*/ 720 h 1569960"/>
              <a:gd name="textAreaBottom" fmla="*/ 1572120 h 1569960"/>
            </a:gdLst>
            <a:ahLst/>
            <a:rect l="textAreaLeft" t="textAreaTop" r="textAreaRight" b="textAreaBottom"/>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Adaptations Serial Hybrid Strategy  (3/3)</a:t>
            </a:r>
            <a:endParaRPr b="0" lang="en-US" sz="2400" spc="-1" strike="noStrike">
              <a:solidFill>
                <a:srgbClr val="000000"/>
              </a:solidFill>
              <a:latin typeface="Arial"/>
            </a:endParaRPr>
          </a:p>
        </p:txBody>
      </p:sp>
      <p:sp>
        <p:nvSpPr>
          <p:cNvPr id="192"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GenSet now always operates in optimal point</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Speed profile is unchanged, SoC trace slightly different</a:t>
            </a:r>
            <a:endParaRPr b="0" lang="en-US" sz="2000" spc="-1" strike="noStrike">
              <a:solidFill>
                <a:srgbClr val="000000"/>
              </a:solidFill>
              <a:latin typeface="Arial"/>
            </a:endParaRPr>
          </a:p>
        </p:txBody>
      </p:sp>
      <p:sp>
        <p:nvSpPr>
          <p:cNvPr id="193" name="PlaceHolder 3"/>
          <p:cNvSpPr>
            <a:spLocks noGrp="1"/>
          </p:cNvSpPr>
          <p:nvPr>
            <p:ph type="sldNum" idx="15"/>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94" name="Grafik 7" descr=""/>
          <p:cNvPicPr/>
          <p:nvPr/>
        </p:nvPicPr>
        <p:blipFill>
          <a:blip r:embed="rId1"/>
          <a:stretch/>
        </p:blipFill>
        <p:spPr>
          <a:xfrm>
            <a:off x="1659240" y="2942640"/>
            <a:ext cx="4479480" cy="275400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SoC Correction for HEV-S</a:t>
            </a:r>
            <a:endParaRPr b="0" lang="en-US" sz="2400" spc="-1" strike="noStrike">
              <a:solidFill>
                <a:srgbClr val="000000"/>
              </a:solidFill>
              <a:latin typeface="Arial"/>
            </a:endParaRPr>
          </a:p>
        </p:txBody>
      </p:sp>
      <p:sp>
        <p:nvSpPr>
          <p:cNvPr id="196"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REESS SoC for HEV is corrected using the engine line</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Engine line makes no sense for HEV-S as the ICE is decoupled from the drivetrain and operates only in certain points</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SoC Correction:</a:t>
            </a:r>
            <a:endParaRPr b="0" lang="en-US" sz="20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p:txBody>
      </p:sp>
      <p:sp>
        <p:nvSpPr>
          <p:cNvPr id="197" name="PlaceHolder 3"/>
          <p:cNvSpPr>
            <a:spLocks noGrp="1"/>
          </p:cNvSpPr>
          <p:nvPr>
            <p:ph type="sldNum" idx="16"/>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98" name="Grafik 4" descr=""/>
          <p:cNvPicPr/>
          <p:nvPr/>
        </p:nvPicPr>
        <p:blipFill>
          <a:blip r:embed="rId1"/>
          <a:stretch/>
        </p:blipFill>
        <p:spPr>
          <a:xfrm>
            <a:off x="1735920" y="3544560"/>
            <a:ext cx="2486880" cy="434160"/>
          </a:xfrm>
          <a:prstGeom prst="rect">
            <a:avLst/>
          </a:prstGeom>
          <a:ln w="0">
            <a:noFill/>
          </a:ln>
        </p:spPr>
      </p:pic>
      <p:pic>
        <p:nvPicPr>
          <p:cNvPr id="199" name="Grafik 5" descr=""/>
          <p:cNvPicPr/>
          <p:nvPr/>
        </p:nvPicPr>
        <p:blipFill>
          <a:blip r:embed="rId2"/>
          <a:stretch/>
        </p:blipFill>
        <p:spPr>
          <a:xfrm>
            <a:off x="4686840" y="3607560"/>
            <a:ext cx="1723680" cy="307440"/>
          </a:xfrm>
          <a:prstGeom prst="rect">
            <a:avLst/>
          </a:prstGeom>
          <a:ln w="0">
            <a:noFill/>
          </a:ln>
        </p:spPr>
      </p:pic>
      <p:pic>
        <p:nvPicPr>
          <p:cNvPr id="200" name="Grafik 6" descr=""/>
          <p:cNvPicPr/>
          <p:nvPr/>
        </p:nvPicPr>
        <p:blipFill>
          <a:blip r:embed="rId3"/>
          <a:stretch/>
        </p:blipFill>
        <p:spPr>
          <a:xfrm>
            <a:off x="1453320" y="4127040"/>
            <a:ext cx="2858040" cy="528120"/>
          </a:xfrm>
          <a:prstGeom prst="rect">
            <a:avLst/>
          </a:prstGeom>
          <a:ln w="0">
            <a:noFill/>
          </a:ln>
        </p:spPr>
      </p:pic>
      <p:pic>
        <p:nvPicPr>
          <p:cNvPr id="201" name="Grafik 7" descr=""/>
          <p:cNvPicPr/>
          <p:nvPr/>
        </p:nvPicPr>
        <p:blipFill>
          <a:blip r:embed="rId4"/>
          <a:stretch/>
        </p:blipFill>
        <p:spPr>
          <a:xfrm>
            <a:off x="1453320" y="4777200"/>
            <a:ext cx="2707200" cy="491400"/>
          </a:xfrm>
          <a:prstGeom prst="rect">
            <a:avLst/>
          </a:prstGeom>
          <a:ln w="0">
            <a:noFill/>
          </a:ln>
        </p:spPr>
      </p:pic>
      <p:sp>
        <p:nvSpPr>
          <p:cNvPr id="202" name="Textfeld 8"/>
          <p:cNvSpPr/>
          <p:nvPr/>
        </p:nvSpPr>
        <p:spPr>
          <a:xfrm>
            <a:off x="4557240" y="4253760"/>
            <a:ext cx="389808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on during the simulation</a:t>
            </a:r>
            <a:endParaRPr b="0" lang="en-US" sz="1200" spc="-1" strike="noStrike">
              <a:solidFill>
                <a:srgbClr val="000000"/>
              </a:solidFill>
              <a:latin typeface="Arial"/>
            </a:endParaRPr>
          </a:p>
        </p:txBody>
      </p:sp>
      <p:sp>
        <p:nvSpPr>
          <p:cNvPr id="203" name="Textfeld 9"/>
          <p:cNvSpPr/>
          <p:nvPr/>
        </p:nvSpPr>
        <p:spPr>
          <a:xfrm>
            <a:off x="4584960" y="4885560"/>
            <a:ext cx="417708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not on during the simulation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en-US" sz="1600" spc="-1" strike="noStrike">
              <a:solidFill>
                <a:srgbClr val="000000"/>
              </a:solidFill>
              <a:latin typeface="Arial"/>
            </a:endParaRPr>
          </a:p>
        </p:txBody>
      </p:sp>
      <p:sp>
        <p:nvSpPr>
          <p:cNvPr id="205"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Serial Hybrid Vehicles S2, S3, S4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APT-S/P with E2 and S2 vehicle architecture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Connect electric WHR system to REESS in case of hybrid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LH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 Implementation</a:t>
            </a:r>
            <a:endParaRPr b="0" lang="en-US" sz="2400" spc="-1" strike="noStrike">
              <a:solidFill>
                <a:srgbClr val="000000"/>
              </a:solidFill>
              <a:latin typeface="Arial"/>
            </a:endParaRPr>
          </a:p>
        </p:txBody>
      </p:sp>
      <p:sp>
        <p:nvSpPr>
          <p:cNvPr id="207"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General approach</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Simple operating strategy, not ECMS–based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Three-point controller for GenSet (off/optimal point/maximum power)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Operate GenSet in optimal load-points whenever required and possible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Drivetrain similar to PEV</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Hybrids: GenSet Pre-Processing</a:t>
            </a:r>
            <a:endParaRPr b="0" lang="en-US" sz="2400" spc="-1" strike="noStrike">
              <a:solidFill>
                <a:srgbClr val="000000"/>
              </a:solidFill>
              <a:latin typeface="Arial"/>
            </a:endParaRPr>
          </a:p>
        </p:txBody>
      </p:sp>
      <p:sp>
        <p:nvSpPr>
          <p:cNvPr id="209"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Find optimal points for the GenSet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0 to maximum power of the ICE (20 steps)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Calculate electric power and fuel consumption for all load-points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Select operating points:</a:t>
            </a:r>
            <a:endParaRPr b="0" lang="en-US" sz="18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electric power, EM de-rated/not de-rated</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Optimal operating point (minimum FC per electric power generated), EM de-rated/not de-rated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 Strategy (main principles)</a:t>
            </a:r>
            <a:endParaRPr b="0" lang="en-US" sz="2400" spc="-1" strike="noStrike">
              <a:solidFill>
                <a:srgbClr val="000000"/>
              </a:solidFill>
              <a:latin typeface="Arial"/>
            </a:endParaRPr>
          </a:p>
        </p:txBody>
      </p:sp>
      <p:sp>
        <p:nvSpPr>
          <p:cNvPr id="211" name="PlaceHolder 2"/>
          <p:cNvSpPr>
            <a:spLocks noGrp="1"/>
          </p:cNvSpPr>
          <p:nvPr>
            <p:ph/>
          </p:nvPr>
        </p:nvSpPr>
        <p:spPr>
          <a:xfrm>
            <a:off x="468360" y="1582560"/>
            <a:ext cx="5627520" cy="4541040"/>
          </a:xfrm>
          <a:prstGeom prst="rect">
            <a:avLst/>
          </a:prstGeom>
          <a:noFill/>
          <a:ln w="0">
            <a:noFill/>
          </a:ln>
        </p:spPr>
        <p:txBody>
          <a:bodyPr numCol="1" spcCol="0" lIns="90000" rIns="90000" tIns="45000" bIns="4500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en-US"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en-US"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en-US" sz="1600" spc="-1" strike="noStrike">
              <a:solidFill>
                <a:srgbClr val="000000"/>
              </a:solidFill>
              <a:latin typeface="Arial"/>
            </a:endParaRPr>
          </a:p>
        </p:txBody>
      </p:sp>
      <p:pic>
        <p:nvPicPr>
          <p:cNvPr id="212" name="Grafik 4" descr=""/>
          <p:cNvPicPr/>
          <p:nvPr/>
        </p:nvPicPr>
        <p:blipFill>
          <a:blip r:embed="rId1"/>
          <a:stretch/>
        </p:blipFill>
        <p:spPr>
          <a:xfrm>
            <a:off x="5924880" y="2263320"/>
            <a:ext cx="2940480" cy="3071880"/>
          </a:xfrm>
          <a:prstGeom prst="rect">
            <a:avLst/>
          </a:prstGeom>
          <a:ln w="0">
            <a:noFill/>
          </a:ln>
        </p:spPr>
      </p:pic>
      <p:pic>
        <p:nvPicPr>
          <p:cNvPr id="213" name="Grafik 5" descr=""/>
          <p:cNvPicPr/>
          <p:nvPr/>
        </p:nvPicPr>
        <p:blipFill>
          <a:blip r:embed="rId2"/>
          <a:stretch/>
        </p:blipFill>
        <p:spPr>
          <a:xfrm>
            <a:off x="622440" y="3945240"/>
            <a:ext cx="3775680" cy="1711080"/>
          </a:xfrm>
          <a:prstGeom prst="rect">
            <a:avLst/>
          </a:prstGeom>
          <a:ln w="0">
            <a:noFill/>
          </a:ln>
        </p:spPr>
      </p:pic>
      <p:sp>
        <p:nvSpPr>
          <p:cNvPr id="214" name="Textfeld 6"/>
          <p:cNvSpPr/>
          <p:nvPr/>
        </p:nvSpPr>
        <p:spPr>
          <a:xfrm>
            <a:off x="90360" y="5779080"/>
            <a:ext cx="5957280" cy="25704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pPr>
            <a:r>
              <a:rPr b="1" i="1" lang="en-US" sz="1100" spc="-1" strike="noStrike">
                <a:solidFill>
                  <a:srgbClr val="808080"/>
                </a:solidFill>
                <a:latin typeface="Arial"/>
                <a:ea typeface="DejaVu Sans"/>
              </a:rPr>
              <a:t>Note: SoC_min and SoC_target are parameters of the SerialHybridStrategy, not REESS</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Hybrids: GenSet</a:t>
            </a:r>
            <a:endParaRPr b="0" lang="en-US" sz="2400" spc="-1" strike="noStrike">
              <a:solidFill>
                <a:srgbClr val="000000"/>
              </a:solidFill>
              <a:latin typeface="Arial"/>
            </a:endParaRPr>
          </a:p>
        </p:txBody>
      </p:sp>
      <p:sp>
        <p:nvSpPr>
          <p:cNvPr id="216"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 Strategy Parameters</a:t>
            </a:r>
            <a:endParaRPr b="0" lang="en-US" sz="2400" spc="-1" strike="noStrike">
              <a:solidFill>
                <a:srgbClr val="000000"/>
              </a:solidFill>
              <a:latin typeface="Arial"/>
            </a:endParaRPr>
          </a:p>
        </p:txBody>
      </p:sp>
      <p:sp>
        <p:nvSpPr>
          <p:cNvPr id="218"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MinSoC</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TargetSoC</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Inhaltsplatzhalter 4" descr=""/>
          <p:cNvPicPr/>
          <p:nvPr/>
        </p:nvPicPr>
        <p:blipFill>
          <a:blip r:embed="rId1"/>
          <a:stretch/>
        </p:blipFill>
        <p:spPr>
          <a:xfrm>
            <a:off x="467640" y="1124640"/>
            <a:ext cx="7623720" cy="454104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GB" sz="2400" spc="-1" strike="noStrike">
                <a:solidFill>
                  <a:srgbClr val="990000"/>
                </a:solidFill>
                <a:latin typeface="Arial"/>
              </a:rPr>
              <a:t>EM: overload buffer calculated from both voltage levels</a:t>
            </a:r>
            <a:endParaRPr b="0" lang="en-US" sz="2400" spc="-1" strike="noStrike">
              <a:solidFill>
                <a:srgbClr val="000000"/>
              </a:solidFill>
              <a:latin typeface="Arial"/>
            </a:endParaRPr>
          </a:p>
        </p:txBody>
      </p:sp>
      <p:sp>
        <p:nvSpPr>
          <p:cNvPr id="221"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Input parameters of EM measured for min and max voltage level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Overload data</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Continuous Torque</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Overload Torque + Overload Duration</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Maximum and Minimum torque limitations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Electric power map</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Implementation in software: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en-US" sz="16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Overload buffer</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and Minimum torque limitations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Continuous Torque</a:t>
            </a:r>
            <a:endParaRPr b="0" lang="en-US" sz="1400" spc="-1" strike="noStrike">
              <a:solidFill>
                <a:srgbClr val="000000"/>
              </a:solidFill>
              <a:latin typeface="Arial"/>
            </a:endParaRPr>
          </a:p>
        </p:txBody>
      </p:sp>
      <p:pic>
        <p:nvPicPr>
          <p:cNvPr id="222" name="Grafik 5" descr=""/>
          <p:cNvPicPr/>
          <p:nvPr/>
        </p:nvPicPr>
        <p:blipFill>
          <a:blip r:embed="rId1"/>
          <a:stretch/>
        </p:blipFill>
        <p:spPr>
          <a:xfrm>
            <a:off x="6131160" y="4268520"/>
            <a:ext cx="2445480" cy="276480"/>
          </a:xfrm>
          <a:prstGeom prst="rect">
            <a:avLst/>
          </a:prstGeom>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Inhaltsplatzhalter 2"/>
          <p:cNvSpPr/>
          <p:nvPr/>
        </p:nvSpPr>
        <p:spPr>
          <a:xfrm>
            <a:off x="622440" y="1990440"/>
            <a:ext cx="4745160" cy="344448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Ref. to ticket nr. 1478+1479</a:t>
            </a:r>
            <a:endParaRPr b="0" lang="en-US" sz="1800" spc="-1" strike="noStrike">
              <a:solidFill>
                <a:srgbClr val="000000"/>
              </a:solidFill>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Only relevant for P1 + P2 HEV where EM is located upstream of transmission</a:t>
            </a:r>
            <a:endParaRPr b="0" lang="en-US" sz="1800" spc="-1" strike="noStrike">
              <a:solidFill>
                <a:srgbClr val="000000"/>
              </a:solidFill>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Starting Point: ICE FLD</a:t>
            </a:r>
            <a:endParaRPr b="0" lang="en-US" sz="1800" spc="-1" strike="noStrike">
              <a:solidFill>
                <a:srgbClr val="000000"/>
              </a:solidFill>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Crop with max ICE torque declared at vehicle level (per gear) </a:t>
            </a:r>
            <a:br>
              <a:rPr sz="1800"/>
            </a:br>
            <a:r>
              <a:rPr b="1" i="1" lang="en-US" sz="1200" spc="-1" strike="noStrike">
                <a:solidFill>
                  <a:srgbClr val="376092"/>
                </a:solidFill>
                <a:latin typeface="Arial"/>
                <a:ea typeface="DejaVu Sans"/>
              </a:rPr>
              <a:t>‘Vehicle/EngineTorqueLimits’ per gear – P196 + P197</a:t>
            </a:r>
            <a:endParaRPr b="0" lang="en-US" sz="1200" spc="-1" strike="noStrike">
              <a:solidFill>
                <a:srgbClr val="000000"/>
              </a:solidFill>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Add boosting torque</a:t>
            </a:r>
            <a:br>
              <a:rPr sz="1800"/>
            </a:br>
            <a:r>
              <a:rPr b="1" i="1" lang="en-US" sz="1200" spc="-1" strike="noStrike">
                <a:solidFill>
                  <a:srgbClr val="376092"/>
                </a:solidFill>
                <a:latin typeface="Arial"/>
                <a:ea typeface="DejaVu Sans"/>
              </a:rPr>
              <a:t>Boosting limitations for parallel HEV – P415 + P416</a:t>
            </a:r>
            <a:endParaRPr b="0" lang="en-US" sz="1200" spc="-1" strike="noStrike">
              <a:solidFill>
                <a:srgbClr val="000000"/>
              </a:solidFill>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In case of P1 or P2: crop with gearbox max input torque (per gear)  </a:t>
            </a:r>
            <a:r>
              <a:rPr b="1" i="1" lang="en-US" sz="1200" spc="-1" strike="noStrike">
                <a:solidFill>
                  <a:srgbClr val="376092"/>
                </a:solidFill>
                <a:latin typeface="Arial"/>
                <a:ea typeface="DejaVu Sans"/>
              </a:rPr>
              <a:t>MaxTorque – P157</a:t>
            </a:r>
            <a:endParaRPr b="0" lang="en-US" sz="1200" spc="-1" strike="noStrike">
              <a:solidFill>
                <a:srgbClr val="000000"/>
              </a:solidFill>
              <a:latin typeface="Arial"/>
            </a:endParaRPr>
          </a:p>
          <a:p>
            <a:pPr marL="357120" indent="-357120">
              <a:lnSpc>
                <a:spcPct val="100000"/>
              </a:lnSpc>
              <a:spcBef>
                <a:spcPts val="360"/>
              </a:spcBef>
              <a:tabLst>
                <a:tab algn="l" pos="0"/>
              </a:tabLst>
            </a:pPr>
            <a:r>
              <a:rPr b="1" lang="en-US" sz="1800" spc="-1" strike="noStrike">
                <a:solidFill>
                  <a:srgbClr val="000000"/>
                </a:solidFill>
                <a:latin typeface="Wingdings"/>
                <a:ea typeface="DejaVu Sans"/>
              </a:rPr>
              <a:t></a:t>
            </a: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Torque limits per gear applied by HybridStrategy</a:t>
            </a:r>
            <a:endParaRPr b="0" lang="en-US" sz="1800" spc="-1" strike="noStrike">
              <a:solidFill>
                <a:srgbClr val="000000"/>
              </a:solidFill>
              <a:latin typeface="Arial"/>
            </a:endParaRPr>
          </a:p>
        </p:txBody>
      </p:sp>
      <p:sp>
        <p:nvSpPr>
          <p:cNvPr id="224" name="Textfeld 6"/>
          <p:cNvSpPr/>
          <p:nvPr/>
        </p:nvSpPr>
        <p:spPr>
          <a:xfrm>
            <a:off x="5237640" y="1922040"/>
            <a:ext cx="3516120" cy="257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pPr>
            <a:r>
              <a:rPr b="1" lang="en-US" sz="1100" spc="-1" strike="noStrike">
                <a:solidFill>
                  <a:srgbClr val="000000"/>
                </a:solidFill>
                <a:latin typeface="Arial"/>
                <a:ea typeface="DejaVu Sans"/>
              </a:rPr>
              <a:t>Example for P2</a:t>
            </a:r>
            <a:endParaRPr b="0" lang="en-US" sz="1100" spc="-1" strike="noStrike">
              <a:solidFill>
                <a:srgbClr val="000000"/>
              </a:solidFill>
              <a:latin typeface="Arial"/>
            </a:endParaRPr>
          </a:p>
        </p:txBody>
      </p:sp>
      <p:pic>
        <p:nvPicPr>
          <p:cNvPr id="225" name="Grafik 7" descr=""/>
          <p:cNvPicPr/>
          <p:nvPr/>
        </p:nvPicPr>
        <p:blipFill>
          <a:blip r:embed="rId1"/>
          <a:stretch/>
        </p:blipFill>
        <p:spPr>
          <a:xfrm>
            <a:off x="5220360" y="2088000"/>
            <a:ext cx="3812040" cy="2788920"/>
          </a:xfrm>
          <a:prstGeom prst="rect">
            <a:avLst/>
          </a:prstGeom>
          <a:ln w="0">
            <a:noFill/>
          </a:ln>
        </p:spPr>
      </p:pic>
      <p:pic>
        <p:nvPicPr>
          <p:cNvPr id="226" name="Grafik 8" descr=""/>
          <p:cNvPicPr/>
          <p:nvPr/>
        </p:nvPicPr>
        <p:blipFill>
          <a:blip r:embed="rId2"/>
          <a:stretch/>
        </p:blipFill>
        <p:spPr>
          <a:xfrm>
            <a:off x="5781960" y="4757760"/>
            <a:ext cx="2813400" cy="1213920"/>
          </a:xfrm>
          <a:prstGeom prst="rect">
            <a:avLst/>
          </a:prstGeom>
          <a:ln w="0">
            <a:noFill/>
          </a:ln>
        </p:spPr>
      </p:pic>
      <p:sp>
        <p:nvSpPr>
          <p:cNvPr id="227"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GB" sz="2400" spc="-1" strike="noStrike">
                <a:solidFill>
                  <a:srgbClr val="990000"/>
                </a:solidFill>
                <a:latin typeface="Arial"/>
              </a:rPr>
              <a:t>Consider gearbox MaxTorque limits for HEV</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solidFill>
                <a:srgbClr val="000000"/>
              </a:solidFill>
              <a:latin typeface="Arial"/>
            </a:endParaRPr>
          </a:p>
        </p:txBody>
      </p:sp>
      <p:sp>
        <p:nvSpPr>
          <p:cNvPr id="229"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[VECTO-1541] - Implement E2/S2 with APT-S/P</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[VECTO-1549] - Error in gearshift behavior for AT transmissions when braking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[VECTO-1466] - 076.2451 E2 significant increase of calculation time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[VECTO-1479] - Maximum gearbox torque not respected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[VECTO-1519] - 077.2457 E2 Gear oscillation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[VECTO-1520] - 077.2457 P2 Crashing at takeoff</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[VECTO-1532] - 077.2547 P2 crashing with 600 RPM idling speed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[VECTO-1539] - Engine speed ramping up before vehicle halt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[VECTO-1551] - AT-P Transmission Bus Application: Error during braking phase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[VECTO-1559] - battery internal resistance curve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[VECTO-1411] - Switching to new .NET version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[VECTO-1456] - Cycle Cache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[VECTO-1478] - Torque limits only apply to ICE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[VECTO-1521] - Updating tyre dimensions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solidFill>
                <a:srgbClr val="000000"/>
              </a:solidFill>
              <a:latin typeface="Arial"/>
            </a:endParaRPr>
          </a:p>
        </p:txBody>
      </p:sp>
      <p:sp>
        <p:nvSpPr>
          <p:cNvPr id="231"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[VECTO-1525] - PCC Preprocessing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[VECTO-1533] - Multi-Target Compilation and .NET Upgrade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[VECTO-1538] - Transmission ratios limitation of input value to &lt;=25</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[VECTO-1540] - Retarder Types AxleGearInputRetarder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[VECTO-1543] - Calculation of EM Overload buffer, and continuous torque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[VECTO-1545] - WHR electric - connect to REESS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[VECTO-1548] - Update Coach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[VECTO-1560] - update toolchain for generating usermanual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[VECTO-1562] - Adapting WHTC Correction Factor weighting for LH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[VECTO-1563] - Electric Motor: Calculation of Overload Buffer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[VECTO-1564] - XML Schema adaptations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[VECTO-1569] - Bugfix: Extrapolation warning in PEV shift strategy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[VECTO-1573] - Update LH Cycle and WHTC correction factor weighting</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33"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APT-N Gearbox + shift strategy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model (drag curve independent of voltage level)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electric power map interpolation method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user 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calculation E_EM_off_loss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generic shift lines for PEV E2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PCC for xEV</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35"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(1/x)</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Calculation of overload buffer for EM</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Overload buffer is currently calculated with data for lower voltage level only</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Propulsion Torque Limits (Vehicle Boosting Limits)</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Declared values lower than zero are not allowed for the additional torque.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Pulse-duration dependency of internal resistance of battery</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HEV operation strategy method for declaration mode</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further details refer to distributed material/recording from xEV workshop #8</a:t>
            </a:r>
            <a:endParaRPr b="0" lang="en-US" sz="10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37"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(2/x)</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Auxiliaries for PEV</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en-US" sz="1000" spc="-1" strike="noStrike">
              <a:solidFill>
                <a:srgbClr val="000000"/>
              </a:solidFill>
              <a:latin typeface="Arial"/>
            </a:endParaRPr>
          </a:p>
          <a:p>
            <a:pPr indent="0">
              <a:lnSpc>
                <a:spcPct val="100000"/>
              </a:lnSpc>
              <a:buNone/>
              <a:tabLst>
                <a:tab algn="l" pos="0"/>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Gearshift model for PEV</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Details explained on next slides</a:t>
            </a:r>
            <a:endParaRPr b="0" lang="en-US" sz="1000" spc="-1" strike="noStrike">
              <a:solidFill>
                <a:srgbClr val="000000"/>
              </a:solidFill>
              <a:latin typeface="Arial"/>
            </a:endParaRPr>
          </a:p>
        </p:txBody>
      </p:sp>
      <p:grpSp>
        <p:nvGrpSpPr>
          <p:cNvPr id="238" name="Gruppieren 12"/>
          <p:cNvGrpSpPr/>
          <p:nvPr/>
        </p:nvGrpSpPr>
        <p:grpSpPr>
          <a:xfrm>
            <a:off x="1047600" y="2188080"/>
            <a:ext cx="7961760" cy="2517480"/>
            <a:chOff x="1047600" y="2188080"/>
            <a:chExt cx="7961760" cy="2517480"/>
          </a:xfrm>
        </p:grpSpPr>
        <p:pic>
          <p:nvPicPr>
            <p:cNvPr id="239" name="Grafik 5" descr=""/>
            <p:cNvPicPr/>
            <p:nvPr/>
          </p:nvPicPr>
          <p:blipFill>
            <a:blip r:embed="rId1"/>
            <a:srcRect l="0" t="0" r="53567" b="0"/>
            <a:stretch/>
          </p:blipFill>
          <p:spPr>
            <a:xfrm>
              <a:off x="5004000" y="2188080"/>
              <a:ext cx="2508480" cy="2517480"/>
            </a:xfrm>
            <a:prstGeom prst="rect">
              <a:avLst/>
            </a:prstGeom>
            <a:ln w="0">
              <a:noFill/>
            </a:ln>
          </p:spPr>
        </p:pic>
        <p:grpSp>
          <p:nvGrpSpPr>
            <p:cNvPr id="240" name="Gruppieren 7"/>
            <p:cNvGrpSpPr/>
            <p:nvPr/>
          </p:nvGrpSpPr>
          <p:grpSpPr>
            <a:xfrm>
              <a:off x="1047600" y="2188080"/>
              <a:ext cx="3733200" cy="2517480"/>
              <a:chOff x="1047600" y="2188080"/>
              <a:chExt cx="3733200" cy="2517480"/>
            </a:xfrm>
          </p:grpSpPr>
          <p:pic>
            <p:nvPicPr>
              <p:cNvPr id="241" name="Grafik 4" descr=""/>
              <p:cNvPicPr/>
              <p:nvPr/>
            </p:nvPicPr>
            <p:blipFill>
              <a:blip r:embed="rId2"/>
              <a:stretch/>
            </p:blipFill>
            <p:spPr>
              <a:xfrm>
                <a:off x="1187640" y="2188080"/>
                <a:ext cx="3593160" cy="2517480"/>
              </a:xfrm>
              <a:prstGeom prst="rect">
                <a:avLst/>
              </a:prstGeom>
              <a:ln w="0">
                <a:noFill/>
              </a:ln>
            </p:spPr>
          </p:pic>
          <p:sp>
            <p:nvSpPr>
              <p:cNvPr id="242" name="Ellipse 6"/>
              <p:cNvSpPr/>
              <p:nvPr/>
            </p:nvSpPr>
            <p:spPr>
              <a:xfrm>
                <a:off x="1047600" y="3812760"/>
                <a:ext cx="897480" cy="285480"/>
              </a:xfrm>
              <a:prstGeom prst="ellipse">
                <a:avLst/>
              </a:prstGeom>
              <a:noFill/>
              <a:ln w="19050">
                <a:solidFill>
                  <a:srgbClr val="ff000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grpSp>
        <p:sp>
          <p:nvSpPr>
            <p:cNvPr id="243" name="Legende mit Linie 1 10"/>
            <p:cNvSpPr/>
            <p:nvPr/>
          </p:nvSpPr>
          <p:spPr>
            <a:xfrm>
              <a:off x="7566480" y="2836080"/>
              <a:ext cx="1442880" cy="33588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tabLst>
                  <a:tab algn="l" pos="0"/>
                </a:tabLst>
              </a:pPr>
              <a:r>
                <a:rPr b="0" lang="de-DE" sz="1100" spc="-1" strike="noStrike">
                  <a:solidFill>
                    <a:srgbClr val="000000"/>
                  </a:solidFill>
                  <a:latin typeface="Arial"/>
                  <a:ea typeface="DejaVu Sans"/>
                </a:rPr>
                <a:t>Demand during vehicle driving</a:t>
              </a:r>
              <a:endParaRPr b="0" lang="en-US" sz="1100" spc="-1" strike="noStrike">
                <a:solidFill>
                  <a:srgbClr val="000000"/>
                </a:solidFill>
                <a:latin typeface="Arial"/>
              </a:endParaRPr>
            </a:p>
          </p:txBody>
        </p:sp>
        <p:sp>
          <p:nvSpPr>
            <p:cNvPr id="244" name="Legende mit Linie 1 11"/>
            <p:cNvSpPr/>
            <p:nvPr/>
          </p:nvSpPr>
          <p:spPr>
            <a:xfrm>
              <a:off x="7566480" y="3340080"/>
              <a:ext cx="1442880" cy="33588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tabLst>
                  <a:tab algn="l" pos="0"/>
                </a:tabLst>
              </a:pPr>
              <a:r>
                <a:rPr b="0" lang="de-DE" sz="1100" spc="-1" strike="noStrike">
                  <a:solidFill>
                    <a:srgbClr val="000000"/>
                  </a:solidFill>
                  <a:latin typeface="Arial"/>
                  <a:ea typeface="DejaVu Sans"/>
                </a:rPr>
                <a:t>Demand during vehicle standstill</a:t>
              </a:r>
              <a:endParaRPr b="0" lang="en-US" sz="11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5" name="Grafik 14" descr=""/>
          <p:cNvPicPr/>
          <p:nvPr/>
        </p:nvPicPr>
        <p:blipFill>
          <a:blip r:embed="rId1"/>
          <a:stretch/>
        </p:blipFill>
        <p:spPr>
          <a:xfrm>
            <a:off x="323640" y="1743840"/>
            <a:ext cx="5757480" cy="4746240"/>
          </a:xfrm>
          <a:prstGeom prst="rect">
            <a:avLst/>
          </a:prstGeom>
          <a:ln w="0">
            <a:noFill/>
          </a:ln>
        </p:spPr>
      </p:pic>
      <p:sp>
        <p:nvSpPr>
          <p:cNvPr id="24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47"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(1/x)</a:t>
            </a:r>
            <a:endParaRPr b="0" lang="en-US" sz="1600" spc="-1" strike="noStrike">
              <a:solidFill>
                <a:srgbClr val="000000"/>
              </a:solidFill>
              <a:latin typeface="Arial"/>
            </a:endParaRPr>
          </a:p>
        </p:txBody>
      </p:sp>
      <p:sp>
        <p:nvSpPr>
          <p:cNvPr id="248" name="Textfeld 12"/>
          <p:cNvSpPr/>
          <p:nvPr/>
        </p:nvSpPr>
        <p:spPr>
          <a:xfrm>
            <a:off x="6156000" y="1524960"/>
            <a:ext cx="2985480" cy="46774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Basics:</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Downshift for operation point left of green dot-dashed downshift lines</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Upshift for operation point right of green dot-dashed upshift line</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method applied for operation point between downshift and upshift lines (refer to user manual) </a:t>
            </a:r>
            <a:endParaRPr b="0" lang="en-US" sz="1000" spc="-1" strike="noStrike">
              <a:solidFill>
                <a:srgbClr val="000000"/>
              </a:solidFill>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Driving:</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Maximum downshift speed always located at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(where 80% of max power is available)</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For EM in de-rating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is calculated from the de-rated power curve</a:t>
            </a:r>
            <a:endParaRPr b="0" lang="en-US" sz="1000" spc="-1" strike="noStrike">
              <a:solidFill>
                <a:srgbClr val="000000"/>
              </a:solidFill>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Braking:</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is suppressed for operation point within red shaded area</a:t>
            </a:r>
            <a:br>
              <a:rPr sz="1000"/>
            </a:br>
            <a:r>
              <a:rPr b="0" lang="en-US" sz="1000" spc="-1" strike="noStrike">
                <a:solidFill>
                  <a:srgbClr val="000000"/>
                </a:solidFill>
                <a:latin typeface="Arial"/>
                <a:ea typeface="DejaVu Sans"/>
              </a:rPr>
              <a:t>(2% below max recuperation power)</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New gear after downshift is selected so that operation point is closest to and above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(or only closest to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in case no operation point with higher speed exists)</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9" name="Grafik 6" descr=""/>
          <p:cNvPicPr/>
          <p:nvPr/>
        </p:nvPicPr>
        <p:blipFill>
          <a:blip r:embed="rId1"/>
          <a:stretch/>
        </p:blipFill>
        <p:spPr>
          <a:xfrm>
            <a:off x="323640" y="1743840"/>
            <a:ext cx="5757480" cy="4746240"/>
          </a:xfrm>
          <a:prstGeom prst="rect">
            <a:avLst/>
          </a:prstGeom>
          <a:ln w="0">
            <a:noFill/>
          </a:ln>
        </p:spPr>
      </p:pic>
      <p:sp>
        <p:nvSpPr>
          <p:cNvPr id="25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51"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(2/x)</a:t>
            </a:r>
            <a:endParaRPr b="0" lang="en-US" sz="1600" spc="-1" strike="noStrike">
              <a:solidFill>
                <a:srgbClr val="000000"/>
              </a:solidFill>
              <a:latin typeface="Arial"/>
            </a:endParaRPr>
          </a:p>
        </p:txBody>
      </p:sp>
      <p:sp>
        <p:nvSpPr>
          <p:cNvPr id="252" name="Textfeld 12"/>
          <p:cNvSpPr/>
          <p:nvPr/>
        </p:nvSpPr>
        <p:spPr>
          <a:xfrm>
            <a:off x="6156000" y="1524960"/>
            <a:ext cx="2985480" cy="10969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All factors in bold red can be tuned via shift parameter file .vtcu</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Refer to sample file for User Manual/PEV_ShiftParameters.vtcu distributed together with VECTO archive</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54"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[VECTO-1460] - APT-N Gearbox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[VECTO-1501] - Update EM Map interpolation method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[VECTO-1477] - Update user 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[VECTO-1383] - E2 PEV, 2-speed AMT: "Failed to find operating point"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[VECTO-1384] - E2 PEV, 2-speed AMT: Downshifts missing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[VECTO-1443] - 0.7.5.2356 EC_el_final calculated from REESS terminal signals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[VECTO-1445] - 073.2356, E2 Missing Downshifts, simulation abort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[VECTO-1464] - Engine Off not working with activated PCC (Hybrid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[VECTO-1465] - PEV PCCState oscillates between Interrupt and UseCase1</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[VECTO-1467] - PCC HEV Small Spike at end of UseCase1 when Target speed is reached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[VECTO-1468] - EM map interpolation comments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[VECTO-1470] - 076.2463 EM drag torque questions/findings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[VECTO-1482] - Hybrid Vehicle EM speed gets very high, no gearshift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[VECTO-1483] - Job aborting: E4_Group 5 LH_ll_LongHaul_mod5_id_2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[VECTO-1484] - Job aborting: P2_Group5_s2c0_rep_Payload_LongHaul_mod5_id_27</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[VECTO-1486] - NG PI fuel type not working with Engine GUI (.veng)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[VECTO-1487] - Calculation of EM efficiency during recuperation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[VECTO-1490] - Exceeded max iterations: Operating Point could not be found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56"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[VECTO-1491] - Electric Energy Storage Editor does not show values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[VECTO-1499] - Energy balance when ICE is turned on in a P1 hybrid configuration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[VECTO-1515] - Output in vsum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[VECTO-1516] - GUI: PEV vehicle, disable hybrid parameters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[VECTO-1489] - Engine-off eco-roll for P1 hybrids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[VECTO-1448] - 075.2356, E2 Selecting high gear in downhill, needs to use wheel brakes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[VECTO-1472] - Do not end PCC if acceleration is still high enough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[VECTO-1473] - Additional tyre dimensions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[VECTO-1476] - Update EM GUI, EM component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[VECTO-1493] - Use EngineStartStop in PCC-Events for Hybrid P1</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[VECTO-1498] - Crosswind correction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[VECTO-1508] - EM-Off Losses in .vsum</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[VECTO-1509] - SP Technology "Electric" already contains mechanical power demand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[VECTO-1510] - Remove selection of shift strategy in job dialog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[VECTO-1511] - Error Message for "HEVs and BEVs not supported in Declaration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[VECTO-1512] - Adapt shift lines for xEV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[VECTO-1513] - Bus Aux post-processing correction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[VECTO-1481] - New warning message regarding transmission: what does it mean?</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en-US" sz="1600" spc="-1" strike="noStrike">
              <a:solidFill>
                <a:srgbClr val="000000"/>
              </a:solidFill>
              <a:latin typeface="Arial"/>
            </a:endParaRPr>
          </a:p>
        </p:txBody>
      </p:sp>
      <p:sp>
        <p:nvSpPr>
          <p:cNvPr id="258"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ADAS for HEV and PEV vehicles</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HEV vehicles interaction of PCC and HEV strategy under further analysis</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electric motor model: support for different voltage levels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modular battery components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pulse-duration dependent internal resistance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en-US" sz="1600" spc="-1" strike="noStrike">
              <a:solidFill>
                <a:srgbClr val="000000"/>
              </a:solidFill>
              <a:latin typeface="Arial"/>
            </a:endParaRPr>
          </a:p>
        </p:txBody>
      </p:sp>
      <p:sp>
        <p:nvSpPr>
          <p:cNvPr id="260" name="PlaceHolder 2"/>
          <p:cNvSpPr>
            <a:spLocks noGrp="1"/>
          </p:cNvSpPr>
          <p:nvPr>
            <p:ph/>
          </p:nvPr>
        </p:nvSpPr>
        <p:spPr>
          <a:xfrm>
            <a:off x="323640" y="1268640"/>
            <a:ext cx="8494560" cy="4821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Additional Powertrain architectures</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P1 AMT and APT-S/P</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P2.5 (transmission ratio EM per gear)</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P3 &amp; P4 with APT transmissions</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Loss-map for electric machine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Bus auxiliaries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Combine Bus auxiliaries with HEV powertrains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Refactoring Engine Stop/Start approach</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Added vehicle propulsion limits (relative to ICE max torque)</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 P3, and P4</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Refactored EM model: continuous torque, overload torque as separate inputs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en-US" sz="1600" spc="-1" strike="noStrike">
              <a:solidFill>
                <a:srgbClr val="000000"/>
              </a:solidFill>
              <a:latin typeface="Arial"/>
            </a:endParaRPr>
          </a:p>
        </p:txBody>
      </p:sp>
      <p:sp>
        <p:nvSpPr>
          <p:cNvPr id="262" name="PlaceHolder 2"/>
          <p:cNvSpPr>
            <a:spLocks noGrp="1"/>
          </p:cNvSpPr>
          <p:nvPr>
            <p:ph/>
          </p:nvPr>
        </p:nvSpPr>
        <p:spPr>
          <a:xfrm>
            <a:off x="323640" y="1268640"/>
            <a:ext cx="8494560" cy="1725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SuperCap model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Removed E_REESS from .vmod file, calculate delta_E_REESS from P_REESS in .vsum file</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en-US" sz="1600" spc="-1" strike="noStrike">
              <a:solidFill>
                <a:srgbClr val="000000"/>
              </a:solidFill>
              <a:latin typeface="Arial"/>
            </a:endParaRPr>
          </a:p>
        </p:txBody>
      </p:sp>
      <p:sp>
        <p:nvSpPr>
          <p:cNvPr id="264" name="PlaceHolder 2"/>
          <p:cNvSpPr>
            <a:spLocks noGrp="1"/>
          </p:cNvSpPr>
          <p:nvPr>
            <p:ph/>
          </p:nvPr>
        </p:nvSpPr>
        <p:spPr>
          <a:xfrm>
            <a:off x="323640" y="1268640"/>
            <a:ext cx="8494560" cy="1725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PEV architecture E2 with EffShift-like gearshift strategy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REESS Dialog (.vimax)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in output of EM overload output in .vmod file </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en-US" sz="1600" spc="-1" strike="noStrike">
              <a:solidFill>
                <a:srgbClr val="000000"/>
              </a:solidFill>
              <a:latin typeface="Arial"/>
            </a:endParaRPr>
          </a:p>
        </p:txBody>
      </p:sp>
      <p:sp>
        <p:nvSpPr>
          <p:cNvPr id="266" name="PlaceHolder 2"/>
          <p:cNvSpPr>
            <a:spLocks noGrp="1"/>
          </p:cNvSpPr>
          <p:nvPr>
            <p:ph/>
          </p:nvPr>
        </p:nvSpPr>
        <p:spPr>
          <a:xfrm>
            <a:off x="323640" y="1268640"/>
            <a:ext cx="8494560" cy="1725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More stable operating point search hybrid strategy</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Bugfixes hybrid strategy</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Super Cap as REESS </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electric machine thermal de-rating</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Modified battery model: max charge/discharge current over state of charge</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Improvements simulation time hybrid vehicles</a:t>
            </a:r>
            <a:endParaRPr b="0" lang="en-US" sz="1100" spc="-1" strike="noStrike">
              <a:solidFill>
                <a:srgbClr val="000000"/>
              </a:solidFill>
              <a:latin typeface="Arial"/>
            </a:endParaRPr>
          </a:p>
        </p:txBody>
      </p:sp>
      <p:sp>
        <p:nvSpPr>
          <p:cNvPr id="267" name="Textfeld 3"/>
          <p:cNvSpPr/>
          <p:nvPr/>
        </p:nvSpPr>
        <p:spPr>
          <a:xfrm>
            <a:off x="719640" y="3161160"/>
            <a:ext cx="7702200" cy="729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400" spc="-1" strike="noStrike">
                <a:solidFill>
                  <a:srgbClr val="000000"/>
                </a:solidFill>
                <a:latin typeface="Arial"/>
                <a:ea typeface="DejaVu Sans"/>
              </a:rPr>
              <a:t>Note: </a:t>
            </a:r>
            <a:r>
              <a:rPr b="0" lang="en-US" sz="1400" spc="-1" strike="noStrike">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en-US" sz="1600" spc="-1" strike="noStrike">
              <a:solidFill>
                <a:srgbClr val="000000"/>
              </a:solidFill>
              <a:latin typeface="Arial"/>
            </a:endParaRPr>
          </a:p>
        </p:txBody>
      </p:sp>
      <p:sp>
        <p:nvSpPr>
          <p:cNvPr id="269" name="PlaceHolder 2"/>
          <p:cNvSpPr>
            <a:spLocks noGrp="1"/>
          </p:cNvSpPr>
          <p:nvPr>
            <p:ph/>
          </p:nvPr>
        </p:nvSpPr>
        <p:spPr>
          <a:xfrm>
            <a:off x="323640" y="1268640"/>
            <a:ext cx="8494560" cy="5110200"/>
          </a:xfrm>
          <a:prstGeom prst="rect">
            <a:avLst/>
          </a:prstGeom>
          <a:noFill/>
          <a:ln w="0">
            <a:noFill/>
          </a:ln>
        </p:spPr>
        <p:txBody>
          <a:bodyPr numCol="1" spcCol="0" lIns="90000" rIns="90000" tIns="45000" bIns="45000" anchor="t">
            <a:noAutofit/>
          </a:bodyPr>
          <a:p>
            <a:pPr marL="343080" indent="-343080">
              <a:lnSpc>
                <a:spcPct val="100000"/>
              </a:lnSpc>
              <a:spcBef>
                <a:spcPts val="241"/>
              </a:spcBef>
              <a:buClr>
                <a:srgbClr val="000000"/>
              </a:buClr>
              <a:buFont typeface="Symbol"/>
              <a:buChar char=""/>
              <a:tabLst>
                <a:tab algn="l" pos="1886040"/>
              </a:tabLst>
            </a:pPr>
            <a:r>
              <a:rPr b="1" lang="en-US" sz="1200" spc="-1" strike="noStrike">
                <a:solidFill>
                  <a:srgbClr val="000000"/>
                </a:solidFill>
                <a:latin typeface="Arial"/>
              </a:rPr>
              <a:t>Changes</a:t>
            </a:r>
            <a:endParaRPr b="0" lang="en-US" sz="12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Known limitations</a:t>
            </a:r>
            <a:endParaRPr b="0" lang="en-US" sz="10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Electric machine system overload feature not available – work in progress</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Supercaps not implemented – work in progress</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APTs with HEV – to be implemented</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Eco-roll and PCC not implemented</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en-US" sz="1600" spc="-1" strike="noStrike">
              <a:solidFill>
                <a:srgbClr val="000000"/>
              </a:solidFill>
              <a:latin typeface="Arial"/>
            </a:endParaRPr>
          </a:p>
        </p:txBody>
      </p:sp>
      <p:sp>
        <p:nvSpPr>
          <p:cNvPr id="271" name="PlaceHolder 2"/>
          <p:cNvSpPr>
            <a:spLocks noGrp="1"/>
          </p:cNvSpPr>
          <p:nvPr>
            <p:ph/>
          </p:nvPr>
        </p:nvSpPr>
        <p:spPr>
          <a:xfrm>
            <a:off x="323640" y="1268640"/>
            <a:ext cx="8638560" cy="5110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Bugfixes </a:t>
            </a:r>
            <a:endParaRPr b="0" lang="en-US" sz="16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Change passenger density primary vehicle for IU cycle</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primary vehicle: ignore TPMLM (to limit payload, do not abort simulation)</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completed vehicle: limit total mass with TPMLM (abort simulation)</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set alternator gear efficiency to 1 to align with lorries (currently 0.92)</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generic values for primary HF vehicles CdxA</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check/correct internal height for coaches (shall be 1.8m)</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user manual on VTP cycle file format</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APT gearbox (all gears) generic efficiency 0.925</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VTP engineering mode - vsum actual CF different to declaration mode</a:t>
            </a:r>
            <a:endParaRPr b="0" lang="en-US" sz="10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Improvements</a:t>
            </a:r>
            <a:endParaRPr b="0" lang="en-US" sz="12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Switch GUI to 64bit mode (see VECTO-1270)</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New normalization/denormalization method for generic engine FC-Map (see VECTO-1269) </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Bus VTP: Fan Parameter C4</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don't write CIF for primary vehicle</a:t>
            </a:r>
            <a:endParaRPr b="0" lang="en-US" sz="1000" spc="-1" strike="noStrike">
              <a:solidFill>
                <a:srgbClr val="000000"/>
              </a:solidFill>
              <a:latin typeface="Arial"/>
            </a:endParaRPr>
          </a:p>
          <a:p>
            <a:pPr indent="0">
              <a:lnSpc>
                <a:spcPct val="100000"/>
              </a:lnSpc>
              <a:buNone/>
              <a:tabLst>
                <a:tab algn="l" pos="0"/>
              </a:tabLst>
            </a:pPr>
            <a:endParaRPr b="0" lang="en-US" sz="1000" spc="-1" strike="noStrike">
              <a:solidFill>
                <a:srgbClr val="000000"/>
              </a:solidFill>
              <a:latin typeface="Arial"/>
            </a:endParaRPr>
          </a:p>
          <a:p>
            <a:pPr indent="0">
              <a:lnSpc>
                <a:spcPct val="100000"/>
              </a:lnSpc>
              <a:buNone/>
              <a:tabLst>
                <a:tab algn="l" pos="0"/>
              </a:tabLst>
            </a:pP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solidFill>
                <a:srgbClr val="000000"/>
              </a:solidFill>
              <a:latin typeface="Arial"/>
            </a:endParaRPr>
          </a:p>
        </p:txBody>
      </p:sp>
      <p:sp>
        <p:nvSpPr>
          <p:cNvPr id="273" name="PlaceHolder 2"/>
          <p:cNvSpPr>
            <a:spLocks noGrp="1"/>
          </p:cNvSpPr>
          <p:nvPr>
            <p:ph/>
          </p:nvPr>
        </p:nvSpPr>
        <p:spPr>
          <a:xfrm>
            <a:off x="323640" y="1268640"/>
            <a:ext cx="8638560" cy="5110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Improvements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Declaration mode for complete and completed buses via “factor method”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heavy buses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dual-fuel vehicles (new cycle file required!)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highway sections on coach cycle (required for PCC)</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job file (PIF + completed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single bus job file (primary XML + completed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Simulation of all types of VECTO jobs</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XML reports (MRF, CIF, PIF) according to draft Annex IV</a:t>
            </a:r>
            <a:endParaRPr b="0" lang="en-US" sz="1600" spc="-1" strike="noStrike">
              <a:solidFill>
                <a:srgbClr val="000000"/>
              </a:solidFill>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en-US" sz="1600" spc="-1" strike="noStrike">
              <a:solidFill>
                <a:srgbClr val="000000"/>
              </a:solidFill>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solidFill>
                <a:srgbClr val="000000"/>
              </a:solidFill>
              <a:latin typeface="Arial"/>
            </a:endParaRPr>
          </a:p>
        </p:txBody>
      </p:sp>
      <p:sp>
        <p:nvSpPr>
          <p:cNvPr id="27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heavy buses </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for engine fan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Consider electric auxiliaries (fan, steering pump) as electrical consumer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pneumatic system with mechanical clutch</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electrical consumers LED bonus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passenger count depending on HVAC configuration</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Bugfixes medium lorries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technologies for electric steering pump</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tyre xml supported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Bugfixes graphical user interface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sample data VTP</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en-US" sz="1600" spc="-1" strike="noStrike">
              <a:solidFill>
                <a:srgbClr val="000000"/>
              </a:solidFill>
              <a:latin typeface="Arial"/>
            </a:endParaRPr>
          </a:p>
        </p:txBody>
      </p:sp>
      <p:sp>
        <p:nvSpPr>
          <p:cNvPr id="27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JobEditor GUI – toolbar with icons not visible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null-reference exception simulating vehicles in engineering mode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en-US" sz="1600" spc="-1" strike="noStrike">
              <a:solidFill>
                <a:srgbClr val="000000"/>
              </a:solidFill>
              <a:latin typeface="Arial"/>
            </a:endParaRPr>
          </a:p>
        </p:txBody>
      </p:sp>
      <p:sp>
        <p:nvSpPr>
          <p:cNvPr id="27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P0 hybrids in bus auxiliaries model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“primary bus” (declaration mode)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medium lorries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vehicles with front-wheel drive (axlegear included in gearbox)</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VTP Mode for medium lorries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en-US" sz="1800" spc="-1" strike="noStrike">
              <a:solidFill>
                <a:srgbClr val="000000"/>
              </a:solidFill>
              <a:latin typeface="Arial"/>
            </a:endParaRPr>
          </a:p>
          <a:p>
            <a:pPr marL="457200" indent="0">
              <a:lnSpc>
                <a:spcPct val="100000"/>
              </a:lnSpc>
              <a:spcBef>
                <a:spcPts val="320"/>
              </a:spcBef>
              <a:buNone/>
              <a:tabLst>
                <a:tab algn="l" pos="0"/>
              </a:tabLst>
            </a:pPr>
            <a:endParaRPr b="0" lang="en-US" sz="1600" spc="-1" strike="noStrike">
              <a:solidFill>
                <a:srgbClr val="000000"/>
              </a:solidFill>
              <a:latin typeface="Arial"/>
            </a:endParaRPr>
          </a:p>
          <a:p>
            <a:pPr marL="457200" indent="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en-US" sz="1600" spc="-1" strike="noStrike">
              <a:solidFill>
                <a:srgbClr val="000000"/>
              </a:solidFill>
              <a:latin typeface="Arial"/>
            </a:endParaRPr>
          </a:p>
          <a:p>
            <a:pPr marL="457200"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en-US" sz="1600" spc="-1" strike="noStrike">
              <a:solidFill>
                <a:srgbClr val="000000"/>
              </a:solidFill>
              <a:latin typeface="Arial"/>
            </a:endParaRPr>
          </a:p>
        </p:txBody>
      </p:sp>
      <p:sp>
        <p:nvSpPr>
          <p:cNvPr id="28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Adding in-the-loop simulation of advanced driver assistant systems (ADAS)</a:t>
            </a:r>
            <a:endParaRPr b="0" lang="en-US" sz="18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Engine stop-start during vehicle stop</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Eco-roll with and without engine stop</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Predictive cruise control: dip coasting, crest coasting</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dual-fuel vehicles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waste- / exhaust-heat recovery systems (electrical and mechanical)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gear shift strategy (EffShift) for AMT and AT transmissions</a:t>
            </a:r>
            <a:endParaRPr b="0" lang="en-US" sz="1600" spc="-1" strike="noStrike">
              <a:solidFill>
                <a:srgbClr val="000000"/>
              </a:solidFill>
              <a:latin typeface="Arial"/>
            </a:endParaRPr>
          </a:p>
          <a:p>
            <a:pPr marL="457200" indent="0">
              <a:lnSpc>
                <a:spcPct val="100000"/>
              </a:lnSpc>
              <a:spcBef>
                <a:spcPts val="320"/>
              </a:spcBef>
              <a:buNone/>
              <a:tabLst>
                <a:tab algn="l" pos="0"/>
              </a:tabLst>
            </a:pPr>
            <a:endParaRPr b="0" lang="en-US" sz="1600" spc="-1" strike="noStrike">
              <a:solidFill>
                <a:srgbClr val="000000"/>
              </a:solidFill>
              <a:latin typeface="Arial"/>
            </a:endParaRPr>
          </a:p>
          <a:p>
            <a:pPr marL="457200" indent="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en-US" sz="1600" spc="-1" strike="noStrike">
              <a:solidFill>
                <a:srgbClr val="000000"/>
              </a:solidFill>
              <a:latin typeface="Arial"/>
            </a:endParaRPr>
          </a:p>
          <a:p>
            <a:pPr marL="457200"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en-US" sz="1600" spc="-1" strike="noStrike">
              <a:solidFill>
                <a:srgbClr val="000000"/>
              </a:solidFill>
              <a:latin typeface="Arial"/>
            </a:endParaRPr>
          </a:p>
        </p:txBody>
      </p:sp>
      <p:sp>
        <p:nvSpPr>
          <p:cNvPr id="28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3.3.10.2401</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solidFill>
                <a:srgbClr val="000000"/>
              </a:solidFill>
              <a:latin typeface="Arial"/>
            </a:endParaRPr>
          </a:p>
        </p:txBody>
      </p:sp>
      <p:sp>
        <p:nvSpPr>
          <p:cNvPr id="28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1449] – Handling of exempted vehicles: See next slide for details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[VECTO-1404] – Corrected URL for CSS in MRF and CIF</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solidFill>
                <a:srgbClr val="000000"/>
              </a:solidFill>
              <a:latin typeface="Arial"/>
            </a:endParaRPr>
          </a:p>
        </p:txBody>
      </p:sp>
      <p:sp>
        <p:nvSpPr>
          <p:cNvPr id="28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479"/>
              </a:spcBef>
              <a:buNone/>
              <a:tabLst>
                <a:tab algn="l" pos="0"/>
              </a:tabLst>
            </a:pPr>
            <a:r>
              <a:rPr b="1" lang="en-US" sz="2400" spc="-1" strike="noStrike">
                <a:solidFill>
                  <a:srgbClr val="990000"/>
                </a:solidFill>
                <a:latin typeface="Arial"/>
              </a:rPr>
              <a:t>Handling of exempted vehicles</a:t>
            </a:r>
            <a:endParaRPr b="0" lang="en-US" sz="2400" spc="-1" strike="noStrike">
              <a:solidFill>
                <a:srgbClr val="000000"/>
              </a:solidFill>
              <a:latin typeface="Arial"/>
            </a:endParaRPr>
          </a:p>
          <a:p>
            <a:pPr indent="0">
              <a:lnSpc>
                <a:spcPct val="100000"/>
              </a:lnSpc>
              <a:spcBef>
                <a:spcPts val="360"/>
              </a:spcBef>
              <a:buNone/>
              <a:tabLst>
                <a:tab algn="l" pos="0"/>
              </a:tabLst>
            </a:pPr>
            <a:endParaRPr b="0" lang="en-US" sz="18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OEMs are recommended to provide these parameters for exempted vehicles.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The sleeper cab input parameter is also part of the MRF if provided as input.</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en-US" sz="1600" spc="-1" strike="noStrike">
              <a:solidFill>
                <a:srgbClr val="000000"/>
              </a:solidFill>
              <a:latin typeface="Arial"/>
            </a:endParaRPr>
          </a:p>
        </p:txBody>
      </p:sp>
      <p:sp>
        <p:nvSpPr>
          <p:cNvPr id="28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version 3.3.9.2147)</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 – regression update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en-US" sz="1600" spc="-1" strike="noStrike">
              <a:solidFill>
                <a:srgbClr val="000000"/>
              </a:solidFill>
              <a:latin typeface="Arial"/>
            </a:endParaRPr>
          </a:p>
        </p:txBody>
      </p:sp>
      <p:sp>
        <p:nvSpPr>
          <p:cNvPr id="29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[VECTO-1331] - VTP Mode does not function for vehicles of group 3</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[VECTO-1355] - VTP Simulation Abort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[VECTO-1356] - PTO Losses not considered in VTP simulation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[VECTO-1372] - Deviation of CdxA Input vs. Output for HDV16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[VECTO-1360] - make unit tests execute in parallel</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en-US" sz="1600" spc="-1" strike="noStrike">
              <a:solidFill>
                <a:srgbClr val="000000"/>
              </a:solidFill>
              <a:latin typeface="Arial"/>
            </a:endParaRPr>
          </a:p>
        </p:txBody>
      </p:sp>
      <p:sp>
        <p:nvSpPr>
          <p:cNvPr id="29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3.3.8.2024</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en-US" sz="1600" spc="-1" strike="noStrike">
              <a:solidFill>
                <a:srgbClr val="000000"/>
              </a:solidFill>
              <a:latin typeface="Arial"/>
            </a:endParaRPr>
          </a:p>
        </p:txBody>
      </p:sp>
      <p:sp>
        <p:nvSpPr>
          <p:cNvPr id="29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[VECTO-1288] - Simulation Abort UD RL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[VECTO-1266] - Gear 4 Loss-Map was extrapolated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en-US" sz="1600" spc="-1" strike="noStrike">
              <a:solidFill>
                <a:srgbClr val="000000"/>
              </a:solidFill>
              <a:latin typeface="Arial"/>
            </a:endParaRPr>
          </a:p>
        </p:txBody>
      </p:sp>
      <p:sp>
        <p:nvSpPr>
          <p:cNvPr id="29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[VECTO-1254] - Hashing method does not ignore certain XML attributes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en-US" sz="1600" spc="-1" strike="noStrike">
              <a:solidFill>
                <a:srgbClr val="000000"/>
              </a:solidFill>
              <a:latin typeface="Arial"/>
            </a:endParaRPr>
          </a:p>
        </p:txBody>
      </p:sp>
      <p:sp>
        <p:nvSpPr>
          <p:cNvPr id="29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[VECTO-1250] - Error creating new gearbox file from scratch</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en-US" sz="1600" spc="-1" strike="noStrike">
              <a:solidFill>
                <a:srgbClr val="000000"/>
              </a:solidFill>
              <a:latin typeface="Arial"/>
            </a:endParaRPr>
          </a:p>
        </p:txBody>
      </p:sp>
      <p:sp>
        <p:nvSpPr>
          <p:cNvPr id="30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[VECTO-1239] - Adaptation of Mission Profile Weighting Factors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[VECTO-1241] - Engineering mode: Adding support for additional PTO activations</a:t>
            </a:r>
            <a:endParaRPr b="0" lang="en-US" sz="1600" spc="-1" strike="noStrike">
              <a:solidFill>
                <a:srgbClr val="000000"/>
              </a:solidFill>
              <a:latin typeface="Arial"/>
            </a:endParaRPr>
          </a:p>
          <a:p>
            <a:pPr indent="0">
              <a:lnSpc>
                <a:spcPct val="100000"/>
              </a:lnSpc>
              <a:spcBef>
                <a:spcPts val="360"/>
              </a:spcBef>
              <a:buNone/>
              <a:tabLst>
                <a:tab algn="l" pos="0"/>
              </a:tabLst>
            </a:pPr>
            <a:endParaRPr b="0" lang="en-US" sz="18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[VECTO-1243] - Bug in VTP mode for heavy lorries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en-US" sz="1600" spc="-1" strike="noStrike">
              <a:solidFill>
                <a:srgbClr val="000000"/>
              </a:solidFill>
              <a:latin typeface="Arial"/>
            </a:endParaRPr>
          </a:p>
        </p:txBody>
      </p:sp>
      <p:sp>
        <p:nvSpPr>
          <p:cNvPr id="30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[VECTO-1220] - Simulation Abort Urban Delivery RefLoad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en-US" sz="1600" spc="-1" strike="noStrike">
              <a:solidFill>
                <a:srgbClr val="000000"/>
              </a:solidFill>
              <a:latin typeface="Arial"/>
            </a:endParaRPr>
          </a:p>
        </p:txBody>
      </p:sp>
      <p:sp>
        <p:nvSpPr>
          <p:cNvPr id="30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[VECTO-1194] - Handling input parameter 'vocational' for groups other than 4, 5, 9, 10</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[VECTO-1147] - Updating declaration mode cycles values in user manual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[VECTO-1207] - run VECTO in 64bit mode by default</a:t>
            </a:r>
            <a:endParaRPr b="0" lang="en-US" sz="1600" spc="-1" strike="noStrike">
              <a:solidFill>
                <a:srgbClr val="000000"/>
              </a:solidFill>
              <a:latin typeface="Arial"/>
            </a:endParaRPr>
          </a:p>
          <a:p>
            <a:pPr indent="0">
              <a:lnSpc>
                <a:spcPct val="100000"/>
              </a:lnSpc>
              <a:spcBef>
                <a:spcPts val="360"/>
              </a:spcBef>
              <a:buNone/>
              <a:tabLst>
                <a:tab algn="l" pos="0"/>
              </a:tabLst>
            </a:pPr>
            <a:endParaRPr b="0" lang="en-US" sz="18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[VECTO-1159] - Simulation Abort in UrbanDelivery LowLoading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[VECTO-1189] - Error in delaunay triangulation invariant violated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[VECTO-1209] - Unexpected Response Response Overload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[VECTO-1211] - Simulation Abort Urban Delivery Ref 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[VECTO-1214] - Validation of input data fails when gearbox speed limits are applied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en-US" sz="1600" spc="-1" strike="noStrike">
              <a:solidFill>
                <a:srgbClr val="000000"/>
              </a:solidFill>
              <a:latin typeface="Arial"/>
            </a:endParaRPr>
          </a:p>
        </p:txBody>
      </p:sp>
      <p:sp>
        <p:nvSpPr>
          <p:cNvPr id="30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 ([VECTO-1046])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[VECTO-1111] - Simulation Abort in Municipal Reference Load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en-US" sz="1600" spc="-1" strike="noStrike">
              <a:solidFill>
                <a:srgbClr val="000000"/>
              </a:solidFill>
              <a:latin typeface="Arial"/>
            </a:endParaRPr>
          </a:p>
        </p:txBody>
      </p:sp>
      <p:sp>
        <p:nvSpPr>
          <p:cNvPr id="30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[VECTO-1042] - Add option to write results into a certain directory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[VECTO-1064] - add weighting factors for vehicle groups 1, 2, 3, 11, 12, 16</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[VECTO-1067] - Vair and Beta correction for Aerodynamics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[VECTO-1000] - Error Loss-Map extrapolation in Declaration Mode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[VECTO-1040] - Gear 6 LossMap data was extrapolated in Declaration Mode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en-US" sz="16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en-US" sz="1600" spc="-1" strike="noStrike">
              <a:solidFill>
                <a:srgbClr val="000000"/>
              </a:solidFill>
              <a:latin typeface="Arial"/>
            </a:endParaRPr>
          </a:p>
        </p:txBody>
      </p:sp>
      <p:sp>
        <p:nvSpPr>
          <p:cNvPr id="31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[VECTO-1015] - XML Schema not correctly identified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[VECTO-1019] - Error opening job in case a file is missing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[VECTO-1020] - HashingTool Crashes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[VECTO-1021] - Invalid hash of job data</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en-US" sz="1600" spc="-1" strike="noStrike">
              <a:solidFill>
                <a:srgbClr val="000000"/>
              </a:solidFill>
              <a:latin typeface="Arial"/>
            </a:endParaRPr>
          </a:p>
        </p:txBody>
      </p:sp>
      <p:sp>
        <p:nvSpPr>
          <p:cNvPr id="31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[VECTO-916] - Adding new tyre sizes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[VECTO-946] - Refactoring XML reading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[VECTO-965] - Add input fields for ADAS into VECTO GUI</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[VECTO-966] - Allow selecting Tank System for NG engines in GUI</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[VECTO-932] - Consistency in NA values in the vsum file</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[VECTO-931] - AT error in VECTO version 3.3.2.1519</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[VECTO-950] - Error when loading Engine Full-load curve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[VECTO-980] - Error during simulation run</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en-US" sz="1600" spc="-1" strike="noStrike">
              <a:solidFill>
                <a:srgbClr val="000000"/>
              </a:solidFill>
              <a:latin typeface="Arial"/>
            </a:endParaRPr>
          </a:p>
        </p:txBody>
      </p:sp>
      <p:sp>
        <p:nvSpPr>
          <p:cNvPr id="31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3.3.2.1519-RC)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[VECTO-904] - Range for gear loss map not sufficient.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[VECTO-909] - 3.3.2.1519: Problems running more than one input .xml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[VECTO-918] - RegionalDeliveryEMS LowLoading - ResponseSpeedLimitExceeded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solidFill>
                <a:srgbClr val="000000"/>
              </a:solidFill>
              <a:latin typeface="Arial"/>
            </a:endParaRPr>
          </a:p>
        </p:txBody>
      </p:sp>
      <p:sp>
        <p:nvSpPr>
          <p:cNvPr id="31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[VECTO-869] - change new vehicle input fields (ADAS, sleeper cab, etc.) to be mandatory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[VECTO-784] - Configuration file for VECTO log files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[VECTO-865] - Extend Sum-Data</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[VECTO-873] - Add digest value to SumData</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[VECTO-729] - Bugs APT submodel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[VECTO-787] - APT: DrivingAction Accelerate after Overload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[VECTO-789] - APT: ResponseUnderload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[VECTO-797] - VECTO abort with AT transmission and TC table value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[VECTO-798] - VECTO abort with certified AT transmission data and certified TC data</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[VECTO-807] - VECTO errors in vehicle class 1/2/3</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[VECTO-827] - Torque converter inertia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[VECTO-838] - APT: ResponseOverload</a:t>
            </a:r>
            <a:endParaRPr b="0" lang="en-US" sz="1600" spc="-1" strike="noStrike">
              <a:solidFill>
                <a:srgbClr val="000000"/>
              </a:solidFill>
              <a:latin typeface="Arial"/>
            </a:endParaRPr>
          </a:p>
        </p:txBody>
      </p:sp>
      <p:sp>
        <p:nvSpPr>
          <p:cNvPr id="318" name="Textfeld 3"/>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solidFill>
                <a:srgbClr val="000000"/>
              </a:solidFill>
              <a:latin typeface="Arial"/>
            </a:endParaRPr>
          </a:p>
        </p:txBody>
      </p:sp>
      <p:sp>
        <p:nvSpPr>
          <p:cNvPr id="320" name="PlaceHolder 2"/>
          <p:cNvSpPr>
            <a:spLocks noGrp="1"/>
          </p:cNvSpPr>
          <p:nvPr>
            <p:ph/>
          </p:nvPr>
        </p:nvSpPr>
        <p:spPr>
          <a:xfrm>
            <a:off x="323640" y="1340640"/>
            <a:ext cx="8817840" cy="511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[VECTO-843] - AT Transmissions problem on VECTO 3.3.1.1463</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[VECTO-844] - Error with AT gearbox model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[VECTO-847] - Simulation abort due to error in NLog?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[VECTO-848] - AT Gearbox Simulation abort (was: Problem related to Tyres?)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[VECTO-858] - Urban Delivery Abort - with APT-S Transmission and TC</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[VECTO-879] - SIMULATION RUN ABORTED DistanceRun got an unexpected resp.</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[VECTO-883] - Traction interruption may be too long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[VECTO-815] - Unexpected Response: SpeedLimitExceeded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[VECTO-816] - object reference not set to an instance of an object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[VECTO-817] - TargetVelocity and VehicleVelocity must not be 0</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[VECTO-820] - DistanceRun got an unexpected response: ResponseSpeedLimitExceeded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[VECTO-864] - Prevent VECTO loss-map extension to result in negative torque loss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solidFill>
                <a:srgbClr val="000000"/>
              </a:solidFill>
              <a:latin typeface="Arial"/>
            </a:endParaRPr>
          </a:p>
        </p:txBody>
      </p:sp>
      <p:sp>
        <p:nvSpPr>
          <p:cNvPr id="322" name="PlaceHolder 2"/>
          <p:cNvSpPr>
            <a:spLocks noGrp="1"/>
          </p:cNvSpPr>
          <p:nvPr>
            <p:ph/>
          </p:nvPr>
        </p:nvSpPr>
        <p:spPr>
          <a:xfrm>
            <a:off x="323640" y="1340640"/>
            <a:ext cx="8494560" cy="511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as ‘installed application’</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Needs no write permissions to the VECTO application folder</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configuration files and settings are written to %AppData%\VECTO\&lt;Version&gt;</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log files are written to %LocalAppData%\VECTO\&lt;Version&gt;</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Switch to ‘installed application’</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en-US" sz="1600" spc="-1" strike="noStrike">
              <a:solidFill>
                <a:srgbClr val="000000"/>
              </a:solidFill>
              <a:latin typeface="Arial"/>
            </a:endParaRPr>
          </a:p>
        </p:txBody>
      </p:sp>
      <p:sp>
        <p:nvSpPr>
          <p:cNvPr id="324"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3.3.1.1463-RC)</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[VECTO-845] - Fixing bug for VECTO-840</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[VECTO-826] - DistanceRun got an unexpected response: ResponseSpeedLimitExceeded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[VECTO-837] - VECTO GUI displays incorrect cycles prior to simulation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en-US" sz="1400" spc="-1" strike="noStrike">
              <a:solidFill>
                <a:srgbClr val="000000"/>
              </a:solidFill>
              <a:latin typeface="Arial"/>
            </a:endParaRPr>
          </a:p>
        </p:txBody>
      </p:sp>
      <p:sp>
        <p:nvSpPr>
          <p:cNvPr id="325" name="Textfeld 4"/>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2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 according to 2017/2400 amendments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[VECTO-761] - Adaptation of input XML Schema</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[VECTO-762] - Extension of Input Interfaces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[VECTO-763] - Extension of Segmentation Table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[VECTO-764] - ADAS benefits (according to Annex III Point 8. of amendment to 2017/2400)</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[VECTO-766] - Update power demand auxiliaries (for extended segmentation table)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[VECTO-767] - Report for exempted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[VECTO-768] - VTP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[VECTO-770] - Fuel Types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[VECTO-771] - Handling of exempted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[VECTO-824] - Throw exception for certain combinations of exempted vehicle parameters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[VECTO-773] - Correction Factor for Reference Fuel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[VECTO-790] - Adapt generic data for construction/municipal utility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[VECTO-565] - Consideration of LNG as possible fuel is missing</a:t>
            </a:r>
            <a:endParaRPr b="0" lang="en-US" sz="1400" spc="-1" strike="noStrike">
              <a:solidFill>
                <a:srgbClr val="000000"/>
              </a:solidFill>
              <a:latin typeface="Arial"/>
            </a:endParaRPr>
          </a:p>
        </p:txBody>
      </p:sp>
      <p:sp>
        <p:nvSpPr>
          <p:cNvPr id="328" name="Textfeld 3"/>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30" name="PlaceHolder 2"/>
          <p:cNvSpPr>
            <a:spLocks noGrp="1"/>
          </p:cNvSpPr>
          <p:nvPr>
            <p:ph/>
          </p:nvPr>
        </p:nvSpPr>
        <p:spPr>
          <a:xfrm>
            <a:off x="323640" y="1196640"/>
            <a:ext cx="8638560" cy="15814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New input parameters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Default values when the new input parameters are not provided:</a:t>
            </a:r>
            <a:endParaRPr b="0" lang="en-US" sz="1400" spc="-1" strike="noStrike">
              <a:solidFill>
                <a:srgbClr val="000000"/>
              </a:solidFill>
              <a:latin typeface="Arial"/>
            </a:endParaRPr>
          </a:p>
        </p:txBody>
      </p:sp>
      <p:sp>
        <p:nvSpPr>
          <p:cNvPr id="331" name="Textfeld 3"/>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graphicFrame>
        <p:nvGraphicFramePr>
          <p:cNvPr id="332" name="Tabelle 4"/>
          <p:cNvGraphicFramePr/>
          <p:nvPr/>
        </p:nvGraphicFramePr>
        <p:xfrm>
          <a:off x="1475640" y="2768760"/>
          <a:ext cx="6021720" cy="3643200"/>
        </p:xfrm>
        <a:graphic>
          <a:graphicData uri="http://schemas.openxmlformats.org/drawingml/2006/table">
            <a:tbl>
              <a:tblPr/>
              <a:tblGrid>
                <a:gridCol w="2092320"/>
                <a:gridCol w="3929760"/>
              </a:tblGrid>
              <a:tr h="183960">
                <a:tc gridSpan="2">
                  <a:txBody>
                    <a:bodyPr lIns="33480" rIns="33480" anchor="t">
                      <a:noAutofit/>
                    </a:bodyPr>
                    <a:p>
                      <a:pPr>
                        <a:lnSpc>
                          <a:spcPct val="115000"/>
                        </a:lnSpc>
                      </a:pPr>
                      <a:r>
                        <a:rPr b="1" lang="en-GB" sz="1050" spc="-1" strike="noStrike">
                          <a:solidFill>
                            <a:srgbClr val="ffffff"/>
                          </a:solidFill>
                          <a:latin typeface="Arial"/>
                        </a:rPr>
                        <a:t>Input parameters vehicle – Table 1 Annex III</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pPr>
                      <a:r>
                        <a:rPr b="1" lang="en-GB" sz="1050" spc="-1" strike="noStrike">
                          <a:solidFill>
                            <a:srgbClr val="ffffff"/>
                          </a:solidFill>
                          <a:latin typeface="Arial"/>
                        </a:rPr>
                        <a:t>Field</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Default value</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anchor="t">
                      <a:noAutofit/>
                    </a:bodyPr>
                    <a:p>
                      <a:pPr>
                        <a:lnSpc>
                          <a:spcPct val="115000"/>
                        </a:lnSpc>
                      </a:pPr>
                      <a:r>
                        <a:rPr b="1" lang="en-GB" sz="1050" spc="-1" strike="noStrike">
                          <a:solidFill>
                            <a:srgbClr val="ffffff"/>
                          </a:solidFill>
                          <a:latin typeface="Arial"/>
                        </a:rPr>
                        <a:t>VehicleCategory</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 default value but input 'rigid truck' will be converted automatically into 'rigid lorry'</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anchor="t">
                      <a:noAutofit/>
                    </a:bodyPr>
                    <a:p>
                      <a:pPr>
                        <a:lnSpc>
                          <a:spcPct val="115000"/>
                        </a:lnSpc>
                      </a:pPr>
                      <a:r>
                        <a:rPr b="1" lang="en-GB" sz="1050" spc="-1" strike="noStrike">
                          <a:solidFill>
                            <a:srgbClr val="ffffff"/>
                          </a:solidFill>
                          <a:latin typeface="Arial"/>
                        </a:rPr>
                        <a:t>ZeroEmissionVehicle</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anchor="t">
                      <a:noAutofit/>
                    </a:bodyPr>
                    <a:p>
                      <a:pPr>
                        <a:lnSpc>
                          <a:spcPct val="115000"/>
                        </a:lnSpc>
                      </a:pPr>
                      <a:r>
                        <a:rPr b="1" lang="en-GB" sz="1050" spc="-1" strike="noStrike">
                          <a:solidFill>
                            <a:srgbClr val="ffffff"/>
                          </a:solidFill>
                          <a:latin typeface="Arial"/>
                        </a:rPr>
                        <a:t>NgTankSystem</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'Compressed' (only applicable to gas vehicles)</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anchor="t">
                      <a:noAutofit/>
                    </a:bodyPr>
                    <a:p>
                      <a:pPr>
                        <a:lnSpc>
                          <a:spcPct val="115000"/>
                        </a:lnSpc>
                      </a:pPr>
                      <a:r>
                        <a:rPr b="1" lang="en-GB" sz="1050" spc="-1" strike="noStrike">
                          <a:solidFill>
                            <a:srgbClr val="ffffff"/>
                          </a:solidFill>
                          <a:latin typeface="Arial"/>
                        </a:rPr>
                        <a:t>SleeperCab</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'Yes'</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anchor="t">
                      <a:noAutofit/>
                    </a:bodyPr>
                    <a:p>
                      <a:pPr>
                        <a:lnSpc>
                          <a:spcPct val="115000"/>
                        </a:lnSpc>
                      </a:pPr>
                      <a:r>
                        <a:rPr b="1" lang="en-GB" sz="1050" spc="-1" strike="noStrike">
                          <a:solidFill>
                            <a:srgbClr val="ffffff"/>
                          </a:solidFill>
                          <a:latin typeface="Arial"/>
                        </a:rPr>
                        <a:t>Input parameters ADAS – Pt. 8 Annex III</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pPr>
                      <a:r>
                        <a:rPr b="1" lang="en-GB" sz="1050" spc="-1" strike="noStrike">
                          <a:solidFill>
                            <a:srgbClr val="ffffff"/>
                          </a:solidFill>
                          <a:latin typeface="Arial"/>
                        </a:rPr>
                        <a:t>Field</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Default value</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anchor="t">
                      <a:noAutofit/>
                    </a:bodyPr>
                    <a:p>
                      <a:pPr>
                        <a:lnSpc>
                          <a:spcPct val="115000"/>
                        </a:lnSpc>
                      </a:pPr>
                      <a:r>
                        <a:rPr b="1" lang="en-GB" sz="1050" spc="-1" strike="noStrike">
                          <a:solidFill>
                            <a:srgbClr val="ffffff"/>
                          </a:solidFill>
                          <a:latin typeface="Arial"/>
                        </a:rPr>
                        <a:t>EngineStartStop</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pPr>
                      <a:r>
                        <a:rPr b="1" lang="en-GB" sz="1050" spc="-1" strike="noStrike">
                          <a:solidFill>
                            <a:srgbClr val="ffffff"/>
                          </a:solidFill>
                          <a:latin typeface="Arial"/>
                        </a:rPr>
                        <a:t>EcoRollWithoutEngineStop</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anchor="t">
                      <a:noAutofit/>
                    </a:bodyPr>
                    <a:p>
                      <a:pPr>
                        <a:lnSpc>
                          <a:spcPct val="115000"/>
                        </a:lnSpc>
                      </a:pPr>
                      <a:r>
                        <a:rPr b="1" lang="en-GB" sz="1050" spc="-1" strike="noStrike">
                          <a:solidFill>
                            <a:srgbClr val="ffffff"/>
                          </a:solidFill>
                          <a:latin typeface="Arial"/>
                        </a:rPr>
                        <a:t>EcoRollWithEngineStop</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pPr>
                      <a:r>
                        <a:rPr b="1" lang="en-GB" sz="1050" spc="-1" strike="noStrike">
                          <a:solidFill>
                            <a:srgbClr val="ffffff"/>
                          </a:solidFill>
                          <a:latin typeface="Arial"/>
                        </a:rPr>
                        <a:t>PredictiveCruiseControl</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33" name="Inhaltsplatzhalter 2"/>
          <p:cNvSpPr/>
          <p:nvPr/>
        </p:nvSpPr>
        <p:spPr>
          <a:xfrm>
            <a:off x="166320" y="5661360"/>
            <a:ext cx="8638560" cy="933480"/>
          </a:xfrm>
          <a:prstGeom prst="rect">
            <a:avLst/>
          </a:prstGeom>
          <a:noFill/>
          <a:ln w="0">
            <a:noFill/>
          </a:ln>
        </p:spPr>
        <p:style>
          <a:lnRef idx="0"/>
          <a:fillRef idx="0"/>
          <a:effectRef idx="0"/>
          <a:fontRef idx="minor"/>
        </p:style>
        <p:txBody>
          <a:bodyPr numCol="1" spcCol="0" lIns="90000" rIns="90000" tIns="45000" bIns="45000" anchor="t">
            <a:noAutofit/>
          </a:bodyPr>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Currently </a:t>
            </a:r>
            <a:r>
              <a:rPr b="1" lang="en-US" sz="1400" spc="-1" strike="noStrike">
                <a:solidFill>
                  <a:srgbClr val="000000"/>
                </a:solidFill>
                <a:latin typeface="Arial"/>
                <a:ea typeface="DejaVu Sans"/>
              </a:rPr>
              <a:t>only</a:t>
            </a:r>
            <a:r>
              <a:rPr b="0" lang="en-US" sz="1400" spc="-1" strike="noStrike">
                <a:solidFill>
                  <a:srgbClr val="000000"/>
                </a:solidFill>
                <a:latin typeface="Arial"/>
                <a:ea typeface="DejaVu Sans"/>
              </a:rPr>
              <a:t> the fuel type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for the </a:t>
            </a:r>
            <a:r>
              <a:rPr b="1" lang="en-US" sz="1400" spc="-1" strike="noStrike">
                <a:solidFill>
                  <a:srgbClr val="000000"/>
                </a:solidFill>
                <a:latin typeface="Arial"/>
                <a:ea typeface="DejaVu Sans"/>
              </a:rPr>
              <a:t>engine certification </a:t>
            </a:r>
            <a:r>
              <a:rPr b="0" lang="en-US" sz="1400" spc="-1" strike="noStrike">
                <a:solidFill>
                  <a:srgbClr val="000000"/>
                </a:solidFill>
                <a:latin typeface="Arial"/>
                <a:ea typeface="DejaVu Sans"/>
              </a:rPr>
              <a:t>is allowed by 2017/2400. For LNG vehicles, therefore, the engine fuel type has to be set to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and at the vehicle level NgTankSystem has to be set to </a:t>
            </a:r>
            <a:r>
              <a:rPr b="1" lang="en-US" sz="1400" spc="-1" strike="noStrike">
                <a:solidFill>
                  <a:srgbClr val="000000"/>
                </a:solidFill>
                <a:latin typeface="Arial"/>
                <a:ea typeface="DejaVu Sans"/>
              </a:rPr>
              <a:t>liquefied</a:t>
            </a:r>
            <a:r>
              <a:rPr b="0" lang="en-US" sz="1400" spc="-1" strike="noStrike">
                <a:solidFill>
                  <a:srgbClr val="000000"/>
                </a:solidFill>
                <a:latin typeface="Arial"/>
                <a:ea typeface="DejaVu Sans"/>
              </a:rPr>
              <a:t>. For CNG the same engine fuel type is used but NgTankSystem has to be set to </a:t>
            </a:r>
            <a:r>
              <a:rPr b="1" lang="en-US" sz="1400" spc="-1" strike="noStrike">
                <a:solidFill>
                  <a:srgbClr val="000000"/>
                </a:solidFill>
                <a:latin typeface="Arial"/>
                <a:ea typeface="DejaVu Sans"/>
              </a:rPr>
              <a:t>compressed</a:t>
            </a:r>
            <a:r>
              <a:rPr b="0" lang="en-US" sz="1400" spc="-1" strike="noStrike">
                <a:solidFill>
                  <a:srgbClr val="000000"/>
                </a:solidFill>
                <a:latin typeface="Arial"/>
                <a:ea typeface="DejaVu Sans"/>
              </a:rPr>
              <a:t>.</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35" name="PlaceHolder 2"/>
          <p:cNvSpPr>
            <a:spLocks noGrp="1"/>
          </p:cNvSpPr>
          <p:nvPr>
            <p:ph/>
          </p:nvPr>
        </p:nvSpPr>
        <p:spPr>
          <a:xfrm>
            <a:off x="323640" y="1628640"/>
            <a:ext cx="8638560" cy="15814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Timetable</a:t>
            </a:r>
            <a:endParaRPr b="0" lang="en-US" sz="1800" spc="-1" strike="noStrike">
              <a:solidFill>
                <a:srgbClr val="000000"/>
              </a:solidFill>
              <a:latin typeface="Arial"/>
            </a:endParaRPr>
          </a:p>
        </p:txBody>
      </p:sp>
      <p:sp>
        <p:nvSpPr>
          <p:cNvPr id="336" name="Textfeld 3"/>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graphicFrame>
        <p:nvGraphicFramePr>
          <p:cNvPr id="337" name="Tabelle 5"/>
          <p:cNvGraphicFramePr/>
          <p:nvPr/>
        </p:nvGraphicFramePr>
        <p:xfrm>
          <a:off x="899640" y="2100600"/>
          <a:ext cx="7786440" cy="2764080"/>
        </p:xfrm>
        <a:graphic>
          <a:graphicData uri="http://schemas.openxmlformats.org/drawingml/2006/table">
            <a:tbl>
              <a:tblPr/>
              <a:tblGrid>
                <a:gridCol w="1800000"/>
                <a:gridCol w="1512000"/>
                <a:gridCol w="4474800"/>
              </a:tblGrid>
              <a:tr h="370800">
                <a:tc>
                  <a:txBody>
                    <a:bodyPr anchor="t">
                      <a:noAutofit/>
                    </a:bodyPr>
                    <a:p>
                      <a:pPr>
                        <a:lnSpc>
                          <a:spcPct val="100000"/>
                        </a:lnSpc>
                      </a:pPr>
                      <a:r>
                        <a:rPr b="1" lang="en-US" sz="1800" spc="-1" strike="noStrike">
                          <a:solidFill>
                            <a:srgbClr val="ffffff"/>
                          </a:solidFill>
                          <a:latin typeface="Arial"/>
                        </a:rPr>
                        <a:t>Planned Date</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en-US" sz="1800" spc="-1" strike="noStrike">
                          <a:solidFill>
                            <a:srgbClr val="ffffff"/>
                          </a:solidFill>
                          <a:latin typeface="Arial"/>
                        </a:rPr>
                        <a:t>Version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en-US" sz="1800" spc="-1" strike="noStrike">
                          <a:solidFill>
                            <a:srgbClr val="ffffff"/>
                          </a:solidFill>
                          <a:latin typeface="Arial"/>
                        </a:rPr>
                        <a:t>Description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pPr>
                      <a:r>
                        <a:rPr b="0" lang="en-US" sz="1800" spc="-1" strike="noStrike">
                          <a:solidFill>
                            <a:srgbClr val="000000"/>
                          </a:solidFill>
                          <a:latin typeface="Arial"/>
                        </a:rPr>
                        <a:t>1. Feb.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3.3.1.x</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Release of official version of release candidate 3.3.1.1463</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pPr>
                      <a:r>
                        <a:rPr b="0" lang="en-US" sz="1800" spc="-1" strike="noStrike">
                          <a:solidFill>
                            <a:srgbClr val="000000"/>
                          </a:solidFill>
                          <a:latin typeface="Arial"/>
                        </a:rPr>
                        <a:t>1. March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800" spc="-1" strike="noStrike">
                          <a:solidFill>
                            <a:srgbClr val="000000"/>
                          </a:solidFill>
                          <a:latin typeface="Arial"/>
                        </a:rPr>
                        <a:t>3.3.2.x-RC</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800" spc="-1" strike="noStrike">
                          <a:solidFill>
                            <a:srgbClr val="000000"/>
                          </a:solidFill>
                          <a:latin typeface="Arial"/>
                        </a:rPr>
                        <a:t>Release candidate, new input parameters are mandatory (+ further bugfixes)</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en-US" sz="1800" spc="-1" strike="noStrike">
                          <a:solidFill>
                            <a:srgbClr val="000000"/>
                          </a:solidFill>
                          <a:latin typeface="Arial"/>
                        </a:rPr>
                        <a:t>1. April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3.3.2.x</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Official version of VECTO 3.3.2</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en-US" sz="1800" spc="-1" strike="noStrike">
                          <a:solidFill>
                            <a:srgbClr val="000000"/>
                          </a:solidFill>
                          <a:latin typeface="Arial"/>
                        </a:rPr>
                        <a:t>1. May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800" spc="-1" strike="noStrike">
                          <a:solidFill>
                            <a:srgbClr val="000000"/>
                          </a:solidFill>
                          <a:latin typeface="Arial"/>
                        </a:rPr>
                        <a:t>Mandatory use of 3.3.1.x for certification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en-US" sz="1800" spc="-1" strike="noStrike">
                          <a:solidFill>
                            <a:srgbClr val="000000"/>
                          </a:solidFill>
                          <a:latin typeface="Arial"/>
                        </a:rPr>
                        <a:t>1. July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Mandatory use of 3.3.2.x for certification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3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Changes/Improvements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[VECTO-799] - Remove TUG Logos from Simulation Tool,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[VECTO-808] - Add Monitoring Report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[VECTO-779] - Update Construction Cycle - shorter stop times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[VECTO-783] - Rename columns in segmentation table and GUI</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[VECTO-716] - Validate data in Settings Tab: update documentation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[VECTO-796] - Adaptation of FuelProperties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[VECTO-806] - extend loss-maps (gbx, axl, angl) for MT and AMT transmissions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en-US" sz="14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p:txBody>
      </p:sp>
      <p:sp>
        <p:nvSpPr>
          <p:cNvPr id="340" name="Textfeld 3"/>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42" name="PlaceHolder 2"/>
          <p:cNvSpPr>
            <a:spLocks noGrp="1"/>
          </p:cNvSpPr>
          <p:nvPr>
            <p:ph/>
          </p:nvPr>
        </p:nvSpPr>
        <p:spPr>
          <a:xfrm>
            <a:off x="323640" y="1628640"/>
            <a:ext cx="8638560" cy="5014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Update of Fuel Properties [VECTO-796]</a:t>
            </a:r>
            <a:endParaRPr b="0" lang="en-US" sz="1800" spc="-1" strike="noStrike">
              <a:solidFill>
                <a:srgbClr val="000000"/>
              </a:solidFill>
              <a:latin typeface="Arial"/>
            </a:endParaRPr>
          </a:p>
        </p:txBody>
      </p:sp>
      <p:sp>
        <p:nvSpPr>
          <p:cNvPr id="343" name="Textfeld 3"/>
          <p:cNvSpPr/>
          <p:nvPr/>
        </p:nvSpPr>
        <p:spPr>
          <a:xfrm>
            <a:off x="8142840" y="6228000"/>
            <a:ext cx="78948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graphicFrame>
        <p:nvGraphicFramePr>
          <p:cNvPr id="344" name="Tabelle 4"/>
          <p:cNvGraphicFramePr/>
          <p:nvPr/>
        </p:nvGraphicFramePr>
        <p:xfrm>
          <a:off x="468360" y="2606400"/>
          <a:ext cx="8217720" cy="3202200"/>
        </p:xfrm>
        <a:graphic>
          <a:graphicData uri="http://schemas.openxmlformats.org/drawingml/2006/table">
            <a:tbl>
              <a:tblPr/>
              <a:tblGrid>
                <a:gridCol w="947160"/>
                <a:gridCol w="1369440"/>
                <a:gridCol w="947160"/>
                <a:gridCol w="947160"/>
                <a:gridCol w="947160"/>
                <a:gridCol w="3060000"/>
              </a:tblGrid>
              <a:tr h="342360">
                <a:tc>
                  <a:txBody>
                    <a:bodyPr anchor="b">
                      <a:noAutofit/>
                    </a:bodyPr>
                    <a:p>
                      <a:pPr algn="ctr">
                        <a:lnSpc>
                          <a:spcPct val="100000"/>
                        </a:lnSpc>
                      </a:pPr>
                      <a:r>
                        <a:rPr b="0" lang="de-AT" sz="1000" spc="-1" strike="noStrike">
                          <a:solidFill>
                            <a:srgbClr val="000000"/>
                          </a:solidFill>
                          <a:latin typeface="Arial"/>
                        </a:rPr>
                        <a:t>Fuel type</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Reference for fuel properties</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Density</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CO2 emission factor</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Lower Heating Value</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Data Source</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gn="ctr">
                        <a:lnSpc>
                          <a:spcPct val="100000"/>
                        </a:lnSpc>
                      </a:pPr>
                      <a:r>
                        <a:rPr b="0" lang="de-AT" sz="1000" spc="-1" strike="noStrike">
                          <a:solidFill>
                            <a:srgbClr val="000000"/>
                          </a:solidFill>
                          <a:latin typeface="Arial"/>
                        </a:rPr>
                        <a:t>[-]</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[kg/m³]</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[g_CO2/g_Fuel]</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[MJ/kg]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Diesel</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B7</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836</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3.13</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42.7</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 </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ED95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ED95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820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1.81</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25.4</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Petrol</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E10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748</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3.04</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41.5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pPr>
                      <a:r>
                        <a:rPr b="0" lang="de-AT" sz="1000" spc="-1" strike="noStrike">
                          <a:solidFill>
                            <a:srgbClr val="000000"/>
                          </a:solidFill>
                          <a:latin typeface="Arial"/>
                        </a:rPr>
                        <a:t>E85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E85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786</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2.10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29.3</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en-US" sz="1000" spc="-1" strike="noStrike">
                          <a:solidFill>
                            <a:srgbClr val="000000"/>
                          </a:solidFill>
                          <a:latin typeface="Arial"/>
                        </a:rPr>
                        <a:t>Calculated from E0 and E100  from 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LPG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LPG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not required*</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3.02</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46.0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ctr">
                      <a:noAutofit/>
                    </a:bodyPr>
                    <a:p>
                      <a:pPr>
                        <a:lnSpc>
                          <a:spcPct val="100000"/>
                        </a:lnSpc>
                      </a:pPr>
                      <a:r>
                        <a:rPr b="0" lang="de-AT" sz="1000" spc="-1" strike="noStrike">
                          <a:solidFill>
                            <a:srgbClr val="000000"/>
                          </a:solidFill>
                          <a:latin typeface="Arial"/>
                        </a:rPr>
                        <a:t>CNG</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CNG (H-Gas)</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not required*</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2.69</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48.0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pPr>
                      <a:r>
                        <a:rPr b="0" lang="de-AT" sz="1000" spc="-1" strike="noStrike">
                          <a:solidFill>
                            <a:srgbClr val="000000"/>
                          </a:solidFill>
                          <a:latin typeface="Arial"/>
                        </a:rPr>
                        <a:t>LNG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LNG (EU mix. 2016/2030)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not required*</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2.77</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49.1</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anchor="b">
                      <a:noAutofit/>
                    </a:bodyPr>
                    <a:p>
                      <a:pPr>
                        <a:lnSpc>
                          <a:spcPct val="100000"/>
                        </a:lnSpc>
                      </a:pPr>
                      <a:r>
                        <a:rPr b="0" lang="en-US" sz="1000" spc="-1" strike="noStrike">
                          <a:solidFill>
                            <a:srgbClr val="000000"/>
                          </a:solidFill>
                          <a:latin typeface="Arial"/>
                        </a:rPr>
                        <a:t>* VECTO does not provide volume based figures for gaseous fuels</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anchor="b">
                      <a:noAutofit/>
                    </a:bodyPr>
                    <a:p>
                      <a:pPr>
                        <a:lnSpc>
                          <a:spcPct val="100000"/>
                        </a:lnSpc>
                      </a:pPr>
                      <a:r>
                        <a:rPr b="0" lang="de-AT" sz="1000" spc="-1" strike="noStrike">
                          <a:solidFill>
                            <a:srgbClr val="000000"/>
                          </a:solidFill>
                          <a:latin typeface="Arial"/>
                        </a:rPr>
                        <a:t> </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nSpc>
                          <a:spcPct val="100000"/>
                        </a:lnSpc>
                      </a:pPr>
                      <a:r>
                        <a:rPr b="0" lang="de-AT" sz="1000" spc="-1" strike="noStrike">
                          <a:solidFill>
                            <a:srgbClr val="000000"/>
                          </a:solidFill>
                          <a:latin typeface="Arial"/>
                        </a:rPr>
                        <a:t> </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45" name="Rectangle 3"/>
          <p:cNvSpPr/>
          <p:nvPr/>
        </p:nvSpPr>
        <p:spPr>
          <a:xfrm>
            <a:off x="396000" y="5153400"/>
            <a:ext cx="8140320" cy="568800"/>
          </a:xfrm>
          <a:prstGeom prst="rect">
            <a:avLst/>
          </a:prstGeom>
          <a:noFill/>
          <a:ln w="0">
            <a:noFill/>
          </a:ln>
        </p:spPr>
        <p:style>
          <a:lnRef idx="0"/>
          <a:fillRef idx="0"/>
          <a:effectRef idx="0"/>
          <a:fontRef idx="minor"/>
        </p:style>
        <p:txBody>
          <a:bodyPr numCol="1" spcCol="0" lIns="90000" rIns="90000" tIns="45000" bIns="45000" anchor="ctr">
            <a:spAutoFit/>
          </a:bodyPr>
          <a:p>
            <a:pPr marL="357120" indent="-357120">
              <a:lnSpc>
                <a:spcPct val="100000"/>
              </a:lnSpc>
              <a:tabLst>
                <a:tab algn="l" pos="0"/>
              </a:tabLst>
            </a:pPr>
            <a:r>
              <a:rPr b="0" lang="de-AT" sz="1050" spc="-1" strike="noStrike">
                <a:solidFill>
                  <a:srgbClr val="000000"/>
                </a:solidFill>
                <a:latin typeface="Arial"/>
                <a:ea typeface="DejaVu Sans"/>
              </a:rPr>
              <a:t>CONCAWE/JEC (2018): </a:t>
            </a:r>
            <a:r>
              <a:rPr b="0" lang="en-GB" sz="1050" spc="-1" strike="noStrike">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ea typeface="DejaVu Sans"/>
              </a:rPr>
              <a:t>Well-To-Wheels Analysis Of Future Automotive Fuels And Powertrains in the European Context – Heavy Duty vehicles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4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[VECTO-819] - object reference not set to an instance of an object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[VECTO-818] - SearchOperatingPoint: Unknown response type.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[VECTO-813] - Error "Infinity [] is not allowed for SI-Value"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[VECTO-804] - Error on simulation with VECTO 3.3.0.1433</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[VECTO-805] - Total vehicle mass exceeds TPMLM</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[VECTO-811] - AMT: ResponseGearShift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[VECTO-812] - AMT: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[VECTO-822] - SIMULATION RUN ABORTED by Infinity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[VECTO-776] - Decision Factor (DF)  field is emptied after each simulation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[VECTO-814] - Error: DistanceRun got an unexpected response: ResponseGearshift</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en-US" sz="1600" spc="-1" strike="noStrike">
              <a:solidFill>
                <a:srgbClr val="000000"/>
              </a:solidFill>
              <a:latin typeface="Arial"/>
            </a:endParaRPr>
          </a:p>
        </p:txBody>
      </p:sp>
      <p:sp>
        <p:nvSpPr>
          <p:cNvPr id="34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3.3.0.1398)</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[VECTO-795] – VECTO Hashing Tool crashes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[VECTO-802] – Error in XML schema for manufacturer's record file</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3.3.0.1250)</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 (compared to 3.3.0.1250)</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en-US" sz="1600" spc="-1" strike="noStrike">
              <a:solidFill>
                <a:srgbClr val="000000"/>
              </a:solidFill>
              <a:latin typeface="Arial"/>
            </a:endParaRPr>
          </a:p>
        </p:txBody>
      </p:sp>
      <p:sp>
        <p:nvSpPr>
          <p:cNvPr id="35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solidFill>
                <a:srgbClr val="000000"/>
              </a:solidFill>
              <a:latin typeface="Arial"/>
            </a:endParaRPr>
          </a:p>
        </p:txBody>
      </p:sp>
      <p:sp>
        <p:nvSpPr>
          <p:cNvPr id="35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[VECTO-665] - Adding style information to XML Reports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[VECTO-669] - Group 1 vehicle comprises vehicles with gross vehicle weight &gt; 7.5t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[VECTO-672] - Keep manual choice for "Validate data"</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[VECTO-682] - VTP Simulation in declaration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[VECTO-652] - VTP: Check Cycle matches simulation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[VECTO-683] - VTP: Quality and plausibility checks for recorded data from VTP</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[VECTO-685] - VTP Programming of standard VECTO VTP report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[VECTO-689] - Additional Tyre sizes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[VECTO-702] - Hashing tool: adapt warnings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[VECTO-667] - Removing NCV Correction Factor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[VECTO-693] - extend vehicle performance in manufacturer record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solidFill>
                <a:srgbClr val="000000"/>
              </a:solidFill>
              <a:latin typeface="Arial"/>
            </a:endParaRPr>
          </a:p>
        </p:txBody>
      </p:sp>
      <p:sp>
        <p:nvSpPr>
          <p:cNvPr id="35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[VECTO-656] - Distance computation in vsum</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[VECTO-687] - Saving a Engine-Only Job is not possible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[VECTO-695] - Bug in vectocmd.exe - process does not terminate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[VECTO-700] - errorr in simulation with 0 stop time at the beginning of the cycle </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en-US" sz="1600" spc="-1" strike="noStrike">
              <a:solidFill>
                <a:srgbClr val="000000"/>
              </a:solidFill>
              <a:latin typeface="Arial"/>
            </a:endParaRPr>
          </a:p>
        </p:txBody>
      </p:sp>
      <p:sp>
        <p:nvSpPr>
          <p:cNvPr id="35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[VECTO-634] - VTP Mode: specific fuel consumption</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[VECTO-624] - Crash w/o comment: Infinite recursion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[VECTO-627] - Cannot open Engine-Only Job</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[VECTO-629] - Vecto crashes without errror message (same issue as VECTO-624)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[VECTO-633] - unable to start VTP Mode simulation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en-US" sz="1600" spc="-1" strike="noStrike">
              <a:solidFill>
                <a:srgbClr val="000000"/>
              </a:solidFill>
              <a:latin typeface="Arial"/>
            </a:endParaRPr>
          </a:p>
        </p:txBody>
      </p:sp>
      <p:sp>
        <p:nvSpPr>
          <p:cNvPr id="35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[VECTO-618] - Add Hash value of tyres to manufacturer's record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[VECTO-612] - Continuously changing hashes: Info in GUI of HashingTool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[VECTO-560] - Change Mail-Address of general VECTO contact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[VECTO-616] - SI-Unit - display derived unit instead of base units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[VECTO-608] - Power balance in EPT-mode not closed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[VECTO-610] - TyreCertificationNumber missing in Manufacturer Report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Support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en-US" sz="1600" spc="-1" strike="noStrike">
              <a:solidFill>
                <a:srgbClr val="000000"/>
              </a:solidFill>
              <a:latin typeface="Arial"/>
            </a:endParaRPr>
          </a:p>
        </p:txBody>
      </p:sp>
      <p:sp>
        <p:nvSpPr>
          <p:cNvPr id="36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[VECTO-592] - VTP Simulation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[VECTO-605] - Improve simulation speed</a:t>
            </a: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[VECTO-602] - Error in simulation without airdrag component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[VECTO-589] - Scheme .xml error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5920" cy="57348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VTP Simulation Mode</a:t>
            </a:r>
            <a:endParaRPr b="0" lang="en-US" sz="2400" spc="-1" strike="noStrike">
              <a:solidFill>
                <a:srgbClr val="000000"/>
              </a:solidFill>
              <a:latin typeface="Arial"/>
            </a:endParaRPr>
          </a:p>
        </p:txBody>
      </p:sp>
      <p:sp>
        <p:nvSpPr>
          <p:cNvPr id="363" name="PlaceHolder 2"/>
          <p:cNvSpPr>
            <a:spLocks noGrp="1"/>
          </p:cNvSpPr>
          <p:nvPr>
            <p:ph/>
          </p:nvPr>
        </p:nvSpPr>
        <p:spPr>
          <a:xfrm>
            <a:off x="468360" y="1196640"/>
            <a:ext cx="8215920" cy="511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Verification Test Procedure (VTP) Simulation Mode</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Similar to Pwheel mode, different cycle format (see user manual)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Requires:</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Vehicle in declaration mode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Measured driving cycle</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Parameters for engine-fan model</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Simulation uses all auxiliaries except engine fan</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Engine fan is modeled separately, power demand depends on fan speed (see user manual)</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Auxiliary power selected according to segment table, BUT power demand depends on vehicle speed</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&lt; 50 km/h: Urban</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50 &lt;= v &lt; 70 km/h: Rural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&gt;70 km/h: Long haul</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Gear and fuel consumption in the driving cycle are optional for now, may be used in future versions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en-US" sz="1600" spc="-1" strike="noStrike">
              <a:solidFill>
                <a:srgbClr val="000000"/>
              </a:solidFill>
              <a:latin typeface="Arial"/>
            </a:endParaRPr>
          </a:p>
        </p:txBody>
      </p:sp>
      <p:sp>
        <p:nvSpPr>
          <p:cNvPr id="36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[VECTO-585, VECTO-587] – VECTO Simulation aborts when run as WCF Service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[VECTO-586] – Gearshiftcout in reports too high</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Use of old library references .net framework 2.0</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en-US" sz="1600" spc="-1" strike="noStrike">
              <a:solidFill>
                <a:srgbClr val="000000"/>
              </a:solidFill>
              <a:latin typeface="Arial"/>
            </a:endParaRPr>
          </a:p>
        </p:txBody>
      </p:sp>
      <p:sp>
        <p:nvSpPr>
          <p:cNvPr id="36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1" lang="en-US" sz="1600" spc="-1" strike="noStrike">
                <a:solidFill>
                  <a:srgbClr val="000000"/>
                </a:solidFill>
                <a:latin typeface="Arial"/>
              </a:rPr>
              <a:t>Release of Vecto Hashing Tool</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[VECTO-557] Engine speed simulated too high during long stops</a:t>
            </a:r>
            <a:endParaRPr b="0" lang="en-US" sz="14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[VECTO-569] - ‘Engine Retarder’ not correctly recognized as input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[VECTO-571] - Customer Report – wrong output format of average RRC</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Correction of displayed units in graph window</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[VECTO-575] - Correction of simulation aborts (due to gearbox inertia, engineering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[VECTO-577] - Correction of XML export functionality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[VECTO-579] - Bug fix GUI crashes on invalid input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[VECTO-558] - Correction of output in .vsum file – BFColdHot always 0</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[VECTO-564] - Bug fix: correct output of vehicle group in XML report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[VECTO-566] - Vehicle height not correctly read (engineering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[VECTO-545] - Update documentation on Settings dialog</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en-US" sz="1600" spc="-1" strike="noStrike">
              <a:solidFill>
                <a:srgbClr val="000000"/>
              </a:solidFill>
              <a:latin typeface="Arial"/>
            </a:endParaRPr>
          </a:p>
        </p:txBody>
      </p:sp>
      <p:sp>
        <p:nvSpPr>
          <p:cNvPr id="36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[VECTO-546] - GearboxCertificationOptionType Option 2 not accepted by VECTO</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[VECTO-547] - Engine Manufacturer and Engine Model are empty in .vsum </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[VECTO-548] - online user manual</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[VECTO-549] - Inconsistent (and wrong) decimal separator in XML output (manufacturer report)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[VECTO-551] - Average Tyre RRC not in Customer Information File output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[VECTO-536] - GUI: improvements vehicle dialog (add missing pictures for vehicle categories)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[VECTO-550] - Allow custom settings for AirDensity in Engineering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1"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[VECTO-463] add pneumatic system technology 'vacuum pump‘</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[VECTO-477] AT Gearbox, powershift losses: remove inertia factor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[VECTO-367] Add Vehicle Design Speed to segmentation table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[VECTO-470] Add XML reading and export functionality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[VECTO-486] Adding hashing library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[VECTO-466] Update vehicle payloads: 10% loaded and reference load are simulated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[VECTO-467] Add generic PTO activation in municipal cycle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[VECTO-468] Add PTO losses (idle) in declaration mode</a:t>
            </a:r>
            <a:endParaRPr b="0" lang="en-US" sz="14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[VECTO-483] Adapt CdxA supplement for additional trailers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[VECTO-494] Implementation of different fuel types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[VECTO-502] Implementing standard values for air-drag area (if not measured)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[VECTO-504] Adding HVAC technology 'none‘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[VECTO-505] Implement AT transmissions in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[VECTO-509] Add axle-type (vehicle driven, vehicle non-driven, trailer) to GUI</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[VECTO-511] Add engine idle speed to Vehicle input form (GUI)</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[VECTO-510] Write XML reports (manufacturer, customer information) in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[VECTO-474] new driving cycles for Municipal and Regional Delivery</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5"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[VECTO-525] remove info-box with max loading in GUI</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[VECTO-533] allow second driven axle, rdyn is calculated as average of both driven axles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[VECTO-537] new Suburban driving cycles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[VECTO-542] reduce overspeed in declaration mode to 2.5km/h</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7"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[VECTO-462] fix: decision if PTO cycle is simulated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[VECTO-473] fix: adapt range for validation of torque converter characteristics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[VECTO-480] fix: a_pos in .vsum was less than zero</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[VECTO-514] fix: sort entries in .vsum numerically, not lexically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[VECTO-516] fix: consider axlegear losses for estimation of acceleration after gearshifts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[VECTO-426] fix: vectocmd.exe - log errors to STDERR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[VECTO-520] fix: gearashift count in vsum is 0</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en-US" sz="1600" spc="-1" strike="noStrike">
              <a:solidFill>
                <a:srgbClr val="000000"/>
              </a:solidFill>
              <a:latin typeface="Arial"/>
            </a:endParaRPr>
          </a:p>
        </p:txBody>
      </p:sp>
      <p:sp>
        <p:nvSpPr>
          <p:cNvPr id="379"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[VECTO-445] Additional columns in vsum file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splitting shift losses among multiple simulation intervals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coasting overspeed only if vehicle speed &gt; 0</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Torque converter: better handling of ‘creeping’ situations</a:t>
            </a: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[VECTO-443] Bugfix in AMT shift strategy: skip gears not working correctly</a:t>
            </a: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en-US" sz="1600" spc="-1" strike="noStrike">
              <a:solidFill>
                <a:srgbClr val="000000"/>
              </a:solidFill>
              <a:latin typeface="Arial"/>
            </a:endParaRPr>
          </a:p>
        </p:txBody>
      </p:sp>
      <p:sp>
        <p:nvSpPr>
          <p:cNvPr id="381" name="PlaceHolder 2"/>
          <p:cNvSpPr>
            <a:spLocks noGrp="1"/>
          </p:cNvSpPr>
          <p:nvPr>
            <p:ph/>
          </p:nvPr>
        </p:nvSpPr>
        <p:spPr>
          <a:xfrm>
            <a:off x="323640" y="1196640"/>
            <a:ext cx="8638560" cy="5182200"/>
          </a:xfrm>
          <a:prstGeom prst="rect">
            <a:avLst/>
          </a:prstGeom>
          <a:noFill/>
          <a:ln w="0">
            <a:noFill/>
          </a:ln>
        </p:spPr>
        <p:txBody>
          <a:bodyPr numCol="1" spcCol="0" lIns="90000" rIns="90000" tIns="45000" bIns="45000" anchor="t">
            <a:noAutofit/>
          </a:bodyPr>
          <a:p>
            <a:pPr indent="0">
              <a:lnSpc>
                <a:spcPct val="100000"/>
              </a:lnSpc>
              <a:spcBef>
                <a:spcPts val="241"/>
              </a:spcBef>
              <a:buNone/>
              <a:tabLst>
                <a:tab algn="l" pos="0"/>
              </a:tabLst>
            </a:pPr>
            <a:r>
              <a:rPr b="1" lang="en-US" sz="1200" spc="-1" strike="noStrike">
                <a:solidFill>
                  <a:srgbClr val="000000"/>
                </a:solidFill>
                <a:latin typeface="Arial"/>
              </a:rPr>
              <a:t>Improvements: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[VECTO-411] Allow a traction interruption of 0s for AMT/MT gearboxes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[VECTO-408] Gearbox Inertia for AT gearboxes set to 0</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[VECTO-419] Adapted error messages, added list of errors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 Energy balance (vsum) and balance of engine power output and power consumers (vmod) level</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[VECTO-430] AT shift strategy: upshifts may happen too early</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[VECTO-431] AMT shift strategy always started in first gear due to changes in clutch model</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[VECTO-433] adapt generic vehicles: use typical WHTC correction factors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[VECTO-437] set vehicle speed at clutch-closed to 1.3 m/s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en-US" sz="1200" spc="-1" strike="noStrike">
              <a:solidFill>
                <a:srgbClr val="000000"/>
              </a:solidFill>
              <a:latin typeface="Arial"/>
            </a:endParaRPr>
          </a:p>
          <a:p>
            <a:pPr indent="0">
              <a:lnSpc>
                <a:spcPct val="100000"/>
              </a:lnSpc>
              <a:spcBef>
                <a:spcPts val="241"/>
              </a:spcBef>
              <a:buNone/>
              <a:tabLst>
                <a:tab algn="l" pos="0"/>
              </a:tabLst>
            </a:pPr>
            <a:r>
              <a:rPr b="1" lang="en-US" sz="1200" spc="-1" strike="noStrike">
                <a:solidFill>
                  <a:srgbClr val="000000"/>
                </a:solidFill>
                <a:latin typeface="Arial"/>
              </a:rPr>
              <a:t>Bugfixes: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[VECTO-415] Powershift Losses were not considered for AT gearboxes with PowerSplit</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[VECTO-428] Sum of timeshares adds up to 100%</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[VECTO-429] Min Velocity for lookahead coasting was not written to JSON file</a:t>
            </a:r>
            <a:endParaRPr b="0" lang="en-US" sz="1200" spc="-1" strike="noStrike">
              <a:solidFill>
                <a:srgbClr val="000000"/>
              </a:solidFill>
              <a:latin typeface="Arial"/>
            </a:endParaRPr>
          </a:p>
          <a:p>
            <a:pPr indent="0">
              <a:lnSpc>
                <a:spcPct val="100000"/>
              </a:lnSpc>
              <a:spcBef>
                <a:spcPts val="241"/>
              </a:spcBef>
              <a:buNone/>
              <a:tabLst>
                <a:tab algn="l" pos="0"/>
              </a:tabLst>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en-US" sz="1600" spc="-1" strike="noStrike">
              <a:solidFill>
                <a:srgbClr val="000000"/>
              </a:solidFill>
              <a:latin typeface="Arial"/>
            </a:endParaRPr>
          </a:p>
        </p:txBody>
      </p:sp>
      <p:sp>
        <p:nvSpPr>
          <p:cNvPr id="383" name="PlaceHolder 2"/>
          <p:cNvSpPr>
            <a:spLocks noGrp="1"/>
          </p:cNvSpPr>
          <p:nvPr>
            <p:ph/>
          </p:nvPr>
        </p:nvSpPr>
        <p:spPr>
          <a:xfrm>
            <a:off x="323640" y="1628640"/>
            <a:ext cx="8638560" cy="474984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[VECTO-404] Driving Cycle with PTO stopped simulation after first PTO activation</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en-US" sz="1600" spc="-1" strike="noStrike">
              <a:solidFill>
                <a:srgbClr val="000000"/>
              </a:solidFill>
              <a:latin typeface="Arial"/>
            </a:endParaRPr>
          </a:p>
        </p:txBody>
      </p:sp>
      <p:sp>
        <p:nvSpPr>
          <p:cNvPr id="385" name="PlaceHolder 2"/>
          <p:cNvSpPr>
            <a:spLocks noGrp="1"/>
          </p:cNvSpPr>
          <p:nvPr>
            <p:ph/>
          </p:nvPr>
        </p:nvSpPr>
        <p:spPr>
          <a:xfrm>
            <a:off x="323640" y="1196640"/>
            <a:ext cx="8638560" cy="518220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[VECTO-396, VECTO-388] Add shift losses for AT power shifts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[VECTO-389] new gear shift rules for AT gearboxes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[VECTO-387] added max input speed for torque converter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[VECTO-385] Automatically add generic torque converter data for drag</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[VECTO-399] Add missions and loadings for vehicle categories 11, 12, and 16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[VECTO-384] cleanup memory after simulation run</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[VECTO-394] new option for vectocmd to disable all output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[VECTO-392] make the GUI scale depending on the Windows font size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[VECTO-391] Gearbox output speed and output torque added to .vmod files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en-US" sz="1400" spc="-1" strike="noStrike">
              <a:solidFill>
                <a:srgbClr val="000000"/>
              </a:solidFill>
              <a:latin typeface="Arial"/>
            </a:endParaRPr>
          </a:p>
          <a:p>
            <a:pPr indent="0">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[VECTO-401] Computation of n_95h etc. fails if engine’s max torque is constant 0 </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Lookup of Airdrag parameters in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[VECTO-378] Improved file-handling in AAUX module</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solidFill>
                <a:srgbClr val="000000"/>
              </a:solidFill>
              <a:latin typeface="Arial"/>
            </a:endParaRPr>
          </a:p>
        </p:txBody>
      </p:sp>
      <p:sp>
        <p:nvSpPr>
          <p:cNvPr id="387" name="PlaceHolder 2"/>
          <p:cNvSpPr>
            <a:spLocks noGrp="1"/>
          </p:cNvSpPr>
          <p:nvPr>
            <p:ph/>
          </p:nvPr>
        </p:nvSpPr>
        <p:spPr>
          <a:xfrm>
            <a:off x="323640" y="1196640"/>
            <a:ext cx="8638560" cy="5182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[VECTO-375] Fixed bug when braking during slope change from negative to positive values.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[VECTO-371] Added additional behavior to overcome such situations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[VECTO-370] Added additional behavior to overcome such situations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[VECTO-369] CrosswindCorrection is now saved and read again from JSON files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[VECTO-373] WHTC-Engineering correction factor now correctly read/write in JSON files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[VECTO-368] Fixed validation for specific cases when values are intentionally invalid.</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[VECTO-357] Updated GUI to not show ECO-Roll option to avoid confusion</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AT-ShiftStrategy regarding the Torque Converter</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a bug when PTO-Cycle was missing</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SumFile Cruise Time Share. Added that timeshares must add up to 100%</a:t>
            </a:r>
            <a:endParaRPr b="0" lang="en-US" sz="16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p:nvPr>
        </p:nvSpPr>
        <p:spPr>
          <a:xfrm>
            <a:off x="468360" y="1412640"/>
            <a:ext cx="8493480" cy="4966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[VECTO-355] Updated documentation, added powertrain schematics in chapter "Simulation Models"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many error messages to be more explicit about the reason of error</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warning when engine inertia is 0</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en-US" sz="16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p:txBody>
      </p:sp>
      <p:sp>
        <p:nvSpPr>
          <p:cNvPr id="389" name="Titel 1"/>
          <p:cNvSpPr/>
          <p:nvPr/>
        </p:nvSpPr>
        <p:spPr>
          <a:xfrm>
            <a:off x="468360" y="476640"/>
            <a:ext cx="8215920" cy="67860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pPr>
            <a:r>
              <a:rPr b="1" lang="en-US" sz="2400" spc="-1" strike="noStrike">
                <a:solidFill>
                  <a:srgbClr val="990000"/>
                </a:solidFill>
                <a:latin typeface="Arial"/>
                <a:ea typeface="DejaVu Sans"/>
              </a:rPr>
              <a:t>Vecto 3.1.0.683</a:t>
            </a:r>
            <a:br>
              <a:rPr sz="2400"/>
            </a:br>
            <a:r>
              <a:rPr b="1" lang="en-US" sz="1600" spc="-1" strike="noStrike">
                <a:solidFill>
                  <a:srgbClr val="990000"/>
                </a:solidFill>
                <a:latin typeface="Arial"/>
                <a:ea typeface="DejaVu Sans"/>
              </a:rPr>
              <a:t>2016-11-14</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en-US" sz="1600" spc="-1" strike="noStrike">
              <a:solidFill>
                <a:srgbClr val="000000"/>
              </a:solidFill>
              <a:latin typeface="Arial"/>
            </a:endParaRPr>
          </a:p>
        </p:txBody>
      </p:sp>
      <p:sp>
        <p:nvSpPr>
          <p:cNvPr id="391" name="PlaceHolder 2"/>
          <p:cNvSpPr>
            <a:spLocks noGrp="1"/>
          </p:cNvSpPr>
          <p:nvPr>
            <p:ph/>
          </p:nvPr>
        </p:nvSpPr>
        <p:spPr>
          <a:xfrm>
            <a:off x="468360" y="1412640"/>
            <a:ext cx="8493480" cy="4966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[VECTO-360] Fixed error during startup of VECTO (loading of DLLs).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[VECTO-361] Fixed classification of vehicles with GVM of exactly 7500kg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[VECTO-364] Fixed an error in measured speed mode (run aborts).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[VECTO-363] Compute shift polygons in declaration mode now uses correct boundary for full load margin.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[VECTO-365] Fixed editing gears in declaration mode</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[VECTO-355] User Manual updated (Screenshots, Descriptions, File Formats, Vecto V2 Comments removed).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[VECTO-317] Declaration data for Wheel sizes updated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[VECTO-359] Simplified code regarding PT1 behavior.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[VECTO-323] PTO-Cycle may now be left empty when not used in driving cycle.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solidFill>
                <a:srgbClr val="000000"/>
              </a:solidFill>
              <a:latin typeface="Arial"/>
            </a:endParaRPr>
          </a:p>
        </p:txBody>
      </p:sp>
      <p:sp>
        <p:nvSpPr>
          <p:cNvPr id="393" name="PlaceHolder 2"/>
          <p:cNvSpPr>
            <a:spLocks noGrp="1"/>
          </p:cNvSpPr>
          <p:nvPr>
            <p:ph/>
          </p:nvPr>
        </p:nvSpPr>
        <p:spPr>
          <a:xfrm>
            <a:off x="468360" y="1412640"/>
            <a:ext cx="8493480" cy="47109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VECTO Core 2.2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Refactoring of the User-Interface Backend: loading, saving files and validating user input uses Vecto 3 models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AT-Gearbox Model: differentiate between AT gearbox with serial torque converter and AT gearbox using powersplit</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Torque converter gear no longer allowed in input (added by Vecto depending on the AT model)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implementation of torque converter model (analytic solutions)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PTO option for municipal utility vehicles: PTO idle losses, separate PTO cycle during standstill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Angledrive Component</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Option for constant Auxiliary Power Demand in Job-File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solidFill>
                <a:srgbClr val="000000"/>
              </a:solidFill>
              <a:latin typeface="Arial"/>
            </a:endParaRPr>
          </a:p>
        </p:txBody>
      </p:sp>
      <p:sp>
        <p:nvSpPr>
          <p:cNvPr id="395" name="PlaceHolder 2"/>
          <p:cNvSpPr>
            <a:spLocks noGrp="1"/>
          </p:cNvSpPr>
          <p:nvPr>
            <p:ph/>
          </p:nvPr>
        </p:nvSpPr>
        <p:spPr>
          <a:xfrm>
            <a:off x="468360" y="1268640"/>
            <a:ext cx="8493480" cy="48549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 (cont.)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Normalize x/y values before triangulating Delaunay map (transmission loss-maps, fuel consumption loss map)</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Additional fuel consumption correction factor in declaration mode: cold/hot balancing factor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fuel consumption correction factor (WHTC, Cold/Hot balancing, …) in engineering mode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Update auxiliaries power demand according to latest whitebook</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multiple steered axles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Adapted engine idle controller (during declutch) – engine speed decreases faster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SUM-File: split E_axl_gbx into two columns, E_axl and E_gbx</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columns in mod-file: PTO, torque converter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full-load curve per gear, only single value MaxTorque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rims (dynamic wheel radius depends on wheel type)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Fixes in AAUX module: open correct file-browser, save selected files</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296640" y="476640"/>
            <a:ext cx="8449560" cy="573480"/>
          </a:xfrm>
          <a:prstGeom prst="rect">
            <a:avLst/>
          </a:prstGeom>
          <a:noFill/>
          <a:ln w="0">
            <a:noFill/>
          </a:ln>
        </p:spPr>
        <p:txBody>
          <a:bodyPr numCol="1" spcCol="0" lIns="90000" rIns="90000" tIns="45000" bIns="45000" anchor="ctr">
            <a:noAutofit/>
          </a:bodyPr>
          <a:p>
            <a:pPr indent="0">
              <a:lnSpc>
                <a:spcPct val="100000"/>
              </a:lnSpc>
              <a:buNone/>
              <a:tabLst>
                <a:tab algn="l" pos="0"/>
              </a:tabLst>
            </a:pPr>
            <a:r>
              <a:rPr b="1" lang="en-US" sz="2400" spc="-1" strike="noStrike">
                <a:solidFill>
                  <a:srgbClr val="990000"/>
                </a:solidFill>
                <a:latin typeface="Arial"/>
              </a:rPr>
              <a:t>Status quo VECTO software and open issues (Oct. 2016)</a:t>
            </a:r>
            <a:endParaRPr b="0" lang="en-US" sz="2400" spc="-1" strike="noStrike">
              <a:solidFill>
                <a:srgbClr val="000000"/>
              </a:solidFill>
              <a:latin typeface="Arial"/>
            </a:endParaRPr>
          </a:p>
        </p:txBody>
      </p:sp>
      <p:sp>
        <p:nvSpPr>
          <p:cNvPr id="397" name="Textfeld 2"/>
          <p:cNvSpPr/>
          <p:nvPr/>
        </p:nvSpPr>
        <p:spPr>
          <a:xfrm>
            <a:off x="323640" y="908640"/>
            <a:ext cx="8494560" cy="39456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pPr>
            <a:r>
              <a:rPr b="1" lang="de-AT" sz="2000" spc="-1" strike="noStrike">
                <a:solidFill>
                  <a:srgbClr val="000000"/>
                </a:solidFill>
                <a:latin typeface="Arial"/>
                <a:ea typeface="DejaVu Sans"/>
              </a:rPr>
              <a:t>Next issues on the to do list</a:t>
            </a:r>
            <a:endParaRPr b="0" lang="en-US" sz="2000" spc="-1" strike="noStrike">
              <a:solidFill>
                <a:srgbClr val="000000"/>
              </a:solidFill>
              <a:latin typeface="Arial"/>
            </a:endParaRPr>
          </a:p>
        </p:txBody>
      </p:sp>
      <p:sp>
        <p:nvSpPr>
          <p:cNvPr id="398" name="Textfeld 6"/>
          <p:cNvSpPr/>
          <p:nvPr/>
        </p:nvSpPr>
        <p:spPr>
          <a:xfrm>
            <a:off x="539640" y="1484640"/>
            <a:ext cx="8350560" cy="48787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Further development of the AT model</a:t>
            </a:r>
            <a:br>
              <a:rPr sz="1400"/>
            </a:br>
            <a:r>
              <a:rPr b="0" lang="en-GB" sz="1400" spc="-1" strike="noStrike">
                <a:solidFill>
                  <a:srgbClr val="000000"/>
                </a:solidFill>
                <a:latin typeface="Arial"/>
                <a:ea typeface="DejaVu Sans"/>
              </a:rPr>
              <a:t>Consideration of losses during power shifts, update of gear shift logics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Reimplementation of engine stop/start</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implementation of EMS vehicle configurations</a:t>
            </a:r>
            <a:endParaRPr b="0" lang="en-US" sz="1400" spc="-1" strike="noStrike">
              <a:solidFill>
                <a:srgbClr val="000000"/>
              </a:solidFill>
              <a:latin typeface="Arial"/>
            </a:endParaRPr>
          </a:p>
          <a:p>
            <a:pPr>
              <a:lnSpc>
                <a:spcPct val="100000"/>
              </a:lnSpc>
              <a:spcBef>
                <a:spcPts val="700"/>
              </a:spcBef>
            </a:pPr>
            <a:endParaRPr b="0" lang="en-US" sz="1400" spc="-1" strike="noStrike">
              <a:solidFill>
                <a:srgbClr val="000000"/>
              </a:solidFill>
              <a:latin typeface="Arial"/>
            </a:endParaRPr>
          </a:p>
          <a:p>
            <a:pPr>
              <a:lnSpc>
                <a:spcPct val="100000"/>
              </a:lnSpc>
              <a:spcBef>
                <a:spcPts val="700"/>
              </a:spcBef>
            </a:pPr>
            <a:r>
              <a:rPr b="1" lang="en-GB" sz="1400" spc="-1" strike="noStrike" u="sng">
                <a:solidFill>
                  <a:srgbClr val="000000"/>
                </a:solidFill>
                <a:uFillTx/>
                <a:latin typeface="Arial"/>
                <a:ea typeface="DejaVu Sans"/>
              </a:rPr>
              <a:t>Items waiting for decision on methods and resources: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Update engine data (according to update of Annex II)</a:t>
            </a:r>
            <a:br>
              <a:rPr sz="1400"/>
            </a:br>
            <a:r>
              <a:rPr b="0" lang="en-GB" sz="1400" spc="-1" strike="noStrike">
                <a:solidFill>
                  <a:srgbClr val="000000"/>
                </a:solidFill>
                <a:latin typeface="Arial"/>
                <a:ea typeface="DejaVu Sans"/>
              </a:rPr>
              <a:t>Other fuels than diesel, “top torque” feature, correction factor for periodic regerating DPFs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Revision of calculated vehicle loads</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implementation of refuse cycle (instead “municipal”)</a:t>
            </a:r>
            <a:br>
              <a:rPr sz="1400"/>
            </a:br>
            <a:r>
              <a:rPr b="0" lang="en-GB" sz="1400" spc="-1" strike="noStrike">
                <a:solidFill>
                  <a:srgbClr val="000000"/>
                </a:solidFill>
                <a:latin typeface="Arial"/>
                <a:ea typeface="DejaVu Sans"/>
              </a:rPr>
              <a:t>Update of driving cycle, consideration of generic PTO loads during collection part,</a:t>
            </a:r>
            <a:br>
              <a:rPr sz="1400"/>
            </a:br>
            <a:r>
              <a:rPr b="0" lang="en-GB" sz="1400" spc="-1" strike="noStrike">
                <a:solidFill>
                  <a:srgbClr val="000000"/>
                </a:solidFill>
                <a:latin typeface="Arial"/>
                <a:ea typeface="DejaVu Sans"/>
              </a:rPr>
              <a:t>generic body weight and payload</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VECTO output (approval authorities, customer info, monitoring)</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Buses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Predictive ADAS</a:t>
            </a:r>
            <a:endParaRPr b="0" lang="en-US" sz="1400" spc="-1" strike="noStrike">
              <a:solidFill>
                <a:srgbClr val="000000"/>
              </a:solidFill>
              <a:latin typeface="Arial"/>
            </a:endParaRPr>
          </a:p>
          <a:p>
            <a:pPr>
              <a:lnSpc>
                <a:spcPct val="100000"/>
              </a:lnSpc>
              <a:spcBef>
                <a:spcPts val="700"/>
              </a:spcBef>
            </a:pPr>
            <a:endParaRPr b="0" lang="en-US" sz="1400" spc="-1" strike="noStrike">
              <a:solidFill>
                <a:srgbClr val="000000"/>
              </a:solidFill>
              <a:latin typeface="Arial"/>
            </a:endParaRPr>
          </a:p>
          <a:p>
            <a:pPr>
              <a:lnSpc>
                <a:spcPct val="100000"/>
              </a:lnSpc>
              <a:spcBef>
                <a:spcPts val="700"/>
              </a:spcBef>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en-US" sz="1600" spc="-1" strike="noStrike">
              <a:solidFill>
                <a:srgbClr val="000000"/>
              </a:solidFill>
              <a:latin typeface="Arial"/>
            </a:endParaRPr>
          </a:p>
        </p:txBody>
      </p:sp>
      <p:sp>
        <p:nvSpPr>
          <p:cNvPr id="400"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AAUX HVAC Dialog does not store path to ActuationsMap and SSMSource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check for axle loads in declaration mode renders editing dialog useless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2.2: Simulation aborts (Vecto terminates) when simulating EngineOnly cycles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3: Building SimulationRun EngineOnly simulation failed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86240"/>
            <a:ext cx="8215920" cy="47988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en-US" sz="1600" spc="-1" strike="noStrike">
              <a:solidFill>
                <a:srgbClr val="000000"/>
              </a:solidFill>
              <a:latin typeface="Arial"/>
            </a:endParaRPr>
          </a:p>
        </p:txBody>
      </p:sp>
      <p:sp>
        <p:nvSpPr>
          <p:cNvPr id="402" name="PlaceHolder 2"/>
          <p:cNvSpPr>
            <a:spLocks noGrp="1"/>
          </p:cNvSpPr>
          <p:nvPr>
            <p:ph/>
          </p:nvPr>
        </p:nvSpPr>
        <p:spPr>
          <a:xfrm>
            <a:off x="539640" y="1628640"/>
            <a:ext cx="8062200" cy="43509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gear shift strategy according to White Book 2016</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coasting strategy according to White Book 2016</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input parameters (enineering mode) for coasting and gear shift behavior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Use SI units in Advanced Auxiliaries Module and compile with strict compiler settings (no implicit casts, etc.)</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efficiency for transmission losses (in engineering mode)</a:t>
            </a:r>
            <a:endParaRPr b="0" lang="en-US" sz="1800" spc="-1" strike="noStrike">
              <a:solidFill>
                <a:srgbClr val="000000"/>
              </a:solidFill>
              <a:latin typeface="Arial"/>
            </a:endParaRPr>
          </a:p>
          <a:p>
            <a:pPr indent="0">
              <a:lnSpc>
                <a:spcPct val="100000"/>
              </a:lnSpc>
              <a:spcBef>
                <a:spcPts val="400"/>
              </a:spcBef>
              <a:buNone/>
              <a:tabLst>
                <a:tab algn="l" pos="0"/>
              </a:tabLst>
            </a:pP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tabLst>
                <a:tab algn="l" pos="0"/>
              </a:tabLst>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Auxiliary TechList not read from JSON input data</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Improvements in driver strategy</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Bugfixes in MeasuredSpeed mode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Notes for using Vecto 3.x with AAUX (1)</a:t>
            </a:r>
            <a:endParaRPr b="0" lang="en-US" sz="2400" spc="-1" strike="noStrike">
              <a:solidFill>
                <a:srgbClr val="000000"/>
              </a:solidFill>
              <a:latin typeface="Arial"/>
            </a:endParaRPr>
          </a:p>
        </p:txBody>
      </p:sp>
      <p:sp>
        <p:nvSpPr>
          <p:cNvPr id="404"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5920" cy="50148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Notes for using Vecto 3.x with AAUX (2)</a:t>
            </a:r>
            <a:endParaRPr b="0" lang="en-US" sz="2400" spc="-1" strike="noStrike">
              <a:solidFill>
                <a:srgbClr val="000000"/>
              </a:solidFill>
              <a:latin typeface="Arial"/>
            </a:endParaRPr>
          </a:p>
        </p:txBody>
      </p:sp>
      <p:sp>
        <p:nvSpPr>
          <p:cNvPr id="406" name="PlaceHolder 2"/>
          <p:cNvSpPr>
            <a:spLocks noGrp="1"/>
          </p:cNvSpPr>
          <p:nvPr>
            <p:ph/>
          </p:nvPr>
        </p:nvSpPr>
        <p:spPr>
          <a:xfrm>
            <a:off x="179640" y="1124640"/>
            <a:ext cx="8854560" cy="53262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en-US" sz="18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AA_TotalCycleFC_Grams [g]: accumulated fuel consumption as computed by the AAUX model, considering smart consumers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[g/h]: fuel consumption as computed by VectoCore interpolating in the FC-Map, using an average base load of auxiliaries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[g/h]: fuel consumption corrected due to engine stop/start (currently not applicable)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[g/h]: WHTC-corrected fuel consumption (not applicable in engineering mode)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[g/h]: fuel consumption per simulation interval, derived from AA_TotalCycleFC_Grams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[g/h]: final fuel consumption value with all (applicable) corrections applied (stop/start, WHTC, smart auxiliaries)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7640" y="548640"/>
            <a:ext cx="8215920" cy="50148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Notes for using Vecto 3.x with AAUX (3)</a:t>
            </a:r>
            <a:endParaRPr b="0" lang="en-US" sz="2400" spc="-1" strike="noStrike">
              <a:solidFill>
                <a:srgbClr val="000000"/>
              </a:solidFill>
              <a:latin typeface="Arial"/>
            </a:endParaRPr>
          </a:p>
        </p:txBody>
      </p:sp>
      <p:sp>
        <p:nvSpPr>
          <p:cNvPr id="408" name="PlaceHolder 2"/>
          <p:cNvSpPr>
            <a:spLocks noGrp="1"/>
          </p:cNvSpPr>
          <p:nvPr>
            <p:ph/>
          </p:nvPr>
        </p:nvSpPr>
        <p:spPr>
          <a:xfrm>
            <a:off x="251640" y="1628640"/>
            <a:ext cx="8638560" cy="4605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 .vsum</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Columns in .vsum file:</a:t>
            </a:r>
            <a:endParaRPr b="0" lang="en-US" sz="18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total fuel consumption corrected due to engine stop/start (currently not applicable)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WHTC-corrected fuel consumption (not applicable in engineering mode)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fuel consumption per simulation interval, derived from AA_TotalCycleFC_Grams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final fuel consumption value with all (applicable) corrections applied (stop/start, WHTC, smart auxiliaries)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570240"/>
            <a:ext cx="8215920" cy="47988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en-US" sz="1600" spc="-1" strike="noStrike">
              <a:solidFill>
                <a:srgbClr val="000000"/>
              </a:solidFill>
              <a:latin typeface="Arial"/>
            </a:endParaRPr>
          </a:p>
        </p:txBody>
      </p:sp>
      <p:sp>
        <p:nvSpPr>
          <p:cNvPr id="410" name="PlaceHolder 2"/>
          <p:cNvSpPr>
            <a:spLocks noGrp="1"/>
          </p:cNvSpPr>
          <p:nvPr>
            <p:ph/>
          </p:nvPr>
        </p:nvSpPr>
        <p:spPr>
          <a:xfrm>
            <a:off x="179640" y="1124640"/>
            <a:ext cx="8782560" cy="48549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Plot shift lines as computed according to WB 2016 declaration mode in GUI</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Buttons to add/remove auxiliaries are visible again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calculation of WHTC correction factor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consider gearbox inertia (engineering mode) for searching operating point</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Wrong output of road gradient in measured speed mode (correct gradient for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Fuel consumption in .vsum file now accounts for AdvancedAuxiliaries model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GraphDrawer (Vecto): handle new .vmod format of Vecto 3</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AdvancedAuxiliaries: language-settings independent input parsing</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Paux was ignored when running Vecto 2.2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massive multithreaded execution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unhandled response during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output columns in .vmod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en-US" sz="1600" spc="-1" strike="noStrike">
              <a:solidFill>
                <a:srgbClr val="000000"/>
              </a:solidFill>
              <a:latin typeface="Arial"/>
            </a:endParaRPr>
          </a:p>
        </p:txBody>
      </p:sp>
      <p:sp>
        <p:nvSpPr>
          <p:cNvPr id="412"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Support for Advanced Auxiliaries (Ricardo) in Vecto 3.0.3 and Vecto 2.2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Performance improvements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Gearshift polygons according to WB 2016</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Revision of SUM-data file, changed order of columns, changed column headers</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Delaunay Maps: additional check for duplicate input points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Creation of PDF Report when running multiple jobs at once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Sanity checks for gear shift lines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DriverStrategy: handling special cases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3" name="Grafik 6" descr=""/>
          <p:cNvPicPr/>
          <p:nvPr/>
        </p:nvPicPr>
        <p:blipFill>
          <a:blip r:embed="rId1"/>
          <a:stretch/>
        </p:blipFill>
        <p:spPr>
          <a:xfrm>
            <a:off x="971640" y="1049400"/>
            <a:ext cx="7486200" cy="4748400"/>
          </a:xfrm>
          <a:prstGeom prst="rect">
            <a:avLst/>
          </a:prstGeom>
          <a:ln w="0">
            <a:noFill/>
          </a:ln>
        </p:spPr>
      </p:pic>
      <p:sp>
        <p:nvSpPr>
          <p:cNvPr id="414" name="PlaceHolder 1"/>
          <p:cNvSpPr>
            <a:spLocks noGrp="1"/>
          </p:cNvSpPr>
          <p:nvPr>
            <p:ph type="title"/>
          </p:nvPr>
        </p:nvSpPr>
        <p:spPr>
          <a:xfrm>
            <a:off x="468360" y="4766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Performance Comparison</a:t>
            </a:r>
            <a:endParaRPr b="0" lang="en-US" sz="2400" spc="-1" strike="noStrike">
              <a:solidFill>
                <a:srgbClr val="000000"/>
              </a:solidFill>
              <a:latin typeface="Arial"/>
            </a:endParaRPr>
          </a:p>
        </p:txBody>
      </p:sp>
      <p:sp>
        <p:nvSpPr>
          <p:cNvPr id="415" name="Textfeld 4"/>
          <p:cNvSpPr/>
          <p:nvPr/>
        </p:nvSpPr>
        <p:spPr>
          <a:xfrm rot="16200000">
            <a:off x="1163160" y="2851560"/>
            <a:ext cx="67536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000000"/>
                </a:solidFill>
                <a:latin typeface="Arial"/>
                <a:ea typeface="DejaVu Sans"/>
              </a:rPr>
              <a:t>Time [s]</a:t>
            </a:r>
            <a:endParaRPr b="0" lang="en-US" sz="1100" spc="-1" strike="noStrike">
              <a:solidFill>
                <a:srgbClr val="000000"/>
              </a:solidFill>
              <a:latin typeface="Arial"/>
            </a:endParaRPr>
          </a:p>
        </p:txBody>
      </p:sp>
      <p:sp>
        <p:nvSpPr>
          <p:cNvPr id="416" name="Textfeld 5"/>
          <p:cNvSpPr/>
          <p:nvPr/>
        </p:nvSpPr>
        <p:spPr>
          <a:xfrm>
            <a:off x="102240" y="5764680"/>
            <a:ext cx="830088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Arial"/>
                <a:ea typeface="DejaVu Sans"/>
              </a:rPr>
              <a:t>Total execution time (15 runs in parallel):  Vecto 3.0.2: 6min 6s; </a:t>
            </a:r>
            <a:r>
              <a:rPr b="1" lang="en-US" sz="1800" spc="-1" strike="noStrike">
                <a:solidFill>
                  <a:srgbClr val="000000"/>
                </a:solidFill>
                <a:latin typeface="Arial"/>
                <a:ea typeface="DejaVu Sans"/>
              </a:rPr>
              <a:t>Vecto 3.0.3: 35s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Rectangle 3"/>
          <p:cNvSpPr/>
          <p:nvPr/>
        </p:nvSpPr>
        <p:spPr>
          <a:xfrm>
            <a:off x="0" y="778680"/>
            <a:ext cx="9141480" cy="34344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pPr>
            <a:r>
              <a:rPr b="1" lang="en-GB" sz="2800" spc="-1" strike="noStrike">
                <a:solidFill>
                  <a:srgbClr val="990000"/>
                </a:solidFill>
                <a:latin typeface="Arial"/>
                <a:ea typeface="DejaVu Sans"/>
              </a:rPr>
              <a:t>VECTO 3.0.2</a:t>
            </a:r>
            <a:br>
              <a:rPr sz="2800"/>
            </a:br>
            <a:r>
              <a:rPr b="1" lang="en-GB" sz="1600" spc="-1" strike="noStrike">
                <a:solidFill>
                  <a:srgbClr val="990000"/>
                </a:solidFill>
                <a:latin typeface="Arial"/>
                <a:ea typeface="DejaVu Sans"/>
              </a:rPr>
              <a:t>2016-03-11</a:t>
            </a:r>
            <a:endParaRPr b="0" lang="en-US" sz="1600" spc="-1" strike="noStrike">
              <a:solidFill>
                <a:srgbClr val="000000"/>
              </a:solidFill>
              <a:latin typeface="Arial"/>
            </a:endParaRPr>
          </a:p>
        </p:txBody>
      </p:sp>
      <p:sp>
        <p:nvSpPr>
          <p:cNvPr id="418" name="Textfeld 5"/>
          <p:cNvSpPr/>
          <p:nvPr/>
        </p:nvSpPr>
        <p:spPr>
          <a:xfrm>
            <a:off x="251640" y="1124640"/>
            <a:ext cx="8494560" cy="514764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pPr>
            <a:r>
              <a:rPr b="1" lang="en-GB" sz="2000" spc="-1" strike="noStrike">
                <a:solidFill>
                  <a:srgbClr val="000000"/>
                </a:solidFill>
                <a:latin typeface="Arial"/>
                <a:ea typeface="DejaVu Sans"/>
              </a:rPr>
              <a:t>Main updates</a:t>
            </a:r>
            <a:endParaRPr b="0" lang="en-US" sz="20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ea typeface="DejaVu Sans"/>
              </a:rPr>
              <a:t>New simulation modes: </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Pwheel (SiCo), </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Measured Speed (with/without gear)</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v_air/beta cross-wind correction (vcdb)</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Adaptations of powertrain components architecture</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Move wheels inertia from vehicle to wheels</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Auxiliaries no longer connected via clutch to the engine but via a separate port</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Engine checks overload of gearbox and engine overload</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Fixed some driving behavior related issues in VectoCore:</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When the vehicle comes to a halt during gear shift, instead of aborting the cycle, it tries to drive away again with an appropriate gear.</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ModData Format changed for better information and clarity</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Added validation of input values (according to latest VectoInputParameters.xls)</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Various bugfixes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Pwheel (SiCo) Mode</a:t>
            </a:r>
            <a:endParaRPr b="0" lang="en-US" sz="2400" spc="-1" strike="noStrike">
              <a:solidFill>
                <a:srgbClr val="000000"/>
              </a:solidFill>
              <a:latin typeface="Arial"/>
            </a:endParaRPr>
          </a:p>
        </p:txBody>
      </p:sp>
      <p:sp>
        <p:nvSpPr>
          <p:cNvPr id="420"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 as already available in Vecto 2.2 also added in Vecto 3.0.2</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specifies power at wheel, engine speed, gear, and auxiliary power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 driver model in the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Vecto gear-shift model is overruled.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creating reference results for SiCo tests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Simulation Models / Pwheel Input (SiCo)</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a:p>
            <a:pPr indent="0">
              <a:lnSpc>
                <a:spcPct val="100000"/>
              </a:lnSpc>
              <a:spcBef>
                <a:spcPts val="400"/>
              </a:spcBef>
              <a:buNone/>
              <a:tabLst>
                <a:tab algn="l" pos="0"/>
              </a:tabLst>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Measured Speed Mode</a:t>
            </a:r>
            <a:endParaRPr b="0" lang="en-US" sz="2400" spc="-1" strike="noStrike">
              <a:solidFill>
                <a:srgbClr val="000000"/>
              </a:solidFill>
              <a:latin typeface="Arial"/>
            </a:endParaRPr>
          </a:p>
        </p:txBody>
      </p:sp>
      <p:sp>
        <p:nvSpPr>
          <p:cNvPr id="422"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Functionality already available in Vecto 2.2 added in Vecto 3.0.2</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not defined by target speed but by actual speed. No driver model in the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 and engine speed can be specified in the driving cycle. In this case the Vecto gear-shift model is overruled.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“proof of concept” purposes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Calculation Modes / Engineering Mode / Measured Speed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.vmod File Update</a:t>
            </a:r>
            <a:endParaRPr b="0" lang="en-US" sz="2400" spc="-1" strike="noStrike">
              <a:solidFill>
                <a:srgbClr val="000000"/>
              </a:solidFill>
              <a:latin typeface="Arial"/>
            </a:endParaRPr>
          </a:p>
        </p:txBody>
      </p:sp>
      <p:sp>
        <p:nvSpPr>
          <p:cNvPr id="424"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details see the user manual: Input and Output / Modal Results (.vmod)</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468360" y="714240"/>
            <a:ext cx="8215920" cy="67860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Changelog 3.0.2</a:t>
            </a:r>
            <a:endParaRPr b="0" lang="en-US" sz="2400" spc="-1" strike="noStrike">
              <a:solidFill>
                <a:srgbClr val="000000"/>
              </a:solidFill>
              <a:latin typeface="Arial"/>
            </a:endParaRPr>
          </a:p>
        </p:txBody>
      </p:sp>
      <p:sp>
        <p:nvSpPr>
          <p:cNvPr id="426" name="PlaceHolder 2"/>
          <p:cNvSpPr>
            <a:spLocks noGrp="1"/>
          </p:cNvSpPr>
          <p:nvPr>
            <p:ph/>
          </p:nvPr>
        </p:nvSpPr>
        <p:spPr>
          <a:xfrm>
            <a:off x="468360" y="1582560"/>
            <a:ext cx="8215920" cy="4541040"/>
          </a:xfrm>
          <a:prstGeom prst="rect">
            <a:avLst/>
          </a:prstGeom>
          <a:noFill/>
          <a:ln w="0">
            <a:noFill/>
          </a:ln>
        </p:spPr>
        <p:txBody>
          <a:bodyPr numCol="1" spcCol="0" lIns="90000" rIns="90000" tIns="45000" bIns="45000" anchor="t">
            <a:noAutofit/>
          </a:bodyPr>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simulation modes: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 with Gear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Pwheel (SiCo)</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Adaptations of powertrain components architecture</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Move wheels inertia from vehicle to wheels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Auxiliaries no longer connected via clutch to the engine but via a separate port</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Engine checks overload of gearbox and engine overload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Fixed some driving behavior related issues in VectoCore:</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[ModData Format](#modal-results-.vmod) changed for better information and clarity</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Entries in the sum-file are sorted in the same way as in Vecto 2.2</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Added validation of input values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Gravity constant set to 9.80665 (NIST standard acceleration for gravity)</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Improved input data handling: sort input values of full-load curves (engine, gbx, retarder)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Better Integration of VectoCore into GUI (Notifications and Messages)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v_air/beta cross-wind correction (vcdb) impemented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For all calculations the averaged values of the current simulation step are used for interpolations in loss-maps.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Allow extrapolation of loss maps in engineering mode (warnings)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input data handling: separate InputDataProvider interfaces for model data</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result handling: separate result container and output writer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Long-Haul driving cycle included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User Manual updated for VECTO V3.x</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 sparse representation of declaration cycles had some missing entries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computation of engine's preferred speed </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wrong vehicle class lookup</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duplicate entries in intersected full-load curves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retarder takes the retarder ratio into account for lossmap lookup</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use unique identifier for jobs in job list</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triagulation of fuel consumption map</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200</TotalTime>
  <Application>LibreOffice/7.4.4.2$Windows_X86_64 LibreOffice_project/85569322deea74ec9134968a29af2df5663baa21</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2023-02-15T15:06:49Z</dcterms:modified>
  <cp:revision>1290</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