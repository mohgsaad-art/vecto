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23"/>
  </p:notesMasterIdLst>
  <p:handoutMasterIdLst>
    <p:handoutMasterId r:id="rId24"/>
  </p:handoutMasterIdLst>
  <p:sldIdLst>
    <p:sldId id="276" r:id="rId2"/>
    <p:sldId id="382" r:id="rId3"/>
    <p:sldId id="313" r:id="rId4"/>
    <p:sldId id="354" r:id="rId5"/>
    <p:sldId id="356" r:id="rId6"/>
    <p:sldId id="371" r:id="rId7"/>
    <p:sldId id="379" r:id="rId8"/>
    <p:sldId id="360" r:id="rId9"/>
    <p:sldId id="372" r:id="rId10"/>
    <p:sldId id="373" r:id="rId11"/>
    <p:sldId id="376" r:id="rId12"/>
    <p:sldId id="374" r:id="rId13"/>
    <p:sldId id="375" r:id="rId14"/>
    <p:sldId id="377" r:id="rId15"/>
    <p:sldId id="389" r:id="rId16"/>
    <p:sldId id="380" r:id="rId17"/>
    <p:sldId id="387" r:id="rId18"/>
    <p:sldId id="383" r:id="rId19"/>
    <p:sldId id="384" r:id="rId20"/>
    <p:sldId id="385" r:id="rId21"/>
    <p:sldId id="386" r:id="rId22"/>
  </p:sldIdLst>
  <p:sldSz cx="9144000" cy="5143500" type="screen16x9"/>
  <p:notesSz cx="6718300" cy="9855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74">
          <p15:clr>
            <a:srgbClr val="A4A3A4"/>
          </p15:clr>
        </p15:guide>
        <p15:guide id="2" pos="5465">
          <p15:clr>
            <a:srgbClr val="A4A3A4"/>
          </p15:clr>
        </p15:guide>
      </p15:sldGuideLst>
    </p:ext>
    <p:ext uri="{2D200454-40CA-4A62-9FC3-DE9A4176ACB9}">
      <p15:notesGuideLst xmlns:p15="http://schemas.microsoft.com/office/powerpoint/2012/main">
        <p15:guide id="1" orient="horz" pos="3104" userDrawn="1">
          <p15:clr>
            <a:srgbClr val="A4A3A4"/>
          </p15:clr>
        </p15:guide>
        <p15:guide id="2" pos="2116"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xeis Martin" initials="RM" lastIdx="7" clrIdx="0">
    <p:extLst>
      <p:ext uri="{19B8F6BF-5375-455C-9EA6-DF929625EA0E}">
        <p15:presenceInfo xmlns:p15="http://schemas.microsoft.com/office/powerpoint/2012/main" userId="S-1-5-21-3973228963-298457264-3175122553-2623" providerId="AD"/>
      </p:ext>
    </p:extLst>
  </p:cmAuthor>
  <p:cmAuthor id="2" name="Present Stefan" initials="PS" lastIdx="3" clrIdx="1">
    <p:extLst>
      <p:ext uri="{19B8F6BF-5375-455C-9EA6-DF929625EA0E}">
        <p15:presenceInfo xmlns:p15="http://schemas.microsoft.com/office/powerpoint/2012/main" userId="S-1-5-21-3973228963-298457264-3175122553-1305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66CF"/>
    <a:srgbClr val="4D80BC"/>
    <a:srgbClr val="FB2427"/>
    <a:srgbClr val="FB0004"/>
    <a:srgbClr val="E1CCF0"/>
    <a:srgbClr val="2583C7"/>
    <a:srgbClr val="FFFFD9"/>
    <a:srgbClr val="164194"/>
    <a:srgbClr val="0F5494"/>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2" autoAdjust="0"/>
    <p:restoredTop sz="96243" autoAdjust="0"/>
  </p:normalViewPr>
  <p:slideViewPr>
    <p:cSldViewPr showGuides="1">
      <p:cViewPr varScale="1">
        <p:scale>
          <a:sx n="105" d="100"/>
          <a:sy n="105" d="100"/>
        </p:scale>
        <p:origin x="331" y="62"/>
      </p:cViewPr>
      <p:guideLst>
        <p:guide orient="horz" pos="3174"/>
        <p:guide pos="546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0"/>
    </p:cViewPr>
  </p:sorterViewPr>
  <p:notesViewPr>
    <p:cSldViewPr showGuides="1">
      <p:cViewPr varScale="1">
        <p:scale>
          <a:sx n="76" d="100"/>
          <a:sy n="76" d="100"/>
        </p:scale>
        <p:origin x="2970" y="96"/>
      </p:cViewPr>
      <p:guideLst>
        <p:guide orient="horz" pos="3104"/>
        <p:guide pos="211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1" y="0"/>
            <a:ext cx="2911996" cy="49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590" tIns="45295" rIns="90590" bIns="45295" numCol="1" anchor="t" anchorCtr="0" compatLnSpc="1">
            <a:prstTxWarp prst="textNoShape">
              <a:avLst/>
            </a:prstTxWarp>
          </a:bodyPr>
          <a:lstStyle>
            <a:lvl1pPr>
              <a:defRPr>
                <a:solidFill>
                  <a:schemeClr val="tx1"/>
                </a:solidFill>
                <a:latin typeface="Arial" charset="0"/>
              </a:defRPr>
            </a:lvl1pPr>
          </a:lstStyle>
          <a:p>
            <a:endParaRPr lang="en-GB" altLang="en-US"/>
          </a:p>
        </p:txBody>
      </p:sp>
      <p:sp>
        <p:nvSpPr>
          <p:cNvPr id="37891" name="Rectangle 3"/>
          <p:cNvSpPr>
            <a:spLocks noGrp="1" noChangeArrowheads="1"/>
          </p:cNvSpPr>
          <p:nvPr>
            <p:ph type="dt" sz="quarter" idx="1"/>
          </p:nvPr>
        </p:nvSpPr>
        <p:spPr bwMode="auto">
          <a:xfrm>
            <a:off x="3804737" y="0"/>
            <a:ext cx="2911996" cy="49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590" tIns="45295" rIns="90590" bIns="45295" numCol="1" anchor="t" anchorCtr="0" compatLnSpc="1">
            <a:prstTxWarp prst="textNoShape">
              <a:avLst/>
            </a:prstTxWarp>
          </a:bodyPr>
          <a:lstStyle>
            <a:lvl1pPr algn="r">
              <a:defRPr>
                <a:solidFill>
                  <a:schemeClr val="tx1"/>
                </a:solidFill>
                <a:latin typeface="Arial" charset="0"/>
              </a:defRPr>
            </a:lvl1pPr>
          </a:lstStyle>
          <a:p>
            <a:endParaRPr lang="en-GB" altLang="en-US"/>
          </a:p>
        </p:txBody>
      </p:sp>
      <p:sp>
        <p:nvSpPr>
          <p:cNvPr id="37892" name="Rectangle 4"/>
          <p:cNvSpPr>
            <a:spLocks noGrp="1" noChangeArrowheads="1"/>
          </p:cNvSpPr>
          <p:nvPr>
            <p:ph type="ftr" sz="quarter" idx="2"/>
          </p:nvPr>
        </p:nvSpPr>
        <p:spPr bwMode="auto">
          <a:xfrm>
            <a:off x="1" y="9360315"/>
            <a:ext cx="2911996" cy="493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590" tIns="45295" rIns="90590" bIns="45295" numCol="1" anchor="b" anchorCtr="0" compatLnSpc="1">
            <a:prstTxWarp prst="textNoShape">
              <a:avLst/>
            </a:prstTxWarp>
          </a:bodyPr>
          <a:lstStyle>
            <a:lvl1pPr>
              <a:defRPr>
                <a:solidFill>
                  <a:schemeClr val="tx1"/>
                </a:solidFill>
                <a:latin typeface="Arial" charset="0"/>
              </a:defRPr>
            </a:lvl1pPr>
          </a:lstStyle>
          <a:p>
            <a:endParaRPr lang="en-GB" altLang="en-US"/>
          </a:p>
        </p:txBody>
      </p:sp>
      <p:sp>
        <p:nvSpPr>
          <p:cNvPr id="37893" name="Rectangle 5"/>
          <p:cNvSpPr>
            <a:spLocks noGrp="1" noChangeArrowheads="1"/>
          </p:cNvSpPr>
          <p:nvPr>
            <p:ph type="sldNum" sz="quarter" idx="3"/>
          </p:nvPr>
        </p:nvSpPr>
        <p:spPr bwMode="auto">
          <a:xfrm>
            <a:off x="3804737" y="9360315"/>
            <a:ext cx="2911996" cy="493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590" tIns="45295" rIns="90590" bIns="45295" numCol="1" anchor="b" anchorCtr="0" compatLnSpc="1">
            <a:prstTxWarp prst="textNoShape">
              <a:avLst/>
            </a:prstTxWarp>
          </a:bodyPr>
          <a:lstStyle>
            <a:lvl1pPr algn="r">
              <a:defRPr>
                <a:solidFill>
                  <a:schemeClr val="tx1"/>
                </a:solidFill>
                <a:latin typeface="Arial" charset="0"/>
              </a:defRPr>
            </a:lvl1pPr>
          </a:lstStyle>
          <a:p>
            <a:fld id="{FED45814-836F-4D02-9B3F-C8895E045233}" type="slidenum">
              <a:rPr lang="en-GB" altLang="en-US"/>
              <a:pPr/>
              <a:t>‹Nr.›</a:t>
            </a:fld>
            <a:endParaRPr lang="en-GB" altLang="en-US"/>
          </a:p>
        </p:txBody>
      </p:sp>
    </p:spTree>
    <p:extLst>
      <p:ext uri="{BB962C8B-B14F-4D97-AF65-F5344CB8AC3E}">
        <p14:creationId xmlns:p14="http://schemas.microsoft.com/office/powerpoint/2010/main" val="23764585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1" y="0"/>
            <a:ext cx="2911996" cy="49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590" tIns="45295" rIns="90590" bIns="45295" numCol="1" anchor="t" anchorCtr="0" compatLnSpc="1">
            <a:prstTxWarp prst="textNoShape">
              <a:avLst/>
            </a:prstTxWarp>
          </a:bodyPr>
          <a:lstStyle>
            <a:lvl1pPr>
              <a:defRPr>
                <a:solidFill>
                  <a:schemeClr val="tx1"/>
                </a:solidFill>
                <a:latin typeface="Arial" charset="0"/>
              </a:defRPr>
            </a:lvl1pPr>
          </a:lstStyle>
          <a:p>
            <a:endParaRPr lang="en-GB" altLang="en-US"/>
          </a:p>
        </p:txBody>
      </p:sp>
      <p:sp>
        <p:nvSpPr>
          <p:cNvPr id="36867" name="Rectangle 3"/>
          <p:cNvSpPr>
            <a:spLocks noGrp="1" noChangeArrowheads="1"/>
          </p:cNvSpPr>
          <p:nvPr>
            <p:ph type="dt" idx="1"/>
          </p:nvPr>
        </p:nvSpPr>
        <p:spPr bwMode="auto">
          <a:xfrm>
            <a:off x="3804737" y="0"/>
            <a:ext cx="2911996" cy="49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590" tIns="45295" rIns="90590" bIns="45295" numCol="1" anchor="t" anchorCtr="0" compatLnSpc="1">
            <a:prstTxWarp prst="textNoShape">
              <a:avLst/>
            </a:prstTxWarp>
          </a:bodyPr>
          <a:lstStyle>
            <a:lvl1pPr algn="r">
              <a:defRPr>
                <a:solidFill>
                  <a:schemeClr val="tx1"/>
                </a:solidFill>
                <a:latin typeface="Arial" charset="0"/>
              </a:defRPr>
            </a:lvl1pPr>
          </a:lstStyle>
          <a:p>
            <a:endParaRPr lang="en-GB" altLang="en-US"/>
          </a:p>
        </p:txBody>
      </p:sp>
      <p:sp>
        <p:nvSpPr>
          <p:cNvPr id="36868" name="Rectangle 4"/>
          <p:cNvSpPr>
            <a:spLocks noGrp="1" noRot="1" noChangeAspect="1" noChangeArrowheads="1" noTextEdit="1"/>
          </p:cNvSpPr>
          <p:nvPr>
            <p:ph type="sldImg" idx="2"/>
          </p:nvPr>
        </p:nvSpPr>
        <p:spPr bwMode="auto">
          <a:xfrm>
            <a:off x="76200" y="739775"/>
            <a:ext cx="6567488" cy="36957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9" name="Rectangle 5"/>
          <p:cNvSpPr>
            <a:spLocks noGrp="1" noChangeArrowheads="1"/>
          </p:cNvSpPr>
          <p:nvPr>
            <p:ph type="body" sz="quarter" idx="3"/>
          </p:nvPr>
        </p:nvSpPr>
        <p:spPr bwMode="auto">
          <a:xfrm>
            <a:off x="292692" y="4680946"/>
            <a:ext cx="6132917" cy="4435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590" tIns="45295" rIns="90590" bIns="45295"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36870" name="Rectangle 6"/>
          <p:cNvSpPr>
            <a:spLocks noGrp="1" noChangeArrowheads="1"/>
          </p:cNvSpPr>
          <p:nvPr>
            <p:ph type="ftr" sz="quarter" idx="4"/>
          </p:nvPr>
        </p:nvSpPr>
        <p:spPr bwMode="auto">
          <a:xfrm>
            <a:off x="1" y="9360315"/>
            <a:ext cx="2911996" cy="493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590" tIns="45295" rIns="90590" bIns="45295" numCol="1" anchor="b" anchorCtr="0" compatLnSpc="1">
            <a:prstTxWarp prst="textNoShape">
              <a:avLst/>
            </a:prstTxWarp>
          </a:bodyPr>
          <a:lstStyle>
            <a:lvl1pPr>
              <a:defRPr>
                <a:solidFill>
                  <a:schemeClr val="tx1"/>
                </a:solidFill>
                <a:latin typeface="Arial" charset="0"/>
              </a:defRPr>
            </a:lvl1pPr>
          </a:lstStyle>
          <a:p>
            <a:endParaRPr lang="en-GB" altLang="en-US"/>
          </a:p>
        </p:txBody>
      </p:sp>
      <p:sp>
        <p:nvSpPr>
          <p:cNvPr id="36871" name="Rectangle 7"/>
          <p:cNvSpPr>
            <a:spLocks noGrp="1" noChangeArrowheads="1"/>
          </p:cNvSpPr>
          <p:nvPr>
            <p:ph type="sldNum" sz="quarter" idx="5"/>
          </p:nvPr>
        </p:nvSpPr>
        <p:spPr bwMode="auto">
          <a:xfrm>
            <a:off x="3804737" y="9360315"/>
            <a:ext cx="2911996" cy="493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590" tIns="45295" rIns="90590" bIns="45295" numCol="1" anchor="b" anchorCtr="0" compatLnSpc="1">
            <a:prstTxWarp prst="textNoShape">
              <a:avLst/>
            </a:prstTxWarp>
          </a:bodyPr>
          <a:lstStyle>
            <a:lvl1pPr algn="r">
              <a:defRPr>
                <a:solidFill>
                  <a:schemeClr val="tx1"/>
                </a:solidFill>
                <a:latin typeface="Arial" charset="0"/>
              </a:defRPr>
            </a:lvl1pPr>
          </a:lstStyle>
          <a:p>
            <a:fld id="{220961ED-B8B5-4C64-9727-6F12A830C91B}" type="slidenum">
              <a:rPr lang="en-GB" altLang="en-US"/>
              <a:pPr/>
              <a:t>‹Nr.›</a:t>
            </a:fld>
            <a:endParaRPr lang="en-GB" altLang="en-US"/>
          </a:p>
        </p:txBody>
      </p:sp>
    </p:spTree>
    <p:extLst>
      <p:ext uri="{BB962C8B-B14F-4D97-AF65-F5344CB8AC3E}">
        <p14:creationId xmlns:p14="http://schemas.microsoft.com/office/powerpoint/2010/main" val="143276138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220961ED-B8B5-4C64-9727-6F12A830C91B}" type="slidenum">
              <a:rPr lang="en-GB" altLang="en-US" smtClean="0"/>
              <a:pPr/>
              <a:t>1</a:t>
            </a:fld>
            <a:endParaRPr lang="en-GB" altLang="en-US"/>
          </a:p>
        </p:txBody>
      </p:sp>
    </p:spTree>
    <p:extLst>
      <p:ext uri="{BB962C8B-B14F-4D97-AF65-F5344CB8AC3E}">
        <p14:creationId xmlns:p14="http://schemas.microsoft.com/office/powerpoint/2010/main" val="179198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2</a:t>
            </a:fld>
            <a:endParaRPr lang="en-GB" altLang="en-US"/>
          </a:p>
        </p:txBody>
      </p:sp>
    </p:spTree>
    <p:extLst>
      <p:ext uri="{BB962C8B-B14F-4D97-AF65-F5344CB8AC3E}">
        <p14:creationId xmlns:p14="http://schemas.microsoft.com/office/powerpoint/2010/main" val="3217288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3</a:t>
            </a:fld>
            <a:endParaRPr lang="en-GB" altLang="en-US"/>
          </a:p>
        </p:txBody>
      </p:sp>
    </p:spTree>
    <p:extLst>
      <p:ext uri="{BB962C8B-B14F-4D97-AF65-F5344CB8AC3E}">
        <p14:creationId xmlns:p14="http://schemas.microsoft.com/office/powerpoint/2010/main" val="32614461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4</a:t>
            </a:fld>
            <a:endParaRPr lang="en-GB" altLang="en-US"/>
          </a:p>
        </p:txBody>
      </p:sp>
    </p:spTree>
    <p:extLst>
      <p:ext uri="{BB962C8B-B14F-4D97-AF65-F5344CB8AC3E}">
        <p14:creationId xmlns:p14="http://schemas.microsoft.com/office/powerpoint/2010/main" val="420599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5</a:t>
            </a:fld>
            <a:endParaRPr lang="en-GB" altLang="en-US"/>
          </a:p>
        </p:txBody>
      </p:sp>
    </p:spTree>
    <p:extLst>
      <p:ext uri="{BB962C8B-B14F-4D97-AF65-F5344CB8AC3E}">
        <p14:creationId xmlns:p14="http://schemas.microsoft.com/office/powerpoint/2010/main" val="1002708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6</a:t>
            </a:fld>
            <a:endParaRPr lang="en-GB" altLang="en-US"/>
          </a:p>
        </p:txBody>
      </p:sp>
    </p:spTree>
    <p:extLst>
      <p:ext uri="{BB962C8B-B14F-4D97-AF65-F5344CB8AC3E}">
        <p14:creationId xmlns:p14="http://schemas.microsoft.com/office/powerpoint/2010/main" val="4034548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8</a:t>
            </a:fld>
            <a:endParaRPr lang="en-GB" altLang="en-US"/>
          </a:p>
        </p:txBody>
      </p:sp>
    </p:spTree>
    <p:extLst>
      <p:ext uri="{BB962C8B-B14F-4D97-AF65-F5344CB8AC3E}">
        <p14:creationId xmlns:p14="http://schemas.microsoft.com/office/powerpoint/2010/main" val="2891597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9</a:t>
            </a:fld>
            <a:endParaRPr lang="en-GB" altLang="en-US"/>
          </a:p>
        </p:txBody>
      </p:sp>
    </p:spTree>
    <p:extLst>
      <p:ext uri="{BB962C8B-B14F-4D97-AF65-F5344CB8AC3E}">
        <p14:creationId xmlns:p14="http://schemas.microsoft.com/office/powerpoint/2010/main" val="1886196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10</a:t>
            </a:fld>
            <a:endParaRPr lang="en-GB" altLang="en-US"/>
          </a:p>
        </p:txBody>
      </p:sp>
    </p:spTree>
    <p:extLst>
      <p:ext uri="{BB962C8B-B14F-4D97-AF65-F5344CB8AC3E}">
        <p14:creationId xmlns:p14="http://schemas.microsoft.com/office/powerpoint/2010/main" val="3309739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11</a:t>
            </a:fld>
            <a:endParaRPr lang="en-GB" altLang="en-US"/>
          </a:p>
        </p:txBody>
      </p:sp>
    </p:spTree>
    <p:extLst>
      <p:ext uri="{BB962C8B-B14F-4D97-AF65-F5344CB8AC3E}">
        <p14:creationId xmlns:p14="http://schemas.microsoft.com/office/powerpoint/2010/main" val="1709906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12</a:t>
            </a:fld>
            <a:endParaRPr lang="en-GB" altLang="en-US"/>
          </a:p>
        </p:txBody>
      </p:sp>
    </p:spTree>
    <p:extLst>
      <p:ext uri="{BB962C8B-B14F-4D97-AF65-F5344CB8AC3E}">
        <p14:creationId xmlns:p14="http://schemas.microsoft.com/office/powerpoint/2010/main" val="3894773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13</a:t>
            </a:fld>
            <a:endParaRPr lang="en-GB" altLang="en-US"/>
          </a:p>
        </p:txBody>
      </p:sp>
    </p:spTree>
    <p:extLst>
      <p:ext uri="{BB962C8B-B14F-4D97-AF65-F5344CB8AC3E}">
        <p14:creationId xmlns:p14="http://schemas.microsoft.com/office/powerpoint/2010/main" val="8218567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16</a:t>
            </a:fld>
            <a:endParaRPr lang="en-GB" altLang="en-US"/>
          </a:p>
        </p:txBody>
      </p:sp>
    </p:spTree>
    <p:extLst>
      <p:ext uri="{BB962C8B-B14F-4D97-AF65-F5344CB8AC3E}">
        <p14:creationId xmlns:p14="http://schemas.microsoft.com/office/powerpoint/2010/main" val="22294369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17</a:t>
            </a:fld>
            <a:endParaRPr lang="en-GB" altLang="en-US"/>
          </a:p>
        </p:txBody>
      </p:sp>
    </p:spTree>
    <p:extLst>
      <p:ext uri="{BB962C8B-B14F-4D97-AF65-F5344CB8AC3E}">
        <p14:creationId xmlns:p14="http://schemas.microsoft.com/office/powerpoint/2010/main" val="916435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18</a:t>
            </a:fld>
            <a:endParaRPr lang="en-GB" altLang="en-US"/>
          </a:p>
        </p:txBody>
      </p:sp>
    </p:spTree>
    <p:extLst>
      <p:ext uri="{BB962C8B-B14F-4D97-AF65-F5344CB8AC3E}">
        <p14:creationId xmlns:p14="http://schemas.microsoft.com/office/powerpoint/2010/main" val="10153227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19</a:t>
            </a:fld>
            <a:endParaRPr lang="en-GB" altLang="en-US"/>
          </a:p>
        </p:txBody>
      </p:sp>
    </p:spTree>
    <p:extLst>
      <p:ext uri="{BB962C8B-B14F-4D97-AF65-F5344CB8AC3E}">
        <p14:creationId xmlns:p14="http://schemas.microsoft.com/office/powerpoint/2010/main" val="2012685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20</a:t>
            </a:fld>
            <a:endParaRPr lang="en-GB" altLang="en-US"/>
          </a:p>
        </p:txBody>
      </p:sp>
    </p:spTree>
    <p:extLst>
      <p:ext uri="{BB962C8B-B14F-4D97-AF65-F5344CB8AC3E}">
        <p14:creationId xmlns:p14="http://schemas.microsoft.com/office/powerpoint/2010/main" val="35550219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220961ED-B8B5-4C64-9727-6F12A830C91B}" type="slidenum">
              <a:rPr lang="en-GB" altLang="en-US" smtClean="0"/>
              <a:pPr/>
              <a:t>21</a:t>
            </a:fld>
            <a:endParaRPr lang="en-GB" altLang="en-US"/>
          </a:p>
        </p:txBody>
      </p:sp>
    </p:spTree>
    <p:extLst>
      <p:ext uri="{BB962C8B-B14F-4D97-AF65-F5344CB8AC3E}">
        <p14:creationId xmlns:p14="http://schemas.microsoft.com/office/powerpoint/2010/main" val="3462857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FC1372-5585-4C63-A11E-9A6B7B874E0B}" type="datetimeFigureOut">
              <a:rPr lang="en-US" smtClean="0"/>
              <a:t>3/2/2022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1864772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FC1372-5585-4C63-A11E-9A6B7B874E0B}" type="datetimeFigureOut">
              <a:rPr lang="en-US" smtClean="0"/>
              <a:t>3/2/2022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807507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5FC1372-5585-4C63-A11E-9A6B7B874E0B}" type="datetimeFigureOut">
              <a:rPr lang="en-US" smtClean="0"/>
              <a:t>3/2/2022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305061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FC1372-5585-4C63-A11E-9A6B7B874E0B}" type="datetimeFigureOut">
              <a:rPr lang="en-US" smtClean="0"/>
              <a:t>3/2/2022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4150919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5FC1372-5585-4C63-A11E-9A6B7B874E0B}" type="datetimeFigureOut">
              <a:rPr lang="en-US" smtClean="0"/>
              <a:t>3/2/2022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3431101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FC1372-5585-4C63-A11E-9A6B7B874E0B}" type="datetimeFigureOut">
              <a:rPr lang="en-US" smtClean="0"/>
              <a:t>3/2/2022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1994764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FC1372-5585-4C63-A11E-9A6B7B874E0B}" type="datetimeFigureOut">
              <a:rPr lang="en-US" smtClean="0"/>
              <a:t>3/2/2022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1638651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5FC1372-5585-4C63-A11E-9A6B7B874E0B}" type="datetimeFigureOut">
              <a:rPr lang="en-US" smtClean="0"/>
              <a:t>3/2/2022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1869357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5FC1372-5585-4C63-A11E-9A6B7B874E0B}" type="datetimeFigureOut">
              <a:rPr lang="en-US" smtClean="0"/>
              <a:t>3/2/2022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2963477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FC1372-5585-4C63-A11E-9A6B7B874E0B}" type="datetimeFigureOut">
              <a:rPr lang="en-US" smtClean="0"/>
              <a:t>3/2/2022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4057596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FC1372-5585-4C63-A11E-9A6B7B874E0B}" type="datetimeFigureOut">
              <a:rPr lang="en-US" smtClean="0"/>
              <a:t>3/2/2022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00B71-0E25-4AD9-8A5F-C984458AB1BA}" type="slidenum">
              <a:rPr lang="en-US" smtClean="0"/>
              <a:t>‹Nr.›</a:t>
            </a:fld>
            <a:endParaRPr lang="en-US"/>
          </a:p>
        </p:txBody>
      </p:sp>
    </p:spTree>
    <p:extLst>
      <p:ext uri="{BB962C8B-B14F-4D97-AF65-F5344CB8AC3E}">
        <p14:creationId xmlns:p14="http://schemas.microsoft.com/office/powerpoint/2010/main" val="3927628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over with JRC tree">
    <p:spTree>
      <p:nvGrpSpPr>
        <p:cNvPr id="1" name=""/>
        <p:cNvGrpSpPr/>
        <p:nvPr/>
      </p:nvGrpSpPr>
      <p:grpSpPr>
        <a:xfrm>
          <a:off x="0" y="0"/>
          <a:ext cx="0" cy="0"/>
          <a:chOff x="0" y="0"/>
          <a:chExt cx="0" cy="0"/>
        </a:xfrm>
      </p:grpSpPr>
      <p:pic>
        <p:nvPicPr>
          <p:cNvPr id="3" name="Picture 2" descr="JRC-tree_16-9-01.jpg"/>
          <p:cNvPicPr>
            <a:picLocks noChangeAspect="1"/>
          </p:cNvPicPr>
          <p:nvPr userDrawn="1"/>
        </p:nvPicPr>
        <p:blipFill rotWithShape="1">
          <a:blip r:embed="rId2" cstate="print">
            <a:extLst>
              <a:ext uri="{28A0092B-C50C-407E-A947-70E740481C1C}">
                <a14:useLocalDpi xmlns:a14="http://schemas.microsoft.com/office/drawing/2010/main" val="0"/>
              </a:ext>
            </a:extLst>
          </a:blip>
          <a:srcRect l="1600"/>
          <a:stretch/>
        </p:blipFill>
        <p:spPr>
          <a:xfrm>
            <a:off x="0" y="555527"/>
            <a:ext cx="9144000" cy="4587974"/>
          </a:xfrm>
          <a:prstGeom prst="rect">
            <a:avLst/>
          </a:prstGeom>
        </p:spPr>
      </p:pic>
      <p:sp>
        <p:nvSpPr>
          <p:cNvPr id="6" name="Rectangle 5"/>
          <p:cNvSpPr/>
          <p:nvPr userDrawn="1"/>
        </p:nvSpPr>
        <p:spPr bwMode="auto">
          <a:xfrm>
            <a:off x="8172400" y="1599642"/>
            <a:ext cx="864096" cy="540060"/>
          </a:xfrm>
          <a:prstGeom prst="rect">
            <a:avLst/>
          </a:prstGeom>
          <a:solidFill>
            <a:schemeClr val="bg1"/>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175" marR="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rgbClr val="0F5494"/>
              </a:solidFill>
              <a:effectLst/>
              <a:latin typeface="Verdana" pitchFamily="34" charset="0"/>
            </a:endParaRPr>
          </a:p>
        </p:txBody>
      </p:sp>
      <p:sp>
        <p:nvSpPr>
          <p:cNvPr id="3076" name="Rectangle 4"/>
          <p:cNvSpPr>
            <a:spLocks noGrp="1" noChangeArrowheads="1"/>
          </p:cNvSpPr>
          <p:nvPr>
            <p:ph type="ctrTitle"/>
          </p:nvPr>
        </p:nvSpPr>
        <p:spPr>
          <a:xfrm>
            <a:off x="4068530" y="1527634"/>
            <a:ext cx="4751942" cy="1350150"/>
          </a:xfrm>
          <a:prstGeom prst="rect">
            <a:avLst/>
          </a:prstGeom>
        </p:spPr>
        <p:txBody>
          <a:bodyPr lIns="0" tIns="0" rIns="0" bIns="0"/>
          <a:lstStyle>
            <a:lvl1pPr marL="0" algn="r">
              <a:lnSpc>
                <a:spcPct val="110000"/>
              </a:lnSpc>
              <a:defRPr sz="2800">
                <a:solidFill>
                  <a:srgbClr val="164194"/>
                </a:solidFill>
              </a:defRPr>
            </a:lvl1pPr>
          </a:lstStyle>
          <a:p>
            <a:pPr lvl="0"/>
            <a:endParaRPr lang="en-GB" altLang="en-US" noProof="0" dirty="0"/>
          </a:p>
        </p:txBody>
      </p:sp>
      <p:sp>
        <p:nvSpPr>
          <p:cNvPr id="3077" name="Rectangle 5"/>
          <p:cNvSpPr>
            <a:spLocks noGrp="1" noChangeArrowheads="1"/>
          </p:cNvSpPr>
          <p:nvPr>
            <p:ph type="subTitle" idx="1"/>
          </p:nvPr>
        </p:nvSpPr>
        <p:spPr>
          <a:xfrm>
            <a:off x="4067945" y="2985796"/>
            <a:ext cx="4752547" cy="810090"/>
          </a:xfrm>
          <a:prstGeom prst="rect">
            <a:avLst/>
          </a:prstGeom>
        </p:spPr>
        <p:txBody>
          <a:bodyPr lIns="0" tIns="0" bIns="0"/>
          <a:lstStyle>
            <a:lvl1pPr marL="0" indent="0" algn="r">
              <a:lnSpc>
                <a:spcPct val="110000"/>
              </a:lnSpc>
              <a:spcBef>
                <a:spcPts val="0"/>
              </a:spcBef>
              <a:buFontTx/>
              <a:buNone/>
              <a:defRPr sz="2400" b="1" i="0">
                <a:solidFill>
                  <a:srgbClr val="164194"/>
                </a:solidFill>
              </a:defRPr>
            </a:lvl1pPr>
          </a:lstStyle>
          <a:p>
            <a:pPr lvl="0"/>
            <a:r>
              <a:rPr lang="en-US" altLang="en-US" noProof="0" dirty="0"/>
              <a:t>Click to edit Master subtitle style</a:t>
            </a:r>
            <a:endParaRPr lang="en-GB" altLang="en-US" noProof="0" dirty="0"/>
          </a:p>
        </p:txBody>
      </p:sp>
      <p:sp>
        <p:nvSpPr>
          <p:cNvPr id="14" name="Title 1"/>
          <p:cNvSpPr txBox="1">
            <a:spLocks/>
          </p:cNvSpPr>
          <p:nvPr userDrawn="1"/>
        </p:nvSpPr>
        <p:spPr>
          <a:xfrm>
            <a:off x="4499991" y="249492"/>
            <a:ext cx="4320159" cy="1098122"/>
          </a:xfrm>
          <a:prstGeom prst="rect">
            <a:avLst/>
          </a:prstGeom>
        </p:spPr>
        <p:txBody>
          <a:bodyPr lIns="0" tIns="46800" rIns="0"/>
          <a:lstStyle>
            <a:lvl1pPr algn="r" rtl="0" eaLnBrk="0" fontAlgn="base" hangingPunct="0">
              <a:spcBef>
                <a:spcPct val="0"/>
              </a:spcBef>
              <a:spcAft>
                <a:spcPct val="0"/>
              </a:spcAft>
              <a:defRPr sz="2800" b="1">
                <a:solidFill>
                  <a:srgbClr val="004494"/>
                </a:solidFill>
                <a:latin typeface="Verdana"/>
                <a:ea typeface="MS PGothic" pitchFamily="34" charset="-128"/>
                <a:cs typeface="ＭＳ Ｐゴシック" charset="0"/>
              </a:defRPr>
            </a:lvl1pPr>
            <a:lvl2pPr algn="l" rtl="0" eaLnBrk="0" fontAlgn="base" hangingPunct="0">
              <a:spcBef>
                <a:spcPct val="0"/>
              </a:spcBef>
              <a:spcAft>
                <a:spcPct val="0"/>
              </a:spcAft>
              <a:defRPr sz="2800" b="1">
                <a:solidFill>
                  <a:srgbClr val="004494"/>
                </a:solidFill>
                <a:latin typeface="Verdana" charset="0"/>
                <a:ea typeface="MS PGothic" pitchFamily="34" charset="-128"/>
                <a:cs typeface="ＭＳ Ｐゴシック" charset="0"/>
              </a:defRPr>
            </a:lvl2pPr>
            <a:lvl3pPr algn="l" rtl="0" eaLnBrk="0" fontAlgn="base" hangingPunct="0">
              <a:spcBef>
                <a:spcPct val="0"/>
              </a:spcBef>
              <a:spcAft>
                <a:spcPct val="0"/>
              </a:spcAft>
              <a:defRPr sz="2800" b="1">
                <a:solidFill>
                  <a:srgbClr val="004494"/>
                </a:solidFill>
                <a:latin typeface="Verdana" charset="0"/>
                <a:ea typeface="MS PGothic" pitchFamily="34" charset="-128"/>
                <a:cs typeface="ＭＳ Ｐゴシック" charset="0"/>
              </a:defRPr>
            </a:lvl3pPr>
            <a:lvl4pPr algn="l" rtl="0" eaLnBrk="0" fontAlgn="base" hangingPunct="0">
              <a:spcBef>
                <a:spcPct val="0"/>
              </a:spcBef>
              <a:spcAft>
                <a:spcPct val="0"/>
              </a:spcAft>
              <a:defRPr sz="2800" b="1">
                <a:solidFill>
                  <a:srgbClr val="004494"/>
                </a:solidFill>
                <a:latin typeface="Verdana" charset="0"/>
                <a:ea typeface="MS PGothic" pitchFamily="34" charset="-128"/>
                <a:cs typeface="ＭＳ Ｐゴシック" charset="0"/>
              </a:defRPr>
            </a:lvl4pPr>
            <a:lvl5pPr algn="l" rtl="0" eaLnBrk="0" fontAlgn="base" hangingPunct="0">
              <a:spcBef>
                <a:spcPct val="0"/>
              </a:spcBef>
              <a:spcAft>
                <a:spcPct val="0"/>
              </a:spcAft>
              <a:defRPr sz="2800" b="1">
                <a:solidFill>
                  <a:srgbClr val="004494"/>
                </a:solidFill>
                <a:latin typeface="Verdana" charset="0"/>
                <a:ea typeface="MS PGothic" pitchFamily="34" charset="-128"/>
                <a:cs typeface="ＭＳ Ｐゴシック" charset="0"/>
              </a:defRPr>
            </a:lvl5pPr>
            <a:lvl6pPr marL="815975" algn="l" rtl="0" fontAlgn="base">
              <a:spcBef>
                <a:spcPct val="0"/>
              </a:spcBef>
              <a:spcAft>
                <a:spcPct val="0"/>
              </a:spcAft>
              <a:defRPr sz="3000" b="1">
                <a:solidFill>
                  <a:srgbClr val="0F5494"/>
                </a:solidFill>
                <a:latin typeface="Verdana" charset="0"/>
                <a:ea typeface="ＭＳ Ｐゴシック" charset="0"/>
              </a:defRPr>
            </a:lvl6pPr>
            <a:lvl7pPr marL="1273175" algn="l" rtl="0" fontAlgn="base">
              <a:spcBef>
                <a:spcPct val="0"/>
              </a:spcBef>
              <a:spcAft>
                <a:spcPct val="0"/>
              </a:spcAft>
              <a:defRPr sz="3000" b="1">
                <a:solidFill>
                  <a:srgbClr val="0F5494"/>
                </a:solidFill>
                <a:latin typeface="Verdana" charset="0"/>
                <a:ea typeface="ＭＳ Ｐゴシック" charset="0"/>
              </a:defRPr>
            </a:lvl7pPr>
            <a:lvl8pPr marL="1730375" algn="l" rtl="0" fontAlgn="base">
              <a:spcBef>
                <a:spcPct val="0"/>
              </a:spcBef>
              <a:spcAft>
                <a:spcPct val="0"/>
              </a:spcAft>
              <a:defRPr sz="3000" b="1">
                <a:solidFill>
                  <a:srgbClr val="0F5494"/>
                </a:solidFill>
                <a:latin typeface="Verdana" charset="0"/>
                <a:ea typeface="ＭＳ Ｐゴシック" charset="0"/>
              </a:defRPr>
            </a:lvl8pPr>
            <a:lvl9pPr marL="2187575" algn="l" rtl="0" fontAlgn="base">
              <a:spcBef>
                <a:spcPct val="0"/>
              </a:spcBef>
              <a:spcAft>
                <a:spcPct val="0"/>
              </a:spcAft>
              <a:defRPr sz="3000" b="1">
                <a:solidFill>
                  <a:srgbClr val="0F5494"/>
                </a:solidFill>
                <a:latin typeface="Verdana" charset="0"/>
                <a:ea typeface="ＭＳ Ｐゴシック" charset="0"/>
              </a:defRPr>
            </a:lvl9pPr>
          </a:lstStyle>
          <a:p>
            <a:pPr>
              <a:lnSpc>
                <a:spcPct val="100000"/>
              </a:lnSpc>
            </a:pPr>
            <a:r>
              <a:rPr lang="en-GB" sz="1800" kern="0" baseline="0" dirty="0"/>
              <a:t>The European Commission’s</a:t>
            </a:r>
          </a:p>
          <a:p>
            <a:pPr>
              <a:lnSpc>
                <a:spcPct val="100000"/>
              </a:lnSpc>
            </a:pPr>
            <a:r>
              <a:rPr lang="en-GB" sz="1800" kern="0" baseline="0" dirty="0"/>
              <a:t>science and knowledge service</a:t>
            </a:r>
          </a:p>
          <a:p>
            <a:pPr>
              <a:lnSpc>
                <a:spcPct val="200000"/>
              </a:lnSpc>
            </a:pPr>
            <a:r>
              <a:rPr lang="en-US" sz="1600" b="0" kern="0" dirty="0"/>
              <a:t>Joint Research</a:t>
            </a:r>
            <a:r>
              <a:rPr lang="en-US" sz="1600" b="0" kern="0" baseline="0" dirty="0"/>
              <a:t> Centre</a:t>
            </a:r>
          </a:p>
        </p:txBody>
      </p:sp>
      <p:sp>
        <p:nvSpPr>
          <p:cNvPr id="21" name="Content Placeholder 2"/>
          <p:cNvSpPr>
            <a:spLocks noGrp="1"/>
          </p:cNvSpPr>
          <p:nvPr>
            <p:ph idx="10"/>
          </p:nvPr>
        </p:nvSpPr>
        <p:spPr>
          <a:xfrm>
            <a:off x="4067945" y="4011910"/>
            <a:ext cx="4752547" cy="486054"/>
          </a:xfrm>
          <a:prstGeom prst="rect">
            <a:avLst/>
          </a:prstGeom>
        </p:spPr>
        <p:txBody>
          <a:bodyPr lIns="0" rIns="0" bIns="360000" anchor="b"/>
          <a:lstStyle>
            <a:lvl1pPr marL="0" indent="0" algn="r">
              <a:buClr>
                <a:srgbClr val="1E4494"/>
              </a:buClr>
              <a:buFont typeface="Arial" panose="020B0604020202020204" pitchFamily="34" charset="0"/>
              <a:buNone/>
              <a:defRPr sz="1600" b="1"/>
            </a:lvl1pPr>
            <a:lvl2pPr marL="228600" indent="-228600" algn="r">
              <a:buClr>
                <a:srgbClr val="1E4494"/>
              </a:buClr>
              <a:buFont typeface="Arial" panose="020B0604020202020204" pitchFamily="34" charset="0"/>
              <a:buChar char="•"/>
              <a:defRPr sz="1600"/>
            </a:lvl2pPr>
            <a:lvl3pPr marL="457200" indent="-228600" algn="r">
              <a:buClr>
                <a:srgbClr val="1E4494"/>
              </a:buClr>
              <a:buFont typeface="Arial" panose="020B0604020202020204" pitchFamily="34" charset="0"/>
              <a:buChar char="•"/>
              <a:defRPr/>
            </a:lvl3pPr>
            <a:lvl4pPr marL="685800" indent="-228600" algn="r">
              <a:buClr>
                <a:srgbClr val="1E4494"/>
              </a:buClr>
              <a:buFont typeface="Arial" panose="020B0604020202020204" pitchFamily="34" charset="0"/>
              <a:buChar char="•"/>
              <a:defRPr/>
            </a:lvl4pPr>
            <a:lvl5pPr marL="914400" indent="-228600" algn="r">
              <a:buClr>
                <a:srgbClr val="1E4494"/>
              </a:buClr>
              <a:buFont typeface="Arial" panose="020B0604020202020204" pitchFamily="34" charset="0"/>
              <a:buChar char="•"/>
              <a:defRPr/>
            </a:lvl5pPr>
          </a:lstStyle>
          <a:p>
            <a:pPr lvl="0"/>
            <a:r>
              <a:rPr lang="en-US" dirty="0"/>
              <a:t>Click to edit Master text styles</a:t>
            </a:r>
          </a:p>
        </p:txBody>
      </p:sp>
      <p:pic>
        <p:nvPicPr>
          <p:cNvPr id="11" name="Picture 10" descr="EC-JRC-logo_horizontal_EN_neg_transparent-background.png"/>
          <p:cNvPicPr>
            <a:picLocks noChangeAspect="1"/>
          </p:cNvPicPr>
          <p:nvPr userDrawn="1"/>
        </p:nvPicPr>
        <p:blipFill>
          <a:blip r:embed="rId3" cstate="print">
            <a:alphaModFix/>
            <a:extLst>
              <a:ext uri="{28A0092B-C50C-407E-A947-70E740481C1C}">
                <a14:useLocalDpi xmlns:a14="http://schemas.microsoft.com/office/drawing/2010/main" val="0"/>
              </a:ext>
            </a:extLst>
          </a:blip>
          <a:stretch>
            <a:fillRect/>
          </a:stretch>
        </p:blipFill>
        <p:spPr>
          <a:xfrm>
            <a:off x="6372200" y="4372030"/>
            <a:ext cx="2462950" cy="720000"/>
          </a:xfrm>
          <a:prstGeom prst="rect">
            <a:avLst/>
          </a:prstGeom>
        </p:spPr>
      </p:pic>
    </p:spTree>
    <p:extLst>
      <p:ext uri="{BB962C8B-B14F-4D97-AF65-F5344CB8AC3E}">
        <p14:creationId xmlns:p14="http://schemas.microsoft.com/office/powerpoint/2010/main" val="14436802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2224" y="195486"/>
            <a:ext cx="8229600" cy="702469"/>
          </a:xfrm>
          <a:prstGeom prst="rect">
            <a:avLst/>
          </a:prstGeom>
        </p:spPr>
        <p:txBody>
          <a:bodyPr>
            <a:normAutofit/>
          </a:bodyPr>
          <a:lstStyle>
            <a:lvl1pPr>
              <a:defRPr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endParaRPr lang="en-GB" dirty="0"/>
          </a:p>
        </p:txBody>
      </p:sp>
      <p:sp>
        <p:nvSpPr>
          <p:cNvPr id="10" name="Content Placeholder 2"/>
          <p:cNvSpPr>
            <a:spLocks noGrp="1"/>
          </p:cNvSpPr>
          <p:nvPr>
            <p:ph idx="1"/>
          </p:nvPr>
        </p:nvSpPr>
        <p:spPr>
          <a:xfrm>
            <a:off x="457200" y="1203599"/>
            <a:ext cx="8229600" cy="3445422"/>
          </a:xfrm>
          <a:prstGeom prst="rect">
            <a:avLst/>
          </a:prstGeom>
        </p:spPr>
        <p:txBody>
          <a:bodyPr/>
          <a:lstStyle>
            <a:lvl1pPr marL="342900" indent="-342900">
              <a:lnSpc>
                <a:spcPct val="114000"/>
              </a:lnSpc>
              <a:buClr>
                <a:schemeClr val="accent4">
                  <a:lumMod val="75000"/>
                </a:schemeClr>
              </a:buClr>
              <a:buFont typeface="Arial" pitchFamily="34" charset="0"/>
              <a:buChar char="•"/>
              <a:defRPr i="0">
                <a:solidFill>
                  <a:schemeClr val="accent4">
                    <a:lumMod val="50000"/>
                  </a:schemeClr>
                </a:solidFill>
              </a:defRPr>
            </a:lvl1pPr>
            <a:lvl2pPr>
              <a:lnSpc>
                <a:spcPct val="114000"/>
              </a:lnSpc>
              <a:buClr>
                <a:schemeClr val="accent4">
                  <a:lumMod val="75000"/>
                </a:schemeClr>
              </a:buClr>
              <a:defRPr>
                <a:solidFill>
                  <a:schemeClr val="accent4">
                    <a:lumMod val="50000"/>
                  </a:schemeClr>
                </a:solidFill>
              </a:defRPr>
            </a:lvl2pPr>
            <a:lvl3pPr>
              <a:lnSpc>
                <a:spcPct val="114000"/>
              </a:lnSpc>
              <a:buClr>
                <a:schemeClr val="accent4">
                  <a:lumMod val="75000"/>
                </a:schemeClr>
              </a:buClr>
              <a:defRPr>
                <a:solidFill>
                  <a:schemeClr val="accent4">
                    <a:lumMod val="50000"/>
                  </a:schemeClr>
                </a:solidFill>
              </a:defRPr>
            </a:lvl3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4798012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4" name="Rectangle 4"/>
          <p:cNvSpPr>
            <a:spLocks noGrp="1" noChangeArrowheads="1"/>
          </p:cNvSpPr>
          <p:nvPr>
            <p:ph type="ctrTitle"/>
          </p:nvPr>
        </p:nvSpPr>
        <p:spPr>
          <a:xfrm>
            <a:off x="4068530" y="1527634"/>
            <a:ext cx="4751942" cy="1350150"/>
          </a:xfrm>
          <a:prstGeom prst="rect">
            <a:avLst/>
          </a:prstGeom>
        </p:spPr>
        <p:txBody>
          <a:bodyPr lIns="0" tIns="0" rIns="0" bIns="0"/>
          <a:lstStyle>
            <a:lvl1pPr marL="0" algn="r">
              <a:lnSpc>
                <a:spcPct val="110000"/>
              </a:lnSpc>
              <a:defRPr sz="2800">
                <a:solidFill>
                  <a:srgbClr val="164194"/>
                </a:solidFill>
              </a:defRPr>
            </a:lvl1pPr>
          </a:lstStyle>
          <a:p>
            <a:pPr lvl="0"/>
            <a:endParaRPr lang="en-GB" altLang="en-US" noProof="0" dirty="0"/>
          </a:p>
        </p:txBody>
      </p:sp>
      <p:sp>
        <p:nvSpPr>
          <p:cNvPr id="5" name="Rectangle 5"/>
          <p:cNvSpPr>
            <a:spLocks noGrp="1" noChangeArrowheads="1"/>
          </p:cNvSpPr>
          <p:nvPr>
            <p:ph type="subTitle" idx="1"/>
          </p:nvPr>
        </p:nvSpPr>
        <p:spPr>
          <a:xfrm>
            <a:off x="4067945" y="2985796"/>
            <a:ext cx="4752547" cy="810090"/>
          </a:xfrm>
          <a:prstGeom prst="rect">
            <a:avLst/>
          </a:prstGeom>
        </p:spPr>
        <p:txBody>
          <a:bodyPr lIns="0" tIns="0" bIns="0"/>
          <a:lstStyle>
            <a:lvl1pPr marL="0" indent="0" algn="r">
              <a:lnSpc>
                <a:spcPct val="110000"/>
              </a:lnSpc>
              <a:spcBef>
                <a:spcPts val="0"/>
              </a:spcBef>
              <a:buFontTx/>
              <a:buNone/>
              <a:defRPr sz="2400" b="1" i="0">
                <a:solidFill>
                  <a:srgbClr val="164194"/>
                </a:solidFill>
              </a:defRPr>
            </a:lvl1pPr>
          </a:lstStyle>
          <a:p>
            <a:pPr lvl="0"/>
            <a:r>
              <a:rPr lang="en-US" altLang="en-US" noProof="0" dirty="0"/>
              <a:t>Click to edit Master subtitle style</a:t>
            </a:r>
            <a:endParaRPr lang="en-GB" altLang="en-US" noProof="0" dirty="0"/>
          </a:p>
        </p:txBody>
      </p:sp>
      <p:sp>
        <p:nvSpPr>
          <p:cNvPr id="6" name="Content Placeholder 2"/>
          <p:cNvSpPr>
            <a:spLocks noGrp="1"/>
          </p:cNvSpPr>
          <p:nvPr>
            <p:ph idx="10"/>
          </p:nvPr>
        </p:nvSpPr>
        <p:spPr>
          <a:xfrm>
            <a:off x="4067945" y="4011910"/>
            <a:ext cx="4752547" cy="486054"/>
          </a:xfrm>
          <a:prstGeom prst="rect">
            <a:avLst/>
          </a:prstGeom>
        </p:spPr>
        <p:txBody>
          <a:bodyPr lIns="0" rIns="0" bIns="360000" anchor="b"/>
          <a:lstStyle>
            <a:lvl1pPr marL="0" indent="0" algn="r">
              <a:buClr>
                <a:srgbClr val="1E4494"/>
              </a:buClr>
              <a:buFont typeface="Arial" panose="020B0604020202020204" pitchFamily="34" charset="0"/>
              <a:buNone/>
              <a:defRPr sz="1600" b="1"/>
            </a:lvl1pPr>
            <a:lvl2pPr marL="228600" indent="-228600" algn="r">
              <a:buClr>
                <a:srgbClr val="1E4494"/>
              </a:buClr>
              <a:buFont typeface="Arial" panose="020B0604020202020204" pitchFamily="34" charset="0"/>
              <a:buChar char="•"/>
              <a:defRPr sz="1600"/>
            </a:lvl2pPr>
            <a:lvl3pPr marL="457200" indent="-228600" algn="r">
              <a:buClr>
                <a:srgbClr val="1E4494"/>
              </a:buClr>
              <a:buFont typeface="Arial" panose="020B0604020202020204" pitchFamily="34" charset="0"/>
              <a:buChar char="•"/>
              <a:defRPr/>
            </a:lvl3pPr>
            <a:lvl4pPr marL="685800" indent="-228600" algn="r">
              <a:buClr>
                <a:srgbClr val="1E4494"/>
              </a:buClr>
              <a:buFont typeface="Arial" panose="020B0604020202020204" pitchFamily="34" charset="0"/>
              <a:buChar char="•"/>
              <a:defRPr/>
            </a:lvl4pPr>
            <a:lvl5pPr marL="914400" indent="-228600" algn="r">
              <a:buClr>
                <a:srgbClr val="1E4494"/>
              </a:buClr>
              <a:buFont typeface="Arial" panose="020B0604020202020204" pitchFamily="34" charset="0"/>
              <a:buChar char="•"/>
              <a:defRPr/>
            </a:lvl5pPr>
          </a:lstStyle>
          <a:p>
            <a:pPr lvl="0"/>
            <a:r>
              <a:rPr lang="en-US" dirty="0"/>
              <a:t>Click to edit Master text styles</a:t>
            </a:r>
          </a:p>
        </p:txBody>
      </p:sp>
    </p:spTree>
    <p:extLst>
      <p:ext uri="{BB962C8B-B14F-4D97-AF65-F5344CB8AC3E}">
        <p14:creationId xmlns:p14="http://schemas.microsoft.com/office/powerpoint/2010/main" val="1017334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466725" y="251129"/>
            <a:ext cx="8208963" cy="486054"/>
          </a:xfrm>
          <a:prstGeom prst="rect">
            <a:avLst/>
          </a:prstGeom>
        </p:spPr>
        <p:txBody>
          <a:bodyPr lIns="0" tIns="0" rIns="0" bIns="0"/>
          <a:lstStyle>
            <a:lvl1pPr>
              <a:lnSpc>
                <a:spcPct val="110000"/>
              </a:lnSpc>
              <a:defRPr sz="2400">
                <a:solidFill>
                  <a:srgbClr val="164194"/>
                </a:solidFill>
              </a:defRPr>
            </a:lvl1pPr>
          </a:lstStyle>
          <a:p>
            <a:r>
              <a:rPr lang="en-US" dirty="0"/>
              <a:t>Click to edit Master title style</a:t>
            </a:r>
            <a:endParaRPr lang="en-GB" dirty="0"/>
          </a:p>
        </p:txBody>
      </p:sp>
      <p:sp>
        <p:nvSpPr>
          <p:cNvPr id="5" name="Content Placeholder 2"/>
          <p:cNvSpPr>
            <a:spLocks noGrp="1"/>
          </p:cNvSpPr>
          <p:nvPr>
            <p:ph idx="1"/>
          </p:nvPr>
        </p:nvSpPr>
        <p:spPr>
          <a:xfrm>
            <a:off x="467544" y="790129"/>
            <a:ext cx="8208144" cy="3674715"/>
          </a:xfrm>
          <a:prstGeom prst="rect">
            <a:avLst/>
          </a:prstGeom>
        </p:spPr>
        <p:txBody>
          <a:bodyPr lIns="0" tIns="0" rIns="0" bIns="0"/>
          <a:lstStyle>
            <a:lvl1pPr marL="0" indent="0">
              <a:lnSpc>
                <a:spcPct val="110000"/>
              </a:lnSpc>
              <a:spcBef>
                <a:spcPts val="0"/>
              </a:spcBef>
              <a:buClr>
                <a:srgbClr val="33ACE3"/>
              </a:buClr>
              <a:buFont typeface="Arial"/>
              <a:buNone/>
              <a:defRPr sz="1800" b="0" i="0">
                <a:solidFill>
                  <a:schemeClr val="tx1"/>
                </a:solidFill>
              </a:defRPr>
            </a:lvl1pPr>
            <a:lvl2pPr marL="342900" indent="-342900">
              <a:lnSpc>
                <a:spcPct val="110000"/>
              </a:lnSpc>
              <a:spcBef>
                <a:spcPts val="0"/>
              </a:spcBef>
              <a:buClr>
                <a:srgbClr val="33ACE3"/>
              </a:buClr>
              <a:buFont typeface="Arial"/>
              <a:buChar char="•"/>
              <a:defRPr sz="1600">
                <a:solidFill>
                  <a:schemeClr val="tx1"/>
                </a:solidFill>
              </a:defRPr>
            </a:lvl2pPr>
            <a:lvl3pPr marL="0" indent="0">
              <a:lnSpc>
                <a:spcPct val="110000"/>
              </a:lnSpc>
              <a:spcBef>
                <a:spcPts val="0"/>
              </a:spcBef>
              <a:buClr>
                <a:srgbClr val="33ACE3"/>
              </a:buClr>
              <a:buFont typeface="Arial"/>
              <a:buNone/>
              <a:defRPr sz="1400">
                <a:solidFill>
                  <a:schemeClr val="tx1"/>
                </a:solidFill>
              </a:defRPr>
            </a:lvl3pPr>
            <a:lvl4pPr marL="0">
              <a:spcBef>
                <a:spcPts val="0"/>
              </a:spcBef>
              <a:defRPr/>
            </a:lvl4pPr>
            <a:lvl5pPr marL="0">
              <a:spcBef>
                <a:spcPts val="0"/>
              </a:spcBef>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78702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66725" y="251129"/>
            <a:ext cx="8208963" cy="486054"/>
          </a:xfrm>
          <a:prstGeom prst="rect">
            <a:avLst/>
          </a:prstGeom>
        </p:spPr>
        <p:txBody>
          <a:bodyPr lIns="0" tIns="0" rIns="0" bIns="0"/>
          <a:lstStyle>
            <a:lvl1pPr>
              <a:lnSpc>
                <a:spcPct val="110000"/>
              </a:lnSpc>
              <a:defRPr sz="2400">
                <a:solidFill>
                  <a:srgbClr val="164194"/>
                </a:solidFill>
              </a:defRPr>
            </a:lvl1pPr>
          </a:lstStyle>
          <a:p>
            <a:r>
              <a:rPr lang="en-US" dirty="0"/>
              <a:t>Click to edit Master title style</a:t>
            </a:r>
            <a:endParaRPr lang="en-GB" dirty="0"/>
          </a:p>
        </p:txBody>
      </p:sp>
      <p:sp>
        <p:nvSpPr>
          <p:cNvPr id="8" name="Content Placeholder 2"/>
          <p:cNvSpPr>
            <a:spLocks noGrp="1"/>
          </p:cNvSpPr>
          <p:nvPr>
            <p:ph idx="1"/>
          </p:nvPr>
        </p:nvSpPr>
        <p:spPr>
          <a:xfrm>
            <a:off x="467544" y="790129"/>
            <a:ext cx="3960440" cy="3674715"/>
          </a:xfrm>
          <a:prstGeom prst="rect">
            <a:avLst/>
          </a:prstGeom>
        </p:spPr>
        <p:txBody>
          <a:bodyPr lIns="0" tIns="0" rIns="0" bIns="0"/>
          <a:lstStyle>
            <a:lvl1pPr marL="0" indent="0">
              <a:lnSpc>
                <a:spcPct val="110000"/>
              </a:lnSpc>
              <a:spcBef>
                <a:spcPts val="0"/>
              </a:spcBef>
              <a:buClr>
                <a:srgbClr val="33ACE3"/>
              </a:buClr>
              <a:buFont typeface="Arial"/>
              <a:buNone/>
              <a:defRPr sz="1800" b="0" i="0">
                <a:solidFill>
                  <a:srgbClr val="000000"/>
                </a:solidFill>
              </a:defRPr>
            </a:lvl1pPr>
            <a:lvl2pPr marL="342900" indent="-342900">
              <a:lnSpc>
                <a:spcPct val="110000"/>
              </a:lnSpc>
              <a:spcBef>
                <a:spcPts val="0"/>
              </a:spcBef>
              <a:buClr>
                <a:srgbClr val="33ACE3"/>
              </a:buClr>
              <a:buFont typeface="Arial"/>
              <a:buChar char="•"/>
              <a:defRPr sz="1600">
                <a:solidFill>
                  <a:srgbClr val="000000"/>
                </a:solidFill>
              </a:defRPr>
            </a:lvl2pPr>
            <a:lvl3pPr marL="0" indent="0">
              <a:lnSpc>
                <a:spcPct val="110000"/>
              </a:lnSpc>
              <a:spcBef>
                <a:spcPts val="0"/>
              </a:spcBef>
              <a:buClr>
                <a:srgbClr val="33ACE3"/>
              </a:buClr>
              <a:buFont typeface="Arial"/>
              <a:buNone/>
              <a:defRPr sz="1400">
                <a:solidFill>
                  <a:srgbClr val="000000"/>
                </a:solidFill>
              </a:defRPr>
            </a:lvl3pPr>
            <a:lvl4pPr marL="0">
              <a:spcBef>
                <a:spcPts val="0"/>
              </a:spcBef>
              <a:defRPr/>
            </a:lvl4pPr>
            <a:lvl5pPr marL="0">
              <a:spcBef>
                <a:spcPts val="0"/>
              </a:spcBef>
              <a:defRPr/>
            </a:lvl5pPr>
          </a:lstStyle>
          <a:p>
            <a:pPr lvl="0"/>
            <a:r>
              <a:rPr lang="en-US" dirty="0"/>
              <a:t>Click to edit Master text styles</a:t>
            </a:r>
          </a:p>
          <a:p>
            <a:pPr lvl="1"/>
            <a:r>
              <a:rPr lang="en-US" dirty="0"/>
              <a:t>Second level</a:t>
            </a:r>
          </a:p>
          <a:p>
            <a:pPr lvl="2"/>
            <a:r>
              <a:rPr lang="en-US" dirty="0"/>
              <a:t>Third level</a:t>
            </a:r>
          </a:p>
        </p:txBody>
      </p:sp>
      <p:sp>
        <p:nvSpPr>
          <p:cNvPr id="9" name="Content Placeholder 2"/>
          <p:cNvSpPr>
            <a:spLocks noGrp="1"/>
          </p:cNvSpPr>
          <p:nvPr>
            <p:ph idx="12"/>
          </p:nvPr>
        </p:nvSpPr>
        <p:spPr>
          <a:xfrm>
            <a:off x="4715247" y="790129"/>
            <a:ext cx="3960440" cy="3674715"/>
          </a:xfrm>
          <a:prstGeom prst="rect">
            <a:avLst/>
          </a:prstGeom>
        </p:spPr>
        <p:txBody>
          <a:bodyPr lIns="0" tIns="0" rIns="0" bIns="0"/>
          <a:lstStyle>
            <a:lvl1pPr marL="0" indent="0">
              <a:lnSpc>
                <a:spcPct val="110000"/>
              </a:lnSpc>
              <a:spcBef>
                <a:spcPts val="0"/>
              </a:spcBef>
              <a:buClr>
                <a:srgbClr val="33ACE3"/>
              </a:buClr>
              <a:buFont typeface="Arial"/>
              <a:buNone/>
              <a:defRPr sz="1800" b="0" i="0">
                <a:solidFill>
                  <a:srgbClr val="000000"/>
                </a:solidFill>
              </a:defRPr>
            </a:lvl1pPr>
            <a:lvl2pPr marL="342900" indent="-342900">
              <a:lnSpc>
                <a:spcPct val="110000"/>
              </a:lnSpc>
              <a:spcBef>
                <a:spcPts val="0"/>
              </a:spcBef>
              <a:buClr>
                <a:srgbClr val="33ACE3"/>
              </a:buClr>
              <a:buFont typeface="Arial"/>
              <a:buChar char="•"/>
              <a:defRPr sz="1600">
                <a:solidFill>
                  <a:srgbClr val="000000"/>
                </a:solidFill>
              </a:defRPr>
            </a:lvl2pPr>
            <a:lvl3pPr marL="0" indent="0">
              <a:lnSpc>
                <a:spcPct val="110000"/>
              </a:lnSpc>
              <a:spcBef>
                <a:spcPts val="0"/>
              </a:spcBef>
              <a:buClr>
                <a:srgbClr val="33ACE3"/>
              </a:buClr>
              <a:buFont typeface="Arial"/>
              <a:buNone/>
              <a:defRPr sz="1400">
                <a:solidFill>
                  <a:srgbClr val="000000"/>
                </a:solidFill>
              </a:defRPr>
            </a:lvl3pPr>
            <a:lvl4pPr marL="0">
              <a:spcBef>
                <a:spcPts val="0"/>
              </a:spcBef>
              <a:defRPr/>
            </a:lvl4pPr>
            <a:lvl5pPr marL="0">
              <a:spcBef>
                <a:spcPts val="0"/>
              </a:spcBef>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6115668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_picture">
    <p:spTree>
      <p:nvGrpSpPr>
        <p:cNvPr id="1" name=""/>
        <p:cNvGrpSpPr/>
        <p:nvPr/>
      </p:nvGrpSpPr>
      <p:grpSpPr>
        <a:xfrm>
          <a:off x="0" y="0"/>
          <a:ext cx="0" cy="0"/>
          <a:chOff x="0" y="0"/>
          <a:chExt cx="0" cy="0"/>
        </a:xfrm>
      </p:grpSpPr>
      <p:sp>
        <p:nvSpPr>
          <p:cNvPr id="6" name="Picture Placeholder 6"/>
          <p:cNvSpPr>
            <a:spLocks noGrp="1"/>
          </p:cNvSpPr>
          <p:nvPr>
            <p:ph type="pic" sz="quarter" idx="12"/>
          </p:nvPr>
        </p:nvSpPr>
        <p:spPr>
          <a:xfrm>
            <a:off x="4860032" y="360362"/>
            <a:ext cx="4320480" cy="4101597"/>
          </a:xfrm>
          <a:prstGeom prst="rect">
            <a:avLst/>
          </a:prstGeom>
        </p:spPr>
        <p:txBody>
          <a:bodyPr/>
          <a:lstStyle>
            <a:lvl1pPr>
              <a:defRPr sz="2000">
                <a:solidFill>
                  <a:srgbClr val="000000"/>
                </a:solidFill>
              </a:defRPr>
            </a:lvl1pPr>
          </a:lstStyle>
          <a:p>
            <a:endParaRPr lang="en-GB" dirty="0"/>
          </a:p>
        </p:txBody>
      </p:sp>
      <p:sp>
        <p:nvSpPr>
          <p:cNvPr id="11" name="Content Placeholder 2"/>
          <p:cNvSpPr>
            <a:spLocks noGrp="1"/>
          </p:cNvSpPr>
          <p:nvPr>
            <p:ph idx="13"/>
          </p:nvPr>
        </p:nvSpPr>
        <p:spPr>
          <a:xfrm>
            <a:off x="467544" y="1113625"/>
            <a:ext cx="3959994" cy="3402341"/>
          </a:xfrm>
          <a:prstGeom prst="rect">
            <a:avLst/>
          </a:prstGeom>
        </p:spPr>
        <p:txBody>
          <a:bodyPr lIns="0" tIns="0" rIns="0" bIns="0"/>
          <a:lstStyle>
            <a:lvl1pPr marL="0" indent="0">
              <a:lnSpc>
                <a:spcPct val="110000"/>
              </a:lnSpc>
              <a:spcBef>
                <a:spcPts val="0"/>
              </a:spcBef>
              <a:buClr>
                <a:srgbClr val="33ACE3"/>
              </a:buClr>
              <a:buFont typeface="Arial"/>
              <a:buNone/>
              <a:defRPr sz="1800" b="0" i="0">
                <a:solidFill>
                  <a:srgbClr val="000000"/>
                </a:solidFill>
              </a:defRPr>
            </a:lvl1pPr>
            <a:lvl2pPr marL="342900" indent="-342900">
              <a:lnSpc>
                <a:spcPct val="110000"/>
              </a:lnSpc>
              <a:spcBef>
                <a:spcPts val="0"/>
              </a:spcBef>
              <a:buClr>
                <a:srgbClr val="33ACE3"/>
              </a:buClr>
              <a:buFont typeface="Arial"/>
              <a:buChar char="•"/>
              <a:defRPr sz="1600">
                <a:solidFill>
                  <a:srgbClr val="000000"/>
                </a:solidFill>
              </a:defRPr>
            </a:lvl2pPr>
            <a:lvl3pPr marL="0" indent="0">
              <a:lnSpc>
                <a:spcPct val="110000"/>
              </a:lnSpc>
              <a:spcBef>
                <a:spcPts val="0"/>
              </a:spcBef>
              <a:buClr>
                <a:srgbClr val="33ACE3"/>
              </a:buClr>
              <a:buFont typeface="Arial"/>
              <a:buNone/>
              <a:defRPr sz="1400">
                <a:solidFill>
                  <a:srgbClr val="000000"/>
                </a:solidFill>
              </a:defRPr>
            </a:lvl3pPr>
            <a:lvl4pPr marL="0">
              <a:spcBef>
                <a:spcPts val="0"/>
              </a:spcBef>
              <a:defRPr/>
            </a:lvl4pPr>
            <a:lvl5pPr marL="0">
              <a:spcBef>
                <a:spcPts val="0"/>
              </a:spcBef>
              <a:defRPr/>
            </a:lvl5pPr>
          </a:lstStyle>
          <a:p>
            <a:pPr lvl="0"/>
            <a:r>
              <a:rPr lang="en-US" dirty="0"/>
              <a:t>Click to edit Master text styles</a:t>
            </a:r>
          </a:p>
          <a:p>
            <a:pPr lvl="1"/>
            <a:r>
              <a:rPr lang="en-US" dirty="0"/>
              <a:t>Second level</a:t>
            </a:r>
          </a:p>
          <a:p>
            <a:pPr lvl="2"/>
            <a:r>
              <a:rPr lang="en-US" dirty="0"/>
              <a:t>Third level</a:t>
            </a:r>
          </a:p>
        </p:txBody>
      </p:sp>
      <p:sp>
        <p:nvSpPr>
          <p:cNvPr id="13" name="Title 1"/>
          <p:cNvSpPr>
            <a:spLocks noGrp="1"/>
          </p:cNvSpPr>
          <p:nvPr>
            <p:ph type="title"/>
          </p:nvPr>
        </p:nvSpPr>
        <p:spPr>
          <a:xfrm>
            <a:off x="466725" y="251128"/>
            <a:ext cx="3961260" cy="754448"/>
          </a:xfrm>
          <a:prstGeom prst="rect">
            <a:avLst/>
          </a:prstGeom>
        </p:spPr>
        <p:txBody>
          <a:bodyPr lIns="0" tIns="0" rIns="0" bIns="0"/>
          <a:lstStyle>
            <a:lvl1pPr>
              <a:lnSpc>
                <a:spcPct val="110000"/>
              </a:lnSpc>
              <a:defRPr sz="2400">
                <a:solidFill>
                  <a:srgbClr val="164194"/>
                </a:solidFill>
              </a:defRPr>
            </a:lvl1pPr>
          </a:lstStyle>
          <a:p>
            <a:r>
              <a:rPr lang="en-US" dirty="0"/>
              <a:t>Click to edit Master title style</a:t>
            </a:r>
            <a:endParaRPr lang="en-GB" dirty="0"/>
          </a:p>
        </p:txBody>
      </p:sp>
    </p:spTree>
    <p:extLst>
      <p:ext uri="{BB962C8B-B14F-4D97-AF65-F5344CB8AC3E}">
        <p14:creationId xmlns:p14="http://schemas.microsoft.com/office/powerpoint/2010/main" val="28682140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_text">
    <p:spTree>
      <p:nvGrpSpPr>
        <p:cNvPr id="1" name=""/>
        <p:cNvGrpSpPr/>
        <p:nvPr/>
      </p:nvGrpSpPr>
      <p:grpSpPr>
        <a:xfrm>
          <a:off x="0" y="0"/>
          <a:ext cx="0" cy="0"/>
          <a:chOff x="0" y="0"/>
          <a:chExt cx="0" cy="0"/>
        </a:xfrm>
      </p:grpSpPr>
      <p:sp>
        <p:nvSpPr>
          <p:cNvPr id="11" name="Picture Placeholder 6"/>
          <p:cNvSpPr>
            <a:spLocks noGrp="1"/>
          </p:cNvSpPr>
          <p:nvPr>
            <p:ph type="pic" sz="quarter" idx="10"/>
          </p:nvPr>
        </p:nvSpPr>
        <p:spPr>
          <a:xfrm>
            <a:off x="-17828" y="0"/>
            <a:ext cx="4229788" cy="5143500"/>
          </a:xfrm>
          <a:prstGeom prst="rect">
            <a:avLst/>
          </a:prstGeom>
        </p:spPr>
        <p:txBody>
          <a:bodyPr/>
          <a:lstStyle>
            <a:lvl1pPr>
              <a:defRPr sz="2000">
                <a:solidFill>
                  <a:srgbClr val="000000"/>
                </a:solidFill>
              </a:defRPr>
            </a:lvl1pPr>
          </a:lstStyle>
          <a:p>
            <a:endParaRPr lang="en-GB" dirty="0"/>
          </a:p>
        </p:txBody>
      </p:sp>
      <p:sp>
        <p:nvSpPr>
          <p:cNvPr id="12" name="Content Placeholder 2"/>
          <p:cNvSpPr>
            <a:spLocks noGrp="1"/>
          </p:cNvSpPr>
          <p:nvPr>
            <p:ph idx="13"/>
          </p:nvPr>
        </p:nvSpPr>
        <p:spPr>
          <a:xfrm>
            <a:off x="4716015" y="1113625"/>
            <a:ext cx="3960000" cy="3402341"/>
          </a:xfrm>
          <a:prstGeom prst="rect">
            <a:avLst/>
          </a:prstGeom>
        </p:spPr>
        <p:txBody>
          <a:bodyPr lIns="0" tIns="0" rIns="0" bIns="0"/>
          <a:lstStyle>
            <a:lvl1pPr marL="0" indent="0">
              <a:lnSpc>
                <a:spcPct val="110000"/>
              </a:lnSpc>
              <a:spcBef>
                <a:spcPts val="0"/>
              </a:spcBef>
              <a:buClr>
                <a:srgbClr val="33ACE3"/>
              </a:buClr>
              <a:buFont typeface="Arial"/>
              <a:buNone/>
              <a:defRPr sz="1800" b="0" i="0">
                <a:solidFill>
                  <a:srgbClr val="000000"/>
                </a:solidFill>
              </a:defRPr>
            </a:lvl1pPr>
            <a:lvl2pPr marL="342900" indent="-342900">
              <a:lnSpc>
                <a:spcPct val="110000"/>
              </a:lnSpc>
              <a:spcBef>
                <a:spcPts val="0"/>
              </a:spcBef>
              <a:buClr>
                <a:srgbClr val="33ACE3"/>
              </a:buClr>
              <a:buFont typeface="Arial"/>
              <a:buChar char="•"/>
              <a:defRPr sz="1600">
                <a:solidFill>
                  <a:srgbClr val="000000"/>
                </a:solidFill>
              </a:defRPr>
            </a:lvl2pPr>
            <a:lvl3pPr marL="0" indent="0">
              <a:lnSpc>
                <a:spcPct val="110000"/>
              </a:lnSpc>
              <a:spcBef>
                <a:spcPts val="0"/>
              </a:spcBef>
              <a:buClr>
                <a:srgbClr val="33ACE3"/>
              </a:buClr>
              <a:buFont typeface="Arial"/>
              <a:buNone/>
              <a:defRPr sz="1400">
                <a:solidFill>
                  <a:srgbClr val="000000"/>
                </a:solidFill>
              </a:defRPr>
            </a:lvl3pPr>
            <a:lvl4pPr marL="0">
              <a:spcBef>
                <a:spcPts val="0"/>
              </a:spcBef>
              <a:defRPr/>
            </a:lvl4pPr>
            <a:lvl5pPr marL="0">
              <a:spcBef>
                <a:spcPts val="0"/>
              </a:spcBef>
              <a:defRPr/>
            </a:lvl5pPr>
          </a:lstStyle>
          <a:p>
            <a:pPr lvl="0"/>
            <a:r>
              <a:rPr lang="en-US" dirty="0"/>
              <a:t>Click to edit Master text styles</a:t>
            </a:r>
          </a:p>
          <a:p>
            <a:pPr lvl="1"/>
            <a:r>
              <a:rPr lang="en-US" dirty="0"/>
              <a:t>Second level</a:t>
            </a:r>
          </a:p>
          <a:p>
            <a:pPr lvl="2"/>
            <a:r>
              <a:rPr lang="en-US" dirty="0"/>
              <a:t>Third level</a:t>
            </a:r>
          </a:p>
        </p:txBody>
      </p:sp>
      <p:sp>
        <p:nvSpPr>
          <p:cNvPr id="14" name="Title 1"/>
          <p:cNvSpPr>
            <a:spLocks noGrp="1"/>
          </p:cNvSpPr>
          <p:nvPr>
            <p:ph type="title"/>
          </p:nvPr>
        </p:nvSpPr>
        <p:spPr>
          <a:xfrm>
            <a:off x="4714755" y="251128"/>
            <a:ext cx="3961260" cy="754448"/>
          </a:xfrm>
          <a:prstGeom prst="rect">
            <a:avLst/>
          </a:prstGeom>
        </p:spPr>
        <p:txBody>
          <a:bodyPr lIns="0" tIns="0" rIns="0" bIns="0"/>
          <a:lstStyle>
            <a:lvl1pPr>
              <a:lnSpc>
                <a:spcPct val="110000"/>
              </a:lnSpc>
              <a:defRPr sz="2400">
                <a:solidFill>
                  <a:srgbClr val="164194"/>
                </a:solidFill>
              </a:defRPr>
            </a:lvl1pPr>
          </a:lstStyle>
          <a:p>
            <a:r>
              <a:rPr lang="en-US" dirty="0"/>
              <a:t>Click to edit Master title style</a:t>
            </a:r>
            <a:endParaRPr lang="en-GB" dirty="0"/>
          </a:p>
        </p:txBody>
      </p:sp>
    </p:spTree>
    <p:extLst>
      <p:ext uri="{BB962C8B-B14F-4D97-AF65-F5344CB8AC3E}">
        <p14:creationId xmlns:p14="http://schemas.microsoft.com/office/powerpoint/2010/main" val="9206105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below-pictur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17828" y="0"/>
            <a:ext cx="9161828" cy="1653648"/>
          </a:xfrm>
          <a:prstGeom prst="rect">
            <a:avLst/>
          </a:prstGeom>
        </p:spPr>
        <p:txBody>
          <a:bodyPr/>
          <a:lstStyle>
            <a:lvl1pPr>
              <a:defRPr sz="2000">
                <a:solidFill>
                  <a:srgbClr val="000000"/>
                </a:solidFill>
              </a:defRPr>
            </a:lvl1pPr>
          </a:lstStyle>
          <a:p>
            <a:endParaRPr lang="en-GB" dirty="0"/>
          </a:p>
        </p:txBody>
      </p:sp>
      <p:sp>
        <p:nvSpPr>
          <p:cNvPr id="10" name="Content Placeholder 2"/>
          <p:cNvSpPr>
            <a:spLocks noGrp="1"/>
          </p:cNvSpPr>
          <p:nvPr>
            <p:ph idx="1"/>
          </p:nvPr>
        </p:nvSpPr>
        <p:spPr>
          <a:xfrm>
            <a:off x="467544" y="2462678"/>
            <a:ext cx="8208144" cy="2002166"/>
          </a:xfrm>
          <a:prstGeom prst="rect">
            <a:avLst/>
          </a:prstGeom>
        </p:spPr>
        <p:txBody>
          <a:bodyPr lIns="0" tIns="0" rIns="0" bIns="0"/>
          <a:lstStyle>
            <a:lvl1pPr marL="0" indent="0">
              <a:lnSpc>
                <a:spcPct val="110000"/>
              </a:lnSpc>
              <a:spcBef>
                <a:spcPts val="0"/>
              </a:spcBef>
              <a:buClr>
                <a:srgbClr val="33ACE3"/>
              </a:buClr>
              <a:buFont typeface="Arial"/>
              <a:buNone/>
              <a:defRPr sz="1800" b="0" i="0">
                <a:solidFill>
                  <a:srgbClr val="000000"/>
                </a:solidFill>
              </a:defRPr>
            </a:lvl1pPr>
            <a:lvl2pPr marL="342900" indent="-342900">
              <a:lnSpc>
                <a:spcPct val="110000"/>
              </a:lnSpc>
              <a:spcBef>
                <a:spcPts val="0"/>
              </a:spcBef>
              <a:buClr>
                <a:srgbClr val="33ACE3"/>
              </a:buClr>
              <a:buFont typeface="Arial"/>
              <a:buChar char="•"/>
              <a:defRPr sz="1600">
                <a:solidFill>
                  <a:srgbClr val="000000"/>
                </a:solidFill>
              </a:defRPr>
            </a:lvl2pPr>
            <a:lvl3pPr marL="0" indent="0">
              <a:lnSpc>
                <a:spcPct val="110000"/>
              </a:lnSpc>
              <a:spcBef>
                <a:spcPts val="0"/>
              </a:spcBef>
              <a:buClr>
                <a:srgbClr val="33ACE3"/>
              </a:buClr>
              <a:buFont typeface="Arial"/>
              <a:buNone/>
              <a:defRPr sz="1400">
                <a:solidFill>
                  <a:srgbClr val="000000"/>
                </a:solidFill>
              </a:defRPr>
            </a:lvl3pPr>
            <a:lvl4pPr marL="0">
              <a:spcBef>
                <a:spcPts val="0"/>
              </a:spcBef>
              <a:defRPr/>
            </a:lvl4pPr>
            <a:lvl5pPr marL="0">
              <a:spcBef>
                <a:spcPts val="0"/>
              </a:spcBef>
              <a:defRPr/>
            </a:lvl5pPr>
          </a:lstStyle>
          <a:p>
            <a:pPr lvl="0"/>
            <a:r>
              <a:rPr lang="en-US" dirty="0"/>
              <a:t>Click to edit Master text styles</a:t>
            </a:r>
          </a:p>
          <a:p>
            <a:pPr lvl="1"/>
            <a:r>
              <a:rPr lang="en-US" dirty="0"/>
              <a:t>Second level</a:t>
            </a:r>
          </a:p>
          <a:p>
            <a:pPr lvl="2"/>
            <a:r>
              <a:rPr lang="en-US" dirty="0"/>
              <a:t>Third level</a:t>
            </a:r>
          </a:p>
        </p:txBody>
      </p:sp>
      <p:sp>
        <p:nvSpPr>
          <p:cNvPr id="13" name="Title 1"/>
          <p:cNvSpPr>
            <a:spLocks noGrp="1"/>
          </p:cNvSpPr>
          <p:nvPr>
            <p:ph type="title"/>
          </p:nvPr>
        </p:nvSpPr>
        <p:spPr>
          <a:xfrm>
            <a:off x="466725" y="1923678"/>
            <a:ext cx="8208963" cy="486054"/>
          </a:xfrm>
          <a:prstGeom prst="rect">
            <a:avLst/>
          </a:prstGeom>
        </p:spPr>
        <p:txBody>
          <a:bodyPr lIns="0" tIns="0" rIns="0" bIns="0"/>
          <a:lstStyle>
            <a:lvl1pPr>
              <a:lnSpc>
                <a:spcPct val="110000"/>
              </a:lnSpc>
              <a:defRPr sz="2400">
                <a:solidFill>
                  <a:srgbClr val="164194"/>
                </a:solidFill>
              </a:defRPr>
            </a:lvl1pPr>
          </a:lstStyle>
          <a:p>
            <a:r>
              <a:rPr lang="en-US" dirty="0"/>
              <a:t>Click to edit Master title style</a:t>
            </a:r>
            <a:endParaRPr lang="en-GB" dirty="0"/>
          </a:p>
        </p:txBody>
      </p:sp>
    </p:spTree>
    <p:extLst>
      <p:ext uri="{BB962C8B-B14F-4D97-AF65-F5344CB8AC3E}">
        <p14:creationId xmlns:p14="http://schemas.microsoft.com/office/powerpoint/2010/main" val="42123457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4" name="Title 1"/>
          <p:cNvSpPr>
            <a:spLocks noGrp="1"/>
          </p:cNvSpPr>
          <p:nvPr>
            <p:ph type="title"/>
          </p:nvPr>
        </p:nvSpPr>
        <p:spPr>
          <a:xfrm>
            <a:off x="466725" y="251129"/>
            <a:ext cx="8208963" cy="486054"/>
          </a:xfrm>
          <a:prstGeom prst="rect">
            <a:avLst/>
          </a:prstGeom>
        </p:spPr>
        <p:txBody>
          <a:bodyPr lIns="0" tIns="0" rIns="0" bIns="0"/>
          <a:lstStyle>
            <a:lvl1pPr>
              <a:lnSpc>
                <a:spcPct val="110000"/>
              </a:lnSpc>
              <a:defRPr sz="2400">
                <a:solidFill>
                  <a:srgbClr val="164194"/>
                </a:solidFill>
              </a:defRPr>
            </a:lvl1pPr>
          </a:lstStyle>
          <a:p>
            <a:r>
              <a:rPr lang="en-US" dirty="0"/>
              <a:t>Click to edit Master title style</a:t>
            </a:r>
            <a:endParaRPr lang="en-GB" dirty="0"/>
          </a:p>
        </p:txBody>
      </p:sp>
    </p:spTree>
    <p:extLst>
      <p:ext uri="{BB962C8B-B14F-4D97-AF65-F5344CB8AC3E}">
        <p14:creationId xmlns:p14="http://schemas.microsoft.com/office/powerpoint/2010/main" val="9689852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01355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169864" y="896941"/>
            <a:ext cx="4525962" cy="380530"/>
          </a:xfrm>
          <a:prstGeom prst="rect">
            <a:avLst/>
          </a:prstGeom>
        </p:spPr>
        <p:txBody>
          <a:bodyPr/>
          <a:lstStyle>
            <a:lvl1pPr>
              <a:defRPr/>
            </a:lvl1pPr>
          </a:lstStyle>
          <a:p>
            <a:r>
              <a:rPr lang="en-GB" sz="1950" dirty="0"/>
              <a:t>Title</a:t>
            </a:r>
            <a:br>
              <a:rPr lang="en-GB" sz="1950" dirty="0"/>
            </a:br>
            <a:endParaRPr lang="en-GB" sz="1950" dirty="0"/>
          </a:p>
        </p:txBody>
      </p:sp>
      <p:sp>
        <p:nvSpPr>
          <p:cNvPr id="7" name="Picture Placeholder 6"/>
          <p:cNvSpPr>
            <a:spLocks noGrp="1"/>
          </p:cNvSpPr>
          <p:nvPr>
            <p:ph type="pic" sz="quarter" idx="10"/>
          </p:nvPr>
        </p:nvSpPr>
        <p:spPr>
          <a:xfrm>
            <a:off x="4876801" y="719418"/>
            <a:ext cx="4267200" cy="4424082"/>
          </a:xfrm>
          <a:prstGeom prst="rect">
            <a:avLst/>
          </a:prstGeom>
        </p:spPr>
        <p:txBody>
          <a:bodyPr/>
          <a:lstStyle/>
          <a:p>
            <a:endParaRPr lang="en-GB"/>
          </a:p>
        </p:txBody>
      </p:sp>
      <p:sp>
        <p:nvSpPr>
          <p:cNvPr id="10" name="Text Placeholder 2"/>
          <p:cNvSpPr>
            <a:spLocks noGrp="1"/>
          </p:cNvSpPr>
          <p:nvPr>
            <p:ph type="body" sz="quarter" idx="11"/>
          </p:nvPr>
        </p:nvSpPr>
        <p:spPr>
          <a:xfrm>
            <a:off x="198438" y="1432102"/>
            <a:ext cx="4455742" cy="2958353"/>
          </a:xfrm>
          <a:prstGeom prst="rect">
            <a:avLst/>
          </a:prstGeom>
        </p:spPr>
        <p:txBody>
          <a:bodyPr/>
          <a:lstStyle>
            <a:lvl1pPr>
              <a:defRPr sz="1200" b="1"/>
            </a:lvl1pPr>
            <a:lvl2pPr>
              <a:defRPr sz="1200"/>
            </a:lvl2pPr>
            <a:lvl3pPr>
              <a:defRPr sz="1050"/>
            </a:lvl3pPr>
            <a:lvl4pPr>
              <a:defRPr sz="1050"/>
            </a:lvl4pPr>
            <a:lvl5pPr>
              <a:defRPr sz="105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50343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5FC1372-5585-4C63-A11E-9A6B7B874E0B}" type="datetimeFigureOut">
              <a:rPr lang="en-US" smtClean="0"/>
              <a:t>3/2/2022</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79700B71-0E25-4AD9-8A5F-C984458AB1BA}" type="slidenum">
              <a:rPr lang="en-US" smtClean="0"/>
              <a:t>‹Nr.›</a:t>
            </a:fld>
            <a:endParaRPr lang="en-US"/>
          </a:p>
        </p:txBody>
      </p:sp>
      <p:sp>
        <p:nvSpPr>
          <p:cNvPr id="7" name="Slide Number Placeholder 1"/>
          <p:cNvSpPr txBox="1">
            <a:spLocks/>
          </p:cNvSpPr>
          <p:nvPr userDrawn="1"/>
        </p:nvSpPr>
        <p:spPr>
          <a:xfrm>
            <a:off x="395536" y="4803998"/>
            <a:ext cx="2133600" cy="273844"/>
          </a:xfrm>
          <a:prstGeom prst="rect">
            <a:avLst/>
          </a:prstGeom>
        </p:spPr>
        <p:txBody>
          <a:bodyPr vert="horz" lIns="91440" tIns="0" rIns="91440" bIns="0" rtlCol="0" anchor="ctr"/>
          <a:lstStyle>
            <a:defPPr>
              <a:defRPr lang="en-GB"/>
            </a:defPPr>
            <a:lvl1pPr marL="0" indent="0" algn="r" rtl="0" fontAlgn="base">
              <a:spcBef>
                <a:spcPct val="0"/>
              </a:spcBef>
              <a:spcAft>
                <a:spcPct val="0"/>
              </a:spcAft>
              <a:buClr>
                <a:srgbClr val="33ACE3"/>
              </a:buClr>
              <a:buFont typeface="Arial"/>
              <a:buNone/>
              <a:defRPr sz="1200" kern="1200">
                <a:solidFill>
                  <a:srgbClr val="164194"/>
                </a:solidFill>
                <a:latin typeface="Verdana" pitchFamily="34" charset="0"/>
                <a:ea typeface="+mn-ea"/>
                <a:cs typeface="+mn-cs"/>
              </a:defRPr>
            </a:lvl1pPr>
            <a:lvl2pPr marL="457200" algn="l" rtl="0" fontAlgn="base">
              <a:spcBef>
                <a:spcPct val="0"/>
              </a:spcBef>
              <a:spcAft>
                <a:spcPct val="0"/>
              </a:spcAft>
              <a:defRPr sz="1200" kern="1200">
                <a:solidFill>
                  <a:srgbClr val="0F5494"/>
                </a:solidFill>
                <a:latin typeface="Verdana" pitchFamily="34" charset="0"/>
                <a:ea typeface="+mn-ea"/>
                <a:cs typeface="+mn-cs"/>
              </a:defRPr>
            </a:lvl2pPr>
            <a:lvl3pPr marL="914400" algn="l" rtl="0" fontAlgn="base">
              <a:spcBef>
                <a:spcPct val="0"/>
              </a:spcBef>
              <a:spcAft>
                <a:spcPct val="0"/>
              </a:spcAft>
              <a:defRPr sz="1200" kern="1200">
                <a:solidFill>
                  <a:srgbClr val="0F5494"/>
                </a:solidFill>
                <a:latin typeface="Verdana" pitchFamily="34" charset="0"/>
                <a:ea typeface="+mn-ea"/>
                <a:cs typeface="+mn-cs"/>
              </a:defRPr>
            </a:lvl3pPr>
            <a:lvl4pPr marL="1371600" algn="l" rtl="0" fontAlgn="base">
              <a:spcBef>
                <a:spcPct val="0"/>
              </a:spcBef>
              <a:spcAft>
                <a:spcPct val="0"/>
              </a:spcAft>
              <a:defRPr sz="1200" kern="1200">
                <a:solidFill>
                  <a:srgbClr val="0F5494"/>
                </a:solidFill>
                <a:latin typeface="Verdana" pitchFamily="34" charset="0"/>
                <a:ea typeface="+mn-ea"/>
                <a:cs typeface="+mn-cs"/>
              </a:defRPr>
            </a:lvl4pPr>
            <a:lvl5pPr marL="1828800" algn="l" rtl="0" fontAlgn="base">
              <a:spcBef>
                <a:spcPct val="0"/>
              </a:spcBef>
              <a:spcAft>
                <a:spcPct val="0"/>
              </a:spcAft>
              <a:defRPr sz="1200" kern="1200">
                <a:solidFill>
                  <a:srgbClr val="0F5494"/>
                </a:solidFill>
                <a:latin typeface="Verdana" pitchFamily="34" charset="0"/>
                <a:ea typeface="+mn-ea"/>
                <a:cs typeface="+mn-cs"/>
              </a:defRPr>
            </a:lvl5pPr>
            <a:lvl6pPr marL="2286000" algn="l" defTabSz="914400" rtl="0" eaLnBrk="1" latinLnBrk="0" hangingPunct="1">
              <a:defRPr sz="1200" kern="1200">
                <a:solidFill>
                  <a:srgbClr val="0F5494"/>
                </a:solidFill>
                <a:latin typeface="Verdana" pitchFamily="34" charset="0"/>
                <a:ea typeface="+mn-ea"/>
                <a:cs typeface="+mn-cs"/>
              </a:defRPr>
            </a:lvl6pPr>
            <a:lvl7pPr marL="2743200" algn="l" defTabSz="914400" rtl="0" eaLnBrk="1" latinLnBrk="0" hangingPunct="1">
              <a:defRPr sz="1200" kern="1200">
                <a:solidFill>
                  <a:srgbClr val="0F5494"/>
                </a:solidFill>
                <a:latin typeface="Verdana" pitchFamily="34" charset="0"/>
                <a:ea typeface="+mn-ea"/>
                <a:cs typeface="+mn-cs"/>
              </a:defRPr>
            </a:lvl7pPr>
            <a:lvl8pPr marL="3200400" algn="l" defTabSz="914400" rtl="0" eaLnBrk="1" latinLnBrk="0" hangingPunct="1">
              <a:defRPr sz="1200" kern="1200">
                <a:solidFill>
                  <a:srgbClr val="0F5494"/>
                </a:solidFill>
                <a:latin typeface="Verdana" pitchFamily="34" charset="0"/>
                <a:ea typeface="+mn-ea"/>
                <a:cs typeface="+mn-cs"/>
              </a:defRPr>
            </a:lvl8pPr>
            <a:lvl9pPr marL="3657600" algn="l" defTabSz="914400" rtl="0" eaLnBrk="1" latinLnBrk="0" hangingPunct="1">
              <a:defRPr sz="1200" kern="1200">
                <a:solidFill>
                  <a:srgbClr val="0F5494"/>
                </a:solidFill>
                <a:latin typeface="Verdana" pitchFamily="34" charset="0"/>
                <a:ea typeface="+mn-ea"/>
                <a:cs typeface="+mn-cs"/>
              </a:defRPr>
            </a:lvl9pPr>
          </a:lstStyle>
          <a:p>
            <a:pPr algn="l"/>
            <a:fld id="{416CF0FB-56F5-7340-B552-B5CF2D5EAED5}" type="slidenum">
              <a:rPr lang="en-US" smtClean="0">
                <a:solidFill>
                  <a:srgbClr val="7F7F7F"/>
                </a:solidFill>
              </a:rPr>
              <a:pPr algn="l"/>
              <a:t>‹Nr.›</a:t>
            </a:fld>
            <a:endParaRPr lang="en-US" dirty="0">
              <a:solidFill>
                <a:srgbClr val="7F7F7F"/>
              </a:solidFill>
            </a:endParaRPr>
          </a:p>
        </p:txBody>
      </p:sp>
      <p:pic>
        <p:nvPicPr>
          <p:cNvPr id="8" name="Picture 7" descr="EC-JRC-logo_horizontal_EN_pos_transparent-background.png"/>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6372200" y="4371950"/>
            <a:ext cx="2463229" cy="720080"/>
          </a:xfrm>
          <a:prstGeom prst="rect">
            <a:avLst/>
          </a:prstGeom>
        </p:spPr>
      </p:pic>
    </p:spTree>
    <p:extLst>
      <p:ext uri="{BB962C8B-B14F-4D97-AF65-F5344CB8AC3E}">
        <p14:creationId xmlns:p14="http://schemas.microsoft.com/office/powerpoint/2010/main" val="2980353071"/>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3" r:id="rId13"/>
    <p:sldLayoutId id="2147483661" r:id="rId14"/>
    <p:sldLayoutId id="2147483650" r:id="rId15"/>
    <p:sldLayoutId id="2147483652" r:id="rId16"/>
    <p:sldLayoutId id="2147483655" r:id="rId17"/>
    <p:sldLayoutId id="2147483656" r:id="rId18"/>
    <p:sldLayoutId id="2147483659" r:id="rId19"/>
    <p:sldLayoutId id="2147483654" r:id="rId20"/>
    <p:sldLayoutId id="2147483660" r:id="rId21"/>
    <p:sldLayoutId id="2147483667" r:id="rId2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068530" y="1563638"/>
            <a:ext cx="4751942" cy="1350150"/>
          </a:xfrm>
        </p:spPr>
        <p:txBody>
          <a:bodyPr/>
          <a:lstStyle/>
          <a:p>
            <a:r>
              <a:rPr lang="en-IE" sz="3200" dirty="0"/>
              <a:t> </a:t>
            </a:r>
            <a:r>
              <a:rPr lang="en-IE" sz="3200" b="1" dirty="0">
                <a:latin typeface="+mn-lt"/>
              </a:rPr>
              <a:t>VECTO </a:t>
            </a:r>
            <a:r>
              <a:rPr lang="en-IE" sz="3200" b="1">
                <a:latin typeface="+mn-lt"/>
              </a:rPr>
              <a:t>Trailer Tool</a:t>
            </a:r>
            <a:br>
              <a:rPr lang="en-IE" sz="1800" b="1" dirty="0"/>
            </a:br>
            <a:endParaRPr lang="en-US" sz="1800" b="1" dirty="0"/>
          </a:p>
        </p:txBody>
      </p:sp>
    </p:spTree>
    <p:extLst>
      <p:ext uri="{BB962C8B-B14F-4D97-AF65-F5344CB8AC3E}">
        <p14:creationId xmlns:p14="http://schemas.microsoft.com/office/powerpoint/2010/main" val="3882521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US" dirty="0"/>
              <a:t>Content</a:t>
            </a:r>
          </a:p>
        </p:txBody>
      </p:sp>
      <p:sp>
        <p:nvSpPr>
          <p:cNvPr id="3" name="Inhaltsplatzhalter 2"/>
          <p:cNvSpPr>
            <a:spLocks noGrp="1"/>
          </p:cNvSpPr>
          <p:nvPr>
            <p:ph idx="1"/>
          </p:nvPr>
        </p:nvSpPr>
        <p:spPr>
          <a:xfrm>
            <a:off x="457200" y="1203599"/>
            <a:ext cx="8229600" cy="3096344"/>
          </a:xfrm>
        </p:spPr>
        <p:txBody>
          <a:bodyPr>
            <a:normAutofit lnSpcReduction="10000"/>
          </a:bodyPr>
          <a:lstStyle/>
          <a:p>
            <a:pPr>
              <a:spcBef>
                <a:spcPts val="300"/>
              </a:spcBef>
            </a:pPr>
            <a:r>
              <a:rPr lang="en-US" sz="1800" dirty="0"/>
              <a:t>References to information in Technical Annexes of the Trailer Regulation</a:t>
            </a:r>
          </a:p>
          <a:p>
            <a:pPr>
              <a:spcBef>
                <a:spcPts val="300"/>
              </a:spcBef>
            </a:pPr>
            <a:r>
              <a:rPr lang="en-US" sz="1800" dirty="0"/>
              <a:t>VECTO Trailer Tool</a:t>
            </a:r>
          </a:p>
          <a:p>
            <a:pPr lvl="1">
              <a:spcBef>
                <a:spcPts val="200"/>
              </a:spcBef>
            </a:pPr>
            <a:r>
              <a:rPr lang="en-US" sz="1500" dirty="0"/>
              <a:t>Software package</a:t>
            </a:r>
          </a:p>
          <a:p>
            <a:pPr lvl="1">
              <a:spcBef>
                <a:spcPts val="200"/>
              </a:spcBef>
            </a:pPr>
            <a:r>
              <a:rPr lang="en-US" sz="1500" dirty="0" err="1"/>
              <a:t>JobFiles</a:t>
            </a:r>
            <a:r>
              <a:rPr lang="en-US" sz="1500" dirty="0"/>
              <a:t> GUI</a:t>
            </a:r>
          </a:p>
          <a:p>
            <a:pPr lvl="1">
              <a:spcBef>
                <a:spcPts val="200"/>
              </a:spcBef>
            </a:pPr>
            <a:r>
              <a:rPr lang="en-US" sz="1500" dirty="0"/>
              <a:t>Options GUI</a:t>
            </a:r>
          </a:p>
          <a:p>
            <a:pPr lvl="1">
              <a:spcBef>
                <a:spcPts val="200"/>
              </a:spcBef>
            </a:pPr>
            <a:r>
              <a:rPr lang="en-US" sz="1500" dirty="0"/>
              <a:t>Background worker</a:t>
            </a:r>
          </a:p>
          <a:p>
            <a:pPr lvl="1">
              <a:spcBef>
                <a:spcPts val="200"/>
              </a:spcBef>
            </a:pPr>
            <a:r>
              <a:rPr lang="en-US" sz="1500" dirty="0"/>
              <a:t>How to create or edit trailer job</a:t>
            </a:r>
          </a:p>
          <a:p>
            <a:pPr lvl="1">
              <a:spcBef>
                <a:spcPts val="200"/>
              </a:spcBef>
            </a:pPr>
            <a:r>
              <a:rPr lang="en-US" sz="1500" dirty="0"/>
              <a:t>Result files</a:t>
            </a:r>
          </a:p>
          <a:p>
            <a:pPr>
              <a:spcBef>
                <a:spcPts val="200"/>
              </a:spcBef>
            </a:pPr>
            <a:r>
              <a:rPr lang="en-US" sz="1800" dirty="0"/>
              <a:t>Generation of input XML for a certified aero device </a:t>
            </a:r>
          </a:p>
          <a:p>
            <a:pPr>
              <a:spcBef>
                <a:spcPts val="300"/>
              </a:spcBef>
            </a:pPr>
            <a:r>
              <a:rPr lang="en-US" sz="1800" dirty="0"/>
              <a:t>Overview content of VECTO Trailer Tool </a:t>
            </a:r>
            <a:r>
              <a:rPr lang="en-US" sz="1800" dirty="0" err="1"/>
              <a:t>Masterexcel</a:t>
            </a:r>
            <a:endParaRPr lang="en-GB" sz="1800" dirty="0"/>
          </a:p>
        </p:txBody>
      </p:sp>
    </p:spTree>
    <p:extLst>
      <p:ext uri="{BB962C8B-B14F-4D97-AF65-F5344CB8AC3E}">
        <p14:creationId xmlns:p14="http://schemas.microsoft.com/office/powerpoint/2010/main" val="3454036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8650" y="123478"/>
            <a:ext cx="7886700" cy="994172"/>
          </a:xfrm>
        </p:spPr>
        <p:txBody>
          <a:bodyPr vert="horz" lIns="91440" tIns="45720" rIns="91440" bIns="45720" rtlCol="0" anchor="ctr">
            <a:normAutofit/>
          </a:bodyPr>
          <a:lstStyle/>
          <a:p>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References to information in Technical Annexes of the Trailer </a:t>
            </a:r>
            <a:r>
              <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Regulation</a:t>
            </a:r>
          </a:p>
        </p:txBody>
      </p:sp>
      <p:graphicFrame>
        <p:nvGraphicFramePr>
          <p:cNvPr id="7" name="Tabelle 6">
            <a:extLst>
              <a:ext uri="{FF2B5EF4-FFF2-40B4-BE49-F238E27FC236}">
                <a16:creationId xmlns:a16="http://schemas.microsoft.com/office/drawing/2014/main" id="{A9884FFB-4BCC-45E1-8482-13870DB824AD}"/>
              </a:ext>
            </a:extLst>
          </p:cNvPr>
          <p:cNvGraphicFramePr>
            <a:graphicFrameLocks noGrp="1"/>
          </p:cNvGraphicFramePr>
          <p:nvPr>
            <p:extLst>
              <p:ext uri="{D42A27DB-BD31-4B8C-83A1-F6EECF244321}">
                <p14:modId xmlns:p14="http://schemas.microsoft.com/office/powerpoint/2010/main" val="1860694917"/>
              </p:ext>
            </p:extLst>
          </p:nvPr>
        </p:nvGraphicFramePr>
        <p:xfrm>
          <a:off x="467544" y="1117650"/>
          <a:ext cx="8208000" cy="3388360"/>
        </p:xfrm>
        <a:graphic>
          <a:graphicData uri="http://schemas.openxmlformats.org/drawingml/2006/table">
            <a:tbl>
              <a:tblPr firstRow="1" bandRow="1">
                <a:tableStyleId>{5C22544A-7EE6-4342-B048-85BDC9FD1C3A}</a:tableStyleId>
              </a:tblPr>
              <a:tblGrid>
                <a:gridCol w="1182812">
                  <a:extLst>
                    <a:ext uri="{9D8B030D-6E8A-4147-A177-3AD203B41FA5}">
                      <a16:colId xmlns:a16="http://schemas.microsoft.com/office/drawing/2014/main" val="791925895"/>
                    </a:ext>
                  </a:extLst>
                </a:gridCol>
                <a:gridCol w="2273572">
                  <a:extLst>
                    <a:ext uri="{9D8B030D-6E8A-4147-A177-3AD203B41FA5}">
                      <a16:colId xmlns:a16="http://schemas.microsoft.com/office/drawing/2014/main" val="1869676461"/>
                    </a:ext>
                  </a:extLst>
                </a:gridCol>
                <a:gridCol w="4751616">
                  <a:extLst>
                    <a:ext uri="{9D8B030D-6E8A-4147-A177-3AD203B41FA5}">
                      <a16:colId xmlns:a16="http://schemas.microsoft.com/office/drawing/2014/main" val="3290756059"/>
                    </a:ext>
                  </a:extLst>
                </a:gridCol>
              </a:tblGrid>
              <a:tr h="370840">
                <a:tc>
                  <a:txBody>
                    <a:bodyPr/>
                    <a:lstStyle/>
                    <a:p>
                      <a:r>
                        <a:rPr lang="de-AT" sz="1200" dirty="0"/>
                        <a:t>Annex </a:t>
                      </a:r>
                      <a:r>
                        <a:rPr lang="de-AT" sz="1200" dirty="0" err="1"/>
                        <a:t>Number</a:t>
                      </a:r>
                      <a:endParaRPr lang="de-AT" sz="1200" dirty="0"/>
                    </a:p>
                  </a:txBody>
                  <a:tcPr/>
                </a:tc>
                <a:tc>
                  <a:txBody>
                    <a:bodyPr/>
                    <a:lstStyle/>
                    <a:p>
                      <a:r>
                        <a:rPr lang="de-AT" sz="1200"/>
                        <a:t>Title</a:t>
                      </a:r>
                      <a:endParaRPr lang="de-AT" sz="1200" dirty="0"/>
                    </a:p>
                  </a:txBody>
                  <a:tcPr/>
                </a:tc>
                <a:tc>
                  <a:txBody>
                    <a:bodyPr/>
                    <a:lstStyle/>
                    <a:p>
                      <a:r>
                        <a:rPr lang="de-AT" sz="1200" dirty="0"/>
                        <a:t>Further Explanation</a:t>
                      </a:r>
                    </a:p>
                  </a:txBody>
                  <a:tcPr/>
                </a:tc>
                <a:extLst>
                  <a:ext uri="{0D108BD9-81ED-4DB2-BD59-A6C34878D82A}">
                    <a16:rowId xmlns:a16="http://schemas.microsoft.com/office/drawing/2014/main" val="52858787"/>
                  </a:ext>
                </a:extLst>
              </a:tr>
              <a:tr h="370840">
                <a:tc>
                  <a:txBody>
                    <a:bodyPr/>
                    <a:lstStyle/>
                    <a:p>
                      <a:r>
                        <a:rPr lang="de-AT" sz="1200" b="1" dirty="0">
                          <a:solidFill>
                            <a:schemeClr val="bg1"/>
                          </a:solidFill>
                        </a:rPr>
                        <a:t>Annex I</a:t>
                      </a:r>
                    </a:p>
                  </a:txBody>
                  <a:tcPr>
                    <a:solidFill>
                      <a:schemeClr val="accent1"/>
                    </a:solidFill>
                  </a:tcPr>
                </a:tc>
                <a:tc>
                  <a:txBody>
                    <a:bodyPr/>
                    <a:lstStyle/>
                    <a:p>
                      <a:r>
                        <a:rPr lang="en-US" sz="1200" dirty="0"/>
                        <a:t>Classification of vehicles in vehicle groups</a:t>
                      </a:r>
                      <a:endParaRPr lang="de-AT" sz="1200" dirty="0"/>
                    </a:p>
                  </a:txBody>
                  <a:tcPr/>
                </a:tc>
                <a:tc>
                  <a:txBody>
                    <a:bodyPr/>
                    <a:lstStyle/>
                    <a:p>
                      <a:r>
                        <a:rPr lang="de-AT" sz="1200"/>
                        <a:t>Required definitions and classification system for </a:t>
                      </a:r>
                      <a:r>
                        <a:rPr lang="de-AT" sz="1200" dirty="0" err="1"/>
                        <a:t>trailers</a:t>
                      </a:r>
                      <a:r>
                        <a:rPr lang="de-AT" sz="1200" dirty="0"/>
                        <a:t> </a:t>
                      </a:r>
                      <a:r>
                        <a:rPr lang="de-AT" sz="1200" dirty="0" err="1"/>
                        <a:t>covered</a:t>
                      </a:r>
                      <a:r>
                        <a:rPr lang="de-AT" sz="1200" dirty="0"/>
                        <a:t> </a:t>
                      </a:r>
                      <a:r>
                        <a:rPr lang="de-AT" sz="1200" dirty="0" err="1"/>
                        <a:t>by</a:t>
                      </a:r>
                      <a:r>
                        <a:rPr lang="de-AT" sz="1200" dirty="0"/>
                        <a:t> </a:t>
                      </a:r>
                      <a:r>
                        <a:rPr lang="de-AT" sz="1200" err="1"/>
                        <a:t>the</a:t>
                      </a:r>
                      <a:r>
                        <a:rPr lang="de-AT" sz="1200"/>
                        <a:t> Regulation</a:t>
                      </a:r>
                      <a:endParaRPr lang="de-AT" sz="1200" dirty="0"/>
                    </a:p>
                  </a:txBody>
                  <a:tcPr/>
                </a:tc>
                <a:extLst>
                  <a:ext uri="{0D108BD9-81ED-4DB2-BD59-A6C34878D82A}">
                    <a16:rowId xmlns:a16="http://schemas.microsoft.com/office/drawing/2014/main" val="975515952"/>
                  </a:ext>
                </a:extLst>
              </a:tr>
              <a:tr h="370840">
                <a:tc>
                  <a:txBody>
                    <a:bodyPr/>
                    <a:lstStyle/>
                    <a:p>
                      <a:r>
                        <a:rPr lang="de-AT" sz="1200" b="1" dirty="0">
                          <a:solidFill>
                            <a:schemeClr val="bg1"/>
                          </a:solidFill>
                        </a:rPr>
                        <a:t>Annex II</a:t>
                      </a:r>
                    </a:p>
                  </a:txBody>
                  <a:tcPr>
                    <a:solidFill>
                      <a:schemeClr val="accent1"/>
                    </a:solidFill>
                  </a:tcPr>
                </a:tc>
                <a:tc>
                  <a:txBody>
                    <a:bodyPr/>
                    <a:lstStyle/>
                    <a:p>
                      <a:r>
                        <a:rPr lang="de-AT" sz="1200" dirty="0" err="1"/>
                        <a:t>Requirements</a:t>
                      </a:r>
                      <a:r>
                        <a:rPr lang="de-AT" sz="1200" dirty="0"/>
                        <a:t> and </a:t>
                      </a:r>
                      <a:r>
                        <a:rPr lang="de-AT" sz="1200" dirty="0" err="1"/>
                        <a:t>processes</a:t>
                      </a:r>
                      <a:r>
                        <a:rPr lang="de-AT" sz="1200" dirty="0"/>
                        <a:t> </a:t>
                      </a:r>
                      <a:r>
                        <a:rPr lang="de-AT" sz="1200" dirty="0" err="1"/>
                        <a:t>for</a:t>
                      </a:r>
                      <a:r>
                        <a:rPr lang="de-AT" sz="1200" dirty="0"/>
                        <a:t> </a:t>
                      </a:r>
                      <a:r>
                        <a:rPr lang="de-AT" sz="1200" dirty="0" err="1"/>
                        <a:t>the</a:t>
                      </a:r>
                      <a:r>
                        <a:rPr lang="de-AT" sz="1200" dirty="0"/>
                        <a:t> </a:t>
                      </a:r>
                      <a:r>
                        <a:rPr lang="de-AT" sz="1200" dirty="0" err="1"/>
                        <a:t>operation</a:t>
                      </a:r>
                      <a:r>
                        <a:rPr lang="de-AT" sz="1200" dirty="0"/>
                        <a:t> </a:t>
                      </a:r>
                      <a:r>
                        <a:rPr lang="de-AT" sz="1200" dirty="0" err="1"/>
                        <a:t>of</a:t>
                      </a:r>
                      <a:r>
                        <a:rPr lang="de-AT" sz="1200" dirty="0"/>
                        <a:t> </a:t>
                      </a:r>
                      <a:r>
                        <a:rPr lang="de-AT" sz="1200" dirty="0" err="1"/>
                        <a:t>the</a:t>
                      </a:r>
                      <a:r>
                        <a:rPr lang="de-AT" sz="1200" dirty="0"/>
                        <a:t> </a:t>
                      </a:r>
                      <a:r>
                        <a:rPr lang="de-AT" sz="1200" dirty="0" err="1"/>
                        <a:t>simulation</a:t>
                      </a:r>
                      <a:r>
                        <a:rPr lang="de-AT" sz="1200" dirty="0"/>
                        <a:t> </a:t>
                      </a:r>
                      <a:r>
                        <a:rPr lang="de-AT" sz="1200" dirty="0" err="1"/>
                        <a:t>tool</a:t>
                      </a:r>
                      <a:endParaRPr lang="de-AT" sz="1200" dirty="0"/>
                    </a:p>
                  </a:txBody>
                  <a:tcPr/>
                </a:tc>
                <a:tc>
                  <a:txBody>
                    <a:bodyPr/>
                    <a:lstStyle/>
                    <a:p>
                      <a:r>
                        <a:rPr lang="en-US" sz="1200"/>
                        <a:t>Requirements for the process to be able to determine the official values within the framework of trailer regulation by means of the VECTO Trailer Tool </a:t>
                      </a:r>
                      <a:endParaRPr lang="de-AT" sz="1200" dirty="0"/>
                    </a:p>
                  </a:txBody>
                  <a:tcPr/>
                </a:tc>
                <a:extLst>
                  <a:ext uri="{0D108BD9-81ED-4DB2-BD59-A6C34878D82A}">
                    <a16:rowId xmlns:a16="http://schemas.microsoft.com/office/drawing/2014/main" val="4122913343"/>
                  </a:ext>
                </a:extLst>
              </a:tr>
              <a:tr h="370840">
                <a:tc>
                  <a:txBody>
                    <a:bodyPr/>
                    <a:lstStyle/>
                    <a:p>
                      <a:r>
                        <a:rPr lang="de-AT" sz="1200" b="1" dirty="0">
                          <a:solidFill>
                            <a:schemeClr val="bg1"/>
                          </a:solidFill>
                        </a:rPr>
                        <a:t>Annex III</a:t>
                      </a:r>
                    </a:p>
                  </a:txBody>
                  <a:tcPr>
                    <a:solidFill>
                      <a:schemeClr val="accent1"/>
                    </a:solidFill>
                  </a:tcPr>
                </a:tc>
                <a:tc>
                  <a:txBody>
                    <a:bodyPr/>
                    <a:lstStyle/>
                    <a:p>
                      <a:r>
                        <a:rPr lang="de-AT" sz="1200" dirty="0"/>
                        <a:t>Input </a:t>
                      </a:r>
                      <a:r>
                        <a:rPr lang="de-AT" sz="1200" dirty="0" err="1"/>
                        <a:t>information</a:t>
                      </a:r>
                      <a:r>
                        <a:rPr lang="de-AT" sz="1200" dirty="0"/>
                        <a:t> </a:t>
                      </a:r>
                      <a:r>
                        <a:rPr lang="de-AT" sz="1200" dirty="0" err="1"/>
                        <a:t>about</a:t>
                      </a:r>
                      <a:r>
                        <a:rPr lang="de-AT" sz="1200" dirty="0"/>
                        <a:t> </a:t>
                      </a:r>
                      <a:r>
                        <a:rPr lang="de-AT" sz="1200" dirty="0" err="1"/>
                        <a:t>the</a:t>
                      </a:r>
                      <a:r>
                        <a:rPr lang="de-AT" sz="1200" dirty="0"/>
                        <a:t> </a:t>
                      </a:r>
                      <a:r>
                        <a:rPr lang="de-AT" sz="1200" dirty="0" err="1"/>
                        <a:t>characteristic</a:t>
                      </a:r>
                      <a:r>
                        <a:rPr lang="de-AT" sz="1200" dirty="0"/>
                        <a:t> </a:t>
                      </a:r>
                      <a:r>
                        <a:rPr lang="de-AT" sz="1200" dirty="0" err="1"/>
                        <a:t>of</a:t>
                      </a:r>
                      <a:r>
                        <a:rPr lang="de-AT" sz="1200" dirty="0"/>
                        <a:t> </a:t>
                      </a:r>
                      <a:r>
                        <a:rPr lang="de-AT" sz="1200" dirty="0" err="1"/>
                        <a:t>the</a:t>
                      </a:r>
                      <a:r>
                        <a:rPr lang="de-AT" sz="1200" dirty="0"/>
                        <a:t> </a:t>
                      </a:r>
                      <a:r>
                        <a:rPr lang="de-AT" sz="1200" dirty="0" err="1"/>
                        <a:t>vehicle</a:t>
                      </a:r>
                      <a:endParaRPr lang="de-AT" sz="1200" dirty="0"/>
                    </a:p>
                  </a:txBody>
                  <a:tcPr/>
                </a:tc>
                <a:tc>
                  <a:txBody>
                    <a:bodyPr/>
                    <a:lstStyle/>
                    <a:p>
                      <a:pPr marL="0" indent="0">
                        <a:buFont typeface="Arial" panose="020B0604020202020204" pitchFamily="34" charset="0"/>
                        <a:buNone/>
                      </a:pPr>
                      <a:r>
                        <a:rPr lang="en-US" sz="1200"/>
                        <a:t>Definitions and precise description of the input parameters into the tool and how to determine them</a:t>
                      </a:r>
                      <a:endParaRPr lang="de-AT" sz="1200" dirty="0"/>
                    </a:p>
                  </a:txBody>
                  <a:tcPr/>
                </a:tc>
                <a:extLst>
                  <a:ext uri="{0D108BD9-81ED-4DB2-BD59-A6C34878D82A}">
                    <a16:rowId xmlns:a16="http://schemas.microsoft.com/office/drawing/2014/main" val="3760094025"/>
                  </a:ext>
                </a:extLst>
              </a:tr>
              <a:tr h="370840">
                <a:tc>
                  <a:txBody>
                    <a:bodyPr/>
                    <a:lstStyle/>
                    <a:p>
                      <a:r>
                        <a:rPr lang="de-AT" sz="1200" b="1" dirty="0">
                          <a:solidFill>
                            <a:schemeClr val="bg1"/>
                          </a:solidFill>
                        </a:rPr>
                        <a:t>Annex IV</a:t>
                      </a:r>
                    </a:p>
                  </a:txBody>
                  <a:tcPr>
                    <a:solidFill>
                      <a:schemeClr val="accent1"/>
                    </a:solidFill>
                  </a:tcPr>
                </a:tc>
                <a:tc>
                  <a:txBody>
                    <a:bodyPr/>
                    <a:lstStyle/>
                    <a:p>
                      <a:r>
                        <a:rPr lang="de-AT" sz="1200" dirty="0"/>
                        <a:t>Template </a:t>
                      </a:r>
                      <a:r>
                        <a:rPr lang="de-AT" sz="1200" dirty="0" err="1"/>
                        <a:t>of</a:t>
                      </a:r>
                      <a:r>
                        <a:rPr lang="de-AT" sz="1200" dirty="0"/>
                        <a:t> </a:t>
                      </a:r>
                      <a:r>
                        <a:rPr lang="de-AT" sz="1200" dirty="0" err="1"/>
                        <a:t>the</a:t>
                      </a:r>
                      <a:r>
                        <a:rPr lang="de-AT" sz="1200" dirty="0"/>
                        <a:t> </a:t>
                      </a:r>
                      <a:r>
                        <a:rPr lang="de-AT" sz="1200" dirty="0" err="1"/>
                        <a:t>Manufacturer‘s</a:t>
                      </a:r>
                      <a:r>
                        <a:rPr lang="de-AT" sz="1200" dirty="0"/>
                        <a:t> Records </a:t>
                      </a:r>
                      <a:r>
                        <a:rPr lang="de-AT" sz="1200" dirty="0" err="1"/>
                        <a:t>file</a:t>
                      </a:r>
                      <a:r>
                        <a:rPr lang="de-AT" sz="1200" dirty="0"/>
                        <a:t> and </a:t>
                      </a:r>
                      <a:r>
                        <a:rPr lang="de-AT" sz="1200" dirty="0" err="1"/>
                        <a:t>of</a:t>
                      </a:r>
                      <a:r>
                        <a:rPr lang="de-AT" sz="1200" dirty="0"/>
                        <a:t> </a:t>
                      </a:r>
                      <a:r>
                        <a:rPr lang="de-AT" sz="1200" dirty="0" err="1"/>
                        <a:t>the</a:t>
                      </a:r>
                      <a:r>
                        <a:rPr lang="de-AT" sz="1200" dirty="0"/>
                        <a:t> Customer Information </a:t>
                      </a:r>
                      <a:r>
                        <a:rPr lang="de-AT" sz="1200" dirty="0" err="1"/>
                        <a:t>file</a:t>
                      </a:r>
                      <a:endParaRPr lang="de-AT" sz="12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de-AT" sz="1200" dirty="0"/>
                        <a:t>Definition </a:t>
                      </a:r>
                      <a:r>
                        <a:rPr lang="de-AT" sz="1200" err="1"/>
                        <a:t>of</a:t>
                      </a:r>
                      <a:r>
                        <a:rPr lang="de-AT" sz="1200"/>
                        <a:t> content and</a:t>
                      </a:r>
                      <a:r>
                        <a:rPr lang="de-AT" sz="1200" baseline="0"/>
                        <a:t> structure of the Manufacturer‘s Records file (MRF) and the </a:t>
                      </a:r>
                      <a:r>
                        <a:rPr lang="de-AT" sz="1200"/>
                        <a:t>Customer Information file</a:t>
                      </a:r>
                      <a:r>
                        <a:rPr lang="de-AT" sz="1200" baseline="0"/>
                        <a:t> (CIF)</a:t>
                      </a:r>
                      <a:endParaRPr lang="de-AT" sz="1200" dirty="0"/>
                    </a:p>
                  </a:txBody>
                  <a:tcPr/>
                </a:tc>
                <a:extLst>
                  <a:ext uri="{0D108BD9-81ED-4DB2-BD59-A6C34878D82A}">
                    <a16:rowId xmlns:a16="http://schemas.microsoft.com/office/drawing/2014/main" val="4003124656"/>
                  </a:ext>
                </a:extLst>
              </a:tr>
              <a:tr h="370840">
                <a:tc>
                  <a:txBody>
                    <a:bodyPr/>
                    <a:lstStyle/>
                    <a:p>
                      <a:r>
                        <a:rPr lang="de-AT" sz="1200" b="1" dirty="0">
                          <a:solidFill>
                            <a:schemeClr val="bg1"/>
                          </a:solidFill>
                        </a:rPr>
                        <a:t>Annex V</a:t>
                      </a:r>
                    </a:p>
                  </a:txBody>
                  <a:tcPr>
                    <a:solidFill>
                      <a:schemeClr val="accent1"/>
                    </a:solidFill>
                  </a:tcPr>
                </a:tc>
                <a:tc>
                  <a:txBody>
                    <a:bodyPr/>
                    <a:lstStyle/>
                    <a:p>
                      <a:r>
                        <a:rPr lang="de-AT" sz="1200">
                          <a:solidFill>
                            <a:srgbClr val="FF0000"/>
                          </a:solidFill>
                        </a:rPr>
                        <a:t>Vehicle‘s air drag data</a:t>
                      </a:r>
                      <a:endParaRPr lang="de-AT" sz="1200" dirty="0">
                        <a:solidFill>
                          <a:srgbClr val="FF0000"/>
                        </a:solidFill>
                      </a:endParaRPr>
                    </a:p>
                  </a:txBody>
                  <a:tcPr/>
                </a:tc>
                <a:tc>
                  <a:txBody>
                    <a:bodyPr/>
                    <a:lstStyle/>
                    <a:p>
                      <a:pPr marL="0" indent="0">
                        <a:buFont typeface="Arial" panose="020B0604020202020204" pitchFamily="34" charset="0"/>
                        <a:buNone/>
                      </a:pPr>
                      <a:r>
                        <a:rPr lang="de-AT" sz="1200"/>
                        <a:t>Defines the procedures how the features</a:t>
                      </a:r>
                      <a:r>
                        <a:rPr lang="de-AT" sz="1200" baseline="0"/>
                        <a:t> of aerodynamic devices shall be determined, either via virtual testing using CFD or by applying standard reduction rates for aerodyanmic devices fulfilling certain minimum properties</a:t>
                      </a:r>
                      <a:endParaRPr lang="de-AT" sz="1200" dirty="0"/>
                    </a:p>
                  </a:txBody>
                  <a:tcPr/>
                </a:tc>
                <a:extLst>
                  <a:ext uri="{0D108BD9-81ED-4DB2-BD59-A6C34878D82A}">
                    <a16:rowId xmlns:a16="http://schemas.microsoft.com/office/drawing/2014/main" val="2467328158"/>
                  </a:ext>
                </a:extLst>
              </a:tr>
            </a:tbl>
          </a:graphicData>
        </a:graphic>
      </p:graphicFrame>
    </p:spTree>
    <p:extLst>
      <p:ext uri="{BB962C8B-B14F-4D97-AF65-F5344CB8AC3E}">
        <p14:creationId xmlns:p14="http://schemas.microsoft.com/office/powerpoint/2010/main" val="4146480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8650" y="123478"/>
            <a:ext cx="7886700" cy="994172"/>
          </a:xfrm>
        </p:spPr>
        <p:txBody>
          <a:bodyPr vert="horz" lIns="91440" tIns="45720" rIns="91440" bIns="45720" rtlCol="0" anchor="ctr">
            <a:normAutofit/>
          </a:bodyPr>
          <a:lstStyle/>
          <a:p>
            <a:r>
              <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VECTO </a:t>
            </a:r>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Trailer Tool – Software package</a:t>
            </a:r>
            <a:endPar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pic>
        <p:nvPicPr>
          <p:cNvPr id="7" name="Grafik 6"/>
          <p:cNvPicPr>
            <a:picLocks noChangeAspect="1"/>
          </p:cNvPicPr>
          <p:nvPr/>
        </p:nvPicPr>
        <p:blipFill>
          <a:blip r:embed="rId3"/>
          <a:stretch>
            <a:fillRect/>
          </a:stretch>
        </p:blipFill>
        <p:spPr>
          <a:xfrm>
            <a:off x="179512" y="1419622"/>
            <a:ext cx="3456384" cy="3456384"/>
          </a:xfrm>
          <a:prstGeom prst="rect">
            <a:avLst/>
          </a:prstGeom>
        </p:spPr>
      </p:pic>
      <p:sp>
        <p:nvSpPr>
          <p:cNvPr id="10" name="Textfeld 9"/>
          <p:cNvSpPr txBox="1"/>
          <p:nvPr/>
        </p:nvSpPr>
        <p:spPr>
          <a:xfrm>
            <a:off x="627888" y="1131590"/>
            <a:ext cx="6752424" cy="646331"/>
          </a:xfrm>
          <a:prstGeom prst="rect">
            <a:avLst/>
          </a:prstGeom>
          <a:noFill/>
        </p:spPr>
        <p:txBody>
          <a:bodyPr wrap="square" rtlCol="0">
            <a:spAutoFit/>
          </a:bodyPr>
          <a:lstStyle/>
          <a:p>
            <a:r>
              <a:rPr lang="en-GB" dirty="0">
                <a:solidFill>
                  <a:schemeClr val="accent4">
                    <a:lumMod val="50000"/>
                  </a:schemeClr>
                </a:solidFill>
              </a:rPr>
              <a:t>Content of VECTO Trailer Tool package as downloaded from JRC server</a:t>
            </a:r>
            <a:br>
              <a:rPr lang="en-GB" dirty="0">
                <a:solidFill>
                  <a:schemeClr val="accent4">
                    <a:lumMod val="50000"/>
                  </a:schemeClr>
                </a:solidFill>
              </a:rPr>
            </a:br>
            <a:r>
              <a:rPr lang="en-GB" dirty="0">
                <a:solidFill>
                  <a:schemeClr val="accent4">
                    <a:lumMod val="50000"/>
                  </a:schemeClr>
                </a:solidFill>
              </a:rPr>
              <a:t>can be copied to any place on a PC/server*  </a:t>
            </a:r>
          </a:p>
        </p:txBody>
      </p:sp>
      <p:pic>
        <p:nvPicPr>
          <p:cNvPr id="6" name="Grafik 5">
            <a:extLst>
              <a:ext uri="{FF2B5EF4-FFF2-40B4-BE49-F238E27FC236}">
                <a16:creationId xmlns:a16="http://schemas.microsoft.com/office/drawing/2014/main" id="{561A6430-B845-4E14-86C0-2EE062B47E73}"/>
              </a:ext>
            </a:extLst>
          </p:cNvPr>
          <p:cNvPicPr>
            <a:picLocks noChangeAspect="1"/>
          </p:cNvPicPr>
          <p:nvPr/>
        </p:nvPicPr>
        <p:blipFill>
          <a:blip r:embed="rId4"/>
          <a:stretch>
            <a:fillRect/>
          </a:stretch>
        </p:blipFill>
        <p:spPr>
          <a:xfrm>
            <a:off x="1475656" y="1971476"/>
            <a:ext cx="1895475" cy="2352675"/>
          </a:xfrm>
          <a:prstGeom prst="rect">
            <a:avLst/>
          </a:prstGeom>
          <a:effectLst>
            <a:outerShdw blurRad="50800" dist="38100" dir="2700000" algn="tl" rotWithShape="0">
              <a:prstClr val="black">
                <a:alpha val="40000"/>
              </a:prstClr>
            </a:outerShdw>
          </a:effectLst>
        </p:spPr>
      </p:pic>
      <p:sp>
        <p:nvSpPr>
          <p:cNvPr id="11" name="Legende mit Linie 2 (ohne Rahmen) 10"/>
          <p:cNvSpPr/>
          <p:nvPr/>
        </p:nvSpPr>
        <p:spPr>
          <a:xfrm>
            <a:off x="3788734" y="1851670"/>
            <a:ext cx="4383665" cy="340275"/>
          </a:xfrm>
          <a:prstGeom prst="callout2">
            <a:avLst>
              <a:gd name="adj1" fmla="val 48828"/>
              <a:gd name="adj2" fmla="val 1014"/>
              <a:gd name="adj3" fmla="val 48828"/>
              <a:gd name="adj4" fmla="val -4620"/>
              <a:gd name="adj5" fmla="val 75185"/>
              <a:gd name="adj6" fmla="val -23256"/>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rgbClr val="0070C0"/>
                </a:solidFill>
              </a:rPr>
              <a:t>Hard coded data via *.csv files for information purposes</a:t>
            </a:r>
          </a:p>
        </p:txBody>
      </p:sp>
      <p:sp>
        <p:nvSpPr>
          <p:cNvPr id="12" name="Legende mit Linie 2 (ohne Rahmen) 11"/>
          <p:cNvSpPr/>
          <p:nvPr/>
        </p:nvSpPr>
        <p:spPr>
          <a:xfrm>
            <a:off x="3779912" y="2179270"/>
            <a:ext cx="5040560" cy="340275"/>
          </a:xfrm>
          <a:prstGeom prst="callout2">
            <a:avLst>
              <a:gd name="adj1" fmla="val 48828"/>
              <a:gd name="adj2" fmla="val 708"/>
              <a:gd name="adj3" fmla="val 48828"/>
              <a:gd name="adj4" fmla="val -4620"/>
              <a:gd name="adj5" fmla="val 46077"/>
              <a:gd name="adj6" fmla="val -20038"/>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rgbClr val="0070C0"/>
                </a:solidFill>
              </a:rPr>
              <a:t>Example files for trailers and tyres and XML files of the generic towing vehicles and certified aerodynamic devices</a:t>
            </a:r>
          </a:p>
        </p:txBody>
      </p:sp>
      <p:sp>
        <p:nvSpPr>
          <p:cNvPr id="13" name="Legende mit Linie 2 (ohne Rahmen) 12"/>
          <p:cNvSpPr/>
          <p:nvPr/>
        </p:nvSpPr>
        <p:spPr>
          <a:xfrm>
            <a:off x="3788735" y="3283455"/>
            <a:ext cx="3447561" cy="340275"/>
          </a:xfrm>
          <a:prstGeom prst="callout2">
            <a:avLst>
              <a:gd name="adj1" fmla="val 48828"/>
              <a:gd name="adj2" fmla="val 708"/>
              <a:gd name="adj3" fmla="val 48828"/>
              <a:gd name="adj4" fmla="val -4620"/>
              <a:gd name="adj5" fmla="val 126611"/>
              <a:gd name="adj6" fmla="val -29769"/>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rgbClr val="0070C0"/>
                </a:solidFill>
              </a:rPr>
              <a:t>Executable, just double-click to start</a:t>
            </a:r>
          </a:p>
        </p:txBody>
      </p:sp>
      <p:sp>
        <p:nvSpPr>
          <p:cNvPr id="14" name="Legende mit Linie 2 (ohne Rahmen) 11">
            <a:extLst>
              <a:ext uri="{FF2B5EF4-FFF2-40B4-BE49-F238E27FC236}">
                <a16:creationId xmlns:a16="http://schemas.microsoft.com/office/drawing/2014/main" id="{7F02B5F1-94D2-4210-B212-B3A2EF168E7C}"/>
              </a:ext>
            </a:extLst>
          </p:cNvPr>
          <p:cNvSpPr/>
          <p:nvPr/>
        </p:nvSpPr>
        <p:spPr>
          <a:xfrm>
            <a:off x="3779912" y="2669403"/>
            <a:ext cx="5040560" cy="340275"/>
          </a:xfrm>
          <a:prstGeom prst="callout2">
            <a:avLst>
              <a:gd name="adj1" fmla="val 48828"/>
              <a:gd name="adj2" fmla="val 708"/>
              <a:gd name="adj3" fmla="val 48828"/>
              <a:gd name="adj4" fmla="val -4620"/>
              <a:gd name="adj5" fmla="val 68991"/>
              <a:gd name="adj6" fmla="val -19757"/>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rgbClr val="0070C0"/>
                </a:solidFill>
              </a:rPr>
              <a:t>Example XML files and XSD files</a:t>
            </a:r>
          </a:p>
        </p:txBody>
      </p:sp>
      <p:sp>
        <p:nvSpPr>
          <p:cNvPr id="16" name="Textfeld 15">
            <a:extLst>
              <a:ext uri="{FF2B5EF4-FFF2-40B4-BE49-F238E27FC236}">
                <a16:creationId xmlns:a16="http://schemas.microsoft.com/office/drawing/2014/main" id="{351CDA67-7309-4BA3-83EF-5F36E27CF8CC}"/>
              </a:ext>
            </a:extLst>
          </p:cNvPr>
          <p:cNvSpPr txBox="1"/>
          <p:nvPr/>
        </p:nvSpPr>
        <p:spPr>
          <a:xfrm>
            <a:off x="827584" y="4663309"/>
            <a:ext cx="4491935" cy="246221"/>
          </a:xfrm>
          <a:prstGeom prst="rect">
            <a:avLst/>
          </a:prstGeom>
          <a:noFill/>
        </p:spPr>
        <p:txBody>
          <a:bodyPr wrap="none" rtlCol="0">
            <a:spAutoFit/>
          </a:bodyPr>
          <a:lstStyle/>
          <a:p>
            <a:r>
              <a:rPr lang="de-AT" sz="1000" dirty="0">
                <a:solidFill>
                  <a:schemeClr val="accent4">
                    <a:lumMod val="50000"/>
                  </a:schemeClr>
                </a:solidFill>
              </a:rPr>
              <a:t>* Snapshot </a:t>
            </a:r>
            <a:r>
              <a:rPr lang="de-AT" sz="1000" dirty="0" err="1">
                <a:solidFill>
                  <a:schemeClr val="accent4">
                    <a:lumMod val="50000"/>
                  </a:schemeClr>
                </a:solidFill>
              </a:rPr>
              <a:t>shows</a:t>
            </a:r>
            <a:r>
              <a:rPr lang="de-AT" sz="1000" dirty="0">
                <a:solidFill>
                  <a:schemeClr val="accent4">
                    <a:lumMod val="50000"/>
                  </a:schemeClr>
                </a:solidFill>
              </a:rPr>
              <a:t> </a:t>
            </a:r>
            <a:r>
              <a:rPr lang="de-AT" sz="1000" dirty="0" err="1">
                <a:solidFill>
                  <a:schemeClr val="accent4">
                    <a:lumMod val="50000"/>
                  </a:schemeClr>
                </a:solidFill>
              </a:rPr>
              <a:t>only</a:t>
            </a:r>
            <a:r>
              <a:rPr lang="de-AT" sz="1000" dirty="0">
                <a:solidFill>
                  <a:schemeClr val="accent4">
                    <a:lumMod val="50000"/>
                  </a:schemeClr>
                </a:solidFill>
              </a:rPr>
              <a:t> a </a:t>
            </a:r>
            <a:r>
              <a:rPr lang="de-AT" sz="1000" dirty="0" err="1">
                <a:solidFill>
                  <a:schemeClr val="accent4">
                    <a:lumMod val="50000"/>
                  </a:schemeClr>
                </a:solidFill>
              </a:rPr>
              <a:t>reduced</a:t>
            </a:r>
            <a:r>
              <a:rPr lang="de-AT" sz="1000" dirty="0">
                <a:solidFill>
                  <a:schemeClr val="accent4">
                    <a:lumMod val="50000"/>
                  </a:schemeClr>
                </a:solidFill>
              </a:rPr>
              <a:t> </a:t>
            </a:r>
            <a:r>
              <a:rPr lang="de-AT" sz="1000" dirty="0" err="1">
                <a:solidFill>
                  <a:schemeClr val="accent4">
                    <a:lumMod val="50000"/>
                  </a:schemeClr>
                </a:solidFill>
              </a:rPr>
              <a:t>set</a:t>
            </a:r>
            <a:r>
              <a:rPr lang="de-AT" sz="1000" dirty="0">
                <a:solidFill>
                  <a:schemeClr val="accent4">
                    <a:lumMod val="50000"/>
                  </a:schemeClr>
                </a:solidFill>
              </a:rPr>
              <a:t> </a:t>
            </a:r>
            <a:r>
              <a:rPr lang="de-AT" sz="1000" dirty="0" err="1">
                <a:solidFill>
                  <a:schemeClr val="accent4">
                    <a:lumMod val="50000"/>
                  </a:schemeClr>
                </a:solidFill>
              </a:rPr>
              <a:t>of</a:t>
            </a:r>
            <a:r>
              <a:rPr lang="de-AT" sz="1000" dirty="0">
                <a:solidFill>
                  <a:schemeClr val="accent4">
                    <a:lumMod val="50000"/>
                  </a:schemeClr>
                </a:solidFill>
              </a:rPr>
              <a:t> </a:t>
            </a:r>
            <a:r>
              <a:rPr lang="de-AT" sz="1000" dirty="0" err="1">
                <a:solidFill>
                  <a:schemeClr val="accent4">
                    <a:lumMod val="50000"/>
                  </a:schemeClr>
                </a:solidFill>
              </a:rPr>
              <a:t>data</a:t>
            </a:r>
            <a:r>
              <a:rPr lang="de-AT" sz="1000" dirty="0">
                <a:solidFill>
                  <a:schemeClr val="accent4">
                    <a:lumMod val="50000"/>
                  </a:schemeClr>
                </a:solidFill>
              </a:rPr>
              <a:t> </a:t>
            </a:r>
            <a:r>
              <a:rPr lang="de-AT" sz="1000" dirty="0" err="1">
                <a:solidFill>
                  <a:schemeClr val="accent4">
                    <a:lumMod val="50000"/>
                  </a:schemeClr>
                </a:solidFill>
              </a:rPr>
              <a:t>included</a:t>
            </a:r>
            <a:r>
              <a:rPr lang="de-AT" sz="1000" dirty="0">
                <a:solidFill>
                  <a:schemeClr val="accent4">
                    <a:lumMod val="50000"/>
                  </a:schemeClr>
                </a:solidFill>
              </a:rPr>
              <a:t> in </a:t>
            </a:r>
            <a:r>
              <a:rPr lang="de-AT" sz="1000" dirty="0" err="1">
                <a:solidFill>
                  <a:schemeClr val="accent4">
                    <a:lumMod val="50000"/>
                  </a:schemeClr>
                </a:solidFill>
              </a:rPr>
              <a:t>the</a:t>
            </a:r>
            <a:r>
              <a:rPr lang="de-AT" sz="1000" dirty="0">
                <a:solidFill>
                  <a:schemeClr val="accent4">
                    <a:lumMod val="50000"/>
                  </a:schemeClr>
                </a:solidFill>
              </a:rPr>
              <a:t> </a:t>
            </a:r>
            <a:r>
              <a:rPr lang="de-AT" sz="1000" dirty="0" err="1">
                <a:solidFill>
                  <a:schemeClr val="accent4">
                    <a:lumMod val="50000"/>
                  </a:schemeClr>
                </a:solidFill>
              </a:rPr>
              <a:t>downloadable</a:t>
            </a:r>
            <a:r>
              <a:rPr lang="de-AT" sz="1000" dirty="0">
                <a:solidFill>
                  <a:schemeClr val="accent4">
                    <a:lumMod val="50000"/>
                  </a:schemeClr>
                </a:solidFill>
              </a:rPr>
              <a:t> </a:t>
            </a:r>
            <a:r>
              <a:rPr lang="de-AT" sz="1000" dirty="0" err="1">
                <a:solidFill>
                  <a:schemeClr val="accent4">
                    <a:lumMod val="50000"/>
                  </a:schemeClr>
                </a:solidFill>
              </a:rPr>
              <a:t>package</a:t>
            </a:r>
            <a:endParaRPr lang="de-AT" sz="1000" dirty="0">
              <a:solidFill>
                <a:schemeClr val="accent4">
                  <a:lumMod val="50000"/>
                </a:schemeClr>
              </a:solidFill>
            </a:endParaRPr>
          </a:p>
        </p:txBody>
      </p:sp>
    </p:spTree>
    <p:extLst>
      <p:ext uri="{BB962C8B-B14F-4D97-AF65-F5344CB8AC3E}">
        <p14:creationId xmlns:p14="http://schemas.microsoft.com/office/powerpoint/2010/main" val="113617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8AF37C4E-F4AF-44F9-B5CC-F7CB88EA34FE}"/>
              </a:ext>
            </a:extLst>
          </p:cNvPr>
          <p:cNvPicPr>
            <a:picLocks noChangeAspect="1"/>
          </p:cNvPicPr>
          <p:nvPr/>
        </p:nvPicPr>
        <p:blipFill>
          <a:blip r:embed="rId3"/>
          <a:stretch>
            <a:fillRect/>
          </a:stretch>
        </p:blipFill>
        <p:spPr>
          <a:xfrm>
            <a:off x="2004246" y="1133030"/>
            <a:ext cx="4277521" cy="3886992"/>
          </a:xfrm>
          <a:prstGeom prst="rect">
            <a:avLst/>
          </a:prstGeom>
        </p:spPr>
      </p:pic>
      <p:sp>
        <p:nvSpPr>
          <p:cNvPr id="2" name="Titel 1"/>
          <p:cNvSpPr>
            <a:spLocks noGrp="1"/>
          </p:cNvSpPr>
          <p:nvPr>
            <p:ph type="title"/>
          </p:nvPr>
        </p:nvSpPr>
        <p:spPr>
          <a:xfrm>
            <a:off x="628650" y="96366"/>
            <a:ext cx="7886700" cy="994172"/>
          </a:xfrm>
        </p:spPr>
        <p:txBody>
          <a:bodyPr vert="horz" lIns="91440" tIns="45720" rIns="91440" bIns="45720" rtlCol="0" anchor="ctr">
            <a:normAutofit/>
          </a:bodyPr>
          <a:lstStyle/>
          <a:p>
            <a:r>
              <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VECTO </a:t>
            </a:r>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Trailer Tool – JobFiles GUI</a:t>
            </a:r>
            <a:endPar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23" name="Legende mit Linie 2 (ohne Rahmen) 22"/>
          <p:cNvSpPr/>
          <p:nvPr/>
        </p:nvSpPr>
        <p:spPr>
          <a:xfrm>
            <a:off x="183618" y="2796685"/>
            <a:ext cx="1584176" cy="340275"/>
          </a:xfrm>
          <a:prstGeom prst="callout2">
            <a:avLst>
              <a:gd name="adj1" fmla="val 48828"/>
              <a:gd name="adj2" fmla="val 96980"/>
              <a:gd name="adj3" fmla="val 49464"/>
              <a:gd name="adj4" fmla="val 99717"/>
              <a:gd name="adj5" fmla="val 49441"/>
              <a:gd name="adj6" fmla="val 159161"/>
            </a:avLst>
          </a:prstGeom>
          <a:noFill/>
          <a:ln w="6350">
            <a:solidFill>
              <a:srgbClr val="FFC00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000" b="1" dirty="0">
                <a:solidFill>
                  <a:srgbClr val="FFC000"/>
                </a:solidFill>
              </a:rPr>
              <a:t>Job window that shows all loaded Job files</a:t>
            </a:r>
          </a:p>
        </p:txBody>
      </p:sp>
      <p:sp>
        <p:nvSpPr>
          <p:cNvPr id="24" name="Rechteck 23">
            <a:extLst>
              <a:ext uri="{FF2B5EF4-FFF2-40B4-BE49-F238E27FC236}">
                <a16:creationId xmlns:a16="http://schemas.microsoft.com/office/drawing/2014/main" id="{BA55C230-110F-468D-A485-16A8CFEF6CCA}"/>
              </a:ext>
            </a:extLst>
          </p:cNvPr>
          <p:cNvSpPr/>
          <p:nvPr/>
        </p:nvSpPr>
        <p:spPr>
          <a:xfrm>
            <a:off x="2051720" y="1657940"/>
            <a:ext cx="690220" cy="141487"/>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5" name="Legende mit Linie 2 (ohne Rahmen) 14">
            <a:extLst>
              <a:ext uri="{FF2B5EF4-FFF2-40B4-BE49-F238E27FC236}">
                <a16:creationId xmlns:a16="http://schemas.microsoft.com/office/drawing/2014/main" id="{C0533C36-5702-4263-B5E6-79B25673ABD8}"/>
              </a:ext>
            </a:extLst>
          </p:cNvPr>
          <p:cNvSpPr/>
          <p:nvPr/>
        </p:nvSpPr>
        <p:spPr>
          <a:xfrm>
            <a:off x="390210" y="1799427"/>
            <a:ext cx="1584176" cy="340275"/>
          </a:xfrm>
          <a:prstGeom prst="callout2">
            <a:avLst>
              <a:gd name="adj1" fmla="val 48828"/>
              <a:gd name="adj2" fmla="val 96980"/>
              <a:gd name="adj3" fmla="val -12118"/>
              <a:gd name="adj4" fmla="val 97713"/>
              <a:gd name="adj5" fmla="val -23338"/>
              <a:gd name="adj6" fmla="val 105113"/>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000" dirty="0">
                <a:solidFill>
                  <a:srgbClr val="0070C0"/>
                </a:solidFill>
              </a:rPr>
              <a:t>Switch between “Job Files” and “Options” tab</a:t>
            </a:r>
          </a:p>
        </p:txBody>
      </p:sp>
      <p:sp>
        <p:nvSpPr>
          <p:cNvPr id="26" name="Rechteck 25">
            <a:extLst>
              <a:ext uri="{FF2B5EF4-FFF2-40B4-BE49-F238E27FC236}">
                <a16:creationId xmlns:a16="http://schemas.microsoft.com/office/drawing/2014/main" id="{798DED5D-C50B-4FB2-91D4-D11EE6A96AA3}"/>
              </a:ext>
            </a:extLst>
          </p:cNvPr>
          <p:cNvSpPr/>
          <p:nvPr/>
        </p:nvSpPr>
        <p:spPr>
          <a:xfrm>
            <a:off x="2051720" y="1334857"/>
            <a:ext cx="690220" cy="141487"/>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7" name="Legende mit Linie 2 (ohne Rahmen) 18">
            <a:extLst>
              <a:ext uri="{FF2B5EF4-FFF2-40B4-BE49-F238E27FC236}">
                <a16:creationId xmlns:a16="http://schemas.microsoft.com/office/drawing/2014/main" id="{710D0C98-8D0E-4A8F-869F-FF100BF02BFE}"/>
              </a:ext>
            </a:extLst>
          </p:cNvPr>
          <p:cNvSpPr/>
          <p:nvPr/>
        </p:nvSpPr>
        <p:spPr>
          <a:xfrm>
            <a:off x="-108520" y="1130660"/>
            <a:ext cx="1584176" cy="340275"/>
          </a:xfrm>
          <a:prstGeom prst="callout2">
            <a:avLst>
              <a:gd name="adj1" fmla="val 48828"/>
              <a:gd name="adj2" fmla="val 96980"/>
              <a:gd name="adj3" fmla="val 48828"/>
              <a:gd name="adj4" fmla="val 112667"/>
              <a:gd name="adj5" fmla="val 77380"/>
              <a:gd name="adj6" fmla="val 136332"/>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000" dirty="0">
                <a:solidFill>
                  <a:srgbClr val="0070C0"/>
                </a:solidFill>
              </a:rPr>
              <a:t>Toolbar with common controls like “add new Job”</a:t>
            </a:r>
          </a:p>
        </p:txBody>
      </p:sp>
      <p:sp>
        <p:nvSpPr>
          <p:cNvPr id="28" name="Rechteck 27">
            <a:extLst>
              <a:ext uri="{FF2B5EF4-FFF2-40B4-BE49-F238E27FC236}">
                <a16:creationId xmlns:a16="http://schemas.microsoft.com/office/drawing/2014/main" id="{3CE8D64B-A4AA-4512-BDC5-DB5662E00A8E}"/>
              </a:ext>
            </a:extLst>
          </p:cNvPr>
          <p:cNvSpPr/>
          <p:nvPr/>
        </p:nvSpPr>
        <p:spPr>
          <a:xfrm>
            <a:off x="2627785" y="1923678"/>
            <a:ext cx="2592288" cy="1296144"/>
          </a:xfrm>
          <a:prstGeom prst="rect">
            <a:avLst/>
          </a:prstGeom>
          <a:solidFill>
            <a:srgbClr val="FFFF00">
              <a:alpha val="20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9" name="Rechteck 28">
            <a:extLst>
              <a:ext uri="{FF2B5EF4-FFF2-40B4-BE49-F238E27FC236}">
                <a16:creationId xmlns:a16="http://schemas.microsoft.com/office/drawing/2014/main" id="{27BE2EFC-8D03-4242-921F-5034AE07AFA5}"/>
              </a:ext>
            </a:extLst>
          </p:cNvPr>
          <p:cNvSpPr/>
          <p:nvPr/>
        </p:nvSpPr>
        <p:spPr>
          <a:xfrm>
            <a:off x="2123727" y="3398767"/>
            <a:ext cx="4032448" cy="1368152"/>
          </a:xfrm>
          <a:prstGeom prst="rect">
            <a:avLst/>
          </a:prstGeom>
          <a:solidFill>
            <a:srgbClr val="FFFF00">
              <a:alpha val="20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30" name="Legende mit Linie 2 (ohne Rahmen) 22">
            <a:extLst>
              <a:ext uri="{FF2B5EF4-FFF2-40B4-BE49-F238E27FC236}">
                <a16:creationId xmlns:a16="http://schemas.microsoft.com/office/drawing/2014/main" id="{CF10C20E-5200-465D-A122-2149A4D9279A}"/>
              </a:ext>
            </a:extLst>
          </p:cNvPr>
          <p:cNvSpPr/>
          <p:nvPr/>
        </p:nvSpPr>
        <p:spPr>
          <a:xfrm>
            <a:off x="294479" y="4292572"/>
            <a:ext cx="1584176" cy="340275"/>
          </a:xfrm>
          <a:prstGeom prst="callout2">
            <a:avLst>
              <a:gd name="adj1" fmla="val 48828"/>
              <a:gd name="adj2" fmla="val 96980"/>
              <a:gd name="adj3" fmla="val 49464"/>
              <a:gd name="adj4" fmla="val 99717"/>
              <a:gd name="adj5" fmla="val 49441"/>
              <a:gd name="adj6" fmla="val 115312"/>
            </a:avLst>
          </a:prstGeom>
          <a:noFill/>
          <a:ln w="6350">
            <a:solidFill>
              <a:srgbClr val="FFC00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000" b="1" dirty="0">
                <a:solidFill>
                  <a:srgbClr val="FFC000"/>
                </a:solidFill>
              </a:rPr>
              <a:t>Message window showing the calculation status</a:t>
            </a:r>
          </a:p>
        </p:txBody>
      </p:sp>
      <p:sp>
        <p:nvSpPr>
          <p:cNvPr id="32" name="Rechteck 31">
            <a:extLst>
              <a:ext uri="{FF2B5EF4-FFF2-40B4-BE49-F238E27FC236}">
                <a16:creationId xmlns:a16="http://schemas.microsoft.com/office/drawing/2014/main" id="{B44A4626-4185-4097-94AB-EF3735D6FD07}"/>
              </a:ext>
            </a:extLst>
          </p:cNvPr>
          <p:cNvSpPr/>
          <p:nvPr/>
        </p:nvSpPr>
        <p:spPr>
          <a:xfrm>
            <a:off x="2123727" y="1931312"/>
            <a:ext cx="474197" cy="141487"/>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33" name="Legende mit Linie 2 (ohne Rahmen) 14">
            <a:extLst>
              <a:ext uri="{FF2B5EF4-FFF2-40B4-BE49-F238E27FC236}">
                <a16:creationId xmlns:a16="http://schemas.microsoft.com/office/drawing/2014/main" id="{5C1C441B-8E3A-4235-ABAE-B508A40E53ED}"/>
              </a:ext>
            </a:extLst>
          </p:cNvPr>
          <p:cNvSpPr/>
          <p:nvPr/>
        </p:nvSpPr>
        <p:spPr>
          <a:xfrm>
            <a:off x="375075" y="2276965"/>
            <a:ext cx="1584176" cy="340275"/>
          </a:xfrm>
          <a:prstGeom prst="callout2">
            <a:avLst>
              <a:gd name="adj1" fmla="val 48828"/>
              <a:gd name="adj2" fmla="val 96980"/>
              <a:gd name="adj3" fmla="val -12118"/>
              <a:gd name="adj4" fmla="val 97713"/>
              <a:gd name="adj5" fmla="val -83054"/>
              <a:gd name="adj6" fmla="val 109236"/>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000" dirty="0">
                <a:solidFill>
                  <a:srgbClr val="0070C0"/>
                </a:solidFill>
              </a:rPr>
              <a:t>Start button to simulate active Jobs</a:t>
            </a:r>
          </a:p>
        </p:txBody>
      </p:sp>
      <p:sp>
        <p:nvSpPr>
          <p:cNvPr id="35" name="Rechteck 34">
            <a:extLst>
              <a:ext uri="{FF2B5EF4-FFF2-40B4-BE49-F238E27FC236}">
                <a16:creationId xmlns:a16="http://schemas.microsoft.com/office/drawing/2014/main" id="{79C60146-0DAC-4BFA-B61F-D351713270E8}"/>
              </a:ext>
            </a:extLst>
          </p:cNvPr>
          <p:cNvSpPr/>
          <p:nvPr/>
        </p:nvSpPr>
        <p:spPr>
          <a:xfrm>
            <a:off x="5364088" y="2072799"/>
            <a:ext cx="738504" cy="426943"/>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37" name="Legende mit Linie 2 (ohne Rahmen) 14">
            <a:extLst>
              <a:ext uri="{FF2B5EF4-FFF2-40B4-BE49-F238E27FC236}">
                <a16:creationId xmlns:a16="http://schemas.microsoft.com/office/drawing/2014/main" id="{7FC65FE0-E9A3-4794-BA80-D2C69DC18533}"/>
              </a:ext>
            </a:extLst>
          </p:cNvPr>
          <p:cNvSpPr/>
          <p:nvPr/>
        </p:nvSpPr>
        <p:spPr>
          <a:xfrm>
            <a:off x="6611415" y="2447102"/>
            <a:ext cx="2157509" cy="340275"/>
          </a:xfrm>
          <a:prstGeom prst="callout2">
            <a:avLst>
              <a:gd name="adj1" fmla="val 4040"/>
              <a:gd name="adj2" fmla="val 152"/>
              <a:gd name="adj3" fmla="val -39844"/>
              <a:gd name="adj4" fmla="val 65"/>
              <a:gd name="adj5" fmla="val -44665"/>
              <a:gd name="adj6" fmla="val -31401"/>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Buttons to handle Job files</a:t>
            </a:r>
          </a:p>
          <a:p>
            <a:pPr marL="171450" indent="-171450">
              <a:buFont typeface="Arial" panose="020B0604020202020204" pitchFamily="34" charset="0"/>
              <a:buChar char="•"/>
            </a:pPr>
            <a:r>
              <a:rPr lang="en-GB" sz="1000" dirty="0">
                <a:solidFill>
                  <a:srgbClr val="0070C0"/>
                </a:solidFill>
              </a:rPr>
              <a:t>Add new Jobs</a:t>
            </a:r>
          </a:p>
          <a:p>
            <a:pPr marL="171450" indent="-171450">
              <a:buFont typeface="Arial" panose="020B0604020202020204" pitchFamily="34" charset="0"/>
              <a:buChar char="•"/>
            </a:pPr>
            <a:r>
              <a:rPr lang="en-GB" sz="1000" dirty="0">
                <a:solidFill>
                  <a:srgbClr val="0070C0"/>
                </a:solidFill>
              </a:rPr>
              <a:t>Edit existing Jobs from Job window</a:t>
            </a:r>
          </a:p>
          <a:p>
            <a:pPr marL="171450" indent="-171450">
              <a:buFont typeface="Arial" panose="020B0604020202020204" pitchFamily="34" charset="0"/>
              <a:buChar char="•"/>
            </a:pPr>
            <a:r>
              <a:rPr lang="en-GB" sz="1000" dirty="0">
                <a:solidFill>
                  <a:srgbClr val="0070C0"/>
                </a:solidFill>
              </a:rPr>
              <a:t>Delete Jobs from Job window</a:t>
            </a:r>
          </a:p>
        </p:txBody>
      </p:sp>
      <p:cxnSp>
        <p:nvCxnSpPr>
          <p:cNvPr id="5" name="Gerade Verbindung mit Pfeil 4">
            <a:extLst>
              <a:ext uri="{FF2B5EF4-FFF2-40B4-BE49-F238E27FC236}">
                <a16:creationId xmlns:a16="http://schemas.microsoft.com/office/drawing/2014/main" id="{D5FB92BF-30B1-4609-9F20-D7C916033538}"/>
              </a:ext>
            </a:extLst>
          </p:cNvPr>
          <p:cNvCxnSpPr>
            <a:cxnSpLocks/>
          </p:cNvCxnSpPr>
          <p:nvPr/>
        </p:nvCxnSpPr>
        <p:spPr>
          <a:xfrm flipH="1">
            <a:off x="2627786" y="1090538"/>
            <a:ext cx="114154" cy="244319"/>
          </a:xfrm>
          <a:prstGeom prst="straightConnector1">
            <a:avLst/>
          </a:prstGeom>
          <a:ln>
            <a:solidFill>
              <a:srgbClr val="FB2427"/>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7316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4C5F9EA0-1DCD-4290-8A7C-6306076F6314}"/>
              </a:ext>
            </a:extLst>
          </p:cNvPr>
          <p:cNvPicPr>
            <a:picLocks noChangeAspect="1"/>
          </p:cNvPicPr>
          <p:nvPr/>
        </p:nvPicPr>
        <p:blipFill rotWithShape="1">
          <a:blip r:embed="rId3"/>
          <a:srcRect r="31969"/>
          <a:stretch/>
        </p:blipFill>
        <p:spPr>
          <a:xfrm>
            <a:off x="3131840" y="2225639"/>
            <a:ext cx="3672408" cy="2167035"/>
          </a:xfrm>
          <a:prstGeom prst="rect">
            <a:avLst/>
          </a:prstGeom>
        </p:spPr>
      </p:pic>
      <p:sp>
        <p:nvSpPr>
          <p:cNvPr id="2" name="Titel 1"/>
          <p:cNvSpPr>
            <a:spLocks noGrp="1"/>
          </p:cNvSpPr>
          <p:nvPr>
            <p:ph type="title"/>
          </p:nvPr>
        </p:nvSpPr>
        <p:spPr>
          <a:xfrm>
            <a:off x="628650" y="123478"/>
            <a:ext cx="7886700" cy="994172"/>
          </a:xfrm>
        </p:spPr>
        <p:txBody>
          <a:bodyPr vert="horz" lIns="91440" tIns="45720" rIns="91440" bIns="45720" rtlCol="0" anchor="ctr">
            <a:normAutofit/>
          </a:bodyPr>
          <a:lstStyle/>
          <a:p>
            <a:r>
              <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VECTO </a:t>
            </a:r>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Trailer Tool – Options GUI</a:t>
            </a:r>
            <a:endPar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24" name="Rechteck 23">
            <a:extLst>
              <a:ext uri="{FF2B5EF4-FFF2-40B4-BE49-F238E27FC236}">
                <a16:creationId xmlns:a16="http://schemas.microsoft.com/office/drawing/2014/main" id="{BA55C230-110F-468D-A485-16A8CFEF6CCA}"/>
              </a:ext>
            </a:extLst>
          </p:cNvPr>
          <p:cNvSpPr/>
          <p:nvPr/>
        </p:nvSpPr>
        <p:spPr>
          <a:xfrm>
            <a:off x="4572000" y="2645832"/>
            <a:ext cx="1598934" cy="151200"/>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6" name="Rechteck 25">
            <a:extLst>
              <a:ext uri="{FF2B5EF4-FFF2-40B4-BE49-F238E27FC236}">
                <a16:creationId xmlns:a16="http://schemas.microsoft.com/office/drawing/2014/main" id="{798DED5D-C50B-4FB2-91D4-D11EE6A96AA3}"/>
              </a:ext>
            </a:extLst>
          </p:cNvPr>
          <p:cNvSpPr/>
          <p:nvPr/>
        </p:nvSpPr>
        <p:spPr>
          <a:xfrm>
            <a:off x="3275856" y="2492642"/>
            <a:ext cx="1224136" cy="504056"/>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7" name="Legende mit Linie 2 (ohne Rahmen) 18">
            <a:extLst>
              <a:ext uri="{FF2B5EF4-FFF2-40B4-BE49-F238E27FC236}">
                <a16:creationId xmlns:a16="http://schemas.microsoft.com/office/drawing/2014/main" id="{710D0C98-8D0E-4A8F-869F-FF100BF02BFE}"/>
              </a:ext>
            </a:extLst>
          </p:cNvPr>
          <p:cNvSpPr/>
          <p:nvPr/>
        </p:nvSpPr>
        <p:spPr>
          <a:xfrm>
            <a:off x="90105" y="2456757"/>
            <a:ext cx="2592288" cy="340275"/>
          </a:xfrm>
          <a:prstGeom prst="callout2">
            <a:avLst>
              <a:gd name="adj1" fmla="val 48828"/>
              <a:gd name="adj2" fmla="val 96980"/>
              <a:gd name="adj3" fmla="val 48828"/>
              <a:gd name="adj4" fmla="val 112667"/>
              <a:gd name="adj5" fmla="val 108627"/>
              <a:gd name="adj6" fmla="val 122387"/>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000" b="1" dirty="0">
                <a:solidFill>
                  <a:srgbClr val="0070C0"/>
                </a:solidFill>
              </a:rPr>
              <a:t>Modal results in 1 Hz:</a:t>
            </a:r>
          </a:p>
          <a:p>
            <a:pPr algn="r"/>
            <a:r>
              <a:rPr lang="en-US" sz="1000" dirty="0">
                <a:solidFill>
                  <a:srgbClr val="0070C0"/>
                </a:solidFill>
              </a:rPr>
              <a:t>If selected, the modal results (.</a:t>
            </a:r>
            <a:r>
              <a:rPr lang="en-US" sz="1000" dirty="0" err="1">
                <a:solidFill>
                  <a:srgbClr val="0070C0"/>
                </a:solidFill>
              </a:rPr>
              <a:t>vmod</a:t>
            </a:r>
            <a:r>
              <a:rPr lang="en-US" sz="1000" dirty="0">
                <a:solidFill>
                  <a:srgbClr val="0070C0"/>
                </a:solidFill>
              </a:rPr>
              <a:t> file) will be converted into 1Hz after the simulation. This may add certain artefacts in the resulting modal results file.</a:t>
            </a:r>
            <a:endParaRPr lang="en-GB" sz="1000" dirty="0">
              <a:solidFill>
                <a:srgbClr val="0070C0"/>
              </a:solidFill>
            </a:endParaRPr>
          </a:p>
        </p:txBody>
      </p:sp>
      <p:cxnSp>
        <p:nvCxnSpPr>
          <p:cNvPr id="4" name="Gerader Verbinder 3">
            <a:extLst>
              <a:ext uri="{FF2B5EF4-FFF2-40B4-BE49-F238E27FC236}">
                <a16:creationId xmlns:a16="http://schemas.microsoft.com/office/drawing/2014/main" id="{49177B7D-F9D6-4B99-B002-8F192C0944D0}"/>
              </a:ext>
            </a:extLst>
          </p:cNvPr>
          <p:cNvCxnSpPr/>
          <p:nvPr/>
        </p:nvCxnSpPr>
        <p:spPr>
          <a:xfrm flipV="1">
            <a:off x="4572000" y="3282617"/>
            <a:ext cx="2160240" cy="506169"/>
          </a:xfrm>
          <a:prstGeom prst="line">
            <a:avLst/>
          </a:prstGeom>
          <a:ln w="28575">
            <a:solidFill>
              <a:srgbClr val="FB0004"/>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274042DE-E0BC-4BFE-806A-A31F23CB8AE4}"/>
              </a:ext>
            </a:extLst>
          </p:cNvPr>
          <p:cNvCxnSpPr>
            <a:cxnSpLocks/>
          </p:cNvCxnSpPr>
          <p:nvPr/>
        </p:nvCxnSpPr>
        <p:spPr>
          <a:xfrm flipH="1" flipV="1">
            <a:off x="4572000" y="3212723"/>
            <a:ext cx="2160240" cy="648071"/>
          </a:xfrm>
          <a:prstGeom prst="line">
            <a:avLst/>
          </a:prstGeom>
          <a:ln w="28575">
            <a:solidFill>
              <a:srgbClr val="FB0004"/>
            </a:solidFill>
          </a:ln>
        </p:spPr>
        <p:style>
          <a:lnRef idx="1">
            <a:schemeClr val="accent1"/>
          </a:lnRef>
          <a:fillRef idx="0">
            <a:schemeClr val="accent1"/>
          </a:fillRef>
          <a:effectRef idx="0">
            <a:schemeClr val="accent1"/>
          </a:effectRef>
          <a:fontRef idx="minor">
            <a:schemeClr val="tx1"/>
          </a:fontRef>
        </p:style>
      </p:cxnSp>
      <p:sp>
        <p:nvSpPr>
          <p:cNvPr id="18" name="Rechteck 17">
            <a:extLst>
              <a:ext uri="{FF2B5EF4-FFF2-40B4-BE49-F238E27FC236}">
                <a16:creationId xmlns:a16="http://schemas.microsoft.com/office/drawing/2014/main" id="{3F69070A-4021-4BF2-9143-B77A10D6B228}"/>
              </a:ext>
            </a:extLst>
          </p:cNvPr>
          <p:cNvSpPr/>
          <p:nvPr/>
        </p:nvSpPr>
        <p:spPr>
          <a:xfrm>
            <a:off x="3275856" y="3006640"/>
            <a:ext cx="1224136" cy="854154"/>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9" name="Legende mit Linie 2 (ohne Rahmen) 18">
            <a:extLst>
              <a:ext uri="{FF2B5EF4-FFF2-40B4-BE49-F238E27FC236}">
                <a16:creationId xmlns:a16="http://schemas.microsoft.com/office/drawing/2014/main" id="{7132B7EC-8C4F-4E83-97F5-ED1C70217A6B}"/>
              </a:ext>
            </a:extLst>
          </p:cNvPr>
          <p:cNvSpPr/>
          <p:nvPr/>
        </p:nvSpPr>
        <p:spPr>
          <a:xfrm>
            <a:off x="90105" y="3092734"/>
            <a:ext cx="2592288" cy="612624"/>
          </a:xfrm>
          <a:prstGeom prst="callout2">
            <a:avLst>
              <a:gd name="adj1" fmla="val 28138"/>
              <a:gd name="adj2" fmla="val 100535"/>
              <a:gd name="adj3" fmla="val 26414"/>
              <a:gd name="adj4" fmla="val 112667"/>
              <a:gd name="adj5" fmla="val 14735"/>
              <a:gd name="adj6" fmla="val 122933"/>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000" dirty="0">
                <a:solidFill>
                  <a:srgbClr val="FF0000"/>
                </a:solidFill>
              </a:rPr>
              <a:t>Enables or disables internal checks if the model parameters are within a reasonable range.</a:t>
            </a:r>
          </a:p>
        </p:txBody>
      </p:sp>
      <p:sp>
        <p:nvSpPr>
          <p:cNvPr id="20" name="Rechteck 19">
            <a:extLst>
              <a:ext uri="{FF2B5EF4-FFF2-40B4-BE49-F238E27FC236}">
                <a16:creationId xmlns:a16="http://schemas.microsoft.com/office/drawing/2014/main" id="{723F1289-08D7-4F7C-AFCF-9947E592973E}"/>
              </a:ext>
            </a:extLst>
          </p:cNvPr>
          <p:cNvSpPr/>
          <p:nvPr/>
        </p:nvSpPr>
        <p:spPr>
          <a:xfrm>
            <a:off x="6214068" y="2645832"/>
            <a:ext cx="446166" cy="151200"/>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1" name="Legende mit Linie 2 (ohne Rahmen) 19">
            <a:extLst>
              <a:ext uri="{FF2B5EF4-FFF2-40B4-BE49-F238E27FC236}">
                <a16:creationId xmlns:a16="http://schemas.microsoft.com/office/drawing/2014/main" id="{F2C50A24-089D-4B39-9920-BFE2B7BBA03E}"/>
              </a:ext>
            </a:extLst>
          </p:cNvPr>
          <p:cNvSpPr/>
          <p:nvPr/>
        </p:nvSpPr>
        <p:spPr>
          <a:xfrm>
            <a:off x="7176576" y="2744670"/>
            <a:ext cx="1830567" cy="340275"/>
          </a:xfrm>
          <a:prstGeom prst="callout2">
            <a:avLst>
              <a:gd name="adj1" fmla="val 48828"/>
              <a:gd name="adj2" fmla="val 581"/>
              <a:gd name="adj3" fmla="val 49675"/>
              <a:gd name="adj4" fmla="val -15973"/>
              <a:gd name="adj5" fmla="val -6145"/>
              <a:gd name="adj6" fmla="val -27742"/>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Browse button</a:t>
            </a:r>
          </a:p>
        </p:txBody>
      </p:sp>
      <p:sp>
        <p:nvSpPr>
          <p:cNvPr id="31" name="Legende mit Linie 2 (ohne Rahmen) 19">
            <a:extLst>
              <a:ext uri="{FF2B5EF4-FFF2-40B4-BE49-F238E27FC236}">
                <a16:creationId xmlns:a16="http://schemas.microsoft.com/office/drawing/2014/main" id="{4D8C9743-5812-4763-8D60-2B4C7433DAF5}"/>
              </a:ext>
            </a:extLst>
          </p:cNvPr>
          <p:cNvSpPr/>
          <p:nvPr/>
        </p:nvSpPr>
        <p:spPr>
          <a:xfrm>
            <a:off x="7170023" y="2211710"/>
            <a:ext cx="1830567" cy="340275"/>
          </a:xfrm>
          <a:prstGeom prst="callout2">
            <a:avLst>
              <a:gd name="adj1" fmla="val 48828"/>
              <a:gd name="adj2" fmla="val 581"/>
              <a:gd name="adj3" fmla="val 49675"/>
              <a:gd name="adj4" fmla="val -15973"/>
              <a:gd name="adj5" fmla="val 123009"/>
              <a:gd name="adj6" fmla="val -64528"/>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Output directory</a:t>
            </a:r>
          </a:p>
        </p:txBody>
      </p:sp>
      <p:sp>
        <p:nvSpPr>
          <p:cNvPr id="32" name="Textfeld 31">
            <a:extLst>
              <a:ext uri="{FF2B5EF4-FFF2-40B4-BE49-F238E27FC236}">
                <a16:creationId xmlns:a16="http://schemas.microsoft.com/office/drawing/2014/main" id="{22A66128-C480-4068-AE76-80A9FA37037B}"/>
              </a:ext>
            </a:extLst>
          </p:cNvPr>
          <p:cNvSpPr txBox="1"/>
          <p:nvPr/>
        </p:nvSpPr>
        <p:spPr>
          <a:xfrm>
            <a:off x="323529" y="1010022"/>
            <a:ext cx="8677060" cy="1077218"/>
          </a:xfrm>
          <a:prstGeom prst="rect">
            <a:avLst/>
          </a:prstGeom>
          <a:noFill/>
        </p:spPr>
        <p:txBody>
          <a:bodyPr wrap="square" rtlCol="0">
            <a:spAutoFit/>
          </a:bodyPr>
          <a:lstStyle/>
          <a:p>
            <a:pPr marL="285750" indent="-285750">
              <a:buFont typeface="Arial" panose="020B0604020202020204" pitchFamily="34" charset="0"/>
              <a:buChar char="•"/>
            </a:pPr>
            <a:r>
              <a:rPr lang="en-GB" sz="1600" dirty="0">
                <a:solidFill>
                  <a:schemeClr val="accent4">
                    <a:lumMod val="50000"/>
                  </a:schemeClr>
                </a:solidFill>
              </a:rPr>
              <a:t>At first program start it is recommended to check the main tool settings and define the output directory</a:t>
            </a:r>
          </a:p>
          <a:p>
            <a:pPr marL="285750" indent="-285750">
              <a:buFont typeface="Arial" panose="020B0604020202020204" pitchFamily="34" charset="0"/>
              <a:buChar char="•"/>
            </a:pPr>
            <a:r>
              <a:rPr lang="en-GB" sz="1600" dirty="0">
                <a:solidFill>
                  <a:schemeClr val="accent4">
                    <a:lumMod val="50000"/>
                  </a:schemeClr>
                </a:solidFill>
              </a:rPr>
              <a:t>The settings displayed below are the default, recommended settings </a:t>
            </a:r>
          </a:p>
          <a:p>
            <a:pPr marL="285750" indent="-285750">
              <a:buFont typeface="Arial" panose="020B0604020202020204" pitchFamily="34" charset="0"/>
              <a:buChar char="•"/>
            </a:pPr>
            <a:r>
              <a:rPr lang="en-US" sz="1600" dirty="0">
                <a:solidFill>
                  <a:schemeClr val="accent4">
                    <a:lumMod val="50000"/>
                  </a:schemeClr>
                </a:solidFill>
              </a:rPr>
              <a:t>Settings only affect the handling of input data or results, but do not influence the official results. </a:t>
            </a:r>
            <a:endParaRPr lang="en-GB" sz="1600" dirty="0">
              <a:solidFill>
                <a:schemeClr val="accent4">
                  <a:lumMod val="50000"/>
                </a:schemeClr>
              </a:solidFill>
            </a:endParaRPr>
          </a:p>
        </p:txBody>
      </p:sp>
      <p:sp>
        <p:nvSpPr>
          <p:cNvPr id="34" name="Rechteck 33">
            <a:extLst>
              <a:ext uri="{FF2B5EF4-FFF2-40B4-BE49-F238E27FC236}">
                <a16:creationId xmlns:a16="http://schemas.microsoft.com/office/drawing/2014/main" id="{DE28AD9E-50E6-4801-AD1B-31CB3EE6BA17}"/>
              </a:ext>
            </a:extLst>
          </p:cNvPr>
          <p:cNvSpPr/>
          <p:nvPr/>
        </p:nvSpPr>
        <p:spPr>
          <a:xfrm>
            <a:off x="4572000" y="2996698"/>
            <a:ext cx="2160240" cy="213910"/>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35" name="Legende mit Linie 2 (ohne Rahmen) 19">
            <a:extLst>
              <a:ext uri="{FF2B5EF4-FFF2-40B4-BE49-F238E27FC236}">
                <a16:creationId xmlns:a16="http://schemas.microsoft.com/office/drawing/2014/main" id="{CFBC4AD4-7F37-44D5-8318-CA348F199F46}"/>
              </a:ext>
            </a:extLst>
          </p:cNvPr>
          <p:cNvSpPr/>
          <p:nvPr/>
        </p:nvSpPr>
        <p:spPr>
          <a:xfrm>
            <a:off x="7170022" y="3128639"/>
            <a:ext cx="1830567" cy="595239"/>
          </a:xfrm>
          <a:prstGeom prst="callout2">
            <a:avLst>
              <a:gd name="adj1" fmla="val 48828"/>
              <a:gd name="adj2" fmla="val 581"/>
              <a:gd name="adj3" fmla="val 49675"/>
              <a:gd name="adj4" fmla="val -15973"/>
              <a:gd name="adj5" fmla="val -8278"/>
              <a:gd name="adj6" fmla="val -24570"/>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Checkbox to create JSON file with input/simulation data of simulated Jobs</a:t>
            </a:r>
          </a:p>
        </p:txBody>
      </p:sp>
      <p:sp>
        <p:nvSpPr>
          <p:cNvPr id="17" name="Legende mit Linie 2 (ohne Rahmen) 18">
            <a:extLst>
              <a:ext uri="{FF2B5EF4-FFF2-40B4-BE49-F238E27FC236}">
                <a16:creationId xmlns:a16="http://schemas.microsoft.com/office/drawing/2014/main" id="{1A6E29A2-85B6-4F59-9747-E21D99831F81}"/>
              </a:ext>
            </a:extLst>
          </p:cNvPr>
          <p:cNvSpPr/>
          <p:nvPr/>
        </p:nvSpPr>
        <p:spPr>
          <a:xfrm>
            <a:off x="90105" y="3777681"/>
            <a:ext cx="2592288" cy="612624"/>
          </a:xfrm>
          <a:prstGeom prst="callout2">
            <a:avLst>
              <a:gd name="adj1" fmla="val 28138"/>
              <a:gd name="adj2" fmla="val 100535"/>
              <a:gd name="adj3" fmla="val 26414"/>
              <a:gd name="adj4" fmla="val 112667"/>
              <a:gd name="adj5" fmla="val -72044"/>
              <a:gd name="adj6" fmla="val 122660"/>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000" dirty="0">
                <a:solidFill>
                  <a:srgbClr val="0070C0"/>
                </a:solidFill>
              </a:rPr>
              <a:t> If this option is enabled, the .</a:t>
            </a:r>
            <a:r>
              <a:rPr lang="en-US" sz="1000" dirty="0" err="1">
                <a:solidFill>
                  <a:srgbClr val="0070C0"/>
                </a:solidFill>
              </a:rPr>
              <a:t>vmod</a:t>
            </a:r>
            <a:r>
              <a:rPr lang="en-US" sz="1000" dirty="0">
                <a:solidFill>
                  <a:srgbClr val="0070C0"/>
                </a:solidFill>
              </a:rPr>
              <a:t> file will contain two entries for every simulation interval, one at the beginning and one at the end of the simulation interval.</a:t>
            </a:r>
          </a:p>
        </p:txBody>
      </p:sp>
    </p:spTree>
    <p:extLst>
      <p:ext uri="{BB962C8B-B14F-4D97-AF65-F5344CB8AC3E}">
        <p14:creationId xmlns:p14="http://schemas.microsoft.com/office/powerpoint/2010/main" val="1803433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098DE9-0951-4466-90DD-E61A66CA7D5A}"/>
              </a:ext>
            </a:extLst>
          </p:cNvPr>
          <p:cNvSpPr>
            <a:spLocks noGrp="1"/>
          </p:cNvSpPr>
          <p:nvPr>
            <p:ph type="title"/>
          </p:nvPr>
        </p:nvSpPr>
        <p:spPr/>
        <p:txBody>
          <a:bodyPr vert="horz" lIns="91440" tIns="45720" rIns="91440" bIns="45720" rtlCol="0" anchor="ctr">
            <a:normAutofit/>
          </a:bodyPr>
          <a:lstStyle/>
          <a:p>
            <a:r>
              <a:rPr lang="de-AT"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VECTO Trailer Tool  - Background worker</a:t>
            </a:r>
          </a:p>
        </p:txBody>
      </p:sp>
      <p:sp>
        <p:nvSpPr>
          <p:cNvPr id="3" name="Inhaltsplatzhalter 2">
            <a:extLst>
              <a:ext uri="{FF2B5EF4-FFF2-40B4-BE49-F238E27FC236}">
                <a16:creationId xmlns:a16="http://schemas.microsoft.com/office/drawing/2014/main" id="{5F3EAABA-E0D3-4838-A2EC-E66FAD618B3D}"/>
              </a:ext>
            </a:extLst>
          </p:cNvPr>
          <p:cNvSpPr>
            <a:spLocks noGrp="1"/>
          </p:cNvSpPr>
          <p:nvPr>
            <p:ph idx="1"/>
          </p:nvPr>
        </p:nvSpPr>
        <p:spPr/>
        <p:txBody>
          <a:bodyPr/>
          <a:lstStyle/>
          <a:p>
            <a:pPr marL="0" indent="0">
              <a:buNone/>
            </a:pPr>
            <a:r>
              <a:rPr lang="de-AT" sz="1800" dirty="0" err="1">
                <a:solidFill>
                  <a:schemeClr val="accent4">
                    <a:lumMod val="50000"/>
                  </a:schemeClr>
                </a:solidFill>
              </a:rPr>
              <a:t>Enables</a:t>
            </a:r>
            <a:r>
              <a:rPr lang="de-AT" sz="1800" dirty="0">
                <a:solidFill>
                  <a:schemeClr val="accent4">
                    <a:lumMod val="50000"/>
                  </a:schemeClr>
                </a:solidFill>
              </a:rPr>
              <a:t> a simple </a:t>
            </a:r>
            <a:r>
              <a:rPr lang="de-AT" sz="1800" dirty="0" err="1">
                <a:solidFill>
                  <a:schemeClr val="accent4">
                    <a:lumMod val="50000"/>
                  </a:schemeClr>
                </a:solidFill>
              </a:rPr>
              <a:t>autonomisation</a:t>
            </a:r>
            <a:r>
              <a:rPr lang="de-AT" sz="1800" dirty="0">
                <a:solidFill>
                  <a:schemeClr val="accent4">
                    <a:lumMod val="50000"/>
                  </a:schemeClr>
                </a:solidFill>
              </a:rPr>
              <a:t> </a:t>
            </a:r>
            <a:r>
              <a:rPr lang="de-AT" sz="1800" dirty="0" err="1">
                <a:solidFill>
                  <a:schemeClr val="accent4">
                    <a:lumMod val="50000"/>
                  </a:schemeClr>
                </a:solidFill>
              </a:rPr>
              <a:t>of</a:t>
            </a:r>
            <a:r>
              <a:rPr lang="de-AT" sz="1800" dirty="0">
                <a:solidFill>
                  <a:schemeClr val="accent4">
                    <a:lumMod val="50000"/>
                  </a:schemeClr>
                </a:solidFill>
              </a:rPr>
              <a:t> </a:t>
            </a:r>
            <a:r>
              <a:rPr lang="de-AT" sz="1800" dirty="0" err="1">
                <a:solidFill>
                  <a:schemeClr val="accent4">
                    <a:lumMod val="50000"/>
                  </a:schemeClr>
                </a:solidFill>
              </a:rPr>
              <a:t>simulation</a:t>
            </a:r>
            <a:r>
              <a:rPr lang="de-AT" sz="1800" dirty="0">
                <a:solidFill>
                  <a:schemeClr val="accent4">
                    <a:lumMod val="50000"/>
                  </a:schemeClr>
                </a:solidFill>
              </a:rPr>
              <a:t> </a:t>
            </a:r>
            <a:r>
              <a:rPr lang="de-AT" sz="1800" dirty="0" err="1">
                <a:solidFill>
                  <a:schemeClr val="accent4">
                    <a:lumMod val="50000"/>
                  </a:schemeClr>
                </a:solidFill>
              </a:rPr>
              <a:t>runs</a:t>
            </a:r>
            <a:endParaRPr lang="de-AT" sz="1800" dirty="0">
              <a:solidFill>
                <a:schemeClr val="accent4">
                  <a:lumMod val="50000"/>
                </a:schemeClr>
              </a:solidFill>
            </a:endParaRPr>
          </a:p>
          <a:p>
            <a:pPr marL="342900" indent="-342900">
              <a:buFont typeface="+mj-lt"/>
              <a:buAutoNum type="arabicPeriod"/>
            </a:pPr>
            <a:r>
              <a:rPr lang="en-GB" sz="1600" dirty="0">
                <a:solidFill>
                  <a:schemeClr val="accent4">
                    <a:lumMod val="50000"/>
                  </a:schemeClr>
                </a:solidFill>
              </a:rPr>
              <a:t>The background worker periodically searches a directory specified by the user for new input XMLs</a:t>
            </a:r>
          </a:p>
          <a:p>
            <a:pPr marL="342900" indent="-342900">
              <a:buFont typeface="+mj-lt"/>
              <a:buAutoNum type="arabicPeriod"/>
            </a:pPr>
            <a:r>
              <a:rPr lang="en-GB" sz="1600" dirty="0">
                <a:solidFill>
                  <a:schemeClr val="accent4">
                    <a:lumMod val="50000"/>
                  </a:schemeClr>
                </a:solidFill>
              </a:rPr>
              <a:t>If a new file is available, a calculation is automatically started in the background</a:t>
            </a:r>
          </a:p>
          <a:p>
            <a:pPr marL="342900" indent="-342900">
              <a:buFont typeface="+mj-lt"/>
              <a:buAutoNum type="arabicPeriod"/>
            </a:pPr>
            <a:r>
              <a:rPr lang="en-GB" sz="1600" dirty="0">
                <a:solidFill>
                  <a:schemeClr val="accent4">
                    <a:lumMod val="50000"/>
                  </a:schemeClr>
                </a:solidFill>
              </a:rPr>
              <a:t>After completion, the result files are stored in another directory to be specified by the user</a:t>
            </a:r>
          </a:p>
          <a:p>
            <a:pPr marL="457200" indent="-457200">
              <a:buFont typeface="+mj-lt"/>
              <a:buAutoNum type="arabicPeriod"/>
            </a:pPr>
            <a:endParaRPr lang="de-AT" dirty="0">
              <a:solidFill>
                <a:srgbClr val="FF0000"/>
              </a:solidFill>
            </a:endParaRPr>
          </a:p>
        </p:txBody>
      </p:sp>
    </p:spTree>
    <p:extLst>
      <p:ext uri="{BB962C8B-B14F-4D97-AF65-F5344CB8AC3E}">
        <p14:creationId xmlns:p14="http://schemas.microsoft.com/office/powerpoint/2010/main" val="1789399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8650" y="123478"/>
            <a:ext cx="7886700" cy="994172"/>
          </a:xfrm>
        </p:spPr>
        <p:txBody>
          <a:bodyPr vert="horz" lIns="91440" tIns="45720" rIns="91440" bIns="45720" rtlCol="0" anchor="ctr">
            <a:normAutofit/>
          </a:bodyPr>
          <a:lstStyle/>
          <a:p>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VECTO Trailer Tool – Create or edit trailer job (1/6)</a:t>
            </a:r>
            <a:endPar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pic>
        <p:nvPicPr>
          <p:cNvPr id="6" name="Grafik 5">
            <a:extLst>
              <a:ext uri="{FF2B5EF4-FFF2-40B4-BE49-F238E27FC236}">
                <a16:creationId xmlns:a16="http://schemas.microsoft.com/office/drawing/2014/main" id="{9752360D-68B5-4EA9-9E27-93E06EBD2FCB}"/>
              </a:ext>
            </a:extLst>
          </p:cNvPr>
          <p:cNvPicPr>
            <a:picLocks noChangeAspect="1"/>
          </p:cNvPicPr>
          <p:nvPr/>
        </p:nvPicPr>
        <p:blipFill>
          <a:blip r:embed="rId3"/>
          <a:stretch>
            <a:fillRect/>
          </a:stretch>
        </p:blipFill>
        <p:spPr>
          <a:xfrm>
            <a:off x="2483768" y="1117650"/>
            <a:ext cx="6420178" cy="3392238"/>
          </a:xfrm>
          <a:prstGeom prst="rect">
            <a:avLst/>
          </a:prstGeom>
        </p:spPr>
      </p:pic>
      <p:sp>
        <p:nvSpPr>
          <p:cNvPr id="17" name="Textfeld 16">
            <a:extLst>
              <a:ext uri="{FF2B5EF4-FFF2-40B4-BE49-F238E27FC236}">
                <a16:creationId xmlns:a16="http://schemas.microsoft.com/office/drawing/2014/main" id="{1805ED18-404E-41F6-8DFC-5D6DB877AF1A}"/>
              </a:ext>
            </a:extLst>
          </p:cNvPr>
          <p:cNvSpPr txBox="1"/>
          <p:nvPr/>
        </p:nvSpPr>
        <p:spPr>
          <a:xfrm>
            <a:off x="146468" y="1347614"/>
            <a:ext cx="2304256" cy="3323987"/>
          </a:xfrm>
          <a:prstGeom prst="rect">
            <a:avLst/>
          </a:prstGeom>
          <a:noFill/>
        </p:spPr>
        <p:txBody>
          <a:bodyPr wrap="square" rtlCol="0">
            <a:spAutoFit/>
          </a:bodyPr>
          <a:lstStyle/>
          <a:p>
            <a:pPr marL="342900" indent="-342900">
              <a:buFont typeface="+mj-lt"/>
              <a:buAutoNum type="arabicPeriod"/>
            </a:pPr>
            <a:r>
              <a:rPr lang="en-GB" sz="1400" dirty="0"/>
              <a:t>Open window via</a:t>
            </a:r>
          </a:p>
          <a:p>
            <a:pPr marL="800100" lvl="1" indent="-342900">
              <a:buFont typeface="Arial" panose="020B0604020202020204" pitchFamily="34" charset="0"/>
              <a:buChar char="•"/>
            </a:pPr>
            <a:r>
              <a:rPr lang="en-GB" sz="1400" dirty="0"/>
              <a:t>“Edit Job” or</a:t>
            </a:r>
          </a:p>
          <a:p>
            <a:pPr marL="800100" lvl="1" indent="-342900">
              <a:buFont typeface="Arial" panose="020B0604020202020204" pitchFamily="34" charset="0"/>
              <a:buChar char="•"/>
            </a:pPr>
            <a:r>
              <a:rPr lang="en-GB" sz="1400" dirty="0"/>
              <a:t>Right click on Job window </a:t>
            </a:r>
            <a:r>
              <a:rPr lang="en-GB" sz="1400" dirty="0">
                <a:sym typeface="Wingdings" panose="05000000000000000000" pitchFamily="2" charset="2"/>
              </a:rPr>
              <a:t> “Create Trailer Job”</a:t>
            </a:r>
          </a:p>
          <a:p>
            <a:pPr marL="800100" lvl="1" indent="-342900">
              <a:buFont typeface="Arial" panose="020B0604020202020204" pitchFamily="34" charset="0"/>
              <a:buChar char="•"/>
            </a:pPr>
            <a:endParaRPr lang="en-GB" sz="1400" dirty="0">
              <a:sym typeface="Wingdings" panose="05000000000000000000" pitchFamily="2" charset="2"/>
            </a:endParaRPr>
          </a:p>
          <a:p>
            <a:pPr marL="342900" indent="-342900">
              <a:buFont typeface="+mj-lt"/>
              <a:buAutoNum type="arabicPeriod"/>
            </a:pPr>
            <a:r>
              <a:rPr lang="en-GB" sz="1400" dirty="0"/>
              <a:t>Define trailer specifications</a:t>
            </a:r>
          </a:p>
          <a:p>
            <a:pPr marL="342900" indent="-342900">
              <a:buFont typeface="+mj-lt"/>
              <a:buAutoNum type="arabicPeriod"/>
            </a:pPr>
            <a:endParaRPr lang="en-GB" sz="1400" dirty="0"/>
          </a:p>
          <a:p>
            <a:pPr marL="342900" indent="-342900">
              <a:buFont typeface="+mj-lt"/>
              <a:buAutoNum type="arabicPeriod"/>
            </a:pPr>
            <a:r>
              <a:rPr lang="en-GB" sz="1400" dirty="0"/>
              <a:t>Define Aero feature technologies</a:t>
            </a:r>
          </a:p>
          <a:p>
            <a:pPr marL="342900" indent="-342900">
              <a:buFont typeface="+mj-lt"/>
              <a:buAutoNum type="arabicPeriod"/>
            </a:pPr>
            <a:endParaRPr lang="en-GB" sz="1400" dirty="0"/>
          </a:p>
          <a:p>
            <a:pPr marL="342900" indent="-342900">
              <a:buFont typeface="+mj-lt"/>
              <a:buAutoNum type="arabicPeriod"/>
            </a:pPr>
            <a:r>
              <a:rPr lang="en-GB" sz="1400" dirty="0"/>
              <a:t>Define Axle and Tyre features</a:t>
            </a:r>
          </a:p>
        </p:txBody>
      </p:sp>
      <p:sp>
        <p:nvSpPr>
          <p:cNvPr id="18" name="Rechteck 17">
            <a:extLst>
              <a:ext uri="{FF2B5EF4-FFF2-40B4-BE49-F238E27FC236}">
                <a16:creationId xmlns:a16="http://schemas.microsoft.com/office/drawing/2014/main" id="{BFC56291-D8FF-4064-B968-C2ACF8410274}"/>
              </a:ext>
            </a:extLst>
          </p:cNvPr>
          <p:cNvSpPr/>
          <p:nvPr/>
        </p:nvSpPr>
        <p:spPr>
          <a:xfrm>
            <a:off x="2627784" y="1779662"/>
            <a:ext cx="6048672" cy="936104"/>
          </a:xfrm>
          <a:prstGeom prst="rect">
            <a:avLst/>
          </a:prstGeom>
          <a:solidFill>
            <a:srgbClr val="FFFF00">
              <a:alpha val="20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9" name="Rechteck 18">
            <a:extLst>
              <a:ext uri="{FF2B5EF4-FFF2-40B4-BE49-F238E27FC236}">
                <a16:creationId xmlns:a16="http://schemas.microsoft.com/office/drawing/2014/main" id="{4EF282CB-EF33-4644-8376-3AD90955BABB}"/>
              </a:ext>
            </a:extLst>
          </p:cNvPr>
          <p:cNvSpPr/>
          <p:nvPr/>
        </p:nvSpPr>
        <p:spPr>
          <a:xfrm>
            <a:off x="2627784" y="2765918"/>
            <a:ext cx="1944216" cy="1462016"/>
          </a:xfrm>
          <a:prstGeom prst="rect">
            <a:avLst/>
          </a:prstGeom>
          <a:solidFill>
            <a:srgbClr val="FFFF00">
              <a:alpha val="20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4" name="Rechteck 23">
            <a:extLst>
              <a:ext uri="{FF2B5EF4-FFF2-40B4-BE49-F238E27FC236}">
                <a16:creationId xmlns:a16="http://schemas.microsoft.com/office/drawing/2014/main" id="{C70E6B36-9A19-489B-A12D-10B6007C7728}"/>
              </a:ext>
            </a:extLst>
          </p:cNvPr>
          <p:cNvSpPr/>
          <p:nvPr/>
        </p:nvSpPr>
        <p:spPr>
          <a:xfrm>
            <a:off x="146468" y="2901808"/>
            <a:ext cx="288032" cy="237588"/>
          </a:xfrm>
          <a:prstGeom prst="rect">
            <a:avLst/>
          </a:prstGeom>
          <a:solidFill>
            <a:srgbClr val="FFFF00">
              <a:alpha val="20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8" name="Rechteck 27">
            <a:extLst>
              <a:ext uri="{FF2B5EF4-FFF2-40B4-BE49-F238E27FC236}">
                <a16:creationId xmlns:a16="http://schemas.microsoft.com/office/drawing/2014/main" id="{5679CD40-6E09-4EC9-B950-9BF3CA079226}"/>
              </a:ext>
            </a:extLst>
          </p:cNvPr>
          <p:cNvSpPr/>
          <p:nvPr/>
        </p:nvSpPr>
        <p:spPr>
          <a:xfrm>
            <a:off x="4603385" y="2765918"/>
            <a:ext cx="1408776" cy="1462016"/>
          </a:xfrm>
          <a:prstGeom prst="rect">
            <a:avLst/>
          </a:prstGeom>
          <a:solidFill>
            <a:schemeClr val="accent5">
              <a:lumMod val="40000"/>
              <a:lumOff val="60000"/>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9" name="Rechteck 28">
            <a:extLst>
              <a:ext uri="{FF2B5EF4-FFF2-40B4-BE49-F238E27FC236}">
                <a16:creationId xmlns:a16="http://schemas.microsoft.com/office/drawing/2014/main" id="{DEB16384-30AB-4BFD-BEA8-3FAE9209FC7E}"/>
              </a:ext>
            </a:extLst>
          </p:cNvPr>
          <p:cNvSpPr/>
          <p:nvPr/>
        </p:nvSpPr>
        <p:spPr>
          <a:xfrm>
            <a:off x="146468" y="3488508"/>
            <a:ext cx="288032" cy="237588"/>
          </a:xfrm>
          <a:prstGeom prst="rect">
            <a:avLst/>
          </a:prstGeom>
          <a:solidFill>
            <a:schemeClr val="accent5">
              <a:lumMod val="40000"/>
              <a:lumOff val="60000"/>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30" name="Rechteck 29">
            <a:extLst>
              <a:ext uri="{FF2B5EF4-FFF2-40B4-BE49-F238E27FC236}">
                <a16:creationId xmlns:a16="http://schemas.microsoft.com/office/drawing/2014/main" id="{8577FF1B-DF1E-4B33-9D34-66E44D309307}"/>
              </a:ext>
            </a:extLst>
          </p:cNvPr>
          <p:cNvSpPr/>
          <p:nvPr/>
        </p:nvSpPr>
        <p:spPr>
          <a:xfrm>
            <a:off x="146469" y="4179538"/>
            <a:ext cx="288032" cy="237588"/>
          </a:xfrm>
          <a:prstGeom prst="rect">
            <a:avLst/>
          </a:prstGeom>
          <a:solidFill>
            <a:srgbClr val="E1CCF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31" name="Rechteck 30">
            <a:extLst>
              <a:ext uri="{FF2B5EF4-FFF2-40B4-BE49-F238E27FC236}">
                <a16:creationId xmlns:a16="http://schemas.microsoft.com/office/drawing/2014/main" id="{1E417FBD-5850-46F4-B5BD-47046E31F338}"/>
              </a:ext>
            </a:extLst>
          </p:cNvPr>
          <p:cNvSpPr/>
          <p:nvPr/>
        </p:nvSpPr>
        <p:spPr>
          <a:xfrm>
            <a:off x="6043546" y="2765918"/>
            <a:ext cx="2632910" cy="1462016"/>
          </a:xfrm>
          <a:prstGeom prst="rect">
            <a:avLst/>
          </a:prstGeom>
          <a:solidFill>
            <a:srgbClr val="E1CCF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Tree>
    <p:extLst>
      <p:ext uri="{BB962C8B-B14F-4D97-AF65-F5344CB8AC3E}">
        <p14:creationId xmlns:p14="http://schemas.microsoft.com/office/powerpoint/2010/main" val="3824879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feld 16">
            <a:extLst>
              <a:ext uri="{FF2B5EF4-FFF2-40B4-BE49-F238E27FC236}">
                <a16:creationId xmlns:a16="http://schemas.microsoft.com/office/drawing/2014/main" id="{1805ED18-404E-41F6-8DFC-5D6DB877AF1A}"/>
              </a:ext>
            </a:extLst>
          </p:cNvPr>
          <p:cNvSpPr txBox="1"/>
          <p:nvPr/>
        </p:nvSpPr>
        <p:spPr>
          <a:xfrm>
            <a:off x="146468" y="1347614"/>
            <a:ext cx="2304256" cy="738664"/>
          </a:xfrm>
          <a:prstGeom prst="rect">
            <a:avLst/>
          </a:prstGeom>
          <a:noFill/>
        </p:spPr>
        <p:txBody>
          <a:bodyPr wrap="square" rtlCol="0">
            <a:spAutoFit/>
          </a:bodyPr>
          <a:lstStyle/>
          <a:p>
            <a:pPr marL="342900" indent="-342900">
              <a:buFont typeface="+mj-lt"/>
              <a:buAutoNum type="arabicPeriod" startAt="3"/>
            </a:pPr>
            <a:r>
              <a:rPr lang="en-GB" sz="1400" dirty="0"/>
              <a:t>Define Aero feature technologies</a:t>
            </a:r>
          </a:p>
          <a:p>
            <a:pPr marL="342900" indent="-342900">
              <a:buFont typeface="+mj-lt"/>
              <a:buAutoNum type="arabicPeriod" startAt="3"/>
            </a:pPr>
            <a:endParaRPr lang="en-GB" sz="1400" dirty="0"/>
          </a:p>
        </p:txBody>
      </p:sp>
      <p:sp>
        <p:nvSpPr>
          <p:cNvPr id="12" name="Rechteck 11">
            <a:extLst>
              <a:ext uri="{FF2B5EF4-FFF2-40B4-BE49-F238E27FC236}">
                <a16:creationId xmlns:a16="http://schemas.microsoft.com/office/drawing/2014/main" id="{7EB63A11-2820-4D9A-884E-07AC6B567DEB}"/>
              </a:ext>
            </a:extLst>
          </p:cNvPr>
          <p:cNvSpPr/>
          <p:nvPr/>
        </p:nvSpPr>
        <p:spPr>
          <a:xfrm>
            <a:off x="146468" y="1398058"/>
            <a:ext cx="288032" cy="237588"/>
          </a:xfrm>
          <a:prstGeom prst="rect">
            <a:avLst/>
          </a:prstGeom>
          <a:solidFill>
            <a:schemeClr val="accent5">
              <a:lumMod val="40000"/>
              <a:lumOff val="60000"/>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pic>
        <p:nvPicPr>
          <p:cNvPr id="4" name="Grafik 3">
            <a:extLst>
              <a:ext uri="{FF2B5EF4-FFF2-40B4-BE49-F238E27FC236}">
                <a16:creationId xmlns:a16="http://schemas.microsoft.com/office/drawing/2014/main" id="{5760AAB3-46D5-434A-A92D-4BC8726E43FB}"/>
              </a:ext>
            </a:extLst>
          </p:cNvPr>
          <p:cNvPicPr>
            <a:picLocks noChangeAspect="1"/>
          </p:cNvPicPr>
          <p:nvPr/>
        </p:nvPicPr>
        <p:blipFill>
          <a:blip r:embed="rId3"/>
          <a:stretch>
            <a:fillRect/>
          </a:stretch>
        </p:blipFill>
        <p:spPr>
          <a:xfrm>
            <a:off x="3275856" y="1635646"/>
            <a:ext cx="2257470" cy="2257470"/>
          </a:xfrm>
          <a:prstGeom prst="rect">
            <a:avLst/>
          </a:prstGeom>
        </p:spPr>
      </p:pic>
      <p:sp>
        <p:nvSpPr>
          <p:cNvPr id="15" name="Rechteck 14">
            <a:extLst>
              <a:ext uri="{FF2B5EF4-FFF2-40B4-BE49-F238E27FC236}">
                <a16:creationId xmlns:a16="http://schemas.microsoft.com/office/drawing/2014/main" id="{AB539BE7-850F-437E-9BDE-046F6F85F446}"/>
              </a:ext>
            </a:extLst>
          </p:cNvPr>
          <p:cNvSpPr/>
          <p:nvPr/>
        </p:nvSpPr>
        <p:spPr>
          <a:xfrm>
            <a:off x="3300873" y="2211710"/>
            <a:ext cx="1944216" cy="432048"/>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6" name="Legende mit Linie 2 (ohne Rahmen) 19">
            <a:extLst>
              <a:ext uri="{FF2B5EF4-FFF2-40B4-BE49-F238E27FC236}">
                <a16:creationId xmlns:a16="http://schemas.microsoft.com/office/drawing/2014/main" id="{8F393C1E-828E-476E-B44C-F7B75A459184}"/>
              </a:ext>
            </a:extLst>
          </p:cNvPr>
          <p:cNvSpPr/>
          <p:nvPr/>
        </p:nvSpPr>
        <p:spPr>
          <a:xfrm>
            <a:off x="6156176" y="1995686"/>
            <a:ext cx="1830567" cy="340275"/>
          </a:xfrm>
          <a:prstGeom prst="callout2">
            <a:avLst>
              <a:gd name="adj1" fmla="val 48828"/>
              <a:gd name="adj2" fmla="val 581"/>
              <a:gd name="adj3" fmla="val 49675"/>
              <a:gd name="adj4" fmla="val -15973"/>
              <a:gd name="adj5" fmla="val 118843"/>
              <a:gd name="adj6" fmla="val -45942"/>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Checkbox to declare applicable standard aerodynamic device(s)</a:t>
            </a:r>
          </a:p>
          <a:p>
            <a:r>
              <a:rPr lang="en-GB" sz="1000" b="1" dirty="0">
                <a:solidFill>
                  <a:srgbClr val="0070C0"/>
                </a:solidFill>
              </a:rPr>
              <a:t>Note that not all combinations are valid </a:t>
            </a:r>
            <a:r>
              <a:rPr lang="en-GB" sz="1000" b="1" dirty="0">
                <a:solidFill>
                  <a:srgbClr val="0070C0"/>
                </a:solidFill>
                <a:sym typeface="Wingdings" panose="05000000000000000000" pitchFamily="2" charset="2"/>
              </a:rPr>
              <a:t> s</a:t>
            </a:r>
            <a:r>
              <a:rPr lang="en-GB" sz="1000" b="1" dirty="0">
                <a:solidFill>
                  <a:srgbClr val="0070C0"/>
                </a:solidFill>
              </a:rPr>
              <a:t>ee also:</a:t>
            </a:r>
          </a:p>
        </p:txBody>
      </p:sp>
      <p:sp>
        <p:nvSpPr>
          <p:cNvPr id="5" name="Textfeld 4">
            <a:extLst>
              <a:ext uri="{FF2B5EF4-FFF2-40B4-BE49-F238E27FC236}">
                <a16:creationId xmlns:a16="http://schemas.microsoft.com/office/drawing/2014/main" id="{83E896AC-0456-4154-B168-7EC67D11F0B5}"/>
              </a:ext>
            </a:extLst>
          </p:cNvPr>
          <p:cNvSpPr txBox="1"/>
          <p:nvPr/>
        </p:nvSpPr>
        <p:spPr>
          <a:xfrm>
            <a:off x="6151921" y="2443703"/>
            <a:ext cx="2884575" cy="861774"/>
          </a:xfrm>
          <a:prstGeom prst="rect">
            <a:avLst/>
          </a:prstGeom>
          <a:noFill/>
        </p:spPr>
        <p:txBody>
          <a:bodyPr wrap="square" rtlCol="0">
            <a:spAutoFit/>
          </a:bodyPr>
          <a:lstStyle/>
          <a:p>
            <a:pPr marL="171450" indent="-171450">
              <a:buFont typeface="Arial" panose="020B0604020202020204" pitchFamily="34" charset="0"/>
              <a:buChar char="•"/>
            </a:pPr>
            <a:r>
              <a:rPr lang="de-AT" sz="1000" dirty="0" err="1">
                <a:solidFill>
                  <a:srgbClr val="0070C0"/>
                </a:solidFill>
              </a:rPr>
              <a:t>Masterexcel</a:t>
            </a:r>
            <a:endParaRPr lang="de-AT" sz="1000" dirty="0">
              <a:solidFill>
                <a:srgbClr val="0070C0"/>
              </a:solidFill>
            </a:endParaRPr>
          </a:p>
          <a:p>
            <a:pPr marL="628650" lvl="1" indent="-171450">
              <a:buFont typeface="Arial" panose="020B0604020202020204" pitchFamily="34" charset="0"/>
              <a:buChar char="•"/>
            </a:pPr>
            <a:r>
              <a:rPr lang="de-AT" sz="1000" dirty="0" err="1">
                <a:solidFill>
                  <a:srgbClr val="0070C0"/>
                </a:solidFill>
              </a:rPr>
              <a:t>sheet</a:t>
            </a:r>
            <a:r>
              <a:rPr lang="de-AT" sz="1000" dirty="0">
                <a:solidFill>
                  <a:srgbClr val="0070C0"/>
                </a:solidFill>
              </a:rPr>
              <a:t> </a:t>
            </a:r>
            <a:r>
              <a:rPr lang="de-AT" sz="1000" dirty="0">
                <a:solidFill>
                  <a:srgbClr val="3166CF"/>
                </a:solidFill>
              </a:rPr>
              <a:t>„</a:t>
            </a:r>
            <a:r>
              <a:rPr lang="de-AT" sz="1000" dirty="0" err="1">
                <a:solidFill>
                  <a:srgbClr val="3166CF"/>
                </a:solidFill>
              </a:rPr>
              <a:t>Combination</a:t>
            </a:r>
            <a:r>
              <a:rPr lang="de-AT" sz="1000" dirty="0">
                <a:solidFill>
                  <a:srgbClr val="3166CF"/>
                </a:solidFill>
              </a:rPr>
              <a:t> Add-</a:t>
            </a:r>
            <a:r>
              <a:rPr lang="de-AT" sz="1000" dirty="0" err="1">
                <a:solidFill>
                  <a:srgbClr val="3166CF"/>
                </a:solidFill>
              </a:rPr>
              <a:t>ons</a:t>
            </a:r>
            <a:r>
              <a:rPr lang="de-AT" sz="1000" dirty="0">
                <a:solidFill>
                  <a:srgbClr val="3166CF"/>
                </a:solidFill>
              </a:rPr>
              <a:t>“</a:t>
            </a:r>
          </a:p>
          <a:p>
            <a:pPr marL="171450" indent="-171450">
              <a:buFont typeface="Arial" panose="020B0604020202020204" pitchFamily="34" charset="0"/>
              <a:buChar char="•"/>
            </a:pPr>
            <a:r>
              <a:rPr lang="de-AT" sz="1000" dirty="0">
                <a:solidFill>
                  <a:srgbClr val="0070C0"/>
                </a:solidFill>
              </a:rPr>
              <a:t>trailer_combination_addon.csv in </a:t>
            </a:r>
            <a:r>
              <a:rPr lang="de-AT" sz="1000" dirty="0" err="1">
                <a:solidFill>
                  <a:srgbClr val="0070C0"/>
                </a:solidFill>
              </a:rPr>
              <a:t>the</a:t>
            </a:r>
            <a:r>
              <a:rPr lang="de-AT" sz="1000" dirty="0">
                <a:solidFill>
                  <a:srgbClr val="0070C0"/>
                </a:solidFill>
              </a:rPr>
              <a:t> Declaration </a:t>
            </a:r>
            <a:r>
              <a:rPr lang="de-AT" sz="1000" dirty="0" err="1">
                <a:solidFill>
                  <a:srgbClr val="0070C0"/>
                </a:solidFill>
              </a:rPr>
              <a:t>folder</a:t>
            </a:r>
            <a:r>
              <a:rPr lang="de-AT" sz="1000" dirty="0">
                <a:solidFill>
                  <a:srgbClr val="0070C0"/>
                </a:solidFill>
              </a:rPr>
              <a:t>,</a:t>
            </a:r>
          </a:p>
          <a:p>
            <a:pPr marL="171450" indent="-171450">
              <a:buFont typeface="Arial" panose="020B0604020202020204" pitchFamily="34" charset="0"/>
              <a:buChar char="•"/>
            </a:pPr>
            <a:r>
              <a:rPr lang="de-AT" sz="1000" dirty="0">
                <a:solidFill>
                  <a:srgbClr val="4D80BC"/>
                </a:solidFill>
              </a:rPr>
              <a:t>Task 2 report</a:t>
            </a:r>
          </a:p>
        </p:txBody>
      </p:sp>
      <p:sp>
        <p:nvSpPr>
          <p:cNvPr id="20" name="Legende mit Linie 2 (ohne Rahmen) 19">
            <a:extLst>
              <a:ext uri="{FF2B5EF4-FFF2-40B4-BE49-F238E27FC236}">
                <a16:creationId xmlns:a16="http://schemas.microsoft.com/office/drawing/2014/main" id="{8567E10E-B285-4E0C-B265-5397C1EC4C4B}"/>
              </a:ext>
            </a:extLst>
          </p:cNvPr>
          <p:cNvSpPr/>
          <p:nvPr/>
        </p:nvSpPr>
        <p:spPr>
          <a:xfrm>
            <a:off x="542514" y="1930139"/>
            <a:ext cx="1830567" cy="1127084"/>
          </a:xfrm>
          <a:prstGeom prst="callout2">
            <a:avLst>
              <a:gd name="adj1" fmla="val 44562"/>
              <a:gd name="adj2" fmla="val 100088"/>
              <a:gd name="adj3" fmla="val 11286"/>
              <a:gd name="adj4" fmla="val 120800"/>
              <a:gd name="adj5" fmla="val -9387"/>
              <a:gd name="adj6" fmla="val 150233"/>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Choose this if the trailer is equipped with standard aerodynamic device(s)</a:t>
            </a:r>
          </a:p>
          <a:p>
            <a:r>
              <a:rPr lang="en-GB" sz="1000" dirty="0">
                <a:solidFill>
                  <a:srgbClr val="0070C0"/>
                </a:solidFill>
              </a:rPr>
              <a:t> </a:t>
            </a:r>
          </a:p>
          <a:p>
            <a:r>
              <a:rPr lang="en-GB" sz="1000" dirty="0">
                <a:solidFill>
                  <a:srgbClr val="0070C0"/>
                </a:solidFill>
              </a:rPr>
              <a:t>Reduction of Standard aerodynamic devices can be found in:</a:t>
            </a:r>
            <a:endParaRPr lang="en-GB" sz="1000" b="1" dirty="0">
              <a:solidFill>
                <a:srgbClr val="0070C0"/>
              </a:solidFill>
            </a:endParaRPr>
          </a:p>
        </p:txBody>
      </p:sp>
      <p:sp>
        <p:nvSpPr>
          <p:cNvPr id="21" name="Rechteck 20">
            <a:extLst>
              <a:ext uri="{FF2B5EF4-FFF2-40B4-BE49-F238E27FC236}">
                <a16:creationId xmlns:a16="http://schemas.microsoft.com/office/drawing/2014/main" id="{134D3895-19FD-497B-9E8D-9E2772A033C8}"/>
              </a:ext>
            </a:extLst>
          </p:cNvPr>
          <p:cNvSpPr/>
          <p:nvPr/>
        </p:nvSpPr>
        <p:spPr>
          <a:xfrm>
            <a:off x="3299250" y="1779662"/>
            <a:ext cx="1944216" cy="144016"/>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2" name="Textfeld 21">
            <a:extLst>
              <a:ext uri="{FF2B5EF4-FFF2-40B4-BE49-F238E27FC236}">
                <a16:creationId xmlns:a16="http://schemas.microsoft.com/office/drawing/2014/main" id="{D079A5D0-1CE1-406E-9161-D8FC7A606FCA}"/>
              </a:ext>
            </a:extLst>
          </p:cNvPr>
          <p:cNvSpPr txBox="1"/>
          <p:nvPr/>
        </p:nvSpPr>
        <p:spPr>
          <a:xfrm>
            <a:off x="628650" y="3001352"/>
            <a:ext cx="2884575" cy="861774"/>
          </a:xfrm>
          <a:prstGeom prst="rect">
            <a:avLst/>
          </a:prstGeom>
          <a:noFill/>
        </p:spPr>
        <p:txBody>
          <a:bodyPr wrap="square" rtlCol="0">
            <a:spAutoFit/>
          </a:bodyPr>
          <a:lstStyle/>
          <a:p>
            <a:pPr marL="171450" indent="-171450">
              <a:buFont typeface="Arial" panose="020B0604020202020204" pitchFamily="34" charset="0"/>
              <a:buChar char="•"/>
            </a:pPr>
            <a:r>
              <a:rPr lang="de-AT" sz="1000" dirty="0" err="1">
                <a:solidFill>
                  <a:srgbClr val="0070C0"/>
                </a:solidFill>
              </a:rPr>
              <a:t>Masterexcel</a:t>
            </a:r>
            <a:endParaRPr lang="de-AT" sz="1000" dirty="0">
              <a:solidFill>
                <a:srgbClr val="FF0000"/>
              </a:solidFill>
            </a:endParaRPr>
          </a:p>
          <a:p>
            <a:pPr marL="628650" lvl="1" indent="-171450">
              <a:buFont typeface="Arial" panose="020B0604020202020204" pitchFamily="34" charset="0"/>
              <a:buChar char="•"/>
            </a:pPr>
            <a:r>
              <a:rPr lang="de-AT" sz="1000" dirty="0" err="1">
                <a:solidFill>
                  <a:srgbClr val="3166CF"/>
                </a:solidFill>
              </a:rPr>
              <a:t>sheet</a:t>
            </a:r>
            <a:r>
              <a:rPr lang="de-AT" sz="1000" dirty="0">
                <a:solidFill>
                  <a:srgbClr val="3166CF"/>
                </a:solidFill>
              </a:rPr>
              <a:t> „</a:t>
            </a:r>
            <a:r>
              <a:rPr lang="de-AT" sz="1000" dirty="0" err="1">
                <a:solidFill>
                  <a:srgbClr val="3166CF"/>
                </a:solidFill>
              </a:rPr>
              <a:t>Combination</a:t>
            </a:r>
            <a:r>
              <a:rPr lang="de-AT" sz="1000" dirty="0">
                <a:solidFill>
                  <a:srgbClr val="3166CF"/>
                </a:solidFill>
              </a:rPr>
              <a:t> Add-</a:t>
            </a:r>
            <a:r>
              <a:rPr lang="de-AT" sz="1000" dirty="0" err="1">
                <a:solidFill>
                  <a:srgbClr val="3166CF"/>
                </a:solidFill>
              </a:rPr>
              <a:t>ons</a:t>
            </a:r>
            <a:r>
              <a:rPr lang="de-AT" sz="1000" dirty="0">
                <a:solidFill>
                  <a:srgbClr val="3166CF"/>
                </a:solidFill>
              </a:rPr>
              <a:t>“ </a:t>
            </a:r>
            <a:r>
              <a:rPr lang="de-AT" sz="1000" dirty="0" err="1">
                <a:solidFill>
                  <a:srgbClr val="3166CF"/>
                </a:solidFill>
              </a:rPr>
              <a:t>or</a:t>
            </a:r>
            <a:r>
              <a:rPr lang="de-AT" sz="1000" dirty="0">
                <a:solidFill>
                  <a:srgbClr val="3166CF"/>
                </a:solidFill>
              </a:rPr>
              <a:t> „</a:t>
            </a:r>
            <a:r>
              <a:rPr lang="de-AT" sz="1000" dirty="0" err="1">
                <a:solidFill>
                  <a:srgbClr val="3166CF"/>
                </a:solidFill>
              </a:rPr>
              <a:t>Specific</a:t>
            </a:r>
            <a:r>
              <a:rPr lang="de-AT" sz="1000" dirty="0">
                <a:solidFill>
                  <a:srgbClr val="3166CF"/>
                </a:solidFill>
              </a:rPr>
              <a:t> Trailer“ </a:t>
            </a:r>
            <a:r>
              <a:rPr lang="de-AT" sz="1000" dirty="0" err="1">
                <a:solidFill>
                  <a:srgbClr val="3166CF"/>
                </a:solidFill>
              </a:rPr>
              <a:t>column</a:t>
            </a:r>
            <a:r>
              <a:rPr lang="de-AT" sz="1000" dirty="0">
                <a:solidFill>
                  <a:srgbClr val="3166CF"/>
                </a:solidFill>
              </a:rPr>
              <a:t> X </a:t>
            </a:r>
            <a:r>
              <a:rPr lang="de-AT" sz="1000" dirty="0" err="1">
                <a:solidFill>
                  <a:srgbClr val="3166CF"/>
                </a:solidFill>
              </a:rPr>
              <a:t>to</a:t>
            </a:r>
            <a:r>
              <a:rPr lang="de-AT" sz="1000" dirty="0">
                <a:solidFill>
                  <a:srgbClr val="3166CF"/>
                </a:solidFill>
              </a:rPr>
              <a:t> BG</a:t>
            </a:r>
          </a:p>
          <a:p>
            <a:pPr marL="171450" indent="-171450">
              <a:buFont typeface="Arial" panose="020B0604020202020204" pitchFamily="34" charset="0"/>
              <a:buChar char="•"/>
            </a:pPr>
            <a:r>
              <a:rPr lang="de-AT" sz="1000" dirty="0">
                <a:solidFill>
                  <a:srgbClr val="0070C0"/>
                </a:solidFill>
              </a:rPr>
              <a:t>specific_trailer.csv in </a:t>
            </a:r>
            <a:r>
              <a:rPr lang="de-AT" sz="1000" dirty="0" err="1">
                <a:solidFill>
                  <a:srgbClr val="0070C0"/>
                </a:solidFill>
              </a:rPr>
              <a:t>the</a:t>
            </a:r>
            <a:r>
              <a:rPr lang="de-AT" sz="1000" dirty="0">
                <a:solidFill>
                  <a:srgbClr val="0070C0"/>
                </a:solidFill>
              </a:rPr>
              <a:t> Declaration </a:t>
            </a:r>
            <a:r>
              <a:rPr lang="de-AT" sz="1000" dirty="0" err="1">
                <a:solidFill>
                  <a:srgbClr val="0070C0"/>
                </a:solidFill>
              </a:rPr>
              <a:t>folder</a:t>
            </a:r>
            <a:r>
              <a:rPr lang="de-AT" sz="1000" dirty="0">
                <a:solidFill>
                  <a:srgbClr val="0070C0"/>
                </a:solidFill>
              </a:rPr>
              <a:t>,</a:t>
            </a:r>
          </a:p>
          <a:p>
            <a:pPr marL="171450" indent="-171450">
              <a:buFont typeface="Arial" panose="020B0604020202020204" pitchFamily="34" charset="0"/>
              <a:buChar char="•"/>
            </a:pPr>
            <a:r>
              <a:rPr lang="de-AT" sz="1000" dirty="0">
                <a:solidFill>
                  <a:srgbClr val="0070C0"/>
                </a:solidFill>
              </a:rPr>
              <a:t>Task 2 report</a:t>
            </a:r>
          </a:p>
        </p:txBody>
      </p:sp>
      <p:sp>
        <p:nvSpPr>
          <p:cNvPr id="13" name="Titel 1"/>
          <p:cNvSpPr>
            <a:spLocks noGrp="1"/>
          </p:cNvSpPr>
          <p:nvPr>
            <p:ph type="title"/>
          </p:nvPr>
        </p:nvSpPr>
        <p:spPr>
          <a:xfrm>
            <a:off x="628650" y="123478"/>
            <a:ext cx="7886700" cy="994172"/>
          </a:xfrm>
        </p:spPr>
        <p:txBody>
          <a:bodyPr vert="horz" lIns="91440" tIns="45720" rIns="91440" bIns="45720" rtlCol="0" anchor="ctr">
            <a:normAutofit/>
          </a:bodyPr>
          <a:lstStyle/>
          <a:p>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VECTO Trailer Tool – Create or edit trailer job (2/6)</a:t>
            </a:r>
            <a:endPar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644120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53180B8-A6AC-4205-8F91-CAD747B48FDF}"/>
              </a:ext>
            </a:extLst>
          </p:cNvPr>
          <p:cNvPicPr>
            <a:picLocks noChangeAspect="1"/>
          </p:cNvPicPr>
          <p:nvPr/>
        </p:nvPicPr>
        <p:blipFill>
          <a:blip r:embed="rId3"/>
          <a:stretch>
            <a:fillRect/>
          </a:stretch>
        </p:blipFill>
        <p:spPr>
          <a:xfrm>
            <a:off x="3275856" y="1635646"/>
            <a:ext cx="2502225" cy="2257200"/>
          </a:xfrm>
          <a:prstGeom prst="rect">
            <a:avLst/>
          </a:prstGeom>
        </p:spPr>
      </p:pic>
      <p:sp>
        <p:nvSpPr>
          <p:cNvPr id="17" name="Textfeld 16">
            <a:extLst>
              <a:ext uri="{FF2B5EF4-FFF2-40B4-BE49-F238E27FC236}">
                <a16:creationId xmlns:a16="http://schemas.microsoft.com/office/drawing/2014/main" id="{1805ED18-404E-41F6-8DFC-5D6DB877AF1A}"/>
              </a:ext>
            </a:extLst>
          </p:cNvPr>
          <p:cNvSpPr txBox="1"/>
          <p:nvPr/>
        </p:nvSpPr>
        <p:spPr>
          <a:xfrm>
            <a:off x="146468" y="1347614"/>
            <a:ext cx="2304256" cy="738664"/>
          </a:xfrm>
          <a:prstGeom prst="rect">
            <a:avLst/>
          </a:prstGeom>
          <a:noFill/>
        </p:spPr>
        <p:txBody>
          <a:bodyPr wrap="square" rtlCol="0">
            <a:spAutoFit/>
          </a:bodyPr>
          <a:lstStyle/>
          <a:p>
            <a:pPr marL="342900" indent="-342900">
              <a:buFont typeface="+mj-lt"/>
              <a:buAutoNum type="arabicPeriod" startAt="3"/>
            </a:pPr>
            <a:r>
              <a:rPr lang="en-GB" sz="1400" dirty="0"/>
              <a:t>Define Aero feature technologies</a:t>
            </a:r>
          </a:p>
          <a:p>
            <a:pPr marL="342900" indent="-342900">
              <a:buFont typeface="+mj-lt"/>
              <a:buAutoNum type="arabicPeriod" startAt="3"/>
            </a:pPr>
            <a:endParaRPr lang="en-GB" sz="1400" dirty="0"/>
          </a:p>
        </p:txBody>
      </p:sp>
      <p:sp>
        <p:nvSpPr>
          <p:cNvPr id="12" name="Rechteck 11">
            <a:extLst>
              <a:ext uri="{FF2B5EF4-FFF2-40B4-BE49-F238E27FC236}">
                <a16:creationId xmlns:a16="http://schemas.microsoft.com/office/drawing/2014/main" id="{7EB63A11-2820-4D9A-884E-07AC6B567DEB}"/>
              </a:ext>
            </a:extLst>
          </p:cNvPr>
          <p:cNvSpPr/>
          <p:nvPr/>
        </p:nvSpPr>
        <p:spPr>
          <a:xfrm>
            <a:off x="146468" y="1398058"/>
            <a:ext cx="288032" cy="237588"/>
          </a:xfrm>
          <a:prstGeom prst="rect">
            <a:avLst/>
          </a:prstGeom>
          <a:solidFill>
            <a:schemeClr val="accent5">
              <a:lumMod val="40000"/>
              <a:lumOff val="60000"/>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Rechteck 14">
            <a:extLst>
              <a:ext uri="{FF2B5EF4-FFF2-40B4-BE49-F238E27FC236}">
                <a16:creationId xmlns:a16="http://schemas.microsoft.com/office/drawing/2014/main" id="{AB539BE7-850F-437E-9BDE-046F6F85F446}"/>
              </a:ext>
            </a:extLst>
          </p:cNvPr>
          <p:cNvSpPr/>
          <p:nvPr/>
        </p:nvSpPr>
        <p:spPr>
          <a:xfrm>
            <a:off x="4572000" y="2224411"/>
            <a:ext cx="288032" cy="181184"/>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6" name="Legende mit Linie 2 (ohne Rahmen) 19">
            <a:extLst>
              <a:ext uri="{FF2B5EF4-FFF2-40B4-BE49-F238E27FC236}">
                <a16:creationId xmlns:a16="http://schemas.microsoft.com/office/drawing/2014/main" id="{8F393C1E-828E-476E-B44C-F7B75A459184}"/>
              </a:ext>
            </a:extLst>
          </p:cNvPr>
          <p:cNvSpPr/>
          <p:nvPr/>
        </p:nvSpPr>
        <p:spPr>
          <a:xfrm>
            <a:off x="6156176" y="1995686"/>
            <a:ext cx="1830567" cy="340275"/>
          </a:xfrm>
          <a:prstGeom prst="callout2">
            <a:avLst>
              <a:gd name="adj1" fmla="val 48828"/>
              <a:gd name="adj2" fmla="val 581"/>
              <a:gd name="adj3" fmla="val 49675"/>
              <a:gd name="adj4" fmla="val -15973"/>
              <a:gd name="adj5" fmla="val 87596"/>
              <a:gd name="adj6" fmla="val -69950"/>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Brows button to search for the XML file of the certified aerodynamic device</a:t>
            </a:r>
            <a:endParaRPr lang="en-GB" sz="1000" b="1" dirty="0">
              <a:solidFill>
                <a:srgbClr val="0070C0"/>
              </a:solidFill>
            </a:endParaRPr>
          </a:p>
        </p:txBody>
      </p:sp>
      <p:sp>
        <p:nvSpPr>
          <p:cNvPr id="21" name="Rechteck 20">
            <a:extLst>
              <a:ext uri="{FF2B5EF4-FFF2-40B4-BE49-F238E27FC236}">
                <a16:creationId xmlns:a16="http://schemas.microsoft.com/office/drawing/2014/main" id="{134D3895-19FD-497B-9E8D-9E2772A033C8}"/>
              </a:ext>
            </a:extLst>
          </p:cNvPr>
          <p:cNvSpPr/>
          <p:nvPr/>
        </p:nvSpPr>
        <p:spPr>
          <a:xfrm>
            <a:off x="3307567" y="1942262"/>
            <a:ext cx="1944216" cy="144016"/>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4" name="Legende mit Linie 2 (ohne Rahmen) 19">
            <a:extLst>
              <a:ext uri="{FF2B5EF4-FFF2-40B4-BE49-F238E27FC236}">
                <a16:creationId xmlns:a16="http://schemas.microsoft.com/office/drawing/2014/main" id="{2815C0DE-ABE0-4D3D-A890-5507C943A4E0}"/>
              </a:ext>
            </a:extLst>
          </p:cNvPr>
          <p:cNvSpPr/>
          <p:nvPr/>
        </p:nvSpPr>
        <p:spPr>
          <a:xfrm>
            <a:off x="542514" y="1930139"/>
            <a:ext cx="1830567" cy="1127084"/>
          </a:xfrm>
          <a:prstGeom prst="callout2">
            <a:avLst>
              <a:gd name="adj1" fmla="val 44562"/>
              <a:gd name="adj2" fmla="val 100088"/>
              <a:gd name="adj3" fmla="val 11286"/>
              <a:gd name="adj4" fmla="val 120800"/>
              <a:gd name="adj5" fmla="val 7594"/>
              <a:gd name="adj6" fmla="val 149846"/>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Choose this if the trailer is equipped with a certified aerodynamic device</a:t>
            </a:r>
          </a:p>
          <a:p>
            <a:r>
              <a:rPr lang="en-GB" sz="1000" dirty="0">
                <a:solidFill>
                  <a:srgbClr val="0070C0"/>
                </a:solidFill>
              </a:rPr>
              <a:t> </a:t>
            </a:r>
          </a:p>
        </p:txBody>
      </p:sp>
      <p:sp>
        <p:nvSpPr>
          <p:cNvPr id="11" name="Titel 1"/>
          <p:cNvSpPr>
            <a:spLocks noGrp="1"/>
          </p:cNvSpPr>
          <p:nvPr>
            <p:ph type="title"/>
          </p:nvPr>
        </p:nvSpPr>
        <p:spPr>
          <a:xfrm>
            <a:off x="628650" y="123478"/>
            <a:ext cx="7886700" cy="994172"/>
          </a:xfrm>
        </p:spPr>
        <p:txBody>
          <a:bodyPr vert="horz" lIns="91440" tIns="45720" rIns="91440" bIns="45720" rtlCol="0" anchor="ctr">
            <a:normAutofit/>
          </a:bodyPr>
          <a:lstStyle/>
          <a:p>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VECTO Trailer Tool – Create or edit trailer job (3/6)</a:t>
            </a:r>
            <a:endPar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214689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D9F3992B-49AB-4DD0-A4EA-ADFD755D5033}"/>
              </a:ext>
            </a:extLst>
          </p:cNvPr>
          <p:cNvPicPr>
            <a:picLocks noChangeAspect="1"/>
          </p:cNvPicPr>
          <p:nvPr/>
        </p:nvPicPr>
        <p:blipFill>
          <a:blip r:embed="rId3"/>
          <a:stretch>
            <a:fillRect/>
          </a:stretch>
        </p:blipFill>
        <p:spPr>
          <a:xfrm>
            <a:off x="3237800" y="1635646"/>
            <a:ext cx="2540281" cy="2257200"/>
          </a:xfrm>
          <a:prstGeom prst="rect">
            <a:avLst/>
          </a:prstGeom>
        </p:spPr>
      </p:pic>
      <p:sp>
        <p:nvSpPr>
          <p:cNvPr id="17" name="Textfeld 16">
            <a:extLst>
              <a:ext uri="{FF2B5EF4-FFF2-40B4-BE49-F238E27FC236}">
                <a16:creationId xmlns:a16="http://schemas.microsoft.com/office/drawing/2014/main" id="{1805ED18-404E-41F6-8DFC-5D6DB877AF1A}"/>
              </a:ext>
            </a:extLst>
          </p:cNvPr>
          <p:cNvSpPr txBox="1"/>
          <p:nvPr/>
        </p:nvSpPr>
        <p:spPr>
          <a:xfrm>
            <a:off x="146468" y="1347614"/>
            <a:ext cx="2304256" cy="738664"/>
          </a:xfrm>
          <a:prstGeom prst="rect">
            <a:avLst/>
          </a:prstGeom>
          <a:noFill/>
        </p:spPr>
        <p:txBody>
          <a:bodyPr wrap="square" rtlCol="0">
            <a:spAutoFit/>
          </a:bodyPr>
          <a:lstStyle/>
          <a:p>
            <a:pPr marL="342900" indent="-342900">
              <a:buFont typeface="+mj-lt"/>
              <a:buAutoNum type="arabicPeriod" startAt="3"/>
            </a:pPr>
            <a:r>
              <a:rPr lang="en-GB" sz="1400" dirty="0"/>
              <a:t>Define Aero feature technologies</a:t>
            </a:r>
          </a:p>
          <a:p>
            <a:pPr marL="342900" indent="-342900">
              <a:buFont typeface="+mj-lt"/>
              <a:buAutoNum type="arabicPeriod" startAt="3"/>
            </a:pPr>
            <a:endParaRPr lang="en-GB" sz="1400" dirty="0"/>
          </a:p>
        </p:txBody>
      </p:sp>
      <p:sp>
        <p:nvSpPr>
          <p:cNvPr id="12" name="Rechteck 11">
            <a:extLst>
              <a:ext uri="{FF2B5EF4-FFF2-40B4-BE49-F238E27FC236}">
                <a16:creationId xmlns:a16="http://schemas.microsoft.com/office/drawing/2014/main" id="{7EB63A11-2820-4D9A-884E-07AC6B567DEB}"/>
              </a:ext>
            </a:extLst>
          </p:cNvPr>
          <p:cNvSpPr/>
          <p:nvPr/>
        </p:nvSpPr>
        <p:spPr>
          <a:xfrm>
            <a:off x="146468" y="1398058"/>
            <a:ext cx="288032" cy="237588"/>
          </a:xfrm>
          <a:prstGeom prst="rect">
            <a:avLst/>
          </a:prstGeom>
          <a:solidFill>
            <a:schemeClr val="accent5">
              <a:lumMod val="40000"/>
              <a:lumOff val="60000"/>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1" name="Rechteck 20">
            <a:extLst>
              <a:ext uri="{FF2B5EF4-FFF2-40B4-BE49-F238E27FC236}">
                <a16:creationId xmlns:a16="http://schemas.microsoft.com/office/drawing/2014/main" id="{134D3895-19FD-497B-9E8D-9E2772A033C8}"/>
              </a:ext>
            </a:extLst>
          </p:cNvPr>
          <p:cNvSpPr/>
          <p:nvPr/>
        </p:nvSpPr>
        <p:spPr>
          <a:xfrm>
            <a:off x="3295215" y="2052704"/>
            <a:ext cx="1944216" cy="144016"/>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8" name="Legende mit Linie 2 (ohne Rahmen) 19">
            <a:extLst>
              <a:ext uri="{FF2B5EF4-FFF2-40B4-BE49-F238E27FC236}">
                <a16:creationId xmlns:a16="http://schemas.microsoft.com/office/drawing/2014/main" id="{46191AC4-3755-4BD0-A753-C5435E1048B5}"/>
              </a:ext>
            </a:extLst>
          </p:cNvPr>
          <p:cNvSpPr/>
          <p:nvPr/>
        </p:nvSpPr>
        <p:spPr>
          <a:xfrm>
            <a:off x="542514" y="1930139"/>
            <a:ext cx="1830567" cy="1127084"/>
          </a:xfrm>
          <a:prstGeom prst="callout2">
            <a:avLst>
              <a:gd name="adj1" fmla="val 44562"/>
              <a:gd name="adj2" fmla="val 100088"/>
              <a:gd name="adj3" fmla="val 21349"/>
              <a:gd name="adj4" fmla="val 123123"/>
              <a:gd name="adj5" fmla="val 16399"/>
              <a:gd name="adj6" fmla="val 149846"/>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Choose this if the trailer is equipped with no aerodynamic device(s)</a:t>
            </a:r>
          </a:p>
        </p:txBody>
      </p:sp>
      <p:sp>
        <p:nvSpPr>
          <p:cNvPr id="9" name="Titel 1"/>
          <p:cNvSpPr>
            <a:spLocks noGrp="1"/>
          </p:cNvSpPr>
          <p:nvPr>
            <p:ph type="title"/>
          </p:nvPr>
        </p:nvSpPr>
        <p:spPr>
          <a:xfrm>
            <a:off x="628650" y="123478"/>
            <a:ext cx="7886700" cy="994172"/>
          </a:xfrm>
        </p:spPr>
        <p:txBody>
          <a:bodyPr vert="horz" lIns="91440" tIns="45720" rIns="91440" bIns="45720" rtlCol="0" anchor="ctr">
            <a:normAutofit/>
          </a:bodyPr>
          <a:lstStyle/>
          <a:p>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VECTO Trailer Tool – Create or edit trailer job (4/6)</a:t>
            </a:r>
            <a:endPar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080842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feld 16">
            <a:extLst>
              <a:ext uri="{FF2B5EF4-FFF2-40B4-BE49-F238E27FC236}">
                <a16:creationId xmlns:a16="http://schemas.microsoft.com/office/drawing/2014/main" id="{1805ED18-404E-41F6-8DFC-5D6DB877AF1A}"/>
              </a:ext>
            </a:extLst>
          </p:cNvPr>
          <p:cNvSpPr txBox="1"/>
          <p:nvPr/>
        </p:nvSpPr>
        <p:spPr>
          <a:xfrm>
            <a:off x="146468" y="1347614"/>
            <a:ext cx="2304256" cy="523220"/>
          </a:xfrm>
          <a:prstGeom prst="rect">
            <a:avLst/>
          </a:prstGeom>
          <a:noFill/>
        </p:spPr>
        <p:txBody>
          <a:bodyPr wrap="square" rtlCol="0">
            <a:spAutoFit/>
          </a:bodyPr>
          <a:lstStyle/>
          <a:p>
            <a:pPr marL="342900" indent="-342900">
              <a:buFont typeface="+mj-lt"/>
              <a:buAutoNum type="arabicPeriod" startAt="4"/>
            </a:pPr>
            <a:r>
              <a:rPr lang="en-GB" sz="1400" dirty="0"/>
              <a:t>Define Axle and Tyre features</a:t>
            </a:r>
          </a:p>
        </p:txBody>
      </p:sp>
      <p:sp>
        <p:nvSpPr>
          <p:cNvPr id="13" name="Rechteck 12">
            <a:extLst>
              <a:ext uri="{FF2B5EF4-FFF2-40B4-BE49-F238E27FC236}">
                <a16:creationId xmlns:a16="http://schemas.microsoft.com/office/drawing/2014/main" id="{BFE40657-2EC9-44B2-AB5A-213F0FDA059B}"/>
              </a:ext>
            </a:extLst>
          </p:cNvPr>
          <p:cNvSpPr/>
          <p:nvPr/>
        </p:nvSpPr>
        <p:spPr>
          <a:xfrm>
            <a:off x="146468" y="1398058"/>
            <a:ext cx="288032" cy="237588"/>
          </a:xfrm>
          <a:prstGeom prst="rect">
            <a:avLst/>
          </a:prstGeom>
          <a:solidFill>
            <a:srgbClr val="E1CCF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pic>
        <p:nvPicPr>
          <p:cNvPr id="3" name="Grafik 2">
            <a:extLst>
              <a:ext uri="{FF2B5EF4-FFF2-40B4-BE49-F238E27FC236}">
                <a16:creationId xmlns:a16="http://schemas.microsoft.com/office/drawing/2014/main" id="{591B12B2-371A-48D4-BE54-3E7B319F8F47}"/>
              </a:ext>
            </a:extLst>
          </p:cNvPr>
          <p:cNvPicPr>
            <a:picLocks noChangeAspect="1"/>
          </p:cNvPicPr>
          <p:nvPr/>
        </p:nvPicPr>
        <p:blipFill rotWithShape="1">
          <a:blip r:embed="rId3"/>
          <a:srcRect r="10786"/>
          <a:stretch/>
        </p:blipFill>
        <p:spPr>
          <a:xfrm>
            <a:off x="2471797" y="1595673"/>
            <a:ext cx="3972411" cy="2398191"/>
          </a:xfrm>
          <a:prstGeom prst="rect">
            <a:avLst/>
          </a:prstGeom>
        </p:spPr>
      </p:pic>
      <p:sp>
        <p:nvSpPr>
          <p:cNvPr id="15" name="Rechteck 14">
            <a:extLst>
              <a:ext uri="{FF2B5EF4-FFF2-40B4-BE49-F238E27FC236}">
                <a16:creationId xmlns:a16="http://schemas.microsoft.com/office/drawing/2014/main" id="{AB539BE7-850F-437E-9BDE-046F6F85F446}"/>
              </a:ext>
            </a:extLst>
          </p:cNvPr>
          <p:cNvSpPr/>
          <p:nvPr/>
        </p:nvSpPr>
        <p:spPr>
          <a:xfrm>
            <a:off x="4874772" y="1779662"/>
            <a:ext cx="1569436" cy="432048"/>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6" name="Legende mit Linie 2 (ohne Rahmen) 19">
            <a:extLst>
              <a:ext uri="{FF2B5EF4-FFF2-40B4-BE49-F238E27FC236}">
                <a16:creationId xmlns:a16="http://schemas.microsoft.com/office/drawing/2014/main" id="{8F393C1E-828E-476E-B44C-F7B75A459184}"/>
              </a:ext>
            </a:extLst>
          </p:cNvPr>
          <p:cNvSpPr/>
          <p:nvPr/>
        </p:nvSpPr>
        <p:spPr>
          <a:xfrm>
            <a:off x="6876256" y="1679413"/>
            <a:ext cx="1830567" cy="340275"/>
          </a:xfrm>
          <a:prstGeom prst="callout2">
            <a:avLst>
              <a:gd name="adj1" fmla="val 48828"/>
              <a:gd name="adj2" fmla="val 581"/>
              <a:gd name="adj3" fmla="val 49675"/>
              <a:gd name="adj4" fmla="val -15973"/>
              <a:gd name="adj5" fmla="val 91117"/>
              <a:gd name="adj6" fmla="val -24137"/>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Checkbox to declare applicable tyre/axle features</a:t>
            </a:r>
          </a:p>
          <a:p>
            <a:endParaRPr lang="en-GB" sz="1000" dirty="0">
              <a:solidFill>
                <a:srgbClr val="0070C0"/>
              </a:solidFill>
            </a:endParaRPr>
          </a:p>
          <a:p>
            <a:r>
              <a:rPr lang="en-GB" sz="1000" dirty="0">
                <a:solidFill>
                  <a:srgbClr val="0070C0"/>
                </a:solidFill>
              </a:rPr>
              <a:t>Effect of liftable/steered axles can be found in:</a:t>
            </a:r>
          </a:p>
        </p:txBody>
      </p:sp>
      <p:sp>
        <p:nvSpPr>
          <p:cNvPr id="20" name="Legende mit Linie 2 (ohne Rahmen) 19">
            <a:extLst>
              <a:ext uri="{FF2B5EF4-FFF2-40B4-BE49-F238E27FC236}">
                <a16:creationId xmlns:a16="http://schemas.microsoft.com/office/drawing/2014/main" id="{8567E10E-B285-4E0C-B265-5397C1EC4C4B}"/>
              </a:ext>
            </a:extLst>
          </p:cNvPr>
          <p:cNvSpPr/>
          <p:nvPr/>
        </p:nvSpPr>
        <p:spPr>
          <a:xfrm>
            <a:off x="289627" y="2454493"/>
            <a:ext cx="1830567" cy="340275"/>
          </a:xfrm>
          <a:prstGeom prst="callout2">
            <a:avLst>
              <a:gd name="adj1" fmla="val 44562"/>
              <a:gd name="adj2" fmla="val 100088"/>
              <a:gd name="adj3" fmla="val 21950"/>
              <a:gd name="adj4" fmla="val 112078"/>
              <a:gd name="adj5" fmla="val -73102"/>
              <a:gd name="adj6" fmla="val 194698"/>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b="1" dirty="0">
                <a:solidFill>
                  <a:srgbClr val="0070C0"/>
                </a:solidFill>
              </a:rPr>
              <a:t>Download</a:t>
            </a:r>
          </a:p>
          <a:p>
            <a:r>
              <a:rPr lang="en-GB" sz="1000" dirty="0">
                <a:solidFill>
                  <a:srgbClr val="0070C0"/>
                </a:solidFill>
              </a:rPr>
              <a:t>Brows button to search for tyre XMLs</a:t>
            </a:r>
          </a:p>
          <a:p>
            <a:endParaRPr lang="en-GB" sz="1000" dirty="0">
              <a:solidFill>
                <a:srgbClr val="0070C0"/>
              </a:solidFill>
            </a:endParaRPr>
          </a:p>
          <a:p>
            <a:r>
              <a:rPr lang="en-GB" sz="1000" b="1" dirty="0">
                <a:solidFill>
                  <a:srgbClr val="FF0000"/>
                </a:solidFill>
              </a:rPr>
              <a:t>Delete</a:t>
            </a:r>
          </a:p>
          <a:p>
            <a:r>
              <a:rPr lang="en-GB" sz="1000" dirty="0">
                <a:solidFill>
                  <a:srgbClr val="0070C0"/>
                </a:solidFill>
              </a:rPr>
              <a:t>Delete loaded or pre defined tyre XML</a:t>
            </a:r>
          </a:p>
        </p:txBody>
      </p:sp>
      <p:sp>
        <p:nvSpPr>
          <p:cNvPr id="21" name="Rechteck 20">
            <a:extLst>
              <a:ext uri="{FF2B5EF4-FFF2-40B4-BE49-F238E27FC236}">
                <a16:creationId xmlns:a16="http://schemas.microsoft.com/office/drawing/2014/main" id="{134D3895-19FD-497B-9E8D-9E2772A033C8}"/>
              </a:ext>
            </a:extLst>
          </p:cNvPr>
          <p:cNvSpPr/>
          <p:nvPr/>
        </p:nvSpPr>
        <p:spPr>
          <a:xfrm>
            <a:off x="3851920" y="1776906"/>
            <a:ext cx="1022852" cy="434804"/>
          </a:xfrm>
          <a:prstGeom prst="rect">
            <a:avLst/>
          </a:prstGeom>
          <a:solidFill>
            <a:schemeClr val="accent3">
              <a:lumMod val="20000"/>
              <a:lumOff val="80000"/>
              <a:alpha val="2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4" name="Textfeld 13">
            <a:extLst>
              <a:ext uri="{FF2B5EF4-FFF2-40B4-BE49-F238E27FC236}">
                <a16:creationId xmlns:a16="http://schemas.microsoft.com/office/drawing/2014/main" id="{992772E8-0674-41FD-A45A-4B260C24FB73}"/>
              </a:ext>
            </a:extLst>
          </p:cNvPr>
          <p:cNvSpPr txBox="1"/>
          <p:nvPr/>
        </p:nvSpPr>
        <p:spPr>
          <a:xfrm>
            <a:off x="7050433" y="2211710"/>
            <a:ext cx="1986063" cy="1015663"/>
          </a:xfrm>
          <a:prstGeom prst="rect">
            <a:avLst/>
          </a:prstGeom>
          <a:noFill/>
        </p:spPr>
        <p:txBody>
          <a:bodyPr wrap="square" rtlCol="0">
            <a:spAutoFit/>
          </a:bodyPr>
          <a:lstStyle/>
          <a:p>
            <a:pPr marL="171450" indent="-171450">
              <a:buFont typeface="Arial" panose="020B0604020202020204" pitchFamily="34" charset="0"/>
              <a:buChar char="•"/>
            </a:pPr>
            <a:r>
              <a:rPr lang="de-AT" sz="1000" dirty="0" err="1">
                <a:solidFill>
                  <a:srgbClr val="0070C0"/>
                </a:solidFill>
              </a:rPr>
              <a:t>Masterexcel</a:t>
            </a:r>
            <a:endParaRPr lang="de-AT" sz="1000" dirty="0">
              <a:solidFill>
                <a:srgbClr val="0070C0"/>
              </a:solidFill>
            </a:endParaRPr>
          </a:p>
          <a:p>
            <a:pPr marL="628650" lvl="1" indent="-171450">
              <a:buFont typeface="Arial" panose="020B0604020202020204" pitchFamily="34" charset="0"/>
              <a:buChar char="•"/>
            </a:pPr>
            <a:r>
              <a:rPr lang="de-AT" sz="1000" dirty="0" err="1">
                <a:solidFill>
                  <a:srgbClr val="0070C0"/>
                </a:solidFill>
              </a:rPr>
              <a:t>sheet</a:t>
            </a:r>
            <a:r>
              <a:rPr lang="de-AT" sz="1000" dirty="0">
                <a:solidFill>
                  <a:srgbClr val="0070C0"/>
                </a:solidFill>
              </a:rPr>
              <a:t> „</a:t>
            </a:r>
            <a:r>
              <a:rPr lang="de-AT" sz="1000" dirty="0" err="1">
                <a:solidFill>
                  <a:srgbClr val="0070C0"/>
                </a:solidFill>
              </a:rPr>
              <a:t>Specific</a:t>
            </a:r>
            <a:r>
              <a:rPr lang="de-AT" sz="1000" dirty="0">
                <a:solidFill>
                  <a:srgbClr val="0070C0"/>
                </a:solidFill>
              </a:rPr>
              <a:t> Trailer“ </a:t>
            </a:r>
            <a:r>
              <a:rPr lang="de-AT" sz="1000" dirty="0" err="1">
                <a:solidFill>
                  <a:srgbClr val="0070C0"/>
                </a:solidFill>
              </a:rPr>
              <a:t>column</a:t>
            </a:r>
            <a:r>
              <a:rPr lang="de-AT" sz="1000" dirty="0">
                <a:solidFill>
                  <a:srgbClr val="0070C0"/>
                </a:solidFill>
              </a:rPr>
              <a:t> E </a:t>
            </a:r>
            <a:r>
              <a:rPr lang="de-AT" sz="1000" dirty="0" err="1">
                <a:solidFill>
                  <a:srgbClr val="0070C0"/>
                </a:solidFill>
              </a:rPr>
              <a:t>to</a:t>
            </a:r>
            <a:r>
              <a:rPr lang="de-AT" sz="1000" dirty="0">
                <a:solidFill>
                  <a:srgbClr val="0070C0"/>
                </a:solidFill>
              </a:rPr>
              <a:t> P</a:t>
            </a:r>
          </a:p>
          <a:p>
            <a:pPr marL="171450" indent="-171450">
              <a:buFont typeface="Arial" panose="020B0604020202020204" pitchFamily="34" charset="0"/>
              <a:buChar char="•"/>
            </a:pPr>
            <a:r>
              <a:rPr lang="de-AT" sz="1000" dirty="0">
                <a:solidFill>
                  <a:srgbClr val="0070C0"/>
                </a:solidFill>
              </a:rPr>
              <a:t>specific_trailer.csv in </a:t>
            </a:r>
            <a:r>
              <a:rPr lang="de-AT" sz="1000" dirty="0" err="1">
                <a:solidFill>
                  <a:srgbClr val="0070C0"/>
                </a:solidFill>
              </a:rPr>
              <a:t>the</a:t>
            </a:r>
            <a:r>
              <a:rPr lang="de-AT" sz="1000" dirty="0">
                <a:solidFill>
                  <a:srgbClr val="0070C0"/>
                </a:solidFill>
              </a:rPr>
              <a:t> Declaration </a:t>
            </a:r>
            <a:r>
              <a:rPr lang="de-AT" sz="1000" dirty="0" err="1">
                <a:solidFill>
                  <a:srgbClr val="0070C0"/>
                </a:solidFill>
              </a:rPr>
              <a:t>folder</a:t>
            </a:r>
            <a:r>
              <a:rPr lang="de-AT" sz="1000" dirty="0">
                <a:solidFill>
                  <a:srgbClr val="0070C0"/>
                </a:solidFill>
              </a:rPr>
              <a:t>,</a:t>
            </a:r>
          </a:p>
          <a:p>
            <a:pPr marL="171450" indent="-171450">
              <a:buFont typeface="Arial" panose="020B0604020202020204" pitchFamily="34" charset="0"/>
              <a:buChar char="•"/>
            </a:pPr>
            <a:r>
              <a:rPr lang="de-AT" sz="1000" dirty="0" err="1">
                <a:solidFill>
                  <a:srgbClr val="0070C0"/>
                </a:solidFill>
              </a:rPr>
              <a:t>or</a:t>
            </a:r>
            <a:r>
              <a:rPr lang="de-AT" sz="1000" dirty="0">
                <a:solidFill>
                  <a:srgbClr val="0070C0"/>
                </a:solidFill>
              </a:rPr>
              <a:t> </a:t>
            </a:r>
            <a:r>
              <a:rPr lang="de-AT" sz="1000" dirty="0" err="1">
                <a:solidFill>
                  <a:srgbClr val="0070C0"/>
                </a:solidFill>
              </a:rPr>
              <a:t>the</a:t>
            </a:r>
            <a:r>
              <a:rPr lang="de-AT" sz="1000" dirty="0">
                <a:solidFill>
                  <a:srgbClr val="0070C0"/>
                </a:solidFill>
              </a:rPr>
              <a:t> Task 2 report</a:t>
            </a:r>
          </a:p>
        </p:txBody>
      </p:sp>
      <p:sp>
        <p:nvSpPr>
          <p:cNvPr id="12" name="Titel 1"/>
          <p:cNvSpPr>
            <a:spLocks noGrp="1"/>
          </p:cNvSpPr>
          <p:nvPr>
            <p:ph type="title"/>
          </p:nvPr>
        </p:nvSpPr>
        <p:spPr>
          <a:xfrm>
            <a:off x="628650" y="123478"/>
            <a:ext cx="7886700" cy="994172"/>
          </a:xfrm>
        </p:spPr>
        <p:txBody>
          <a:bodyPr vert="horz" lIns="91440" tIns="45720" rIns="91440" bIns="45720" rtlCol="0" anchor="ctr">
            <a:normAutofit/>
          </a:bodyPr>
          <a:lstStyle/>
          <a:p>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VECTO Trailer Tool – Create or edit trailer job (5/6)</a:t>
            </a:r>
            <a:endPar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388126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9752360D-68B5-4EA9-9E27-93E06EBD2FCB}"/>
              </a:ext>
            </a:extLst>
          </p:cNvPr>
          <p:cNvPicPr>
            <a:picLocks noChangeAspect="1"/>
          </p:cNvPicPr>
          <p:nvPr/>
        </p:nvPicPr>
        <p:blipFill>
          <a:blip r:embed="rId3"/>
          <a:stretch>
            <a:fillRect/>
          </a:stretch>
        </p:blipFill>
        <p:spPr>
          <a:xfrm>
            <a:off x="2483768" y="1117650"/>
            <a:ext cx="6420178" cy="3392238"/>
          </a:xfrm>
          <a:prstGeom prst="rect">
            <a:avLst/>
          </a:prstGeom>
        </p:spPr>
      </p:pic>
      <p:sp>
        <p:nvSpPr>
          <p:cNvPr id="17" name="Textfeld 16">
            <a:extLst>
              <a:ext uri="{FF2B5EF4-FFF2-40B4-BE49-F238E27FC236}">
                <a16:creationId xmlns:a16="http://schemas.microsoft.com/office/drawing/2014/main" id="{1805ED18-404E-41F6-8DFC-5D6DB877AF1A}"/>
              </a:ext>
            </a:extLst>
          </p:cNvPr>
          <p:cNvSpPr txBox="1"/>
          <p:nvPr/>
        </p:nvSpPr>
        <p:spPr>
          <a:xfrm>
            <a:off x="146468" y="1347614"/>
            <a:ext cx="2304256" cy="1384995"/>
          </a:xfrm>
          <a:prstGeom prst="rect">
            <a:avLst/>
          </a:prstGeom>
          <a:noFill/>
        </p:spPr>
        <p:txBody>
          <a:bodyPr wrap="square" rtlCol="0">
            <a:spAutoFit/>
          </a:bodyPr>
          <a:lstStyle/>
          <a:p>
            <a:pPr marL="342900" indent="-342900">
              <a:buFont typeface="+mj-lt"/>
              <a:buAutoNum type="arabicPeriod" startAt="5"/>
            </a:pPr>
            <a:r>
              <a:rPr lang="en-GB" sz="1400" dirty="0"/>
              <a:t>Save Job file</a:t>
            </a:r>
          </a:p>
          <a:p>
            <a:pPr marL="342900" indent="-342900">
              <a:buFont typeface="+mj-lt"/>
              <a:buAutoNum type="arabicPeriod" startAt="5"/>
            </a:pPr>
            <a:endParaRPr lang="en-GB" sz="1400" dirty="0">
              <a:sym typeface="Wingdings" panose="05000000000000000000" pitchFamily="2" charset="2"/>
            </a:endParaRPr>
          </a:p>
          <a:p>
            <a:pPr marL="342900" indent="-342900">
              <a:buFont typeface="+mj-lt"/>
              <a:buAutoNum type="arabicPeriod" startAt="5"/>
            </a:pPr>
            <a:r>
              <a:rPr lang="en-GB" sz="1400" dirty="0">
                <a:sym typeface="Wingdings" panose="05000000000000000000" pitchFamily="2" charset="2"/>
              </a:rPr>
              <a:t>Press “Start” in Job file editor to start simulation of active Jobs</a:t>
            </a:r>
          </a:p>
          <a:p>
            <a:pPr marL="800100" lvl="1" indent="-342900">
              <a:buFont typeface="Arial" panose="020B0604020202020204" pitchFamily="34" charset="0"/>
              <a:buChar char="•"/>
            </a:pPr>
            <a:endParaRPr lang="en-GB" sz="1400" dirty="0">
              <a:sym typeface="Wingdings" panose="05000000000000000000" pitchFamily="2" charset="2"/>
            </a:endParaRPr>
          </a:p>
        </p:txBody>
      </p:sp>
      <p:sp>
        <p:nvSpPr>
          <p:cNvPr id="12" name="Rechteck 11">
            <a:extLst>
              <a:ext uri="{FF2B5EF4-FFF2-40B4-BE49-F238E27FC236}">
                <a16:creationId xmlns:a16="http://schemas.microsoft.com/office/drawing/2014/main" id="{04F8E474-F6F5-4D12-B9EE-B4834DAC5A0F}"/>
              </a:ext>
            </a:extLst>
          </p:cNvPr>
          <p:cNvSpPr/>
          <p:nvPr/>
        </p:nvSpPr>
        <p:spPr>
          <a:xfrm>
            <a:off x="152606" y="1419622"/>
            <a:ext cx="245513" cy="214882"/>
          </a:xfrm>
          <a:prstGeom prst="rect">
            <a:avLst/>
          </a:prstGeom>
          <a:solidFill>
            <a:schemeClr val="accent2">
              <a:lumMod val="40000"/>
              <a:lumOff val="60000"/>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3" name="Rechteck 12">
            <a:extLst>
              <a:ext uri="{FF2B5EF4-FFF2-40B4-BE49-F238E27FC236}">
                <a16:creationId xmlns:a16="http://schemas.microsoft.com/office/drawing/2014/main" id="{12F1BC02-8EB2-49FE-8576-0CE2F9850F0F}"/>
              </a:ext>
            </a:extLst>
          </p:cNvPr>
          <p:cNvSpPr/>
          <p:nvPr/>
        </p:nvSpPr>
        <p:spPr>
          <a:xfrm>
            <a:off x="7668344" y="4295006"/>
            <a:ext cx="432048" cy="148952"/>
          </a:xfrm>
          <a:prstGeom prst="rect">
            <a:avLst/>
          </a:prstGeom>
          <a:solidFill>
            <a:schemeClr val="accent2">
              <a:lumMod val="40000"/>
              <a:lumOff val="60000"/>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7" name="Legende mit Linie 2 (ohne Rahmen) 19">
            <a:extLst>
              <a:ext uri="{FF2B5EF4-FFF2-40B4-BE49-F238E27FC236}">
                <a16:creationId xmlns:a16="http://schemas.microsoft.com/office/drawing/2014/main" id="{C99A24D6-306A-45F2-8593-A92267DCC770}"/>
              </a:ext>
            </a:extLst>
          </p:cNvPr>
          <p:cNvSpPr/>
          <p:nvPr/>
        </p:nvSpPr>
        <p:spPr>
          <a:xfrm>
            <a:off x="240054" y="3242398"/>
            <a:ext cx="1830567" cy="1127084"/>
          </a:xfrm>
          <a:prstGeom prst="callout2">
            <a:avLst>
              <a:gd name="adj1" fmla="val 44562"/>
              <a:gd name="adj2" fmla="val 100088"/>
              <a:gd name="adj3" fmla="val 99334"/>
              <a:gd name="adj4" fmla="val 119251"/>
              <a:gd name="adj5" fmla="val 100673"/>
              <a:gd name="adj6" fmla="val 405800"/>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dirty="0">
                <a:solidFill>
                  <a:srgbClr val="0070C0"/>
                </a:solidFill>
              </a:rPr>
              <a:t>When the Job-file is saved, a message window will pop up if any errors are detected in the inputs</a:t>
            </a:r>
          </a:p>
          <a:p>
            <a:r>
              <a:rPr lang="en-GB" sz="1000" dirty="0">
                <a:solidFill>
                  <a:srgbClr val="0070C0"/>
                </a:solidFill>
              </a:rPr>
              <a:t> </a:t>
            </a:r>
          </a:p>
        </p:txBody>
      </p:sp>
      <p:sp>
        <p:nvSpPr>
          <p:cNvPr id="9" name="Titel 1"/>
          <p:cNvSpPr>
            <a:spLocks noGrp="1"/>
          </p:cNvSpPr>
          <p:nvPr>
            <p:ph type="title"/>
          </p:nvPr>
        </p:nvSpPr>
        <p:spPr>
          <a:xfrm>
            <a:off x="628650" y="123478"/>
            <a:ext cx="7886700" cy="994172"/>
          </a:xfrm>
        </p:spPr>
        <p:txBody>
          <a:bodyPr vert="horz" lIns="91440" tIns="45720" rIns="91440" bIns="45720" rtlCol="0" anchor="ctr">
            <a:normAutofit/>
          </a:bodyPr>
          <a:lstStyle/>
          <a:p>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VECTO Trailer Tool – Create or edit trailer job (6/6)</a:t>
            </a:r>
            <a:endPar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871436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a:xfrm>
            <a:off x="628650" y="273844"/>
            <a:ext cx="8407846" cy="994172"/>
          </a:xfrm>
        </p:spPr>
        <p:txBody>
          <a:bodyPr vert="horz" lIns="91440" tIns="45720" rIns="91440" bIns="45720" rtlCol="0" anchor="ctr">
            <a:normAutofit/>
          </a:bodyPr>
          <a:lstStyle/>
          <a:p>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Generation of input XML for a certified aero device (1/</a:t>
            </a:r>
            <a:r>
              <a:rPr lang="en-US" sz="2000" b="1">
                <a:solidFill>
                  <a:srgbClr val="FF0000"/>
                </a:solidFill>
                <a:latin typeface="Verdana" panose="020B0604030504040204" pitchFamily="34" charset="0"/>
                <a:ea typeface="Verdana" panose="020B0604030504040204" pitchFamily="34" charset="0"/>
                <a:cs typeface="Verdana" panose="020B0604030504040204" pitchFamily="34" charset="0"/>
              </a:rPr>
              <a:t>X</a:t>
            </a:r>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 </a:t>
            </a:r>
            <a:endParaRPr lang="de-AT"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3" name="Inhaltsplatzhalter 2">
            <a:extLst>
              <a:ext uri="{FF2B5EF4-FFF2-40B4-BE49-F238E27FC236}">
                <a16:creationId xmlns:a16="http://schemas.microsoft.com/office/drawing/2014/main" id="{20F1468C-183F-44AC-AB1B-AF050DD8EA2C}"/>
              </a:ext>
            </a:extLst>
          </p:cNvPr>
          <p:cNvSpPr>
            <a:spLocks noGrp="1"/>
          </p:cNvSpPr>
          <p:nvPr>
            <p:ph idx="1"/>
          </p:nvPr>
        </p:nvSpPr>
        <p:spPr/>
        <p:txBody>
          <a:bodyPr/>
          <a:lstStyle/>
          <a:p>
            <a:r>
              <a:rPr lang="de-AT" dirty="0">
                <a:solidFill>
                  <a:schemeClr val="accent4">
                    <a:lumMod val="50000"/>
                  </a:schemeClr>
                </a:solidFill>
              </a:rPr>
              <a:t>The XML </a:t>
            </a:r>
            <a:r>
              <a:rPr lang="de-AT" dirty="0" err="1">
                <a:solidFill>
                  <a:schemeClr val="accent4">
                    <a:lumMod val="50000"/>
                  </a:schemeClr>
                </a:solidFill>
              </a:rPr>
              <a:t>needs</a:t>
            </a:r>
            <a:r>
              <a:rPr lang="de-AT" dirty="0">
                <a:solidFill>
                  <a:schemeClr val="accent4">
                    <a:lumMod val="50000"/>
                  </a:schemeClr>
                </a:solidFill>
              </a:rPr>
              <a:t> </a:t>
            </a:r>
            <a:r>
              <a:rPr lang="de-AT" dirty="0" err="1">
                <a:solidFill>
                  <a:schemeClr val="accent4">
                    <a:lumMod val="50000"/>
                  </a:schemeClr>
                </a:solidFill>
              </a:rPr>
              <a:t>to</a:t>
            </a:r>
            <a:r>
              <a:rPr lang="de-AT" dirty="0">
                <a:solidFill>
                  <a:schemeClr val="accent4">
                    <a:lumMod val="50000"/>
                  </a:schemeClr>
                </a:solidFill>
              </a:rPr>
              <a:t> </a:t>
            </a:r>
            <a:r>
              <a:rPr lang="de-AT" dirty="0" err="1">
                <a:solidFill>
                  <a:schemeClr val="accent4">
                    <a:lumMod val="50000"/>
                  </a:schemeClr>
                </a:solidFill>
              </a:rPr>
              <a:t>be</a:t>
            </a:r>
            <a:r>
              <a:rPr lang="de-AT" dirty="0">
                <a:solidFill>
                  <a:schemeClr val="accent4">
                    <a:lumMod val="50000"/>
                  </a:schemeClr>
                </a:solidFill>
              </a:rPr>
              <a:t> </a:t>
            </a:r>
            <a:r>
              <a:rPr lang="de-AT" dirty="0" err="1">
                <a:solidFill>
                  <a:schemeClr val="accent4">
                    <a:lumMod val="50000"/>
                  </a:schemeClr>
                </a:solidFill>
              </a:rPr>
              <a:t>created</a:t>
            </a:r>
            <a:r>
              <a:rPr lang="de-AT" dirty="0">
                <a:solidFill>
                  <a:schemeClr val="accent4">
                    <a:lumMod val="50000"/>
                  </a:schemeClr>
                </a:solidFill>
              </a:rPr>
              <a:t> </a:t>
            </a:r>
            <a:r>
              <a:rPr lang="de-AT" dirty="0" err="1">
                <a:solidFill>
                  <a:schemeClr val="accent4">
                    <a:lumMod val="50000"/>
                  </a:schemeClr>
                </a:solidFill>
              </a:rPr>
              <a:t>by</a:t>
            </a:r>
            <a:r>
              <a:rPr lang="de-AT" dirty="0">
                <a:solidFill>
                  <a:schemeClr val="accent4">
                    <a:lumMod val="50000"/>
                  </a:schemeClr>
                </a:solidFill>
              </a:rPr>
              <a:t> </a:t>
            </a:r>
            <a:r>
              <a:rPr lang="de-AT" dirty="0" err="1">
                <a:solidFill>
                  <a:schemeClr val="accent4">
                    <a:lumMod val="50000"/>
                  </a:schemeClr>
                </a:solidFill>
              </a:rPr>
              <a:t>the</a:t>
            </a:r>
            <a:r>
              <a:rPr lang="de-AT" dirty="0">
                <a:solidFill>
                  <a:schemeClr val="accent4">
                    <a:lumMod val="50000"/>
                  </a:schemeClr>
                </a:solidFill>
              </a:rPr>
              <a:t> supplier </a:t>
            </a:r>
            <a:r>
              <a:rPr lang="de-AT" dirty="0" err="1">
                <a:solidFill>
                  <a:schemeClr val="accent4">
                    <a:lumMod val="50000"/>
                  </a:schemeClr>
                </a:solidFill>
              </a:rPr>
              <a:t>within</a:t>
            </a:r>
            <a:r>
              <a:rPr lang="de-AT" dirty="0">
                <a:solidFill>
                  <a:schemeClr val="accent4">
                    <a:lumMod val="50000"/>
                  </a:schemeClr>
                </a:solidFill>
              </a:rPr>
              <a:t> a separate </a:t>
            </a:r>
            <a:r>
              <a:rPr lang="de-AT" dirty="0" err="1">
                <a:solidFill>
                  <a:schemeClr val="accent4">
                    <a:lumMod val="50000"/>
                  </a:schemeClr>
                </a:solidFill>
              </a:rPr>
              <a:t>certification</a:t>
            </a:r>
            <a:r>
              <a:rPr lang="de-AT" dirty="0">
                <a:solidFill>
                  <a:schemeClr val="accent4">
                    <a:lumMod val="50000"/>
                  </a:schemeClr>
                </a:solidFill>
              </a:rPr>
              <a:t> </a:t>
            </a:r>
            <a:r>
              <a:rPr lang="de-AT" dirty="0" err="1">
                <a:solidFill>
                  <a:schemeClr val="accent4">
                    <a:lumMod val="50000"/>
                  </a:schemeClr>
                </a:solidFill>
              </a:rPr>
              <a:t>process</a:t>
            </a:r>
            <a:endParaRPr lang="de-AT" dirty="0">
              <a:solidFill>
                <a:schemeClr val="accent4">
                  <a:lumMod val="50000"/>
                </a:schemeClr>
              </a:solidFill>
            </a:endParaRPr>
          </a:p>
          <a:p>
            <a:r>
              <a:rPr lang="de-AT" dirty="0">
                <a:solidFill>
                  <a:schemeClr val="accent4">
                    <a:lumMod val="50000"/>
                  </a:schemeClr>
                </a:solidFill>
              </a:rPr>
              <a:t>A </a:t>
            </a:r>
            <a:r>
              <a:rPr lang="de-AT" dirty="0" err="1">
                <a:solidFill>
                  <a:schemeClr val="accent4">
                    <a:lumMod val="50000"/>
                  </a:schemeClr>
                </a:solidFill>
              </a:rPr>
              <a:t>template</a:t>
            </a:r>
            <a:r>
              <a:rPr lang="de-AT" dirty="0">
                <a:solidFill>
                  <a:schemeClr val="accent4">
                    <a:lumMod val="50000"/>
                  </a:schemeClr>
                </a:solidFill>
              </a:rPr>
              <a:t> </a:t>
            </a:r>
            <a:r>
              <a:rPr lang="de-AT" dirty="0" err="1">
                <a:solidFill>
                  <a:schemeClr val="accent4">
                    <a:lumMod val="50000"/>
                  </a:schemeClr>
                </a:solidFill>
              </a:rPr>
              <a:t>of</a:t>
            </a:r>
            <a:r>
              <a:rPr lang="de-AT" dirty="0">
                <a:solidFill>
                  <a:schemeClr val="accent4">
                    <a:lumMod val="50000"/>
                  </a:schemeClr>
                </a:solidFill>
              </a:rPr>
              <a:t> </a:t>
            </a:r>
            <a:r>
              <a:rPr lang="de-AT" dirty="0" err="1">
                <a:solidFill>
                  <a:schemeClr val="accent4">
                    <a:lumMod val="50000"/>
                  </a:schemeClr>
                </a:solidFill>
              </a:rPr>
              <a:t>the</a:t>
            </a:r>
            <a:r>
              <a:rPr lang="de-AT" dirty="0">
                <a:solidFill>
                  <a:schemeClr val="accent4">
                    <a:lumMod val="50000"/>
                  </a:schemeClr>
                </a:solidFill>
              </a:rPr>
              <a:t> XML </a:t>
            </a:r>
            <a:r>
              <a:rPr lang="de-AT" dirty="0" err="1">
                <a:solidFill>
                  <a:schemeClr val="accent4">
                    <a:lumMod val="50000"/>
                  </a:schemeClr>
                </a:solidFill>
              </a:rPr>
              <a:t>is</a:t>
            </a:r>
            <a:r>
              <a:rPr lang="de-AT" dirty="0">
                <a:solidFill>
                  <a:schemeClr val="accent4">
                    <a:lumMod val="50000"/>
                  </a:schemeClr>
                </a:solidFill>
              </a:rPr>
              <a:t> </a:t>
            </a:r>
            <a:r>
              <a:rPr lang="de-AT" dirty="0" err="1">
                <a:solidFill>
                  <a:schemeClr val="accent4">
                    <a:lumMod val="50000"/>
                  </a:schemeClr>
                </a:solidFill>
              </a:rPr>
              <a:t>located</a:t>
            </a:r>
            <a:r>
              <a:rPr lang="de-AT" dirty="0">
                <a:solidFill>
                  <a:schemeClr val="accent4">
                    <a:lumMod val="50000"/>
                  </a:schemeClr>
                </a:solidFill>
              </a:rPr>
              <a:t> in </a:t>
            </a:r>
            <a:r>
              <a:rPr lang="de-AT" dirty="0" err="1">
                <a:solidFill>
                  <a:schemeClr val="accent4">
                    <a:lumMod val="50000"/>
                  </a:schemeClr>
                </a:solidFill>
              </a:rPr>
              <a:t>the</a:t>
            </a:r>
            <a:r>
              <a:rPr lang="de-AT" dirty="0">
                <a:solidFill>
                  <a:schemeClr val="accent4">
                    <a:lumMod val="50000"/>
                  </a:schemeClr>
                </a:solidFill>
              </a:rPr>
              <a:t> </a:t>
            </a:r>
            <a:r>
              <a:rPr lang="de-AT" dirty="0" err="1">
                <a:solidFill>
                  <a:schemeClr val="accent4">
                    <a:lumMod val="50000"/>
                  </a:schemeClr>
                </a:solidFill>
              </a:rPr>
              <a:t>downloadable</a:t>
            </a:r>
            <a:r>
              <a:rPr lang="de-AT" dirty="0">
                <a:solidFill>
                  <a:schemeClr val="accent4">
                    <a:lumMod val="50000"/>
                  </a:schemeClr>
                </a:solidFill>
              </a:rPr>
              <a:t> </a:t>
            </a:r>
            <a:r>
              <a:rPr lang="en-GB" dirty="0">
                <a:solidFill>
                  <a:schemeClr val="accent4">
                    <a:lumMod val="50000"/>
                  </a:schemeClr>
                </a:solidFill>
              </a:rPr>
              <a:t>VECTO Trailer Tool package in the “Generic vehicles” folder</a:t>
            </a:r>
            <a:endParaRPr lang="de-AT" dirty="0">
              <a:solidFill>
                <a:schemeClr val="accent4">
                  <a:lumMod val="50000"/>
                </a:schemeClr>
              </a:solidFill>
            </a:endParaRPr>
          </a:p>
          <a:p>
            <a:r>
              <a:rPr lang="de-AT" dirty="0">
                <a:solidFill>
                  <a:schemeClr val="accent4">
                    <a:lumMod val="50000"/>
                  </a:schemeClr>
                </a:solidFill>
              </a:rPr>
              <a:t>The XSD </a:t>
            </a:r>
            <a:r>
              <a:rPr lang="de-AT" dirty="0" err="1">
                <a:solidFill>
                  <a:schemeClr val="accent4">
                    <a:lumMod val="50000"/>
                  </a:schemeClr>
                </a:solidFill>
              </a:rPr>
              <a:t>file</a:t>
            </a:r>
            <a:r>
              <a:rPr lang="de-AT" dirty="0">
                <a:solidFill>
                  <a:schemeClr val="accent4">
                    <a:lumMod val="50000"/>
                  </a:schemeClr>
                </a:solidFill>
              </a:rPr>
              <a:t> </a:t>
            </a:r>
            <a:r>
              <a:rPr lang="de-AT" dirty="0" err="1">
                <a:solidFill>
                  <a:schemeClr val="accent4">
                    <a:lumMod val="50000"/>
                  </a:schemeClr>
                </a:solidFill>
              </a:rPr>
              <a:t>is</a:t>
            </a:r>
            <a:r>
              <a:rPr lang="de-AT" dirty="0">
                <a:solidFill>
                  <a:schemeClr val="accent4">
                    <a:lumMod val="50000"/>
                  </a:schemeClr>
                </a:solidFill>
              </a:rPr>
              <a:t> </a:t>
            </a:r>
            <a:r>
              <a:rPr lang="de-AT" dirty="0" err="1">
                <a:solidFill>
                  <a:schemeClr val="accent4">
                    <a:lumMod val="50000"/>
                  </a:schemeClr>
                </a:solidFill>
              </a:rPr>
              <a:t>located</a:t>
            </a:r>
            <a:r>
              <a:rPr lang="de-AT" dirty="0">
                <a:solidFill>
                  <a:schemeClr val="accent4">
                    <a:lumMod val="50000"/>
                  </a:schemeClr>
                </a:solidFill>
              </a:rPr>
              <a:t> in </a:t>
            </a:r>
            <a:r>
              <a:rPr lang="de-AT" dirty="0" err="1">
                <a:solidFill>
                  <a:schemeClr val="accent4">
                    <a:lumMod val="50000"/>
                  </a:schemeClr>
                </a:solidFill>
              </a:rPr>
              <a:t>the</a:t>
            </a:r>
            <a:r>
              <a:rPr lang="de-AT" dirty="0">
                <a:solidFill>
                  <a:schemeClr val="accent4">
                    <a:lumMod val="50000"/>
                  </a:schemeClr>
                </a:solidFill>
              </a:rPr>
              <a:t> </a:t>
            </a:r>
            <a:r>
              <a:rPr lang="de-AT" dirty="0" err="1">
                <a:solidFill>
                  <a:schemeClr val="accent4">
                    <a:lumMod val="50000"/>
                  </a:schemeClr>
                </a:solidFill>
              </a:rPr>
              <a:t>downloadable</a:t>
            </a:r>
            <a:r>
              <a:rPr lang="de-AT" dirty="0">
                <a:solidFill>
                  <a:schemeClr val="accent4">
                    <a:lumMod val="50000"/>
                  </a:schemeClr>
                </a:solidFill>
              </a:rPr>
              <a:t> </a:t>
            </a:r>
            <a:r>
              <a:rPr lang="en-GB" dirty="0">
                <a:solidFill>
                  <a:schemeClr val="accent4">
                    <a:lumMod val="50000"/>
                  </a:schemeClr>
                </a:solidFill>
              </a:rPr>
              <a:t>VECTO Trailer Tool package in the “XML” folder</a:t>
            </a:r>
            <a:endParaRPr lang="de-AT" dirty="0">
              <a:solidFill>
                <a:schemeClr val="accent4">
                  <a:lumMod val="50000"/>
                </a:schemeClr>
              </a:solidFill>
            </a:endParaRPr>
          </a:p>
          <a:p>
            <a:endParaRPr lang="de-AT" dirty="0"/>
          </a:p>
        </p:txBody>
      </p:sp>
    </p:spTree>
    <p:extLst>
      <p:ext uri="{BB962C8B-B14F-4D97-AF65-F5344CB8AC3E}">
        <p14:creationId xmlns:p14="http://schemas.microsoft.com/office/powerpoint/2010/main" val="635826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693CE5-DA22-4E49-9B05-73FED5B3CFF1}"/>
              </a:ext>
            </a:extLst>
          </p:cNvPr>
          <p:cNvSpPr>
            <a:spLocks noGrp="1"/>
          </p:cNvSpPr>
          <p:nvPr>
            <p:ph type="title"/>
          </p:nvPr>
        </p:nvSpPr>
        <p:spPr>
          <a:xfrm>
            <a:off x="628650" y="273844"/>
            <a:ext cx="8407846" cy="994172"/>
          </a:xfrm>
        </p:spPr>
        <p:txBody>
          <a:bodyPr vert="horz" lIns="91440" tIns="45720" rIns="91440" bIns="45720" rtlCol="0" anchor="ctr">
            <a:normAutofit/>
          </a:bodyPr>
          <a:lstStyle/>
          <a:p>
            <a:r>
              <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Generation of input XML for a certified aero device (2/</a:t>
            </a:r>
            <a:r>
              <a:rPr lang="en-US" sz="2000" b="1" dirty="0">
                <a:solidFill>
                  <a:srgbClr val="FF0000"/>
                </a:solidFill>
                <a:latin typeface="Verdana" panose="020B0604030504040204" pitchFamily="34" charset="0"/>
                <a:ea typeface="Verdana" panose="020B0604030504040204" pitchFamily="34" charset="0"/>
                <a:cs typeface="Verdana" panose="020B0604030504040204" pitchFamily="34" charset="0"/>
              </a:rPr>
              <a:t>X</a:t>
            </a:r>
            <a:r>
              <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 </a:t>
            </a:r>
            <a:endParaRPr lang="de-AT"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3" name="Inhaltsplatzhalter 2">
            <a:extLst>
              <a:ext uri="{FF2B5EF4-FFF2-40B4-BE49-F238E27FC236}">
                <a16:creationId xmlns:a16="http://schemas.microsoft.com/office/drawing/2014/main" id="{20F1468C-183F-44AC-AB1B-AF050DD8EA2C}"/>
              </a:ext>
            </a:extLst>
          </p:cNvPr>
          <p:cNvSpPr>
            <a:spLocks noGrp="1"/>
          </p:cNvSpPr>
          <p:nvPr>
            <p:ph idx="1"/>
          </p:nvPr>
        </p:nvSpPr>
        <p:spPr/>
        <p:txBody>
          <a:bodyPr/>
          <a:lstStyle/>
          <a:p>
            <a:r>
              <a:rPr lang="de-AT" dirty="0">
                <a:solidFill>
                  <a:srgbClr val="FF0000"/>
                </a:solidFill>
              </a:rPr>
              <a:t>Snapshot XML vor </a:t>
            </a:r>
            <a:r>
              <a:rPr lang="de-AT" dirty="0" err="1">
                <a:solidFill>
                  <a:srgbClr val="FF0000"/>
                </a:solidFill>
              </a:rPr>
              <a:t>hashing</a:t>
            </a:r>
            <a:endParaRPr lang="de-AT" dirty="0">
              <a:solidFill>
                <a:srgbClr val="FF0000"/>
              </a:solidFill>
            </a:endParaRPr>
          </a:p>
          <a:p>
            <a:r>
              <a:rPr lang="de-AT" dirty="0">
                <a:solidFill>
                  <a:srgbClr val="FF0000"/>
                </a:solidFill>
              </a:rPr>
              <a:t>Erklären wie </a:t>
            </a:r>
            <a:r>
              <a:rPr lang="de-AT" dirty="0" err="1">
                <a:solidFill>
                  <a:srgbClr val="FF0000"/>
                </a:solidFill>
              </a:rPr>
              <a:t>hashing</a:t>
            </a:r>
            <a:r>
              <a:rPr lang="de-AT" dirty="0">
                <a:solidFill>
                  <a:srgbClr val="FF0000"/>
                </a:solidFill>
              </a:rPr>
              <a:t> funktioniert + Snapshot </a:t>
            </a:r>
            <a:r>
              <a:rPr lang="de-AT" dirty="0" err="1">
                <a:solidFill>
                  <a:srgbClr val="FF0000"/>
                </a:solidFill>
              </a:rPr>
              <a:t>hashing</a:t>
            </a:r>
            <a:r>
              <a:rPr lang="de-AT" dirty="0">
                <a:solidFill>
                  <a:srgbClr val="FF0000"/>
                </a:solidFill>
              </a:rPr>
              <a:t> </a:t>
            </a:r>
            <a:r>
              <a:rPr lang="de-AT" dirty="0" err="1">
                <a:solidFill>
                  <a:srgbClr val="FF0000"/>
                </a:solidFill>
              </a:rPr>
              <a:t>tool</a:t>
            </a:r>
            <a:endParaRPr lang="de-AT" dirty="0">
              <a:solidFill>
                <a:srgbClr val="FF0000"/>
              </a:solidFill>
            </a:endParaRPr>
          </a:p>
          <a:p>
            <a:r>
              <a:rPr lang="de-AT" dirty="0">
                <a:solidFill>
                  <a:srgbClr val="FF0000"/>
                </a:solidFill>
              </a:rPr>
              <a:t>Snapshot fertiges XML</a:t>
            </a:r>
          </a:p>
          <a:p>
            <a:endParaRPr lang="de-AT" dirty="0"/>
          </a:p>
        </p:txBody>
      </p:sp>
    </p:spTree>
    <p:extLst>
      <p:ext uri="{BB962C8B-B14F-4D97-AF65-F5344CB8AC3E}">
        <p14:creationId xmlns:p14="http://schemas.microsoft.com/office/powerpoint/2010/main" val="753044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p:cNvPicPr>
            <a:picLocks noChangeAspect="1"/>
          </p:cNvPicPr>
          <p:nvPr/>
        </p:nvPicPr>
        <p:blipFill>
          <a:blip r:embed="rId3"/>
          <a:stretch>
            <a:fillRect/>
          </a:stretch>
        </p:blipFill>
        <p:spPr>
          <a:xfrm>
            <a:off x="179512" y="1419622"/>
            <a:ext cx="3456384" cy="3456384"/>
          </a:xfrm>
          <a:prstGeom prst="rect">
            <a:avLst/>
          </a:prstGeom>
        </p:spPr>
      </p:pic>
      <p:pic>
        <p:nvPicPr>
          <p:cNvPr id="4" name="Grafik 3">
            <a:extLst>
              <a:ext uri="{FF2B5EF4-FFF2-40B4-BE49-F238E27FC236}">
                <a16:creationId xmlns:a16="http://schemas.microsoft.com/office/drawing/2014/main" id="{E2F92C5C-E5F9-4B10-B507-7F066BCC046A}"/>
              </a:ext>
            </a:extLst>
          </p:cNvPr>
          <p:cNvPicPr>
            <a:picLocks noChangeAspect="1"/>
          </p:cNvPicPr>
          <p:nvPr/>
        </p:nvPicPr>
        <p:blipFill>
          <a:blip r:embed="rId4"/>
          <a:stretch>
            <a:fillRect/>
          </a:stretch>
        </p:blipFill>
        <p:spPr>
          <a:xfrm>
            <a:off x="1475656" y="1899339"/>
            <a:ext cx="3676650" cy="2724150"/>
          </a:xfrm>
          <a:prstGeom prst="rect">
            <a:avLst/>
          </a:prstGeom>
        </p:spPr>
      </p:pic>
      <p:sp>
        <p:nvSpPr>
          <p:cNvPr id="2" name="Titel 1"/>
          <p:cNvSpPr>
            <a:spLocks noGrp="1"/>
          </p:cNvSpPr>
          <p:nvPr>
            <p:ph type="title"/>
          </p:nvPr>
        </p:nvSpPr>
        <p:spPr>
          <a:xfrm>
            <a:off x="628650" y="123478"/>
            <a:ext cx="7886700" cy="994172"/>
          </a:xfrm>
        </p:spPr>
        <p:txBody>
          <a:bodyPr vert="horz" lIns="91440" tIns="45720" rIns="91440" bIns="45720" rtlCol="0" anchor="ctr">
            <a:normAutofit/>
          </a:bodyPr>
          <a:lstStyle/>
          <a:p>
            <a:r>
              <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VECTO </a:t>
            </a:r>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Trailer Tool – Result files (1/2)</a:t>
            </a:r>
            <a:endPar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sp>
        <p:nvSpPr>
          <p:cNvPr id="10" name="Textfeld 9"/>
          <p:cNvSpPr txBox="1"/>
          <p:nvPr/>
        </p:nvSpPr>
        <p:spPr>
          <a:xfrm>
            <a:off x="627888" y="1131590"/>
            <a:ext cx="6752424" cy="646331"/>
          </a:xfrm>
          <a:prstGeom prst="rect">
            <a:avLst/>
          </a:prstGeom>
          <a:noFill/>
        </p:spPr>
        <p:txBody>
          <a:bodyPr wrap="square" rtlCol="0">
            <a:spAutoFit/>
          </a:bodyPr>
          <a:lstStyle/>
          <a:p>
            <a:r>
              <a:rPr lang="en-GB" dirty="0"/>
              <a:t>Outputs created by the VECTO Trailer Tool including the corresponding Job file  </a:t>
            </a:r>
          </a:p>
        </p:txBody>
      </p:sp>
      <p:sp>
        <p:nvSpPr>
          <p:cNvPr id="11" name="Legende mit Linie 2 (ohne Rahmen) 10"/>
          <p:cNvSpPr/>
          <p:nvPr/>
        </p:nvSpPr>
        <p:spPr>
          <a:xfrm>
            <a:off x="5318149" y="1838995"/>
            <a:ext cx="3502324" cy="340275"/>
          </a:xfrm>
          <a:prstGeom prst="callout2">
            <a:avLst>
              <a:gd name="adj1" fmla="val 48828"/>
              <a:gd name="adj2" fmla="val 1014"/>
              <a:gd name="adj3" fmla="val 48828"/>
              <a:gd name="adj4" fmla="val -4620"/>
              <a:gd name="adj5" fmla="val 54354"/>
              <a:gd name="adj6" fmla="val -15262"/>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rgbClr val="0070C0"/>
                </a:solidFill>
              </a:rPr>
              <a:t>CIF/ Customer Information File</a:t>
            </a:r>
          </a:p>
        </p:txBody>
      </p:sp>
      <p:sp>
        <p:nvSpPr>
          <p:cNvPr id="13" name="Legende mit Linie 2 (ohne Rahmen) 12"/>
          <p:cNvSpPr/>
          <p:nvPr/>
        </p:nvSpPr>
        <p:spPr>
          <a:xfrm>
            <a:off x="5318149" y="3218849"/>
            <a:ext cx="3447561" cy="649045"/>
          </a:xfrm>
          <a:prstGeom prst="callout2">
            <a:avLst>
              <a:gd name="adj1" fmla="val 48828"/>
              <a:gd name="adj2" fmla="val 708"/>
              <a:gd name="adj3" fmla="val 48828"/>
              <a:gd name="adj4" fmla="val -4620"/>
              <a:gd name="adj5" fmla="val 14122"/>
              <a:gd name="adj6" fmla="val -15582"/>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err="1">
                <a:solidFill>
                  <a:srgbClr val="0070C0"/>
                </a:solidFill>
              </a:rPr>
              <a:t>vmod</a:t>
            </a:r>
            <a:r>
              <a:rPr lang="en-GB" sz="1400" dirty="0">
                <a:solidFill>
                  <a:srgbClr val="0070C0"/>
                </a:solidFill>
              </a:rPr>
              <a:t> File per mission and payload combination for the reference and specific trailer</a:t>
            </a:r>
          </a:p>
        </p:txBody>
      </p:sp>
      <p:sp>
        <p:nvSpPr>
          <p:cNvPr id="14" name="Legende mit Linie 2 (ohne Rahmen) 11">
            <a:extLst>
              <a:ext uri="{FF2B5EF4-FFF2-40B4-BE49-F238E27FC236}">
                <a16:creationId xmlns:a16="http://schemas.microsoft.com/office/drawing/2014/main" id="{7F02B5F1-94D2-4210-B212-B3A2EF168E7C}"/>
              </a:ext>
            </a:extLst>
          </p:cNvPr>
          <p:cNvSpPr/>
          <p:nvPr/>
        </p:nvSpPr>
        <p:spPr>
          <a:xfrm>
            <a:off x="5318149" y="2514940"/>
            <a:ext cx="2592288" cy="340275"/>
          </a:xfrm>
          <a:prstGeom prst="callout2">
            <a:avLst>
              <a:gd name="adj1" fmla="val 48828"/>
              <a:gd name="adj2" fmla="val 708"/>
              <a:gd name="adj3" fmla="val 48828"/>
              <a:gd name="adj4" fmla="val -4620"/>
              <a:gd name="adj5" fmla="val -18501"/>
              <a:gd name="adj6" fmla="val -20851"/>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err="1">
                <a:solidFill>
                  <a:srgbClr val="0070C0"/>
                </a:solidFill>
              </a:rPr>
              <a:t>vsum</a:t>
            </a:r>
            <a:r>
              <a:rPr lang="en-GB" sz="1400" dirty="0">
                <a:solidFill>
                  <a:srgbClr val="0070C0"/>
                </a:solidFill>
              </a:rPr>
              <a:t> File</a:t>
            </a:r>
          </a:p>
        </p:txBody>
      </p:sp>
      <p:sp>
        <p:nvSpPr>
          <p:cNvPr id="15" name="Legende mit Linie 2 (ohne Rahmen) 10">
            <a:extLst>
              <a:ext uri="{FF2B5EF4-FFF2-40B4-BE49-F238E27FC236}">
                <a16:creationId xmlns:a16="http://schemas.microsoft.com/office/drawing/2014/main" id="{09A2A013-0B32-46F0-B685-16428E050E60}"/>
              </a:ext>
            </a:extLst>
          </p:cNvPr>
          <p:cNvSpPr/>
          <p:nvPr/>
        </p:nvSpPr>
        <p:spPr>
          <a:xfrm>
            <a:off x="5318149" y="2168737"/>
            <a:ext cx="3502324" cy="340275"/>
          </a:xfrm>
          <a:prstGeom prst="callout2">
            <a:avLst>
              <a:gd name="adj1" fmla="val 48828"/>
              <a:gd name="adj2" fmla="val 1014"/>
              <a:gd name="adj3" fmla="val 48828"/>
              <a:gd name="adj4" fmla="val -4620"/>
              <a:gd name="adj5" fmla="val 23107"/>
              <a:gd name="adj6" fmla="val -15059"/>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rgbClr val="0070C0"/>
                </a:solidFill>
              </a:rPr>
              <a:t>MRF/ Manufacturers Records File</a:t>
            </a:r>
          </a:p>
        </p:txBody>
      </p:sp>
      <p:sp>
        <p:nvSpPr>
          <p:cNvPr id="17" name="Legende mit Linie 2 (ohne Rahmen) 11">
            <a:extLst>
              <a:ext uri="{FF2B5EF4-FFF2-40B4-BE49-F238E27FC236}">
                <a16:creationId xmlns:a16="http://schemas.microsoft.com/office/drawing/2014/main" id="{4976210A-7607-45AA-8342-1070B5E59303}"/>
              </a:ext>
            </a:extLst>
          </p:cNvPr>
          <p:cNvSpPr/>
          <p:nvPr/>
        </p:nvSpPr>
        <p:spPr>
          <a:xfrm>
            <a:off x="5318149" y="2838754"/>
            <a:ext cx="2592288" cy="340275"/>
          </a:xfrm>
          <a:prstGeom prst="callout2">
            <a:avLst>
              <a:gd name="adj1" fmla="val 48828"/>
              <a:gd name="adj2" fmla="val 708"/>
              <a:gd name="adj3" fmla="val 48828"/>
              <a:gd name="adj4" fmla="val -4620"/>
              <a:gd name="adj5" fmla="val -53914"/>
              <a:gd name="adj6" fmla="val -20851"/>
            </a:avLst>
          </a:prstGeom>
          <a:noFill/>
          <a:ln w="6350">
            <a:solidFill>
              <a:srgbClr val="0070C0"/>
            </a:solidFill>
            <a:miter lim="800000"/>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rgbClr val="0070C0"/>
                </a:solidFill>
              </a:rPr>
              <a:t>Job-File</a:t>
            </a:r>
          </a:p>
        </p:txBody>
      </p:sp>
    </p:spTree>
    <p:extLst>
      <p:ext uri="{BB962C8B-B14F-4D97-AF65-F5344CB8AC3E}">
        <p14:creationId xmlns:p14="http://schemas.microsoft.com/office/powerpoint/2010/main" val="3721863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8650" y="123478"/>
            <a:ext cx="7886700" cy="994172"/>
          </a:xfrm>
        </p:spPr>
        <p:txBody>
          <a:bodyPr vert="horz" lIns="91440" tIns="45720" rIns="91440" bIns="45720" rtlCol="0" anchor="ctr">
            <a:normAutofit/>
          </a:bodyPr>
          <a:lstStyle/>
          <a:p>
            <a:r>
              <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VECTO </a:t>
            </a:r>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Trailer Tool – Results (2/2)</a:t>
            </a:r>
            <a:endPar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15" name="Tabelle 14">
            <a:extLst>
              <a:ext uri="{FF2B5EF4-FFF2-40B4-BE49-F238E27FC236}">
                <a16:creationId xmlns:a16="http://schemas.microsoft.com/office/drawing/2014/main" id="{A9884FFB-4BCC-45E1-8482-13870DB824AD}"/>
              </a:ext>
            </a:extLst>
          </p:cNvPr>
          <p:cNvGraphicFramePr>
            <a:graphicFrameLocks noGrp="1"/>
          </p:cNvGraphicFramePr>
          <p:nvPr>
            <p:extLst>
              <p:ext uri="{D42A27DB-BD31-4B8C-83A1-F6EECF244321}">
                <p14:modId xmlns:p14="http://schemas.microsoft.com/office/powerpoint/2010/main" val="2614002105"/>
              </p:ext>
            </p:extLst>
          </p:nvPr>
        </p:nvGraphicFramePr>
        <p:xfrm>
          <a:off x="468000" y="1059582"/>
          <a:ext cx="8208000" cy="3298944"/>
        </p:xfrm>
        <a:graphic>
          <a:graphicData uri="http://schemas.openxmlformats.org/drawingml/2006/table">
            <a:tbl>
              <a:tblPr firstRow="1" bandRow="1">
                <a:tableStyleId>{5C22544A-7EE6-4342-B048-85BDC9FD1C3A}</a:tableStyleId>
              </a:tblPr>
              <a:tblGrid>
                <a:gridCol w="1583720">
                  <a:extLst>
                    <a:ext uri="{9D8B030D-6E8A-4147-A177-3AD203B41FA5}">
                      <a16:colId xmlns:a16="http://schemas.microsoft.com/office/drawing/2014/main" val="791925895"/>
                    </a:ext>
                  </a:extLst>
                </a:gridCol>
                <a:gridCol w="6624280">
                  <a:extLst>
                    <a:ext uri="{9D8B030D-6E8A-4147-A177-3AD203B41FA5}">
                      <a16:colId xmlns:a16="http://schemas.microsoft.com/office/drawing/2014/main" val="1869676461"/>
                    </a:ext>
                  </a:extLst>
                </a:gridCol>
              </a:tblGrid>
              <a:tr h="322064">
                <a:tc>
                  <a:txBody>
                    <a:bodyPr/>
                    <a:lstStyle/>
                    <a:p>
                      <a:r>
                        <a:rPr lang="de-AT" sz="1200"/>
                        <a:t>Result file</a:t>
                      </a:r>
                      <a:endParaRPr lang="de-AT" sz="1200" dirty="0"/>
                    </a:p>
                  </a:txBody>
                  <a:tcPr/>
                </a:tc>
                <a:tc>
                  <a:txBody>
                    <a:bodyPr/>
                    <a:lstStyle/>
                    <a:p>
                      <a:r>
                        <a:rPr lang="de-AT" sz="1200" dirty="0"/>
                        <a:t>Description</a:t>
                      </a:r>
                    </a:p>
                  </a:txBody>
                  <a:tcPr/>
                </a:tc>
                <a:extLst>
                  <a:ext uri="{0D108BD9-81ED-4DB2-BD59-A6C34878D82A}">
                    <a16:rowId xmlns:a16="http://schemas.microsoft.com/office/drawing/2014/main" val="52858787"/>
                  </a:ext>
                </a:extLst>
              </a:tr>
              <a:tr h="370840">
                <a:tc>
                  <a:txBody>
                    <a:bodyPr/>
                    <a:lstStyle/>
                    <a:p>
                      <a:r>
                        <a:rPr lang="de-AT" sz="1200" b="1">
                          <a:solidFill>
                            <a:schemeClr val="bg1"/>
                          </a:solidFill>
                        </a:rPr>
                        <a:t>Manufacturer‘s Records</a:t>
                      </a:r>
                      <a:r>
                        <a:rPr lang="de-AT" sz="1200" b="1" baseline="0">
                          <a:solidFill>
                            <a:schemeClr val="bg1"/>
                          </a:solidFill>
                        </a:rPr>
                        <a:t> File (MRF)</a:t>
                      </a:r>
                      <a:endParaRPr lang="de-AT" sz="1200" b="1" dirty="0">
                        <a:solidFill>
                          <a:schemeClr val="bg1"/>
                        </a:solidFill>
                      </a:endParaRPr>
                    </a:p>
                  </a:txBody>
                  <a:tcPr>
                    <a:solidFill>
                      <a:schemeClr val="accent1"/>
                    </a:solidFill>
                  </a:tcPr>
                </a:tc>
                <a:tc>
                  <a:txBody>
                    <a:bodyPr/>
                    <a:lstStyle/>
                    <a:p>
                      <a:r>
                        <a:rPr lang="en-US" sz="1050" b="1"/>
                        <a:t>Output</a:t>
                      </a:r>
                      <a:r>
                        <a:rPr lang="en-US" sz="1050" b="1" baseline="0"/>
                        <a:t> for regulatory purpose in XML format</a:t>
                      </a:r>
                      <a:br>
                        <a:rPr lang="en-US" sz="1050" baseline="0"/>
                      </a:br>
                      <a:r>
                        <a:rPr lang="en-US" sz="1050" baseline="0">
                          <a:solidFill>
                            <a:srgbClr val="FF0000"/>
                          </a:solidFill>
                        </a:rPr>
                        <a:t>ref to definition in the regulation? ‘manufacturer’s records file’ means a file produced by the simulation tool which contains manufacturer related information, a documentation of the input data and input information to the simulation tool and the results for CO2 emissions and fuel consumption;</a:t>
                      </a:r>
                      <a:endParaRPr lang="en-US" sz="1050" dirty="0">
                        <a:solidFill>
                          <a:srgbClr val="FF0000"/>
                        </a:solidFill>
                      </a:endParaRPr>
                    </a:p>
                  </a:txBody>
                  <a:tcPr/>
                </a:tc>
                <a:extLst>
                  <a:ext uri="{0D108BD9-81ED-4DB2-BD59-A6C34878D82A}">
                    <a16:rowId xmlns:a16="http://schemas.microsoft.com/office/drawing/2014/main" val="975515952"/>
                  </a:ext>
                </a:extLst>
              </a:tr>
              <a:tr h="370840">
                <a:tc>
                  <a:txBody>
                    <a:bodyPr/>
                    <a:lstStyle/>
                    <a:p>
                      <a:r>
                        <a:rPr lang="de-AT" sz="1200" b="1">
                          <a:solidFill>
                            <a:schemeClr val="bg1"/>
                          </a:solidFill>
                        </a:rPr>
                        <a:t>Customer Information file (CIF)</a:t>
                      </a:r>
                      <a:endParaRPr lang="de-AT" sz="1200" b="1" dirty="0" err="1">
                        <a:solidFill>
                          <a:schemeClr val="bg1"/>
                        </a:solidFill>
                      </a:endParaRPr>
                    </a:p>
                  </a:txBody>
                  <a:tcPr>
                    <a:solidFill>
                      <a:schemeClr val="accent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50" b="1"/>
                        <a:t>Output</a:t>
                      </a:r>
                      <a:r>
                        <a:rPr lang="en-US" sz="1050" b="1" baseline="0"/>
                        <a:t> for regulatory purpose in XML format</a:t>
                      </a:r>
                      <a:endParaRPr lang="en-GB" sz="1050" b="1" kern="1200" baseline="0">
                        <a:solidFill>
                          <a:srgbClr val="FF0000"/>
                        </a:solidFill>
                        <a:latin typeface="+mn-lt"/>
                        <a:ea typeface="+mn-ea"/>
                        <a:cs typeface="+mn-cs"/>
                      </a:endParaRPr>
                    </a:p>
                    <a:p>
                      <a:pPr marL="0" algn="l" defTabSz="685800" rtl="0" eaLnBrk="1" latinLnBrk="0" hangingPunct="1"/>
                      <a:r>
                        <a:rPr lang="en-US" sz="1050" baseline="0">
                          <a:solidFill>
                            <a:srgbClr val="FF0000"/>
                          </a:solidFill>
                        </a:rPr>
                        <a:t>ref to definition in the regulation? </a:t>
                      </a:r>
                      <a:r>
                        <a:rPr lang="en-US" sz="1050" kern="1200" baseline="0">
                          <a:solidFill>
                            <a:srgbClr val="FF0000"/>
                          </a:solidFill>
                          <a:latin typeface="+mn-lt"/>
                          <a:ea typeface="+mn-ea"/>
                          <a:cs typeface="+mn-cs"/>
                        </a:rPr>
                        <a:t>‘customer information file’ means a file produced by the simulation tool which contains a defined set of vehicle related information and the results for CO2 emissions and fuel consumption as defined in Part II of Annex IV;</a:t>
                      </a:r>
                      <a:endParaRPr lang="de-AT" sz="1050" dirty="0"/>
                    </a:p>
                  </a:txBody>
                  <a:tcPr/>
                </a:tc>
                <a:extLst>
                  <a:ext uri="{0D108BD9-81ED-4DB2-BD59-A6C34878D82A}">
                    <a16:rowId xmlns:a16="http://schemas.microsoft.com/office/drawing/2014/main" val="4122913343"/>
                  </a:ext>
                </a:extLst>
              </a:tr>
              <a:tr h="370840">
                <a:tc>
                  <a:txBody>
                    <a:bodyPr/>
                    <a:lstStyle/>
                    <a:p>
                      <a:r>
                        <a:rPr lang="de-AT" sz="1200" b="0">
                          <a:solidFill>
                            <a:srgbClr val="FF0000"/>
                          </a:solidFill>
                        </a:rPr>
                        <a:t>Pdf-output</a:t>
                      </a:r>
                      <a:endParaRPr lang="de-AT" sz="1200" b="0" dirty="0">
                        <a:solidFill>
                          <a:srgbClr val="FF0000"/>
                        </a:solidFill>
                      </a:endParaRPr>
                    </a:p>
                  </a:txBody>
                  <a:tcPr>
                    <a:solidFill>
                      <a:schemeClr val="accent1"/>
                    </a:solidFill>
                  </a:tcPr>
                </a:tc>
                <a:tc>
                  <a:txBody>
                    <a:bodyPr/>
                    <a:lstStyle/>
                    <a:p>
                      <a:pPr marL="0" lvl="1" indent="0" algn="l" defTabSz="685800" rtl="0" eaLnBrk="1" latinLnBrk="0" hangingPunct="1">
                        <a:buFont typeface="Arial" panose="020B0604020202020204" pitchFamily="34" charset="0"/>
                        <a:buNone/>
                      </a:pPr>
                      <a:r>
                        <a:rPr lang="en-US" sz="1050" kern="1200">
                          <a:solidFill>
                            <a:schemeClr val="dk1"/>
                          </a:solidFill>
                          <a:latin typeface="+mn-lt"/>
                          <a:ea typeface="+mn-ea"/>
                          <a:cs typeface="+mn-cs"/>
                        </a:rPr>
                        <a:t>Formatted printable output of the customer information file</a:t>
                      </a:r>
                      <a:r>
                        <a:rPr lang="en-US" sz="1050" kern="1200" baseline="0">
                          <a:solidFill>
                            <a:schemeClr val="dk1"/>
                          </a:solidFill>
                          <a:latin typeface="+mn-lt"/>
                          <a:ea typeface="+mn-ea"/>
                          <a:cs typeface="+mn-cs"/>
                        </a:rPr>
                        <a:t> </a:t>
                      </a:r>
                      <a:endParaRPr lang="de-AT" sz="1050" kern="1200" dirty="0">
                        <a:solidFill>
                          <a:schemeClr val="dk1"/>
                        </a:solidFill>
                        <a:latin typeface="+mn-lt"/>
                        <a:ea typeface="+mn-ea"/>
                        <a:cs typeface="+mn-cs"/>
                      </a:endParaRPr>
                    </a:p>
                  </a:txBody>
                  <a:tcPr/>
                </a:tc>
                <a:extLst>
                  <a:ext uri="{0D108BD9-81ED-4DB2-BD59-A6C34878D82A}">
                    <a16:rowId xmlns:a16="http://schemas.microsoft.com/office/drawing/2014/main" val="3760094025"/>
                  </a:ext>
                </a:extLst>
              </a:tr>
              <a:tr h="370840">
                <a:tc>
                  <a:txBody>
                    <a:bodyPr/>
                    <a:lstStyle/>
                    <a:p>
                      <a:r>
                        <a:rPr lang="de-AT" sz="1200" b="0">
                          <a:solidFill>
                            <a:schemeClr val="bg1"/>
                          </a:solidFill>
                        </a:rPr>
                        <a:t>vsum-file*</a:t>
                      </a:r>
                      <a:endParaRPr lang="de-AT" sz="1200" b="0" dirty="0">
                        <a:solidFill>
                          <a:schemeClr val="bg1"/>
                        </a:solidFill>
                      </a:endParaRPr>
                    </a:p>
                  </a:txBody>
                  <a:tcPr>
                    <a:solidFill>
                      <a:schemeClr val="accent1"/>
                    </a:solidFill>
                  </a:tcPr>
                </a:tc>
                <a:tc>
                  <a:txBody>
                    <a:bodyPr/>
                    <a:lstStyle/>
                    <a:p>
                      <a:pPr marL="0" lvl="1" indent="0" algn="l" defTabSz="685800" rtl="0" eaLnBrk="1" latinLnBrk="0" hangingPunct="1">
                        <a:buFont typeface="Arial" panose="020B0604020202020204" pitchFamily="34" charset="0"/>
                        <a:buNone/>
                      </a:pPr>
                      <a:r>
                        <a:rPr lang="de-AT" sz="1050" kern="1200">
                          <a:solidFill>
                            <a:schemeClr val="dk1"/>
                          </a:solidFill>
                          <a:latin typeface="+mn-lt"/>
                          <a:ea typeface="+mn-ea"/>
                          <a:cs typeface="+mn-cs"/>
                        </a:rPr>
                        <a:t>Output for engineering</a:t>
                      </a:r>
                      <a:r>
                        <a:rPr lang="de-AT" sz="1050" kern="1200" baseline="0">
                          <a:solidFill>
                            <a:schemeClr val="dk1"/>
                          </a:solidFill>
                          <a:latin typeface="+mn-lt"/>
                          <a:ea typeface="+mn-ea"/>
                          <a:cs typeface="+mn-cs"/>
                        </a:rPr>
                        <a:t> purposes in csv-format. </a:t>
                      </a:r>
                    </a:p>
                    <a:p>
                      <a:pPr marL="0" lvl="1" indent="0" algn="l" defTabSz="685800" rtl="0" eaLnBrk="1" latinLnBrk="0" hangingPunct="1">
                        <a:buFont typeface="Arial" panose="020B0604020202020204" pitchFamily="34" charset="0"/>
                        <a:buNone/>
                      </a:pPr>
                      <a:r>
                        <a:rPr lang="de-AT" sz="1050" kern="1200" baseline="0">
                          <a:solidFill>
                            <a:schemeClr val="dk1"/>
                          </a:solidFill>
                          <a:latin typeface="+mn-lt"/>
                          <a:ea typeface="+mn-ea"/>
                          <a:cs typeface="+mn-cs"/>
                        </a:rPr>
                        <a:t>Single line of results per each simulated combination of trailer, mission profile and payload with aggregate and or average values</a:t>
                      </a:r>
                      <a:endParaRPr lang="de-AT" sz="1050" kern="1200" dirty="0">
                        <a:solidFill>
                          <a:schemeClr val="dk1"/>
                        </a:solidFill>
                        <a:latin typeface="+mn-lt"/>
                        <a:ea typeface="+mn-ea"/>
                        <a:cs typeface="+mn-cs"/>
                      </a:endParaRPr>
                    </a:p>
                  </a:txBody>
                  <a:tcPr/>
                </a:tc>
                <a:extLst>
                  <a:ext uri="{0D108BD9-81ED-4DB2-BD59-A6C34878D82A}">
                    <a16:rowId xmlns:a16="http://schemas.microsoft.com/office/drawing/2014/main" val="3050974637"/>
                  </a:ext>
                </a:extLst>
              </a:tr>
              <a:tr h="370840">
                <a:tc>
                  <a:txBody>
                    <a:bodyPr/>
                    <a:lstStyle/>
                    <a:p>
                      <a:r>
                        <a:rPr lang="de-AT" sz="1200" b="0">
                          <a:solidFill>
                            <a:schemeClr val="bg1"/>
                          </a:solidFill>
                        </a:rPr>
                        <a:t>vmod</a:t>
                      </a:r>
                      <a:r>
                        <a:rPr lang="de-AT" sz="1200" b="0" baseline="0">
                          <a:solidFill>
                            <a:schemeClr val="bg1"/>
                          </a:solidFill>
                        </a:rPr>
                        <a:t>-file*</a:t>
                      </a:r>
                      <a:endParaRPr lang="de-AT" sz="1200" b="0" dirty="0">
                        <a:solidFill>
                          <a:schemeClr val="bg1"/>
                        </a:solidFill>
                      </a:endParaRPr>
                    </a:p>
                  </a:txBody>
                  <a:tcPr>
                    <a:solidFill>
                      <a:schemeClr val="accent1"/>
                    </a:solidFill>
                  </a:tcPr>
                </a:tc>
                <a:tc>
                  <a:txBody>
                    <a:bodyPr/>
                    <a:lstStyle/>
                    <a:p>
                      <a:pPr marL="0" lvl="1" indent="0" algn="l" defTabSz="685800" rtl="0" eaLnBrk="1" latinLnBrk="0" hangingPunct="1">
                        <a:buFont typeface="Arial" panose="020B0604020202020204" pitchFamily="34" charset="0"/>
                        <a:buNone/>
                      </a:pPr>
                      <a:r>
                        <a:rPr lang="de-AT" sz="1050" kern="1200">
                          <a:solidFill>
                            <a:schemeClr val="dk1"/>
                          </a:solidFill>
                          <a:latin typeface="+mn-lt"/>
                          <a:ea typeface="+mn-ea"/>
                          <a:cs typeface="+mn-cs"/>
                        </a:rPr>
                        <a:t>Output for engineering</a:t>
                      </a:r>
                      <a:r>
                        <a:rPr lang="de-AT" sz="1050" kern="1200" baseline="0">
                          <a:solidFill>
                            <a:schemeClr val="dk1"/>
                          </a:solidFill>
                          <a:latin typeface="+mn-lt"/>
                          <a:ea typeface="+mn-ea"/>
                          <a:cs typeface="+mn-cs"/>
                        </a:rPr>
                        <a:t> purposes in csv-format. </a:t>
                      </a:r>
                    </a:p>
                    <a:p>
                      <a:pPr marL="0" lvl="1" indent="0" algn="l" defTabSz="685800" rtl="0" eaLnBrk="1" latinLnBrk="0" hangingPunct="1">
                        <a:buFont typeface="Arial" panose="020B0604020202020204" pitchFamily="34" charset="0"/>
                        <a:buNone/>
                      </a:pPr>
                      <a:r>
                        <a:rPr lang="de-AT" sz="1050" kern="1200" baseline="0">
                          <a:solidFill>
                            <a:schemeClr val="dk1"/>
                          </a:solidFill>
                          <a:latin typeface="+mn-lt"/>
                          <a:ea typeface="+mn-ea"/>
                          <a:cs typeface="+mn-cs"/>
                        </a:rPr>
                        <a:t>Single file per each simulated combination of trailer, mission profile and payload with </a:t>
                      </a:r>
                      <a:r>
                        <a:rPr lang="en-US" sz="1050" kern="1200" baseline="0">
                          <a:solidFill>
                            <a:schemeClr val="dk1"/>
                          </a:solidFill>
                          <a:latin typeface="+mn-lt"/>
                          <a:ea typeface="+mn-ea"/>
                          <a:cs typeface="+mn-cs"/>
                        </a:rPr>
                        <a:t>time-resolved simulation results from the VECTO core.</a:t>
                      </a:r>
                      <a:endParaRPr lang="de-AT" sz="1050" kern="1200">
                        <a:solidFill>
                          <a:schemeClr val="dk1"/>
                        </a:solidFill>
                        <a:latin typeface="+mn-lt"/>
                        <a:ea typeface="+mn-ea"/>
                        <a:cs typeface="+mn-cs"/>
                      </a:endParaRPr>
                    </a:p>
                  </a:txBody>
                  <a:tcPr/>
                </a:tc>
                <a:extLst>
                  <a:ext uri="{0D108BD9-81ED-4DB2-BD59-A6C34878D82A}">
                    <a16:rowId xmlns:a16="http://schemas.microsoft.com/office/drawing/2014/main" val="3283408876"/>
                  </a:ext>
                </a:extLst>
              </a:tr>
            </a:tbl>
          </a:graphicData>
        </a:graphic>
      </p:graphicFrame>
      <p:sp>
        <p:nvSpPr>
          <p:cNvPr id="4" name="Textfeld 3"/>
          <p:cNvSpPr txBox="1"/>
          <p:nvPr/>
        </p:nvSpPr>
        <p:spPr>
          <a:xfrm>
            <a:off x="468000" y="4358526"/>
            <a:ext cx="6408712" cy="400110"/>
          </a:xfrm>
          <a:prstGeom prst="rect">
            <a:avLst/>
          </a:prstGeom>
          <a:noFill/>
        </p:spPr>
        <p:txBody>
          <a:bodyPr wrap="square" rtlCol="0">
            <a:spAutoFit/>
          </a:bodyPr>
          <a:lstStyle/>
          <a:p>
            <a:r>
              <a:rPr lang="en-GB" sz="1000">
                <a:solidFill>
                  <a:schemeClr val="accent4">
                    <a:lumMod val="50000"/>
                  </a:schemeClr>
                </a:solidFill>
              </a:rPr>
              <a:t>* A </a:t>
            </a:r>
            <a:r>
              <a:rPr lang="en-US" sz="1000">
                <a:solidFill>
                  <a:schemeClr val="accent4">
                    <a:lumMod val="50000"/>
                  </a:schemeClr>
                </a:solidFill>
              </a:rPr>
              <a:t>documentation of the results contained in the vsum and vmod files can be found in the help file for the VECTO calculation core (help.html), which is also included in the VECTO Trailer Tool release. </a:t>
            </a:r>
            <a:endParaRPr lang="en-GB" sz="1000">
              <a:solidFill>
                <a:schemeClr val="accent4">
                  <a:lumMod val="50000"/>
                </a:schemeClr>
              </a:solidFill>
            </a:endParaRPr>
          </a:p>
        </p:txBody>
      </p:sp>
    </p:spTree>
    <p:extLst>
      <p:ext uri="{BB962C8B-B14F-4D97-AF65-F5344CB8AC3E}">
        <p14:creationId xmlns:p14="http://schemas.microsoft.com/office/powerpoint/2010/main" val="3351149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US" dirty="0"/>
              <a:t>Overview content of </a:t>
            </a:r>
            <a:r>
              <a:rPr lang="en-US" dirty="0" err="1"/>
              <a:t>Masterexcel</a:t>
            </a:r>
            <a:r>
              <a:rPr lang="en-US" dirty="0"/>
              <a:t> </a:t>
            </a:r>
            <a:r>
              <a:rPr lang="en-US"/>
              <a:t>(1/4)</a:t>
            </a:r>
            <a:endParaRPr lang="en-US" dirty="0"/>
          </a:p>
        </p:txBody>
      </p:sp>
      <p:sp>
        <p:nvSpPr>
          <p:cNvPr id="3" name="Inhaltsplatzhalter 2"/>
          <p:cNvSpPr>
            <a:spLocks noGrp="1"/>
          </p:cNvSpPr>
          <p:nvPr>
            <p:ph idx="1"/>
          </p:nvPr>
        </p:nvSpPr>
        <p:spPr>
          <a:xfrm>
            <a:off x="457200" y="1203599"/>
            <a:ext cx="8363272" cy="3445422"/>
          </a:xfrm>
        </p:spPr>
        <p:txBody>
          <a:bodyPr>
            <a:normAutofit fontScale="92500"/>
          </a:bodyPr>
          <a:lstStyle/>
          <a:p>
            <a:pPr marL="0" indent="0">
              <a:buNone/>
            </a:pPr>
            <a:r>
              <a:rPr lang="en-US" sz="1800" dirty="0"/>
              <a:t>The VECTO Trailer Tool </a:t>
            </a:r>
            <a:r>
              <a:rPr lang="en-US" sz="1800" dirty="0" err="1"/>
              <a:t>Masterexcel</a:t>
            </a:r>
            <a:r>
              <a:rPr lang="en-US" sz="1800" dirty="0"/>
              <a:t> is an integral part of the tool documentation and fulfils the following functions:</a:t>
            </a:r>
          </a:p>
          <a:p>
            <a:pPr>
              <a:lnSpc>
                <a:spcPct val="100000"/>
              </a:lnSpc>
              <a:spcBef>
                <a:spcPts val="300"/>
              </a:spcBef>
            </a:pPr>
            <a:r>
              <a:rPr lang="en-US" sz="1600" dirty="0"/>
              <a:t>Documentation of the classification matrix used internally in the tool, which is more detailed than the classification according to Annex I. </a:t>
            </a:r>
          </a:p>
          <a:p>
            <a:pPr>
              <a:lnSpc>
                <a:spcPct val="100000"/>
              </a:lnSpc>
              <a:spcBef>
                <a:spcPts val="300"/>
              </a:spcBef>
            </a:pPr>
            <a:r>
              <a:rPr lang="en-US" sz="1600" dirty="0"/>
              <a:t>Documentation of all generic data stored in the tool (e.g. mission profile and payload allocation, specifications of reference trailers, standard values for reduction rates of aerodynamic devices etc.)</a:t>
            </a:r>
          </a:p>
          <a:p>
            <a:pPr>
              <a:lnSpc>
                <a:spcPct val="100000"/>
              </a:lnSpc>
              <a:spcBef>
                <a:spcPts val="300"/>
              </a:spcBef>
            </a:pPr>
            <a:r>
              <a:rPr lang="en-US" sz="1600" dirty="0"/>
              <a:t>Documentation of the formulas for calculating the air drag for the various combinations of generic towing vehicles and trailers</a:t>
            </a:r>
          </a:p>
          <a:p>
            <a:pPr>
              <a:lnSpc>
                <a:spcPct val="100000"/>
              </a:lnSpc>
              <a:spcBef>
                <a:spcPts val="300"/>
              </a:spcBef>
            </a:pPr>
            <a:r>
              <a:rPr lang="en-US" sz="1600" dirty="0"/>
              <a:t>Documentation of bonus factors for liftable and steered axles</a:t>
            </a:r>
          </a:p>
          <a:p>
            <a:pPr marL="0" indent="0">
              <a:spcBef>
                <a:spcPts val="600"/>
              </a:spcBef>
              <a:buNone/>
            </a:pPr>
            <a:r>
              <a:rPr lang="en-US" sz="1600" dirty="0"/>
              <a:t>The content of the individual sheets is described in overview on the next slides. </a:t>
            </a:r>
          </a:p>
          <a:p>
            <a:pPr marL="0" indent="0">
              <a:spcBef>
                <a:spcPts val="600"/>
              </a:spcBef>
              <a:buNone/>
            </a:pPr>
            <a:r>
              <a:rPr lang="en-US" sz="1600" b="1" i="1" dirty="0"/>
              <a:t>In the context of a normal application of the tool, it is not necessary to engage with the </a:t>
            </a:r>
            <a:r>
              <a:rPr lang="en-US" sz="1600" b="1" i="1" dirty="0" err="1"/>
              <a:t>Masterexcel</a:t>
            </a:r>
            <a:r>
              <a:rPr lang="en-US" sz="1600" b="1" i="1" dirty="0"/>
              <a:t>. </a:t>
            </a:r>
            <a:endParaRPr lang="en-GB" sz="1600" b="1" i="1" dirty="0"/>
          </a:p>
        </p:txBody>
      </p:sp>
    </p:spTree>
    <p:extLst>
      <p:ext uri="{BB962C8B-B14F-4D97-AF65-F5344CB8AC3E}">
        <p14:creationId xmlns:p14="http://schemas.microsoft.com/office/powerpoint/2010/main" val="2475022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8650" y="123478"/>
            <a:ext cx="7886700" cy="994172"/>
          </a:xfrm>
        </p:spPr>
        <p:txBody>
          <a:bodyPr vert="horz" lIns="91440" tIns="45720" rIns="91440" bIns="45720" rtlCol="0" anchor="ctr">
            <a:normAutofit/>
          </a:bodyPr>
          <a:lstStyle/>
          <a:p>
            <a:r>
              <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Overview content of </a:t>
            </a:r>
            <a:r>
              <a:rPr lang="en-US" sz="2000" b="1" err="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Masterexcel</a:t>
            </a:r>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 (2/4)</a:t>
            </a:r>
            <a:endPar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7" name="Tabelle 6">
            <a:extLst>
              <a:ext uri="{FF2B5EF4-FFF2-40B4-BE49-F238E27FC236}">
                <a16:creationId xmlns:a16="http://schemas.microsoft.com/office/drawing/2014/main" id="{A9884FFB-4BCC-45E1-8482-13870DB824AD}"/>
              </a:ext>
            </a:extLst>
          </p:cNvPr>
          <p:cNvGraphicFramePr>
            <a:graphicFrameLocks noGrp="1"/>
          </p:cNvGraphicFramePr>
          <p:nvPr>
            <p:extLst>
              <p:ext uri="{D42A27DB-BD31-4B8C-83A1-F6EECF244321}">
                <p14:modId xmlns:p14="http://schemas.microsoft.com/office/powerpoint/2010/main" val="1786691548"/>
              </p:ext>
            </p:extLst>
          </p:nvPr>
        </p:nvGraphicFramePr>
        <p:xfrm>
          <a:off x="467544" y="1117650"/>
          <a:ext cx="8208000" cy="3388360"/>
        </p:xfrm>
        <a:graphic>
          <a:graphicData uri="http://schemas.openxmlformats.org/drawingml/2006/table">
            <a:tbl>
              <a:tblPr firstRow="1" bandRow="1">
                <a:tableStyleId>{5C22544A-7EE6-4342-B048-85BDC9FD1C3A}</a:tableStyleId>
              </a:tblPr>
              <a:tblGrid>
                <a:gridCol w="1255170">
                  <a:extLst>
                    <a:ext uri="{9D8B030D-6E8A-4147-A177-3AD203B41FA5}">
                      <a16:colId xmlns:a16="http://schemas.microsoft.com/office/drawing/2014/main" val="791925895"/>
                    </a:ext>
                  </a:extLst>
                </a:gridCol>
                <a:gridCol w="6952830">
                  <a:extLst>
                    <a:ext uri="{9D8B030D-6E8A-4147-A177-3AD203B41FA5}">
                      <a16:colId xmlns:a16="http://schemas.microsoft.com/office/drawing/2014/main" val="1869676461"/>
                    </a:ext>
                  </a:extLst>
                </a:gridCol>
              </a:tblGrid>
              <a:tr h="370840">
                <a:tc>
                  <a:txBody>
                    <a:bodyPr/>
                    <a:lstStyle/>
                    <a:p>
                      <a:r>
                        <a:rPr lang="de-AT" sz="1200" dirty="0"/>
                        <a:t>Excel </a:t>
                      </a:r>
                      <a:r>
                        <a:rPr lang="de-AT" sz="1200" dirty="0" err="1"/>
                        <a:t>sheet</a:t>
                      </a:r>
                      <a:endParaRPr lang="de-AT" sz="1200" dirty="0"/>
                    </a:p>
                  </a:txBody>
                  <a:tcPr/>
                </a:tc>
                <a:tc>
                  <a:txBody>
                    <a:bodyPr/>
                    <a:lstStyle/>
                    <a:p>
                      <a:r>
                        <a:rPr lang="de-AT" sz="1200" dirty="0"/>
                        <a:t>Description</a:t>
                      </a:r>
                    </a:p>
                  </a:txBody>
                  <a:tcPr/>
                </a:tc>
                <a:extLst>
                  <a:ext uri="{0D108BD9-81ED-4DB2-BD59-A6C34878D82A}">
                    <a16:rowId xmlns:a16="http://schemas.microsoft.com/office/drawing/2014/main" val="52858787"/>
                  </a:ext>
                </a:extLst>
              </a:tr>
              <a:tr h="370840">
                <a:tc>
                  <a:txBody>
                    <a:bodyPr/>
                    <a:lstStyle/>
                    <a:p>
                      <a:r>
                        <a:rPr lang="de-AT" sz="1200" b="1" dirty="0">
                          <a:solidFill>
                            <a:schemeClr val="bg1"/>
                          </a:solidFill>
                        </a:rPr>
                        <a:t>Classification</a:t>
                      </a:r>
                    </a:p>
                  </a:txBody>
                  <a:tcPr>
                    <a:solidFill>
                      <a:schemeClr val="accent1"/>
                    </a:solidFill>
                  </a:tcPr>
                </a:tc>
                <a:tc>
                  <a:txBody>
                    <a:bodyPr/>
                    <a:lstStyle/>
                    <a:p>
                      <a:r>
                        <a:rPr lang="en-US" sz="1200" dirty="0"/>
                        <a:t>General </a:t>
                      </a:r>
                      <a:r>
                        <a:rPr lang="en-US" sz="1200"/>
                        <a:t>information stored </a:t>
                      </a:r>
                      <a:r>
                        <a:rPr lang="en-US" sz="1200" dirty="0"/>
                        <a:t>in </a:t>
                      </a:r>
                      <a:r>
                        <a:rPr lang="en-US" sz="1200"/>
                        <a:t>the tool for each trailer configuration</a:t>
                      </a:r>
                      <a:endParaRPr lang="en-US" sz="1200" dirty="0"/>
                    </a:p>
                    <a:p>
                      <a:pPr marL="514350" lvl="1" indent="-171450">
                        <a:buFont typeface="Arial" panose="020B0604020202020204" pitchFamily="34" charset="0"/>
                        <a:buChar char="•"/>
                      </a:pPr>
                      <a:r>
                        <a:rPr lang="en-US" sz="1200" dirty="0"/>
                        <a:t>Vehicle group acc. to Annex 1</a:t>
                      </a:r>
                    </a:p>
                    <a:p>
                      <a:pPr marL="514350" lvl="1" indent="-171450">
                        <a:buFont typeface="Arial" panose="020B0604020202020204" pitchFamily="34" charset="0"/>
                        <a:buChar char="•"/>
                      </a:pPr>
                      <a:r>
                        <a:rPr lang="en-US" sz="1200" dirty="0"/>
                        <a:t>Information on the allocated generic towing vehicle</a:t>
                      </a:r>
                    </a:p>
                    <a:p>
                      <a:pPr marL="514350" lvl="1" indent="-171450">
                        <a:buFont typeface="Arial" panose="020B0604020202020204" pitchFamily="34" charset="0"/>
                        <a:buChar char="•"/>
                      </a:pPr>
                      <a:r>
                        <a:rPr lang="en-US" sz="1200" dirty="0"/>
                        <a:t>Mission allocation + weighting </a:t>
                      </a:r>
                      <a:r>
                        <a:rPr lang="en-US" sz="1200"/>
                        <a:t>for aggregated </a:t>
                      </a:r>
                      <a:r>
                        <a:rPr lang="en-US" sz="1200" dirty="0"/>
                        <a:t>results</a:t>
                      </a:r>
                    </a:p>
                    <a:p>
                      <a:pPr marL="514350" lvl="1" indent="-171450">
                        <a:buFont typeface="Arial" panose="020B0604020202020204" pitchFamily="34" charset="0"/>
                        <a:buChar char="•"/>
                      </a:pPr>
                      <a:r>
                        <a:rPr lang="en-US" sz="1200" dirty="0"/>
                        <a:t>Payload and axle weight shares per mission </a:t>
                      </a:r>
                    </a:p>
                  </a:txBody>
                  <a:tcPr/>
                </a:tc>
                <a:extLst>
                  <a:ext uri="{0D108BD9-81ED-4DB2-BD59-A6C34878D82A}">
                    <a16:rowId xmlns:a16="http://schemas.microsoft.com/office/drawing/2014/main" val="975515952"/>
                  </a:ext>
                </a:extLst>
              </a:tr>
              <a:tr h="370840">
                <a:tc>
                  <a:txBody>
                    <a:bodyPr/>
                    <a:lstStyle/>
                    <a:p>
                      <a:r>
                        <a:rPr lang="de-AT" sz="1200" b="1" dirty="0" err="1">
                          <a:solidFill>
                            <a:schemeClr val="bg1"/>
                          </a:solidFill>
                        </a:rPr>
                        <a:t>Generic</a:t>
                      </a:r>
                      <a:r>
                        <a:rPr lang="de-AT" sz="1200" b="1" dirty="0">
                          <a:solidFill>
                            <a:schemeClr val="bg1"/>
                          </a:solidFill>
                        </a:rPr>
                        <a:t> CAD </a:t>
                      </a:r>
                      <a:r>
                        <a:rPr lang="de-AT" sz="1200" b="1" dirty="0" err="1">
                          <a:solidFill>
                            <a:schemeClr val="bg1"/>
                          </a:solidFill>
                        </a:rPr>
                        <a:t>vehicle</a:t>
                      </a:r>
                      <a:endParaRPr lang="de-AT" sz="1200" b="1" dirty="0">
                        <a:solidFill>
                          <a:schemeClr val="bg1"/>
                        </a:solidFill>
                      </a:endParaRPr>
                    </a:p>
                  </a:txBody>
                  <a:tcPr>
                    <a:solidFill>
                      <a:schemeClr val="accent1"/>
                    </a:solidFill>
                  </a:tcPr>
                </a:tc>
                <a:tc>
                  <a:txBody>
                    <a:bodyPr/>
                    <a:lstStyle/>
                    <a:p>
                      <a:r>
                        <a:rPr lang="de-AT" sz="1200" dirty="0"/>
                        <a:t>Main </a:t>
                      </a:r>
                      <a:r>
                        <a:rPr lang="de-AT" sz="1200" dirty="0" err="1"/>
                        <a:t>dimensions</a:t>
                      </a:r>
                      <a:r>
                        <a:rPr lang="de-AT" sz="1200" dirty="0"/>
                        <a:t> and </a:t>
                      </a:r>
                      <a:r>
                        <a:rPr lang="de-AT" sz="1200" dirty="0" err="1"/>
                        <a:t>air</a:t>
                      </a:r>
                      <a:r>
                        <a:rPr lang="de-AT" sz="1200" dirty="0"/>
                        <a:t> </a:t>
                      </a:r>
                      <a:r>
                        <a:rPr lang="de-AT" sz="1200" dirty="0" err="1"/>
                        <a:t>drag</a:t>
                      </a:r>
                      <a:r>
                        <a:rPr lang="de-AT" sz="1200" dirty="0"/>
                        <a:t> </a:t>
                      </a:r>
                      <a:r>
                        <a:rPr lang="de-AT" sz="1200" dirty="0" err="1"/>
                        <a:t>values</a:t>
                      </a:r>
                      <a:r>
                        <a:rPr lang="de-AT" sz="1200" dirty="0"/>
                        <a:t> </a:t>
                      </a:r>
                      <a:r>
                        <a:rPr lang="de-AT" sz="1200" dirty="0" err="1"/>
                        <a:t>of</a:t>
                      </a:r>
                      <a:r>
                        <a:rPr lang="de-AT" sz="1200" dirty="0"/>
                        <a:t> </a:t>
                      </a:r>
                      <a:r>
                        <a:rPr lang="de-AT" sz="1200" dirty="0" err="1"/>
                        <a:t>the</a:t>
                      </a:r>
                      <a:r>
                        <a:rPr lang="de-AT" sz="1200" dirty="0"/>
                        <a:t> </a:t>
                      </a:r>
                      <a:r>
                        <a:rPr lang="de-AT" sz="1200" dirty="0" err="1"/>
                        <a:t>generic</a:t>
                      </a:r>
                      <a:r>
                        <a:rPr lang="de-AT" sz="1200" dirty="0"/>
                        <a:t> CAD </a:t>
                      </a:r>
                      <a:r>
                        <a:rPr lang="de-AT" sz="1200" dirty="0" err="1"/>
                        <a:t>models</a:t>
                      </a:r>
                      <a:r>
                        <a:rPr lang="de-AT" sz="1200" dirty="0"/>
                        <a:t> </a:t>
                      </a:r>
                      <a:r>
                        <a:rPr lang="de-AT" sz="1200" dirty="0" err="1"/>
                        <a:t>used</a:t>
                      </a:r>
                      <a:r>
                        <a:rPr lang="de-AT" sz="1200" dirty="0"/>
                        <a:t> </a:t>
                      </a:r>
                      <a:r>
                        <a:rPr lang="de-AT" sz="1200" dirty="0" err="1"/>
                        <a:t>as</a:t>
                      </a:r>
                      <a:r>
                        <a:rPr lang="de-AT" sz="1200" dirty="0"/>
                        <a:t> a </a:t>
                      </a:r>
                      <a:r>
                        <a:rPr lang="de-AT" sz="1200" dirty="0" err="1"/>
                        <a:t>starting</a:t>
                      </a:r>
                      <a:r>
                        <a:rPr lang="de-AT" sz="1200" dirty="0"/>
                        <a:t> </a:t>
                      </a:r>
                      <a:r>
                        <a:rPr lang="de-AT" sz="1200" dirty="0" err="1"/>
                        <a:t>point</a:t>
                      </a:r>
                      <a:r>
                        <a:rPr lang="de-AT" sz="1200" dirty="0"/>
                        <a:t> </a:t>
                      </a:r>
                      <a:r>
                        <a:rPr lang="de-AT" sz="1200" err="1"/>
                        <a:t>to</a:t>
                      </a:r>
                      <a:r>
                        <a:rPr lang="de-AT" sz="1200"/>
                        <a:t> calculate </a:t>
                      </a:r>
                      <a:r>
                        <a:rPr lang="de-AT" sz="1200" dirty="0" err="1"/>
                        <a:t>the</a:t>
                      </a:r>
                      <a:r>
                        <a:rPr lang="de-AT" sz="1200" dirty="0"/>
                        <a:t> </a:t>
                      </a:r>
                      <a:r>
                        <a:rPr lang="de-AT" sz="1200" dirty="0" err="1"/>
                        <a:t>air</a:t>
                      </a:r>
                      <a:r>
                        <a:rPr lang="de-AT" sz="1200" dirty="0"/>
                        <a:t> </a:t>
                      </a:r>
                      <a:r>
                        <a:rPr lang="de-AT" sz="1200" dirty="0" err="1"/>
                        <a:t>drag</a:t>
                      </a:r>
                      <a:r>
                        <a:rPr lang="de-AT" sz="1200" dirty="0"/>
                        <a:t> </a:t>
                      </a:r>
                      <a:r>
                        <a:rPr lang="de-AT" sz="1200" dirty="0" err="1"/>
                        <a:t>of</a:t>
                      </a:r>
                      <a:r>
                        <a:rPr lang="de-AT" sz="1200" dirty="0"/>
                        <a:t> </a:t>
                      </a:r>
                      <a:r>
                        <a:rPr lang="de-AT" sz="1200" dirty="0" err="1"/>
                        <a:t>trailers</a:t>
                      </a:r>
                      <a:r>
                        <a:rPr lang="de-AT" sz="1200" dirty="0"/>
                        <a:t> </a:t>
                      </a:r>
                      <a:r>
                        <a:rPr lang="de-AT" sz="1200" dirty="0" err="1"/>
                        <a:t>with</a:t>
                      </a:r>
                      <a:r>
                        <a:rPr lang="de-AT" sz="1200" dirty="0"/>
                        <a:t> </a:t>
                      </a:r>
                      <a:r>
                        <a:rPr lang="de-AT" sz="1200" dirty="0">
                          <a:solidFill>
                            <a:schemeClr val="tx1"/>
                          </a:solidFill>
                        </a:rPr>
                        <a:t>different </a:t>
                      </a:r>
                      <a:r>
                        <a:rPr lang="de-AT" sz="1200" err="1">
                          <a:solidFill>
                            <a:schemeClr val="tx1"/>
                          </a:solidFill>
                        </a:rPr>
                        <a:t>dimensions</a:t>
                      </a:r>
                      <a:r>
                        <a:rPr lang="de-AT" sz="1200">
                          <a:solidFill>
                            <a:schemeClr val="tx1"/>
                          </a:solidFill>
                        </a:rPr>
                        <a:t> (could</a:t>
                      </a:r>
                      <a:r>
                        <a:rPr lang="de-AT" sz="1200" baseline="0">
                          <a:solidFill>
                            <a:schemeClr val="tx1"/>
                          </a:solidFill>
                        </a:rPr>
                        <a:t> be the r</a:t>
                      </a:r>
                      <a:r>
                        <a:rPr lang="de-AT" sz="1200">
                          <a:solidFill>
                            <a:schemeClr val="tx1"/>
                          </a:solidFill>
                        </a:rPr>
                        <a:t>eference-</a:t>
                      </a:r>
                      <a:r>
                        <a:rPr lang="de-AT" sz="1200" baseline="0">
                          <a:solidFill>
                            <a:schemeClr val="tx1"/>
                          </a:solidFill>
                        </a:rPr>
                        <a:t> or the s</a:t>
                      </a:r>
                      <a:r>
                        <a:rPr lang="de-AT" sz="1200">
                          <a:solidFill>
                            <a:schemeClr val="tx1"/>
                          </a:solidFill>
                        </a:rPr>
                        <a:t>pecific </a:t>
                      </a:r>
                      <a:r>
                        <a:rPr lang="de-AT" sz="1200" dirty="0" err="1">
                          <a:solidFill>
                            <a:schemeClr val="tx1"/>
                          </a:solidFill>
                        </a:rPr>
                        <a:t>trailer</a:t>
                      </a:r>
                      <a:r>
                        <a:rPr lang="de-AT" sz="1200" dirty="0">
                          <a:solidFill>
                            <a:schemeClr val="tx1"/>
                          </a:solidFill>
                        </a:rPr>
                        <a:t>)</a:t>
                      </a:r>
                    </a:p>
                  </a:txBody>
                  <a:tcPr/>
                </a:tc>
                <a:extLst>
                  <a:ext uri="{0D108BD9-81ED-4DB2-BD59-A6C34878D82A}">
                    <a16:rowId xmlns:a16="http://schemas.microsoft.com/office/drawing/2014/main" val="4122913343"/>
                  </a:ext>
                </a:extLst>
              </a:tr>
              <a:tr h="370840">
                <a:tc>
                  <a:txBody>
                    <a:bodyPr/>
                    <a:lstStyle/>
                    <a:p>
                      <a:r>
                        <a:rPr lang="de-AT" sz="1200" b="1" dirty="0">
                          <a:solidFill>
                            <a:schemeClr val="bg1"/>
                          </a:solidFill>
                        </a:rPr>
                        <a:t>Reference Trailer</a:t>
                      </a:r>
                    </a:p>
                  </a:txBody>
                  <a:tcPr>
                    <a:solidFill>
                      <a:schemeClr val="accent1"/>
                    </a:solidFill>
                  </a:tcPr>
                </a:tc>
                <a:tc>
                  <a:txBody>
                    <a:bodyPr/>
                    <a:lstStyle/>
                    <a:p>
                      <a:r>
                        <a:rPr lang="de-AT" sz="1200" dirty="0"/>
                        <a:t>Information on </a:t>
                      </a:r>
                      <a:r>
                        <a:rPr lang="de-AT" sz="1200" dirty="0" err="1"/>
                        <a:t>the</a:t>
                      </a:r>
                      <a:r>
                        <a:rPr lang="de-AT" sz="1200" dirty="0"/>
                        <a:t> </a:t>
                      </a:r>
                      <a:r>
                        <a:rPr lang="de-AT" sz="1200" dirty="0" err="1"/>
                        <a:t>reference</a:t>
                      </a:r>
                      <a:r>
                        <a:rPr lang="de-AT" sz="1200" dirty="0"/>
                        <a:t> </a:t>
                      </a:r>
                      <a:r>
                        <a:rPr lang="de-AT" sz="1200" dirty="0" err="1"/>
                        <a:t>trailers</a:t>
                      </a:r>
                      <a:r>
                        <a:rPr lang="de-AT" sz="1200" dirty="0"/>
                        <a:t> </a:t>
                      </a:r>
                      <a:r>
                        <a:rPr lang="de-AT" sz="1200" dirty="0" err="1"/>
                        <a:t>for</a:t>
                      </a:r>
                      <a:r>
                        <a:rPr lang="de-AT" sz="1200" dirty="0"/>
                        <a:t> </a:t>
                      </a:r>
                      <a:r>
                        <a:rPr lang="de-AT" sz="1200" dirty="0" err="1"/>
                        <a:t>each</a:t>
                      </a:r>
                      <a:r>
                        <a:rPr lang="de-AT" sz="1200" dirty="0"/>
                        <a:t> </a:t>
                      </a:r>
                      <a:r>
                        <a:rPr lang="de-AT" sz="1200" err="1"/>
                        <a:t>trailer</a:t>
                      </a:r>
                      <a:r>
                        <a:rPr lang="de-AT" sz="1200"/>
                        <a:t> configuration</a:t>
                      </a:r>
                    </a:p>
                    <a:p>
                      <a:pPr marL="514350" lvl="1" indent="-171450">
                        <a:buFont typeface="Arial" panose="020B0604020202020204" pitchFamily="34" charset="0"/>
                        <a:buChar char="•"/>
                      </a:pPr>
                      <a:r>
                        <a:rPr lang="de-AT" sz="1200"/>
                        <a:t>Curb mass and cargo volume</a:t>
                      </a:r>
                    </a:p>
                    <a:p>
                      <a:pPr marL="514350" lvl="1" indent="-171450">
                        <a:buFont typeface="Arial" panose="020B0604020202020204" pitchFamily="34" charset="0"/>
                        <a:buChar char="•"/>
                      </a:pPr>
                      <a:r>
                        <a:rPr lang="de-AT" sz="1200"/>
                        <a:t>Tyre </a:t>
                      </a:r>
                      <a:r>
                        <a:rPr lang="de-AT" sz="1200" dirty="0" err="1"/>
                        <a:t>specifications</a:t>
                      </a:r>
                      <a:endParaRPr lang="de-AT" sz="1200" dirty="0"/>
                    </a:p>
                    <a:p>
                      <a:pPr marL="514350" lvl="1" indent="-171450">
                        <a:buFont typeface="Arial" panose="020B0604020202020204" pitchFamily="34" charset="0"/>
                        <a:buChar char="•"/>
                      </a:pPr>
                      <a:r>
                        <a:rPr lang="de-AT" sz="1200" dirty="0"/>
                        <a:t>Main external </a:t>
                      </a:r>
                      <a:r>
                        <a:rPr lang="de-AT" sz="1200" dirty="0" err="1"/>
                        <a:t>dimensions</a:t>
                      </a:r>
                      <a:r>
                        <a:rPr lang="de-AT" sz="1200" dirty="0"/>
                        <a:t> </a:t>
                      </a:r>
                      <a:r>
                        <a:rPr lang="de-AT" sz="1200" dirty="0" err="1"/>
                        <a:t>to</a:t>
                      </a:r>
                      <a:r>
                        <a:rPr lang="de-AT" sz="1200" dirty="0"/>
                        <a:t> </a:t>
                      </a:r>
                      <a:r>
                        <a:rPr lang="de-AT" sz="1200" dirty="0" err="1"/>
                        <a:t>calculate</a:t>
                      </a:r>
                      <a:r>
                        <a:rPr lang="de-AT" sz="1200" dirty="0"/>
                        <a:t> </a:t>
                      </a:r>
                      <a:r>
                        <a:rPr lang="de-AT" sz="1200" dirty="0" err="1"/>
                        <a:t>the</a:t>
                      </a:r>
                      <a:r>
                        <a:rPr lang="de-AT" sz="1200" dirty="0"/>
                        <a:t> </a:t>
                      </a:r>
                      <a:r>
                        <a:rPr lang="de-AT" sz="1200" dirty="0" err="1"/>
                        <a:t>air</a:t>
                      </a:r>
                      <a:r>
                        <a:rPr lang="de-AT" sz="1200" dirty="0"/>
                        <a:t> </a:t>
                      </a:r>
                      <a:r>
                        <a:rPr lang="de-AT" sz="1200" dirty="0" err="1"/>
                        <a:t>drag</a:t>
                      </a:r>
                      <a:endParaRPr lang="de-AT" sz="1200" dirty="0"/>
                    </a:p>
                    <a:p>
                      <a:pPr marL="514350" lvl="1" indent="-171450">
                        <a:buFont typeface="Arial" panose="020B0604020202020204" pitchFamily="34" charset="0"/>
                        <a:buChar char="•"/>
                      </a:pPr>
                      <a:r>
                        <a:rPr lang="de-AT" sz="1200" dirty="0" err="1"/>
                        <a:t>Indication</a:t>
                      </a:r>
                      <a:r>
                        <a:rPr lang="de-AT" sz="1200" dirty="0"/>
                        <a:t> on </a:t>
                      </a:r>
                      <a:r>
                        <a:rPr lang="de-AT" sz="1200" dirty="0" err="1"/>
                        <a:t>which</a:t>
                      </a:r>
                      <a:r>
                        <a:rPr lang="de-AT" sz="1200" dirty="0"/>
                        <a:t> </a:t>
                      </a:r>
                      <a:r>
                        <a:rPr lang="de-AT" sz="1200" dirty="0" err="1"/>
                        <a:t>aero</a:t>
                      </a:r>
                      <a:r>
                        <a:rPr lang="de-AT" sz="1200" dirty="0"/>
                        <a:t> </a:t>
                      </a:r>
                      <a:r>
                        <a:rPr lang="de-AT" sz="1200" dirty="0" err="1"/>
                        <a:t>corrections</a:t>
                      </a:r>
                      <a:r>
                        <a:rPr lang="de-AT" sz="1200" dirty="0"/>
                        <a:t> </a:t>
                      </a:r>
                      <a:r>
                        <a:rPr lang="de-AT" sz="1200" dirty="0" err="1"/>
                        <a:t>are</a:t>
                      </a:r>
                      <a:r>
                        <a:rPr lang="de-AT" sz="1200" dirty="0"/>
                        <a:t> </a:t>
                      </a:r>
                      <a:r>
                        <a:rPr lang="de-AT" sz="1200" dirty="0" err="1"/>
                        <a:t>applied</a:t>
                      </a:r>
                      <a:r>
                        <a:rPr lang="de-AT" sz="1200" dirty="0"/>
                        <a:t> </a:t>
                      </a:r>
                      <a:r>
                        <a:rPr lang="de-AT" sz="1200" dirty="0" err="1"/>
                        <a:t>to</a:t>
                      </a:r>
                      <a:r>
                        <a:rPr lang="de-AT" sz="1200" dirty="0"/>
                        <a:t> </a:t>
                      </a:r>
                      <a:r>
                        <a:rPr lang="de-AT" sz="1200" dirty="0" err="1"/>
                        <a:t>which</a:t>
                      </a:r>
                      <a:r>
                        <a:rPr lang="de-AT" sz="1200" dirty="0"/>
                        <a:t> </a:t>
                      </a:r>
                      <a:r>
                        <a:rPr lang="de-AT" sz="1200" dirty="0" err="1"/>
                        <a:t>trailer</a:t>
                      </a:r>
                      <a:r>
                        <a:rPr lang="de-AT" sz="1200" dirty="0"/>
                        <a:t> </a:t>
                      </a:r>
                      <a:r>
                        <a:rPr lang="de-AT" sz="1200" dirty="0" err="1"/>
                        <a:t>configuration</a:t>
                      </a:r>
                      <a:endParaRPr lang="de-AT" sz="1200" dirty="0"/>
                    </a:p>
                    <a:p>
                      <a:pPr marL="857250" lvl="2" indent="-171450">
                        <a:buFont typeface="Arial" panose="020B0604020202020204" pitchFamily="34" charset="0"/>
                        <a:buChar char="•"/>
                      </a:pPr>
                      <a:r>
                        <a:rPr lang="de-AT" sz="1200"/>
                        <a:t>„1“ </a:t>
                      </a:r>
                      <a:r>
                        <a:rPr lang="de-AT" sz="1200" dirty="0" err="1"/>
                        <a:t>means</a:t>
                      </a:r>
                      <a:r>
                        <a:rPr lang="de-AT" sz="1200" dirty="0"/>
                        <a:t> </a:t>
                      </a:r>
                      <a:r>
                        <a:rPr lang="de-AT" sz="1200" dirty="0" err="1"/>
                        <a:t>aero</a:t>
                      </a:r>
                      <a:r>
                        <a:rPr lang="de-AT" sz="1200" dirty="0"/>
                        <a:t> </a:t>
                      </a:r>
                      <a:r>
                        <a:rPr lang="de-AT" sz="1200" dirty="0" err="1"/>
                        <a:t>correction</a:t>
                      </a:r>
                      <a:r>
                        <a:rPr lang="de-AT" sz="1200" dirty="0"/>
                        <a:t> </a:t>
                      </a:r>
                      <a:r>
                        <a:rPr lang="de-AT" sz="1200" dirty="0" err="1"/>
                        <a:t>is</a:t>
                      </a:r>
                      <a:r>
                        <a:rPr lang="de-AT" sz="1200" dirty="0"/>
                        <a:t> </a:t>
                      </a:r>
                      <a:r>
                        <a:rPr lang="de-AT" sz="1200" dirty="0" err="1"/>
                        <a:t>applied</a:t>
                      </a:r>
                      <a:endParaRPr lang="de-AT" sz="1200" dirty="0"/>
                    </a:p>
                    <a:p>
                      <a:pPr marL="857250" lvl="2" indent="-171450">
                        <a:buFont typeface="Arial" panose="020B0604020202020204" pitchFamily="34" charset="0"/>
                        <a:buChar char="•"/>
                      </a:pPr>
                      <a:r>
                        <a:rPr lang="de-AT" sz="1200"/>
                        <a:t>„0“ </a:t>
                      </a:r>
                      <a:r>
                        <a:rPr lang="de-AT" sz="1200" dirty="0" err="1"/>
                        <a:t>means</a:t>
                      </a:r>
                      <a:r>
                        <a:rPr lang="de-AT" sz="1200" dirty="0"/>
                        <a:t> </a:t>
                      </a:r>
                      <a:r>
                        <a:rPr lang="de-AT" sz="1200" dirty="0" err="1"/>
                        <a:t>aero</a:t>
                      </a:r>
                      <a:r>
                        <a:rPr lang="de-AT" sz="1200" dirty="0"/>
                        <a:t> </a:t>
                      </a:r>
                      <a:r>
                        <a:rPr lang="de-AT" sz="1200" dirty="0" err="1"/>
                        <a:t>correction</a:t>
                      </a:r>
                      <a:r>
                        <a:rPr lang="de-AT" sz="1200" dirty="0"/>
                        <a:t> </a:t>
                      </a:r>
                      <a:r>
                        <a:rPr lang="de-AT" sz="1200" dirty="0" err="1"/>
                        <a:t>is</a:t>
                      </a:r>
                      <a:r>
                        <a:rPr lang="de-AT" sz="1200" dirty="0"/>
                        <a:t> not </a:t>
                      </a:r>
                      <a:r>
                        <a:rPr lang="de-AT" sz="1200" dirty="0" err="1"/>
                        <a:t>applied</a:t>
                      </a:r>
                      <a:endParaRPr lang="de-AT" sz="1200" dirty="0"/>
                    </a:p>
                    <a:p>
                      <a:pPr marL="514350" lvl="1" indent="-171450">
                        <a:buFont typeface="Arial" panose="020B0604020202020204" pitchFamily="34" charset="0"/>
                        <a:buChar char="•"/>
                      </a:pPr>
                      <a:endParaRPr lang="de-AT" sz="1200" dirty="0"/>
                    </a:p>
                  </a:txBody>
                  <a:tcPr/>
                </a:tc>
                <a:extLst>
                  <a:ext uri="{0D108BD9-81ED-4DB2-BD59-A6C34878D82A}">
                    <a16:rowId xmlns:a16="http://schemas.microsoft.com/office/drawing/2014/main" val="3760094025"/>
                  </a:ext>
                </a:extLst>
              </a:tr>
            </a:tbl>
          </a:graphicData>
        </a:graphic>
      </p:graphicFrame>
    </p:spTree>
    <p:extLst>
      <p:ext uri="{BB962C8B-B14F-4D97-AF65-F5344CB8AC3E}">
        <p14:creationId xmlns:p14="http://schemas.microsoft.com/office/powerpoint/2010/main" val="2935685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8650" y="123478"/>
            <a:ext cx="7886700" cy="994172"/>
          </a:xfrm>
        </p:spPr>
        <p:txBody>
          <a:bodyPr vert="horz" lIns="91440" tIns="45720" rIns="91440" bIns="45720" rtlCol="0" anchor="ctr">
            <a:normAutofit/>
          </a:bodyPr>
          <a:lstStyle/>
          <a:p>
            <a:r>
              <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Overview content of </a:t>
            </a:r>
            <a:r>
              <a:rPr lang="en-US" sz="2000" b="1" err="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Masterexcel</a:t>
            </a:r>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 (3/4)</a:t>
            </a:r>
            <a:endPar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7" name="Tabelle 6">
            <a:extLst>
              <a:ext uri="{FF2B5EF4-FFF2-40B4-BE49-F238E27FC236}">
                <a16:creationId xmlns:a16="http://schemas.microsoft.com/office/drawing/2014/main" id="{A9884FFB-4BCC-45E1-8482-13870DB824AD}"/>
              </a:ext>
            </a:extLst>
          </p:cNvPr>
          <p:cNvGraphicFramePr>
            <a:graphicFrameLocks noGrp="1"/>
          </p:cNvGraphicFramePr>
          <p:nvPr>
            <p:extLst>
              <p:ext uri="{D42A27DB-BD31-4B8C-83A1-F6EECF244321}">
                <p14:modId xmlns:p14="http://schemas.microsoft.com/office/powerpoint/2010/main" val="1747941980"/>
              </p:ext>
            </p:extLst>
          </p:nvPr>
        </p:nvGraphicFramePr>
        <p:xfrm>
          <a:off x="467544" y="1117650"/>
          <a:ext cx="8208000" cy="2875280"/>
        </p:xfrm>
        <a:graphic>
          <a:graphicData uri="http://schemas.openxmlformats.org/drawingml/2006/table">
            <a:tbl>
              <a:tblPr firstRow="1" bandRow="1">
                <a:tableStyleId>{5C22544A-7EE6-4342-B048-85BDC9FD1C3A}</a:tableStyleId>
              </a:tblPr>
              <a:tblGrid>
                <a:gridCol w="1255170">
                  <a:extLst>
                    <a:ext uri="{9D8B030D-6E8A-4147-A177-3AD203B41FA5}">
                      <a16:colId xmlns:a16="http://schemas.microsoft.com/office/drawing/2014/main" val="791925895"/>
                    </a:ext>
                  </a:extLst>
                </a:gridCol>
                <a:gridCol w="6952830">
                  <a:extLst>
                    <a:ext uri="{9D8B030D-6E8A-4147-A177-3AD203B41FA5}">
                      <a16:colId xmlns:a16="http://schemas.microsoft.com/office/drawing/2014/main" val="1869676461"/>
                    </a:ext>
                  </a:extLst>
                </a:gridCol>
              </a:tblGrid>
              <a:tr h="370840">
                <a:tc>
                  <a:txBody>
                    <a:bodyPr/>
                    <a:lstStyle/>
                    <a:p>
                      <a:r>
                        <a:rPr lang="de-AT" sz="1200" dirty="0"/>
                        <a:t>Excel </a:t>
                      </a:r>
                      <a:r>
                        <a:rPr lang="de-AT" sz="1200" dirty="0" err="1"/>
                        <a:t>sheet</a:t>
                      </a:r>
                      <a:endParaRPr lang="de-AT" sz="1200" dirty="0"/>
                    </a:p>
                  </a:txBody>
                  <a:tcPr/>
                </a:tc>
                <a:tc>
                  <a:txBody>
                    <a:bodyPr/>
                    <a:lstStyle/>
                    <a:p>
                      <a:r>
                        <a:rPr lang="de-AT" sz="1200" dirty="0"/>
                        <a:t>Description</a:t>
                      </a:r>
                    </a:p>
                  </a:txBody>
                  <a:tcPr/>
                </a:tc>
                <a:extLst>
                  <a:ext uri="{0D108BD9-81ED-4DB2-BD59-A6C34878D82A}">
                    <a16:rowId xmlns:a16="http://schemas.microsoft.com/office/drawing/2014/main" val="52858787"/>
                  </a:ext>
                </a:extLst>
              </a:tr>
              <a:tr h="370840">
                <a:tc>
                  <a:txBody>
                    <a:bodyPr/>
                    <a:lstStyle/>
                    <a:p>
                      <a:r>
                        <a:rPr lang="de-AT" sz="1200" b="1" dirty="0">
                          <a:solidFill>
                            <a:schemeClr val="bg1"/>
                          </a:solidFill>
                        </a:rPr>
                        <a:t>...</a:t>
                      </a:r>
                    </a:p>
                  </a:txBody>
                  <a:tcPr>
                    <a:solidFill>
                      <a:schemeClr val="accent1"/>
                    </a:solidFill>
                  </a:tcPr>
                </a:tc>
                <a:tc>
                  <a:txBody>
                    <a:bodyPr/>
                    <a:lstStyle/>
                    <a:p>
                      <a:r>
                        <a:rPr lang="en-US" sz="1200" dirty="0">
                          <a:solidFill>
                            <a:schemeClr val="tx1"/>
                          </a:solidFill>
                        </a:rPr>
                        <a:t>...</a:t>
                      </a:r>
                    </a:p>
                  </a:txBody>
                  <a:tcPr/>
                </a:tc>
                <a:extLst>
                  <a:ext uri="{0D108BD9-81ED-4DB2-BD59-A6C34878D82A}">
                    <a16:rowId xmlns:a16="http://schemas.microsoft.com/office/drawing/2014/main" val="975515952"/>
                  </a:ext>
                </a:extLst>
              </a:tr>
              <a:tr h="370840">
                <a:tc>
                  <a:txBody>
                    <a:bodyPr/>
                    <a:lstStyle/>
                    <a:p>
                      <a:r>
                        <a:rPr lang="de-AT" sz="1200" b="1" dirty="0" err="1">
                          <a:solidFill>
                            <a:schemeClr val="bg1"/>
                          </a:solidFill>
                        </a:rPr>
                        <a:t>Specific</a:t>
                      </a:r>
                      <a:r>
                        <a:rPr lang="de-AT" sz="1200" b="1" dirty="0">
                          <a:solidFill>
                            <a:schemeClr val="bg1"/>
                          </a:solidFill>
                        </a:rPr>
                        <a:t> </a:t>
                      </a:r>
                      <a:r>
                        <a:rPr lang="de-AT" sz="1200" b="1" dirty="0" err="1">
                          <a:solidFill>
                            <a:schemeClr val="bg1"/>
                          </a:solidFill>
                        </a:rPr>
                        <a:t>trailer</a:t>
                      </a:r>
                      <a:endParaRPr lang="de-AT" sz="1200" b="1" dirty="0">
                        <a:solidFill>
                          <a:schemeClr val="bg1"/>
                        </a:solidFill>
                      </a:endParaRPr>
                    </a:p>
                  </a:txBody>
                  <a:tcPr>
                    <a:solidFill>
                      <a:schemeClr val="accent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de-AT" sz="1200" dirty="0"/>
                        <a:t>Information on </a:t>
                      </a:r>
                      <a:r>
                        <a:rPr lang="de-AT" sz="1200" dirty="0" err="1"/>
                        <a:t>technologies</a:t>
                      </a:r>
                      <a:r>
                        <a:rPr lang="de-AT" sz="1200" dirty="0"/>
                        <a:t> </a:t>
                      </a:r>
                      <a:r>
                        <a:rPr lang="de-AT" sz="1200" dirty="0" err="1"/>
                        <a:t>that</a:t>
                      </a:r>
                      <a:r>
                        <a:rPr lang="de-AT" sz="1200" dirty="0"/>
                        <a:t> </a:t>
                      </a:r>
                      <a:r>
                        <a:rPr lang="de-AT" sz="1200" dirty="0" err="1"/>
                        <a:t>may</a:t>
                      </a:r>
                      <a:r>
                        <a:rPr lang="de-AT" sz="1200" dirty="0"/>
                        <a:t> </a:t>
                      </a:r>
                      <a:r>
                        <a:rPr lang="de-AT" sz="1200" dirty="0" err="1"/>
                        <a:t>be</a:t>
                      </a:r>
                      <a:r>
                        <a:rPr lang="de-AT" sz="1200" dirty="0"/>
                        <a:t> </a:t>
                      </a:r>
                      <a:r>
                        <a:rPr lang="de-AT" sz="1200" dirty="0" err="1"/>
                        <a:t>present</a:t>
                      </a:r>
                      <a:r>
                        <a:rPr lang="de-AT" sz="1200" dirty="0"/>
                        <a:t> on a </a:t>
                      </a:r>
                      <a:r>
                        <a:rPr lang="de-AT" sz="1200" dirty="0" err="1"/>
                        <a:t>specific</a:t>
                      </a:r>
                      <a:r>
                        <a:rPr lang="de-AT" sz="1200" dirty="0"/>
                        <a:t> </a:t>
                      </a:r>
                      <a:r>
                        <a:rPr lang="de-AT" sz="1200" dirty="0" err="1"/>
                        <a:t>trailer</a:t>
                      </a:r>
                      <a:endParaRPr lang="de-AT" sz="1200" dirty="0"/>
                    </a:p>
                    <a:p>
                      <a:pPr marL="514350" marR="0" lvl="1"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AT" sz="1200" dirty="0"/>
                        <a:t>Bonus </a:t>
                      </a:r>
                      <a:r>
                        <a:rPr lang="de-AT" sz="1200" dirty="0" err="1"/>
                        <a:t>factors</a:t>
                      </a:r>
                      <a:r>
                        <a:rPr lang="de-AT" sz="1200" dirty="0"/>
                        <a:t> </a:t>
                      </a:r>
                      <a:r>
                        <a:rPr lang="de-AT" sz="1200" dirty="0" err="1"/>
                        <a:t>for</a:t>
                      </a:r>
                      <a:r>
                        <a:rPr lang="de-AT" sz="1200" dirty="0"/>
                        <a:t> </a:t>
                      </a:r>
                      <a:r>
                        <a:rPr lang="de-AT" sz="1200" dirty="0" err="1"/>
                        <a:t>liftable</a:t>
                      </a:r>
                      <a:r>
                        <a:rPr lang="de-AT" sz="1200" dirty="0"/>
                        <a:t> and </a:t>
                      </a:r>
                      <a:r>
                        <a:rPr lang="de-AT" sz="1200" dirty="0" err="1"/>
                        <a:t>steered</a:t>
                      </a:r>
                      <a:r>
                        <a:rPr lang="de-AT" sz="1200" dirty="0"/>
                        <a:t> </a:t>
                      </a:r>
                      <a:r>
                        <a:rPr lang="de-AT" sz="1200" dirty="0" err="1"/>
                        <a:t>axles</a:t>
                      </a:r>
                      <a:r>
                        <a:rPr lang="de-AT" sz="1200" dirty="0"/>
                        <a:t> </a:t>
                      </a:r>
                      <a:r>
                        <a:rPr lang="de-AT" sz="1200" dirty="0" err="1"/>
                        <a:t>depending</a:t>
                      </a:r>
                      <a:r>
                        <a:rPr lang="de-AT" sz="1200" dirty="0"/>
                        <a:t> on </a:t>
                      </a:r>
                      <a:r>
                        <a:rPr lang="de-AT" sz="1200" dirty="0" err="1"/>
                        <a:t>trailer</a:t>
                      </a:r>
                      <a:r>
                        <a:rPr lang="de-AT" sz="1200" dirty="0"/>
                        <a:t> </a:t>
                      </a:r>
                      <a:r>
                        <a:rPr lang="de-AT" sz="1200" dirty="0" err="1"/>
                        <a:t>configuration</a:t>
                      </a:r>
                      <a:r>
                        <a:rPr lang="de-AT" sz="1200" dirty="0"/>
                        <a:t>, </a:t>
                      </a:r>
                      <a:r>
                        <a:rPr lang="de-AT" sz="1200" dirty="0" err="1"/>
                        <a:t>mission</a:t>
                      </a:r>
                      <a:r>
                        <a:rPr lang="de-AT" sz="1200" dirty="0"/>
                        <a:t> and </a:t>
                      </a:r>
                      <a:r>
                        <a:rPr lang="de-AT" sz="1200" dirty="0" err="1"/>
                        <a:t>payload</a:t>
                      </a:r>
                      <a:endParaRPr lang="de-AT" sz="1200" dirty="0"/>
                    </a:p>
                    <a:p>
                      <a:pPr marL="857250" marR="0" lvl="2"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AT" sz="1200" dirty="0"/>
                        <a:t>These </a:t>
                      </a:r>
                      <a:r>
                        <a:rPr lang="de-AT" sz="1200" dirty="0" err="1"/>
                        <a:t>factors</a:t>
                      </a:r>
                      <a:r>
                        <a:rPr lang="de-AT" sz="1200" dirty="0"/>
                        <a:t> </a:t>
                      </a:r>
                      <a:r>
                        <a:rPr lang="de-AT" sz="1200" dirty="0" err="1"/>
                        <a:t>are</a:t>
                      </a:r>
                      <a:r>
                        <a:rPr lang="de-AT" sz="1200" dirty="0"/>
                        <a:t> </a:t>
                      </a:r>
                      <a:r>
                        <a:rPr lang="de-AT" sz="1200" dirty="0" err="1"/>
                        <a:t>to</a:t>
                      </a:r>
                      <a:r>
                        <a:rPr lang="de-AT" sz="1200" dirty="0"/>
                        <a:t> </a:t>
                      </a:r>
                      <a:r>
                        <a:rPr lang="de-AT" sz="1200" err="1"/>
                        <a:t>be</a:t>
                      </a:r>
                      <a:r>
                        <a:rPr lang="de-AT" sz="1200"/>
                        <a:t> understood </a:t>
                      </a:r>
                      <a:r>
                        <a:rPr lang="de-AT" sz="1200" dirty="0" err="1"/>
                        <a:t>as</a:t>
                      </a:r>
                      <a:r>
                        <a:rPr lang="de-AT" sz="1200" dirty="0"/>
                        <a:t> </a:t>
                      </a:r>
                      <a:r>
                        <a:rPr lang="de-AT" sz="1200" dirty="0" err="1"/>
                        <a:t>reduction</a:t>
                      </a:r>
                      <a:r>
                        <a:rPr lang="de-AT" sz="1200" dirty="0"/>
                        <a:t> </a:t>
                      </a:r>
                      <a:r>
                        <a:rPr lang="de-AT" sz="1200" dirty="0" err="1"/>
                        <a:t>factors</a:t>
                      </a:r>
                      <a:r>
                        <a:rPr lang="de-AT" sz="1200" dirty="0"/>
                        <a:t> on </a:t>
                      </a:r>
                      <a:r>
                        <a:rPr lang="de-AT" sz="1200" dirty="0" err="1"/>
                        <a:t>overall</a:t>
                      </a:r>
                      <a:r>
                        <a:rPr lang="de-AT" sz="1200" dirty="0"/>
                        <a:t> </a:t>
                      </a:r>
                      <a:r>
                        <a:rPr lang="de-AT" sz="1200" err="1"/>
                        <a:t>fuel</a:t>
                      </a:r>
                      <a:r>
                        <a:rPr lang="de-AT" sz="1200"/>
                        <a:t> consumption </a:t>
                      </a:r>
                      <a:r>
                        <a:rPr lang="de-AT" sz="1200" dirty="0"/>
                        <a:t>/ CO</a:t>
                      </a:r>
                      <a:r>
                        <a:rPr lang="de-AT" sz="1200" baseline="-25000" dirty="0"/>
                        <a:t>2</a:t>
                      </a:r>
                    </a:p>
                    <a:p>
                      <a:pPr marL="514350" lvl="1" indent="-171450">
                        <a:buFont typeface="Arial" panose="020B0604020202020204" pitchFamily="34" charset="0"/>
                        <a:buChar char="•"/>
                      </a:pPr>
                      <a:r>
                        <a:rPr lang="de-AT" sz="1200" dirty="0" err="1"/>
                        <a:t>Indication</a:t>
                      </a:r>
                      <a:r>
                        <a:rPr lang="de-AT" sz="1200" dirty="0"/>
                        <a:t> on </a:t>
                      </a:r>
                      <a:r>
                        <a:rPr lang="de-AT" sz="1200" dirty="0" err="1"/>
                        <a:t>which</a:t>
                      </a:r>
                      <a:r>
                        <a:rPr lang="de-AT" sz="1200" dirty="0"/>
                        <a:t> </a:t>
                      </a:r>
                      <a:r>
                        <a:rPr lang="de-AT" sz="1200" dirty="0" err="1"/>
                        <a:t>aero</a:t>
                      </a:r>
                      <a:r>
                        <a:rPr lang="de-AT" sz="1200" dirty="0"/>
                        <a:t> </a:t>
                      </a:r>
                      <a:r>
                        <a:rPr lang="de-AT" sz="1200" dirty="0" err="1"/>
                        <a:t>corrections</a:t>
                      </a:r>
                      <a:r>
                        <a:rPr lang="de-AT" sz="1200" dirty="0"/>
                        <a:t> </a:t>
                      </a:r>
                      <a:r>
                        <a:rPr lang="de-AT" sz="1200" err="1"/>
                        <a:t>are</a:t>
                      </a:r>
                      <a:r>
                        <a:rPr lang="de-AT" sz="1200"/>
                        <a:t> applied </a:t>
                      </a:r>
                      <a:r>
                        <a:rPr lang="de-AT" sz="1200" dirty="0" err="1"/>
                        <a:t>to</a:t>
                      </a:r>
                      <a:r>
                        <a:rPr lang="de-AT" sz="1200" dirty="0"/>
                        <a:t> </a:t>
                      </a:r>
                      <a:r>
                        <a:rPr lang="de-AT" sz="1200" dirty="0" err="1"/>
                        <a:t>which</a:t>
                      </a:r>
                      <a:r>
                        <a:rPr lang="de-AT" sz="1200" dirty="0"/>
                        <a:t> </a:t>
                      </a:r>
                      <a:r>
                        <a:rPr lang="de-AT" sz="1200" dirty="0" err="1"/>
                        <a:t>trailer</a:t>
                      </a:r>
                      <a:r>
                        <a:rPr lang="de-AT" sz="1200" dirty="0"/>
                        <a:t> </a:t>
                      </a:r>
                      <a:r>
                        <a:rPr lang="de-AT" sz="1200" dirty="0" err="1"/>
                        <a:t>configuration</a:t>
                      </a:r>
                      <a:endParaRPr lang="de-AT" sz="1200" dirty="0"/>
                    </a:p>
                    <a:p>
                      <a:pPr marL="857250" lvl="2" indent="-171450">
                        <a:buFont typeface="Arial" panose="020B0604020202020204" pitchFamily="34" charset="0"/>
                        <a:buChar char="•"/>
                      </a:pPr>
                      <a:r>
                        <a:rPr lang="de-AT" sz="1200"/>
                        <a:t>„1“ </a:t>
                      </a:r>
                      <a:r>
                        <a:rPr lang="de-AT" sz="1200" dirty="0" err="1"/>
                        <a:t>means</a:t>
                      </a:r>
                      <a:r>
                        <a:rPr lang="de-AT" sz="1200" dirty="0"/>
                        <a:t> </a:t>
                      </a:r>
                      <a:r>
                        <a:rPr lang="de-AT" sz="1200" dirty="0" err="1"/>
                        <a:t>aero</a:t>
                      </a:r>
                      <a:r>
                        <a:rPr lang="de-AT" sz="1200" dirty="0"/>
                        <a:t> </a:t>
                      </a:r>
                      <a:r>
                        <a:rPr lang="de-AT" sz="1200" dirty="0" err="1"/>
                        <a:t>correction</a:t>
                      </a:r>
                      <a:r>
                        <a:rPr lang="de-AT" sz="1200" dirty="0"/>
                        <a:t> </a:t>
                      </a:r>
                      <a:r>
                        <a:rPr lang="de-AT" sz="1200" dirty="0" err="1"/>
                        <a:t>is</a:t>
                      </a:r>
                      <a:r>
                        <a:rPr lang="de-AT" sz="1200" dirty="0"/>
                        <a:t> </a:t>
                      </a:r>
                      <a:r>
                        <a:rPr lang="de-AT" sz="1200" dirty="0" err="1"/>
                        <a:t>applied</a:t>
                      </a:r>
                      <a:endParaRPr lang="de-AT" sz="1200" dirty="0"/>
                    </a:p>
                    <a:p>
                      <a:pPr marL="857250" lvl="2" indent="-171450">
                        <a:buFont typeface="Arial" panose="020B0604020202020204" pitchFamily="34" charset="0"/>
                        <a:buChar char="•"/>
                      </a:pPr>
                      <a:r>
                        <a:rPr lang="de-AT" sz="1200"/>
                        <a:t>„0" </a:t>
                      </a:r>
                      <a:r>
                        <a:rPr lang="de-AT" sz="1200" dirty="0" err="1"/>
                        <a:t>means</a:t>
                      </a:r>
                      <a:r>
                        <a:rPr lang="de-AT" sz="1200" dirty="0"/>
                        <a:t> </a:t>
                      </a:r>
                      <a:r>
                        <a:rPr lang="de-AT" sz="1200" dirty="0" err="1"/>
                        <a:t>aero</a:t>
                      </a:r>
                      <a:r>
                        <a:rPr lang="de-AT" sz="1200" dirty="0"/>
                        <a:t> </a:t>
                      </a:r>
                      <a:r>
                        <a:rPr lang="de-AT" sz="1200" dirty="0" err="1"/>
                        <a:t>correction</a:t>
                      </a:r>
                      <a:r>
                        <a:rPr lang="de-AT" sz="1200" dirty="0"/>
                        <a:t> </a:t>
                      </a:r>
                      <a:r>
                        <a:rPr lang="de-AT" sz="1200" dirty="0" err="1"/>
                        <a:t>is</a:t>
                      </a:r>
                      <a:r>
                        <a:rPr lang="de-AT" sz="1200" dirty="0"/>
                        <a:t> </a:t>
                      </a:r>
                      <a:r>
                        <a:rPr lang="de-AT" sz="1200"/>
                        <a:t>not applied</a:t>
                      </a:r>
                      <a:br>
                        <a:rPr lang="de-AT" sz="1200"/>
                      </a:br>
                      <a:r>
                        <a:rPr lang="en-US" sz="1000" i="1"/>
                        <a:t>The individual aero correction formulas </a:t>
                      </a:r>
                      <a:r>
                        <a:rPr lang="en-US" sz="1000" i="1">
                          <a:solidFill>
                            <a:schemeClr val="tx1"/>
                          </a:solidFill>
                        </a:rPr>
                        <a:t>can be viewed in the “Reference/Specific Trailer Aero" sheet </a:t>
                      </a:r>
                      <a:r>
                        <a:rPr lang="en-US" sz="1000" i="1"/>
                        <a:t>and are documented in detail in Task 2 report section 2.4.5.</a:t>
                      </a:r>
                      <a:r>
                        <a:rPr lang="de-AT" sz="1000" i="1"/>
                        <a:t> </a:t>
                      </a:r>
                    </a:p>
                    <a:p>
                      <a:pPr marL="514350" marR="0" lvl="1"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AT" sz="1200"/>
                        <a:t>Aero reduction values for standard aerodynamic devices acc. to sheet „Combination Add-ons D</a:t>
                      </a:r>
                      <a:r>
                        <a:rPr lang="de-AT" sz="1200">
                          <a:solidFill>
                            <a:srgbClr val="7030A0"/>
                          </a:solidFill>
                        </a:rPr>
                        <a:t>X*</a:t>
                      </a:r>
                      <a:r>
                        <a:rPr lang="de-AT" sz="1200"/>
                        <a:t>“</a:t>
                      </a:r>
                      <a:endParaRPr lang="de-AT" sz="1200" dirty="0"/>
                    </a:p>
                  </a:txBody>
                  <a:tcPr/>
                </a:tc>
                <a:extLst>
                  <a:ext uri="{0D108BD9-81ED-4DB2-BD59-A6C34878D82A}">
                    <a16:rowId xmlns:a16="http://schemas.microsoft.com/office/drawing/2014/main" val="4122913343"/>
                  </a:ext>
                </a:extLst>
              </a:tr>
              <a:tr h="370840">
                <a:tc>
                  <a:txBody>
                    <a:bodyPr/>
                    <a:lstStyle/>
                    <a:p>
                      <a:r>
                        <a:rPr lang="de-AT" sz="1200" b="1" dirty="0">
                          <a:solidFill>
                            <a:schemeClr val="bg1"/>
                          </a:solidFill>
                        </a:rPr>
                        <a:t>Standard Trailer</a:t>
                      </a:r>
                    </a:p>
                  </a:txBody>
                  <a:tcPr>
                    <a:solidFill>
                      <a:schemeClr val="accent1"/>
                    </a:solidFill>
                  </a:tcPr>
                </a:tc>
                <a:tc>
                  <a:txBody>
                    <a:bodyPr/>
                    <a:lstStyle/>
                    <a:p>
                      <a:r>
                        <a:rPr lang="de-AT" sz="1200" dirty="0"/>
                        <a:t>Information on </a:t>
                      </a:r>
                      <a:r>
                        <a:rPr lang="de-AT" sz="1200" dirty="0" err="1"/>
                        <a:t>the</a:t>
                      </a:r>
                      <a:r>
                        <a:rPr lang="de-AT" sz="1200" dirty="0"/>
                        <a:t> </a:t>
                      </a:r>
                      <a:r>
                        <a:rPr lang="de-AT" sz="1200" dirty="0" err="1"/>
                        <a:t>standard</a:t>
                      </a:r>
                      <a:r>
                        <a:rPr lang="de-AT" sz="1200" dirty="0"/>
                        <a:t> </a:t>
                      </a:r>
                      <a:r>
                        <a:rPr lang="de-AT" sz="1200" dirty="0" err="1"/>
                        <a:t>trailers</a:t>
                      </a:r>
                      <a:r>
                        <a:rPr lang="de-AT" sz="1200" dirty="0"/>
                        <a:t> also </a:t>
                      </a:r>
                      <a:r>
                        <a:rPr lang="de-AT" sz="1200" dirty="0" err="1"/>
                        <a:t>used</a:t>
                      </a:r>
                      <a:r>
                        <a:rPr lang="de-AT" sz="1200" dirty="0"/>
                        <a:t> in Regulation EU 2017/2400 </a:t>
                      </a:r>
                      <a:r>
                        <a:rPr lang="de-AT" sz="1200" dirty="0" err="1"/>
                        <a:t>to</a:t>
                      </a:r>
                      <a:r>
                        <a:rPr lang="de-AT" sz="1200" dirty="0"/>
                        <a:t> </a:t>
                      </a:r>
                      <a:r>
                        <a:rPr lang="de-AT" sz="1200" dirty="0" err="1"/>
                        <a:t>calculate</a:t>
                      </a:r>
                      <a:r>
                        <a:rPr lang="de-AT" sz="1200" dirty="0"/>
                        <a:t> </a:t>
                      </a:r>
                      <a:r>
                        <a:rPr lang="de-AT" sz="1200" dirty="0" err="1"/>
                        <a:t>the</a:t>
                      </a:r>
                      <a:r>
                        <a:rPr lang="de-AT" sz="1200" dirty="0"/>
                        <a:t> </a:t>
                      </a:r>
                      <a:r>
                        <a:rPr lang="de-AT" sz="1200" dirty="0" err="1"/>
                        <a:t>reference</a:t>
                      </a:r>
                      <a:r>
                        <a:rPr lang="de-AT" sz="1200" dirty="0"/>
                        <a:t> </a:t>
                      </a:r>
                      <a:r>
                        <a:rPr lang="de-AT" sz="1200" dirty="0" err="1"/>
                        <a:t>factors</a:t>
                      </a:r>
                      <a:r>
                        <a:rPr lang="de-AT" sz="1200" dirty="0"/>
                        <a:t> </a:t>
                      </a:r>
                    </a:p>
                    <a:p>
                      <a:pPr marL="514350" lvl="1" indent="-171450">
                        <a:buFont typeface="Arial" panose="020B0604020202020204" pitchFamily="34" charset="0"/>
                        <a:buChar char="•"/>
                      </a:pPr>
                      <a:endParaRPr lang="de-AT" sz="1200" dirty="0"/>
                    </a:p>
                  </a:txBody>
                  <a:tcPr/>
                </a:tc>
                <a:extLst>
                  <a:ext uri="{0D108BD9-81ED-4DB2-BD59-A6C34878D82A}">
                    <a16:rowId xmlns:a16="http://schemas.microsoft.com/office/drawing/2014/main" val="3760094025"/>
                  </a:ext>
                </a:extLst>
              </a:tr>
            </a:tbl>
          </a:graphicData>
        </a:graphic>
      </p:graphicFrame>
      <p:sp>
        <p:nvSpPr>
          <p:cNvPr id="6" name="Textfeld 5">
            <a:extLst>
              <a:ext uri="{FF2B5EF4-FFF2-40B4-BE49-F238E27FC236}">
                <a16:creationId xmlns:a16="http://schemas.microsoft.com/office/drawing/2014/main" id="{3E7369ED-2D68-4499-ACB9-06085D3DB50F}"/>
              </a:ext>
            </a:extLst>
          </p:cNvPr>
          <p:cNvSpPr txBox="1"/>
          <p:nvPr/>
        </p:nvSpPr>
        <p:spPr>
          <a:xfrm>
            <a:off x="628650" y="4240128"/>
            <a:ext cx="2486578" cy="707886"/>
          </a:xfrm>
          <a:prstGeom prst="rect">
            <a:avLst/>
          </a:prstGeom>
          <a:noFill/>
        </p:spPr>
        <p:txBody>
          <a:bodyPr wrap="none" rtlCol="0">
            <a:spAutoFit/>
          </a:bodyPr>
          <a:lstStyle/>
          <a:p>
            <a:r>
              <a:rPr lang="de-AT" sz="1000" dirty="0">
                <a:solidFill>
                  <a:srgbClr val="7030A0"/>
                </a:solidFill>
              </a:rPr>
              <a:t>*</a:t>
            </a:r>
            <a:r>
              <a:rPr lang="de-AT" sz="1000" dirty="0"/>
              <a:t>D</a:t>
            </a:r>
            <a:r>
              <a:rPr lang="de-AT" sz="1000" dirty="0">
                <a:solidFill>
                  <a:srgbClr val="7030A0"/>
                </a:solidFill>
              </a:rPr>
              <a:t>X</a:t>
            </a:r>
            <a:r>
              <a:rPr lang="de-AT" sz="1000" dirty="0"/>
              <a:t>... </a:t>
            </a:r>
            <a:r>
              <a:rPr lang="de-AT" sz="1000" dirty="0" err="1"/>
              <a:t>Placeholder</a:t>
            </a:r>
            <a:r>
              <a:rPr lang="de-AT" sz="1000" dirty="0"/>
              <a:t> </a:t>
            </a:r>
            <a:r>
              <a:rPr lang="de-AT" sz="1000" dirty="0" err="1"/>
              <a:t>depending</a:t>
            </a:r>
            <a:r>
              <a:rPr lang="de-AT" sz="1000" dirty="0"/>
              <a:t> on </a:t>
            </a:r>
            <a:r>
              <a:rPr lang="de-AT" sz="1000" dirty="0" err="1"/>
              <a:t>trailer</a:t>
            </a:r>
            <a:r>
              <a:rPr lang="de-AT" sz="1000" dirty="0"/>
              <a:t> type</a:t>
            </a:r>
          </a:p>
          <a:p>
            <a:r>
              <a:rPr lang="de-AT" sz="1000" dirty="0"/>
              <a:t>	D</a:t>
            </a:r>
            <a:r>
              <a:rPr lang="de-AT" sz="1000" dirty="0">
                <a:solidFill>
                  <a:srgbClr val="7030A0"/>
                </a:solidFill>
              </a:rPr>
              <a:t>A</a:t>
            </a:r>
            <a:r>
              <a:rPr lang="de-AT" sz="1000" dirty="0"/>
              <a:t>... </a:t>
            </a:r>
            <a:r>
              <a:rPr lang="de-AT" sz="1000" dirty="0" err="1"/>
              <a:t>Semi</a:t>
            </a:r>
            <a:r>
              <a:rPr lang="de-AT" sz="1000" dirty="0"/>
              <a:t> Trailer</a:t>
            </a:r>
          </a:p>
          <a:p>
            <a:r>
              <a:rPr lang="de-AT" sz="1000" dirty="0"/>
              <a:t>	D</a:t>
            </a:r>
            <a:r>
              <a:rPr lang="de-AT" sz="1000" dirty="0">
                <a:solidFill>
                  <a:srgbClr val="7030A0"/>
                </a:solidFill>
              </a:rPr>
              <a:t>B</a:t>
            </a:r>
            <a:r>
              <a:rPr lang="de-AT" sz="1000" dirty="0"/>
              <a:t>... </a:t>
            </a:r>
            <a:r>
              <a:rPr lang="de-AT" sz="1000" dirty="0" err="1"/>
              <a:t>Drawbar</a:t>
            </a:r>
            <a:r>
              <a:rPr lang="de-AT" sz="1000" dirty="0"/>
              <a:t> Trailer</a:t>
            </a:r>
          </a:p>
          <a:p>
            <a:r>
              <a:rPr lang="de-AT" sz="1000" dirty="0"/>
              <a:t>	D</a:t>
            </a:r>
            <a:r>
              <a:rPr lang="de-AT" sz="1000" dirty="0">
                <a:solidFill>
                  <a:srgbClr val="7030A0"/>
                </a:solidFill>
              </a:rPr>
              <a:t>C</a:t>
            </a:r>
            <a:r>
              <a:rPr lang="de-AT" sz="1000" dirty="0"/>
              <a:t>... </a:t>
            </a:r>
            <a:r>
              <a:rPr lang="de-AT" sz="1000" dirty="0" err="1"/>
              <a:t>Centre</a:t>
            </a:r>
            <a:r>
              <a:rPr lang="de-AT" sz="1000" dirty="0"/>
              <a:t> </a:t>
            </a:r>
            <a:r>
              <a:rPr lang="de-AT" sz="1000" err="1"/>
              <a:t>axle</a:t>
            </a:r>
            <a:r>
              <a:rPr lang="de-AT" sz="1000"/>
              <a:t> Trailer</a:t>
            </a:r>
            <a:endParaRPr lang="de-AT" sz="1000" dirty="0"/>
          </a:p>
        </p:txBody>
      </p:sp>
    </p:spTree>
    <p:extLst>
      <p:ext uri="{BB962C8B-B14F-4D97-AF65-F5344CB8AC3E}">
        <p14:creationId xmlns:p14="http://schemas.microsoft.com/office/powerpoint/2010/main" val="581363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8650" y="123478"/>
            <a:ext cx="7886700" cy="994172"/>
          </a:xfrm>
        </p:spPr>
        <p:txBody>
          <a:bodyPr vert="horz" lIns="91440" tIns="45720" rIns="91440" bIns="45720" rtlCol="0" anchor="ctr">
            <a:normAutofit/>
          </a:bodyPr>
          <a:lstStyle/>
          <a:p>
            <a:r>
              <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Overview content of </a:t>
            </a:r>
            <a:r>
              <a:rPr lang="en-US" sz="2000" b="1" err="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Masterexcel</a:t>
            </a:r>
            <a:r>
              <a:rPr lang="en-US" sz="2000" b="1">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rPr>
              <a:t> (4/4)</a:t>
            </a:r>
            <a:endParaRPr lang="en-US" sz="2000" b="1" dirty="0">
              <a:solidFill>
                <a:schemeClr val="accent4">
                  <a:lumMod val="50000"/>
                </a:schemeClr>
              </a:solidFill>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7" name="Tabelle 6">
            <a:extLst>
              <a:ext uri="{FF2B5EF4-FFF2-40B4-BE49-F238E27FC236}">
                <a16:creationId xmlns:a16="http://schemas.microsoft.com/office/drawing/2014/main" id="{A9884FFB-4BCC-45E1-8482-13870DB824AD}"/>
              </a:ext>
            </a:extLst>
          </p:cNvPr>
          <p:cNvGraphicFramePr>
            <a:graphicFrameLocks noGrp="1"/>
          </p:cNvGraphicFramePr>
          <p:nvPr>
            <p:extLst>
              <p:ext uri="{D42A27DB-BD31-4B8C-83A1-F6EECF244321}">
                <p14:modId xmlns:p14="http://schemas.microsoft.com/office/powerpoint/2010/main" val="1503562623"/>
              </p:ext>
            </p:extLst>
          </p:nvPr>
        </p:nvGraphicFramePr>
        <p:xfrm>
          <a:off x="467544" y="1117650"/>
          <a:ext cx="8208000" cy="3121084"/>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791925895"/>
                    </a:ext>
                  </a:extLst>
                </a:gridCol>
                <a:gridCol w="6623824">
                  <a:extLst>
                    <a:ext uri="{9D8B030D-6E8A-4147-A177-3AD203B41FA5}">
                      <a16:colId xmlns:a16="http://schemas.microsoft.com/office/drawing/2014/main" val="1869676461"/>
                    </a:ext>
                  </a:extLst>
                </a:gridCol>
              </a:tblGrid>
              <a:tr h="370840">
                <a:tc>
                  <a:txBody>
                    <a:bodyPr/>
                    <a:lstStyle/>
                    <a:p>
                      <a:r>
                        <a:rPr lang="de-AT" sz="1200" dirty="0"/>
                        <a:t>Excel </a:t>
                      </a:r>
                      <a:r>
                        <a:rPr lang="de-AT" sz="1200" dirty="0" err="1"/>
                        <a:t>sheet</a:t>
                      </a:r>
                      <a:endParaRPr lang="de-AT" sz="1200" dirty="0"/>
                    </a:p>
                  </a:txBody>
                  <a:tcPr/>
                </a:tc>
                <a:tc>
                  <a:txBody>
                    <a:bodyPr/>
                    <a:lstStyle/>
                    <a:p>
                      <a:r>
                        <a:rPr lang="de-AT" sz="1200" dirty="0"/>
                        <a:t>Description</a:t>
                      </a:r>
                    </a:p>
                  </a:txBody>
                  <a:tcPr/>
                </a:tc>
                <a:extLst>
                  <a:ext uri="{0D108BD9-81ED-4DB2-BD59-A6C34878D82A}">
                    <a16:rowId xmlns:a16="http://schemas.microsoft.com/office/drawing/2014/main" val="52858787"/>
                  </a:ext>
                </a:extLst>
              </a:tr>
              <a:tr h="370840">
                <a:tc>
                  <a:txBody>
                    <a:bodyPr/>
                    <a:lstStyle/>
                    <a:p>
                      <a:r>
                        <a:rPr lang="de-AT" sz="1200" b="1" dirty="0">
                          <a:solidFill>
                            <a:schemeClr val="bg1"/>
                          </a:solidFill>
                        </a:rPr>
                        <a:t>...</a:t>
                      </a:r>
                    </a:p>
                  </a:txBody>
                  <a:tcPr>
                    <a:solidFill>
                      <a:schemeClr val="accent1"/>
                    </a:solidFill>
                  </a:tcPr>
                </a:tc>
                <a:tc>
                  <a:txBody>
                    <a:bodyPr/>
                    <a:lstStyle/>
                    <a:p>
                      <a:r>
                        <a:rPr lang="en-US" sz="1200" dirty="0">
                          <a:solidFill>
                            <a:schemeClr val="tx1"/>
                          </a:solidFill>
                        </a:rPr>
                        <a:t>...</a:t>
                      </a:r>
                    </a:p>
                  </a:txBody>
                  <a:tcPr/>
                </a:tc>
                <a:extLst>
                  <a:ext uri="{0D108BD9-81ED-4DB2-BD59-A6C34878D82A}">
                    <a16:rowId xmlns:a16="http://schemas.microsoft.com/office/drawing/2014/main" val="975515952"/>
                  </a:ext>
                </a:extLst>
              </a:tr>
              <a:tr h="370840">
                <a:tc>
                  <a:txBody>
                    <a:bodyPr/>
                    <a:lstStyle/>
                    <a:p>
                      <a:r>
                        <a:rPr lang="de-AT" sz="1200" b="1" dirty="0">
                          <a:solidFill>
                            <a:schemeClr val="bg1"/>
                          </a:solidFill>
                        </a:rPr>
                        <a:t>Reference (</a:t>
                      </a:r>
                      <a:r>
                        <a:rPr lang="de-AT" sz="1200" b="1" dirty="0" err="1">
                          <a:solidFill>
                            <a:schemeClr val="bg1"/>
                          </a:solidFill>
                        </a:rPr>
                        <a:t>Specific</a:t>
                      </a:r>
                      <a:r>
                        <a:rPr lang="de-AT" sz="1200" b="1" dirty="0">
                          <a:solidFill>
                            <a:schemeClr val="bg1"/>
                          </a:solidFill>
                        </a:rPr>
                        <a:t>) Trailer Aero</a:t>
                      </a:r>
                    </a:p>
                  </a:txBody>
                  <a:tcPr>
                    <a:solidFill>
                      <a:schemeClr val="accent1"/>
                    </a:solidFill>
                  </a:tcPr>
                </a:tc>
                <a:tc>
                  <a:txBody>
                    <a:bodyPr/>
                    <a:lstStyle/>
                    <a:p>
                      <a:pPr>
                        <a:spcBef>
                          <a:spcPts val="600"/>
                        </a:spcBef>
                      </a:pPr>
                      <a:r>
                        <a:rPr lang="de-AT" sz="1200" dirty="0"/>
                        <a:t>Main </a:t>
                      </a:r>
                      <a:r>
                        <a:rPr lang="de-AT" sz="1200" dirty="0" err="1"/>
                        <a:t>dimensions</a:t>
                      </a:r>
                      <a:r>
                        <a:rPr lang="de-AT" sz="1200" dirty="0"/>
                        <a:t> and </a:t>
                      </a:r>
                      <a:r>
                        <a:rPr lang="de-AT" sz="1200" dirty="0" err="1"/>
                        <a:t>air</a:t>
                      </a:r>
                      <a:r>
                        <a:rPr lang="de-AT" sz="1200" dirty="0"/>
                        <a:t> </a:t>
                      </a:r>
                      <a:r>
                        <a:rPr lang="de-AT" sz="1200" dirty="0" err="1"/>
                        <a:t>drag</a:t>
                      </a:r>
                      <a:r>
                        <a:rPr lang="de-AT" sz="1200" dirty="0"/>
                        <a:t> </a:t>
                      </a:r>
                      <a:r>
                        <a:rPr lang="de-AT" sz="1200" dirty="0" err="1"/>
                        <a:t>values</a:t>
                      </a:r>
                      <a:r>
                        <a:rPr lang="de-AT" sz="1200" dirty="0"/>
                        <a:t> </a:t>
                      </a:r>
                      <a:r>
                        <a:rPr lang="de-AT" sz="1200" dirty="0" err="1"/>
                        <a:t>of</a:t>
                      </a:r>
                      <a:r>
                        <a:rPr lang="de-AT" sz="1200" dirty="0"/>
                        <a:t> </a:t>
                      </a:r>
                      <a:r>
                        <a:rPr lang="de-AT" sz="1200" dirty="0" err="1"/>
                        <a:t>the</a:t>
                      </a:r>
                      <a:r>
                        <a:rPr lang="de-AT" sz="1200" dirty="0"/>
                        <a:t> </a:t>
                      </a:r>
                      <a:r>
                        <a:rPr lang="de-AT" sz="1200" dirty="0" err="1"/>
                        <a:t>generic</a:t>
                      </a:r>
                      <a:r>
                        <a:rPr lang="de-AT" sz="1200" dirty="0"/>
                        <a:t> CAD </a:t>
                      </a:r>
                      <a:r>
                        <a:rPr lang="de-AT" sz="1200" dirty="0" err="1"/>
                        <a:t>models</a:t>
                      </a:r>
                      <a:r>
                        <a:rPr lang="de-AT" sz="1200" dirty="0"/>
                        <a:t> </a:t>
                      </a:r>
                      <a:r>
                        <a:rPr lang="de-AT" sz="1200" dirty="0" err="1"/>
                        <a:t>used</a:t>
                      </a:r>
                      <a:r>
                        <a:rPr lang="de-AT" sz="1200" dirty="0"/>
                        <a:t> </a:t>
                      </a:r>
                      <a:r>
                        <a:rPr lang="de-AT" sz="1200" dirty="0" err="1"/>
                        <a:t>as</a:t>
                      </a:r>
                      <a:r>
                        <a:rPr lang="de-AT" sz="1200" dirty="0"/>
                        <a:t> a </a:t>
                      </a:r>
                      <a:r>
                        <a:rPr lang="de-AT" sz="1200" dirty="0" err="1"/>
                        <a:t>starting</a:t>
                      </a:r>
                      <a:r>
                        <a:rPr lang="de-AT" sz="1200" dirty="0"/>
                        <a:t> </a:t>
                      </a:r>
                      <a:r>
                        <a:rPr lang="de-AT" sz="1200" dirty="0" err="1"/>
                        <a:t>point</a:t>
                      </a:r>
                      <a:r>
                        <a:rPr lang="de-AT" sz="1200" dirty="0"/>
                        <a:t> </a:t>
                      </a:r>
                      <a:r>
                        <a:rPr lang="de-AT" sz="1200" dirty="0" err="1"/>
                        <a:t>to</a:t>
                      </a:r>
                      <a:r>
                        <a:rPr lang="de-AT" sz="1200" dirty="0"/>
                        <a:t> </a:t>
                      </a:r>
                      <a:r>
                        <a:rPr lang="de-AT" sz="1200" dirty="0" err="1"/>
                        <a:t>calulate</a:t>
                      </a:r>
                      <a:r>
                        <a:rPr lang="de-AT" sz="1200" dirty="0"/>
                        <a:t> </a:t>
                      </a:r>
                      <a:r>
                        <a:rPr lang="de-AT" sz="1200" dirty="0" err="1"/>
                        <a:t>the</a:t>
                      </a:r>
                      <a:r>
                        <a:rPr lang="de-AT" sz="1200" dirty="0"/>
                        <a:t> </a:t>
                      </a:r>
                      <a:r>
                        <a:rPr lang="de-AT" sz="1200" dirty="0" err="1"/>
                        <a:t>air</a:t>
                      </a:r>
                      <a:r>
                        <a:rPr lang="de-AT" sz="1200" dirty="0"/>
                        <a:t> </a:t>
                      </a:r>
                      <a:r>
                        <a:rPr lang="de-AT" sz="1200" dirty="0" err="1"/>
                        <a:t>drag</a:t>
                      </a:r>
                      <a:r>
                        <a:rPr lang="de-AT" sz="1200" dirty="0"/>
                        <a:t> </a:t>
                      </a:r>
                      <a:r>
                        <a:rPr lang="de-AT" sz="1200" dirty="0" err="1"/>
                        <a:t>of</a:t>
                      </a:r>
                      <a:r>
                        <a:rPr lang="de-AT" sz="1200" dirty="0"/>
                        <a:t> </a:t>
                      </a:r>
                      <a:r>
                        <a:rPr lang="de-AT" sz="1200" dirty="0" err="1"/>
                        <a:t>trailers</a:t>
                      </a:r>
                      <a:r>
                        <a:rPr lang="de-AT" sz="1200" dirty="0"/>
                        <a:t> </a:t>
                      </a:r>
                      <a:r>
                        <a:rPr lang="de-AT" sz="1200" dirty="0" err="1"/>
                        <a:t>with</a:t>
                      </a:r>
                      <a:r>
                        <a:rPr lang="de-AT" sz="1200" dirty="0"/>
                        <a:t> different </a:t>
                      </a:r>
                      <a:r>
                        <a:rPr lang="de-AT" sz="1200" dirty="0" err="1"/>
                        <a:t>dimensions</a:t>
                      </a:r>
                      <a:r>
                        <a:rPr lang="de-AT" sz="1200" dirty="0"/>
                        <a:t> (Reference/</a:t>
                      </a:r>
                      <a:r>
                        <a:rPr lang="de-AT" sz="1200" dirty="0" err="1"/>
                        <a:t>Specific</a:t>
                      </a:r>
                      <a:r>
                        <a:rPr lang="de-AT" sz="1200" dirty="0"/>
                        <a:t> </a:t>
                      </a:r>
                      <a:r>
                        <a:rPr lang="de-AT" sz="1200" dirty="0" err="1"/>
                        <a:t>trailer</a:t>
                      </a:r>
                      <a:r>
                        <a:rPr lang="de-AT" sz="1200" dirty="0"/>
                        <a:t>)</a:t>
                      </a:r>
                    </a:p>
                    <a:p>
                      <a:pPr>
                        <a:spcBef>
                          <a:spcPts val="600"/>
                        </a:spcBef>
                      </a:pPr>
                      <a:r>
                        <a:rPr lang="de-AT" sz="1200" dirty="0" err="1"/>
                        <a:t>Step</a:t>
                      </a:r>
                      <a:r>
                        <a:rPr lang="de-AT" sz="1200" dirty="0"/>
                        <a:t> </a:t>
                      </a:r>
                      <a:r>
                        <a:rPr lang="de-AT" sz="1200" dirty="0" err="1"/>
                        <a:t>by</a:t>
                      </a:r>
                      <a:r>
                        <a:rPr lang="de-AT" sz="1200" dirty="0"/>
                        <a:t> </a:t>
                      </a:r>
                      <a:r>
                        <a:rPr lang="de-AT" sz="1200" dirty="0" err="1"/>
                        <a:t>step</a:t>
                      </a:r>
                      <a:r>
                        <a:rPr lang="de-AT" sz="1200" dirty="0"/>
                        <a:t> </a:t>
                      </a:r>
                      <a:r>
                        <a:rPr lang="de-AT" sz="1200" dirty="0" err="1"/>
                        <a:t>calculation</a:t>
                      </a:r>
                      <a:r>
                        <a:rPr lang="de-AT" sz="1200" dirty="0"/>
                        <a:t> </a:t>
                      </a:r>
                      <a:r>
                        <a:rPr lang="de-AT" sz="1200" dirty="0" err="1"/>
                        <a:t>process</a:t>
                      </a:r>
                      <a:r>
                        <a:rPr lang="de-AT" sz="1200" dirty="0"/>
                        <a:t> on </a:t>
                      </a:r>
                      <a:r>
                        <a:rPr lang="de-AT" sz="1200" dirty="0" err="1"/>
                        <a:t>how</a:t>
                      </a:r>
                      <a:r>
                        <a:rPr lang="de-AT" sz="1200" dirty="0"/>
                        <a:t> </a:t>
                      </a:r>
                      <a:r>
                        <a:rPr lang="de-AT" sz="1200" dirty="0" err="1"/>
                        <a:t>to</a:t>
                      </a:r>
                      <a:r>
                        <a:rPr lang="de-AT" sz="1200" dirty="0"/>
                        <a:t> </a:t>
                      </a:r>
                      <a:r>
                        <a:rPr lang="de-AT" sz="1200" dirty="0" err="1"/>
                        <a:t>apply</a:t>
                      </a:r>
                      <a:r>
                        <a:rPr lang="de-AT" sz="1200" dirty="0"/>
                        <a:t> </a:t>
                      </a:r>
                      <a:r>
                        <a:rPr lang="de-AT" sz="1200" dirty="0" err="1"/>
                        <a:t>the</a:t>
                      </a:r>
                      <a:r>
                        <a:rPr lang="de-AT" sz="1200" dirty="0"/>
                        <a:t> individual </a:t>
                      </a:r>
                      <a:r>
                        <a:rPr lang="de-AT" sz="1200" dirty="0" err="1"/>
                        <a:t>aero</a:t>
                      </a:r>
                      <a:r>
                        <a:rPr lang="de-AT" sz="1200" dirty="0"/>
                        <a:t> </a:t>
                      </a:r>
                      <a:r>
                        <a:rPr lang="de-AT" sz="1200" dirty="0" err="1"/>
                        <a:t>corrections</a:t>
                      </a:r>
                      <a:r>
                        <a:rPr lang="de-AT" sz="1200" dirty="0"/>
                        <a:t> </a:t>
                      </a:r>
                      <a:r>
                        <a:rPr lang="de-AT" sz="1200" dirty="0" err="1"/>
                        <a:t>to</a:t>
                      </a:r>
                      <a:r>
                        <a:rPr lang="de-AT" sz="1200" dirty="0"/>
                        <a:t> </a:t>
                      </a:r>
                      <a:r>
                        <a:rPr lang="de-AT" sz="1200" dirty="0" err="1"/>
                        <a:t>get</a:t>
                      </a:r>
                      <a:r>
                        <a:rPr lang="de-AT" sz="1200" dirty="0"/>
                        <a:t> </a:t>
                      </a:r>
                      <a:r>
                        <a:rPr lang="de-AT" sz="1200" dirty="0" err="1"/>
                        <a:t>the</a:t>
                      </a:r>
                      <a:r>
                        <a:rPr lang="de-AT" sz="1200" dirty="0"/>
                        <a:t> final </a:t>
                      </a:r>
                      <a:r>
                        <a:rPr lang="de-AT" sz="1200" dirty="0" err="1"/>
                        <a:t>air</a:t>
                      </a:r>
                      <a:r>
                        <a:rPr lang="de-AT" sz="1200" dirty="0"/>
                        <a:t> </a:t>
                      </a:r>
                      <a:r>
                        <a:rPr lang="de-AT" sz="1200" dirty="0" err="1"/>
                        <a:t>drag</a:t>
                      </a:r>
                      <a:r>
                        <a:rPr lang="de-AT" sz="1200" dirty="0"/>
                        <a:t> </a:t>
                      </a:r>
                      <a:r>
                        <a:rPr lang="de-AT" sz="1200" dirty="0" err="1"/>
                        <a:t>values</a:t>
                      </a:r>
                      <a:r>
                        <a:rPr lang="de-AT" sz="1200" dirty="0"/>
                        <a:t> </a:t>
                      </a:r>
                      <a:r>
                        <a:rPr lang="de-AT" sz="1200" dirty="0" err="1"/>
                        <a:t>for</a:t>
                      </a:r>
                      <a:r>
                        <a:rPr lang="de-AT" sz="1200" dirty="0"/>
                        <a:t> a </a:t>
                      </a:r>
                      <a:r>
                        <a:rPr lang="de-AT" sz="1200" dirty="0" err="1"/>
                        <a:t>reference</a:t>
                      </a:r>
                      <a:r>
                        <a:rPr lang="de-AT" sz="1200" dirty="0"/>
                        <a:t>/</a:t>
                      </a:r>
                      <a:r>
                        <a:rPr lang="de-AT" sz="1200" dirty="0" err="1"/>
                        <a:t>specific</a:t>
                      </a:r>
                      <a:r>
                        <a:rPr lang="de-AT" sz="1200" dirty="0"/>
                        <a:t> </a:t>
                      </a:r>
                      <a:r>
                        <a:rPr lang="de-AT" sz="1200" dirty="0" err="1"/>
                        <a:t>trailer</a:t>
                      </a:r>
                      <a:endParaRPr lang="de-AT" sz="1200" dirty="0"/>
                    </a:p>
                    <a:p>
                      <a:pPr>
                        <a:spcBef>
                          <a:spcPts val="600"/>
                        </a:spcBef>
                      </a:pPr>
                      <a:r>
                        <a:rPr lang="en-US" sz="1200" dirty="0"/>
                        <a:t>In the columns </a:t>
                      </a:r>
                      <a:r>
                        <a:rPr lang="en-US" sz="1200" dirty="0">
                          <a:solidFill>
                            <a:srgbClr val="FF0000"/>
                          </a:solidFill>
                        </a:rPr>
                        <a:t>AN to AX</a:t>
                      </a:r>
                      <a:r>
                        <a:rPr lang="en-US" sz="1200" dirty="0"/>
                        <a:t>, the aero-relevant data can be entered for the individual trailer groups. The results for </a:t>
                      </a:r>
                      <a:r>
                        <a:rPr lang="en-US" sz="1200" dirty="0" err="1"/>
                        <a:t>CdxA</a:t>
                      </a:r>
                      <a:r>
                        <a:rPr lang="en-US" sz="1200" dirty="0"/>
                        <a:t>(0) as well as the polynomial coefficients of the polar can then be found in the columns </a:t>
                      </a:r>
                      <a:r>
                        <a:rPr lang="en-US" sz="1200" dirty="0">
                          <a:solidFill>
                            <a:srgbClr val="FF0000"/>
                          </a:solidFill>
                        </a:rPr>
                        <a:t>DT</a:t>
                      </a:r>
                      <a:r>
                        <a:rPr lang="en-US" sz="1200" dirty="0"/>
                        <a:t> and</a:t>
                      </a:r>
                      <a:r>
                        <a:rPr lang="en-US" sz="1200" baseline="0" dirty="0"/>
                        <a:t> </a:t>
                      </a:r>
                      <a:r>
                        <a:rPr lang="en-US" sz="1200" baseline="0" dirty="0">
                          <a:solidFill>
                            <a:srgbClr val="FF0000"/>
                          </a:solidFill>
                        </a:rPr>
                        <a:t>EB to ED</a:t>
                      </a:r>
                      <a:r>
                        <a:rPr lang="en-US" sz="1200" baseline="0" dirty="0"/>
                        <a:t>.</a:t>
                      </a:r>
                      <a:endParaRPr lang="de-AT" sz="1200" dirty="0"/>
                    </a:p>
                  </a:txBody>
                  <a:tcPr/>
                </a:tc>
                <a:extLst>
                  <a:ext uri="{0D108BD9-81ED-4DB2-BD59-A6C34878D82A}">
                    <a16:rowId xmlns:a16="http://schemas.microsoft.com/office/drawing/2014/main" val="4122913343"/>
                  </a:ext>
                </a:extLst>
              </a:tr>
              <a:tr h="484564">
                <a:tc>
                  <a:txBody>
                    <a:bodyPr/>
                    <a:lstStyle/>
                    <a:p>
                      <a:r>
                        <a:rPr lang="de-AT" sz="1200" b="1" dirty="0" err="1">
                          <a:solidFill>
                            <a:schemeClr val="bg1"/>
                          </a:solidFill>
                        </a:rPr>
                        <a:t>Combination</a:t>
                      </a:r>
                      <a:r>
                        <a:rPr lang="de-AT" sz="1200" b="1" dirty="0">
                          <a:solidFill>
                            <a:schemeClr val="bg1"/>
                          </a:solidFill>
                        </a:rPr>
                        <a:t> Add-</a:t>
                      </a:r>
                      <a:r>
                        <a:rPr lang="de-AT" sz="1200" b="1" dirty="0" err="1">
                          <a:solidFill>
                            <a:schemeClr val="bg1"/>
                          </a:solidFill>
                        </a:rPr>
                        <a:t>ons</a:t>
                      </a:r>
                      <a:r>
                        <a:rPr lang="de-AT" sz="1200" b="1" dirty="0">
                          <a:solidFill>
                            <a:schemeClr val="bg1"/>
                          </a:solidFill>
                        </a:rPr>
                        <a:t> D</a:t>
                      </a:r>
                      <a:r>
                        <a:rPr lang="de-AT" sz="1200" b="1" dirty="0">
                          <a:solidFill>
                            <a:srgbClr val="7030A0"/>
                          </a:solidFill>
                        </a:rPr>
                        <a:t>X*</a:t>
                      </a:r>
                    </a:p>
                  </a:txBody>
                  <a:tcPr>
                    <a:solidFill>
                      <a:schemeClr val="accent1"/>
                    </a:solidFill>
                  </a:tcPr>
                </a:tc>
                <a:tc>
                  <a:txBody>
                    <a:bodyPr/>
                    <a:lstStyle/>
                    <a:p>
                      <a:r>
                        <a:rPr lang="de-AT" sz="1200" dirty="0"/>
                        <a:t>Air </a:t>
                      </a:r>
                      <a:r>
                        <a:rPr lang="de-AT" sz="1200" dirty="0" err="1"/>
                        <a:t>drag</a:t>
                      </a:r>
                      <a:r>
                        <a:rPr lang="de-AT" sz="1200" dirty="0"/>
                        <a:t> </a:t>
                      </a:r>
                      <a:r>
                        <a:rPr lang="de-AT" sz="1200" dirty="0" err="1"/>
                        <a:t>reduction</a:t>
                      </a:r>
                      <a:r>
                        <a:rPr lang="de-AT" sz="1200" dirty="0"/>
                        <a:t> in % </a:t>
                      </a:r>
                      <a:r>
                        <a:rPr lang="de-AT" sz="1200" dirty="0" err="1"/>
                        <a:t>for</a:t>
                      </a:r>
                      <a:r>
                        <a:rPr lang="de-AT" sz="1200" dirty="0"/>
                        <a:t> </a:t>
                      </a:r>
                      <a:r>
                        <a:rPr lang="de-AT" sz="1200" dirty="0" err="1"/>
                        <a:t>the</a:t>
                      </a:r>
                      <a:r>
                        <a:rPr lang="de-AT" sz="1200" dirty="0"/>
                        <a:t> </a:t>
                      </a:r>
                      <a:r>
                        <a:rPr lang="de-AT" sz="1200" dirty="0" err="1"/>
                        <a:t>specific</a:t>
                      </a:r>
                      <a:r>
                        <a:rPr lang="de-AT" sz="1200" dirty="0"/>
                        <a:t> </a:t>
                      </a:r>
                      <a:r>
                        <a:rPr lang="de-AT" sz="1200" dirty="0" err="1"/>
                        <a:t>combination</a:t>
                      </a:r>
                      <a:r>
                        <a:rPr lang="de-AT" sz="1200" dirty="0"/>
                        <a:t> </a:t>
                      </a:r>
                      <a:r>
                        <a:rPr lang="de-AT" sz="1200" dirty="0" err="1"/>
                        <a:t>of</a:t>
                      </a:r>
                      <a:r>
                        <a:rPr lang="de-AT" sz="1200" dirty="0"/>
                        <a:t> </a:t>
                      </a:r>
                      <a:r>
                        <a:rPr lang="de-AT" sz="1200" dirty="0" err="1"/>
                        <a:t>standard</a:t>
                      </a:r>
                      <a:r>
                        <a:rPr lang="de-AT" sz="1200" dirty="0"/>
                        <a:t> </a:t>
                      </a:r>
                      <a:r>
                        <a:rPr lang="de-AT" sz="1200" dirty="0" err="1"/>
                        <a:t>aerodynamic</a:t>
                      </a:r>
                      <a:r>
                        <a:rPr lang="de-AT" sz="1200" dirty="0"/>
                        <a:t> </a:t>
                      </a:r>
                      <a:r>
                        <a:rPr lang="de-AT" sz="1200" dirty="0" err="1"/>
                        <a:t>devices</a:t>
                      </a:r>
                      <a:r>
                        <a:rPr lang="de-AT" sz="1200" dirty="0"/>
                        <a:t> (</a:t>
                      </a:r>
                      <a:r>
                        <a:rPr lang="de-AT" sz="1200" dirty="0" err="1"/>
                        <a:t>the</a:t>
                      </a:r>
                      <a:r>
                        <a:rPr lang="de-AT" sz="1200" dirty="0"/>
                        <a:t> </a:t>
                      </a:r>
                      <a:r>
                        <a:rPr lang="de-AT" sz="1200" dirty="0" err="1"/>
                        <a:t>reduction</a:t>
                      </a:r>
                      <a:r>
                        <a:rPr lang="de-AT" sz="1200" dirty="0"/>
                        <a:t> </a:t>
                      </a:r>
                      <a:r>
                        <a:rPr lang="de-AT" sz="1200" dirty="0" err="1"/>
                        <a:t>values</a:t>
                      </a:r>
                      <a:r>
                        <a:rPr lang="de-AT" sz="1200" dirty="0"/>
                        <a:t> </a:t>
                      </a:r>
                      <a:r>
                        <a:rPr lang="de-AT" sz="1200" dirty="0" err="1"/>
                        <a:t>can</a:t>
                      </a:r>
                      <a:r>
                        <a:rPr lang="de-AT" sz="1200" dirty="0"/>
                        <a:t> also </a:t>
                      </a:r>
                      <a:r>
                        <a:rPr lang="de-AT" sz="1200" dirty="0" err="1"/>
                        <a:t>be</a:t>
                      </a:r>
                      <a:r>
                        <a:rPr lang="de-AT" sz="1200" dirty="0"/>
                        <a:t> </a:t>
                      </a:r>
                      <a:r>
                        <a:rPr lang="de-AT" sz="1200" dirty="0" err="1"/>
                        <a:t>found</a:t>
                      </a:r>
                      <a:r>
                        <a:rPr lang="de-AT" sz="1200" dirty="0"/>
                        <a:t> in </a:t>
                      </a:r>
                      <a:r>
                        <a:rPr lang="de-AT" sz="1200" dirty="0" err="1"/>
                        <a:t>the</a:t>
                      </a:r>
                      <a:r>
                        <a:rPr lang="de-AT" sz="1200" dirty="0"/>
                        <a:t> </a:t>
                      </a:r>
                      <a:r>
                        <a:rPr lang="de-AT" sz="1200" dirty="0" err="1"/>
                        <a:t>sheet</a:t>
                      </a:r>
                      <a:r>
                        <a:rPr lang="de-AT" sz="1200" dirty="0"/>
                        <a:t> „</a:t>
                      </a:r>
                      <a:r>
                        <a:rPr lang="de-AT" sz="1200" err="1"/>
                        <a:t>Specific</a:t>
                      </a:r>
                      <a:r>
                        <a:rPr lang="de-AT" sz="1200"/>
                        <a:t> Trailer“</a:t>
                      </a:r>
                      <a:endParaRPr lang="de-AT" sz="1200" dirty="0"/>
                    </a:p>
                  </a:txBody>
                  <a:tcPr/>
                </a:tc>
                <a:extLst>
                  <a:ext uri="{0D108BD9-81ED-4DB2-BD59-A6C34878D82A}">
                    <a16:rowId xmlns:a16="http://schemas.microsoft.com/office/drawing/2014/main" val="3760094025"/>
                  </a:ext>
                </a:extLst>
              </a:tr>
              <a:tr h="370840">
                <a:tc>
                  <a:txBody>
                    <a:bodyPr/>
                    <a:lstStyle/>
                    <a:p>
                      <a:r>
                        <a:rPr lang="de-AT" sz="1200" b="1" dirty="0">
                          <a:solidFill>
                            <a:schemeClr val="bg1"/>
                          </a:solidFill>
                        </a:rPr>
                        <a:t>Efficiency </a:t>
                      </a:r>
                      <a:r>
                        <a:rPr lang="de-AT" sz="1200" b="1" dirty="0" err="1">
                          <a:solidFill>
                            <a:schemeClr val="bg1"/>
                          </a:solidFill>
                        </a:rPr>
                        <a:t>Ratios</a:t>
                      </a:r>
                      <a:r>
                        <a:rPr lang="de-AT" sz="1200" b="1" dirty="0">
                          <a:solidFill>
                            <a:schemeClr val="bg1"/>
                          </a:solidFill>
                        </a:rPr>
                        <a:t> - DA</a:t>
                      </a:r>
                    </a:p>
                  </a:txBody>
                  <a:tcPr>
                    <a:solidFill>
                      <a:schemeClr val="accent1"/>
                    </a:solidFill>
                  </a:tcPr>
                </a:tc>
                <a:tc>
                  <a:txBody>
                    <a:bodyPr/>
                    <a:lstStyle/>
                    <a:p>
                      <a:pPr marL="0" lvl="0" indent="0">
                        <a:buFont typeface="Arial" panose="020B0604020202020204" pitchFamily="34" charset="0"/>
                        <a:buNone/>
                      </a:pPr>
                      <a:r>
                        <a:rPr lang="de-AT" sz="1200" dirty="0" err="1"/>
                        <a:t>Example</a:t>
                      </a:r>
                      <a:r>
                        <a:rPr lang="de-AT" sz="1200" dirty="0"/>
                        <a:t> on </a:t>
                      </a:r>
                      <a:r>
                        <a:rPr lang="de-AT" sz="1200" dirty="0" err="1"/>
                        <a:t>how</a:t>
                      </a:r>
                      <a:r>
                        <a:rPr lang="de-AT" sz="1200" dirty="0"/>
                        <a:t> </a:t>
                      </a:r>
                      <a:r>
                        <a:rPr lang="de-AT" sz="1200" dirty="0" err="1"/>
                        <a:t>the</a:t>
                      </a:r>
                      <a:r>
                        <a:rPr lang="de-AT" sz="1200" dirty="0"/>
                        <a:t> individual and </a:t>
                      </a:r>
                      <a:r>
                        <a:rPr lang="de-AT" sz="1200" dirty="0" err="1"/>
                        <a:t>weighted</a:t>
                      </a:r>
                      <a:r>
                        <a:rPr lang="de-AT" sz="1200" dirty="0"/>
                        <a:t> </a:t>
                      </a:r>
                      <a:r>
                        <a:rPr lang="de-AT" sz="1200" dirty="0" err="1"/>
                        <a:t>efficiency</a:t>
                      </a:r>
                      <a:r>
                        <a:rPr lang="de-AT" sz="1200" dirty="0"/>
                        <a:t> </a:t>
                      </a:r>
                      <a:r>
                        <a:rPr lang="de-AT" sz="1200" dirty="0" err="1"/>
                        <a:t>ratios</a:t>
                      </a:r>
                      <a:r>
                        <a:rPr lang="de-AT" sz="1200" dirty="0"/>
                        <a:t> </a:t>
                      </a:r>
                      <a:r>
                        <a:rPr lang="de-AT" sz="1200" dirty="0" err="1"/>
                        <a:t>are</a:t>
                      </a:r>
                      <a:r>
                        <a:rPr lang="de-AT" sz="1200" dirty="0"/>
                        <a:t> </a:t>
                      </a:r>
                      <a:r>
                        <a:rPr lang="de-AT" sz="1200" dirty="0" err="1"/>
                        <a:t>calculated</a:t>
                      </a:r>
                      <a:r>
                        <a:rPr lang="de-AT" sz="1200" dirty="0"/>
                        <a:t> </a:t>
                      </a:r>
                      <a:r>
                        <a:rPr lang="de-AT" sz="1200" dirty="0" err="1"/>
                        <a:t>based</a:t>
                      </a:r>
                      <a:r>
                        <a:rPr lang="de-AT" sz="1200" dirty="0"/>
                        <a:t> on a DA </a:t>
                      </a:r>
                      <a:r>
                        <a:rPr lang="de-AT" sz="1200" dirty="0" err="1"/>
                        <a:t>trailer</a:t>
                      </a:r>
                      <a:endParaRPr lang="de-AT" sz="1200" dirty="0"/>
                    </a:p>
                  </a:txBody>
                  <a:tcPr/>
                </a:tc>
                <a:extLst>
                  <a:ext uri="{0D108BD9-81ED-4DB2-BD59-A6C34878D82A}">
                    <a16:rowId xmlns:a16="http://schemas.microsoft.com/office/drawing/2014/main" val="1388832532"/>
                  </a:ext>
                </a:extLst>
              </a:tr>
            </a:tbl>
          </a:graphicData>
        </a:graphic>
      </p:graphicFrame>
      <p:sp>
        <p:nvSpPr>
          <p:cNvPr id="4" name="Textfeld 3">
            <a:extLst>
              <a:ext uri="{FF2B5EF4-FFF2-40B4-BE49-F238E27FC236}">
                <a16:creationId xmlns:a16="http://schemas.microsoft.com/office/drawing/2014/main" id="{B67456C1-01C3-4A4A-B76D-D3DBDE9A59FF}"/>
              </a:ext>
            </a:extLst>
          </p:cNvPr>
          <p:cNvSpPr txBox="1"/>
          <p:nvPr/>
        </p:nvSpPr>
        <p:spPr>
          <a:xfrm>
            <a:off x="628650" y="4240128"/>
            <a:ext cx="2486578" cy="707886"/>
          </a:xfrm>
          <a:prstGeom prst="rect">
            <a:avLst/>
          </a:prstGeom>
          <a:noFill/>
        </p:spPr>
        <p:txBody>
          <a:bodyPr wrap="none" rtlCol="0">
            <a:spAutoFit/>
          </a:bodyPr>
          <a:lstStyle/>
          <a:p>
            <a:r>
              <a:rPr lang="de-AT" sz="1000" dirty="0">
                <a:solidFill>
                  <a:srgbClr val="7030A0"/>
                </a:solidFill>
              </a:rPr>
              <a:t>*</a:t>
            </a:r>
            <a:r>
              <a:rPr lang="de-AT" sz="1000" dirty="0"/>
              <a:t>D</a:t>
            </a:r>
            <a:r>
              <a:rPr lang="de-AT" sz="1000" dirty="0">
                <a:solidFill>
                  <a:srgbClr val="7030A0"/>
                </a:solidFill>
              </a:rPr>
              <a:t>X</a:t>
            </a:r>
            <a:r>
              <a:rPr lang="de-AT" sz="1000" dirty="0"/>
              <a:t>... </a:t>
            </a:r>
            <a:r>
              <a:rPr lang="de-AT" sz="1000" dirty="0" err="1"/>
              <a:t>Placeholder</a:t>
            </a:r>
            <a:r>
              <a:rPr lang="de-AT" sz="1000" dirty="0"/>
              <a:t> </a:t>
            </a:r>
            <a:r>
              <a:rPr lang="de-AT" sz="1000" dirty="0" err="1"/>
              <a:t>depending</a:t>
            </a:r>
            <a:r>
              <a:rPr lang="de-AT" sz="1000" dirty="0"/>
              <a:t> on </a:t>
            </a:r>
            <a:r>
              <a:rPr lang="de-AT" sz="1000" dirty="0" err="1"/>
              <a:t>trailer</a:t>
            </a:r>
            <a:r>
              <a:rPr lang="de-AT" sz="1000" dirty="0"/>
              <a:t> type</a:t>
            </a:r>
          </a:p>
          <a:p>
            <a:r>
              <a:rPr lang="de-AT" sz="1000" dirty="0"/>
              <a:t>	D</a:t>
            </a:r>
            <a:r>
              <a:rPr lang="de-AT" sz="1000" dirty="0">
                <a:solidFill>
                  <a:srgbClr val="7030A0"/>
                </a:solidFill>
              </a:rPr>
              <a:t>A</a:t>
            </a:r>
            <a:r>
              <a:rPr lang="de-AT" sz="1000" dirty="0"/>
              <a:t>... </a:t>
            </a:r>
            <a:r>
              <a:rPr lang="de-AT" sz="1000" dirty="0" err="1"/>
              <a:t>Semi</a:t>
            </a:r>
            <a:r>
              <a:rPr lang="de-AT" sz="1000" dirty="0"/>
              <a:t> Trailer</a:t>
            </a:r>
          </a:p>
          <a:p>
            <a:r>
              <a:rPr lang="de-AT" sz="1000" dirty="0"/>
              <a:t>	D</a:t>
            </a:r>
            <a:r>
              <a:rPr lang="de-AT" sz="1000" dirty="0">
                <a:solidFill>
                  <a:srgbClr val="7030A0"/>
                </a:solidFill>
              </a:rPr>
              <a:t>B</a:t>
            </a:r>
            <a:r>
              <a:rPr lang="de-AT" sz="1000" dirty="0"/>
              <a:t>... </a:t>
            </a:r>
            <a:r>
              <a:rPr lang="de-AT" sz="1000" dirty="0" err="1"/>
              <a:t>Drawbar</a:t>
            </a:r>
            <a:r>
              <a:rPr lang="de-AT" sz="1000" dirty="0"/>
              <a:t> Trailer</a:t>
            </a:r>
          </a:p>
          <a:p>
            <a:r>
              <a:rPr lang="de-AT" sz="1000" dirty="0"/>
              <a:t>	D</a:t>
            </a:r>
            <a:r>
              <a:rPr lang="de-AT" sz="1000" dirty="0">
                <a:solidFill>
                  <a:srgbClr val="7030A0"/>
                </a:solidFill>
              </a:rPr>
              <a:t>C</a:t>
            </a:r>
            <a:r>
              <a:rPr lang="de-AT" sz="1000" dirty="0"/>
              <a:t>... </a:t>
            </a:r>
            <a:r>
              <a:rPr lang="de-AT" sz="1000" dirty="0" err="1"/>
              <a:t>Centre</a:t>
            </a:r>
            <a:r>
              <a:rPr lang="de-AT" sz="1000" dirty="0"/>
              <a:t> </a:t>
            </a:r>
            <a:r>
              <a:rPr lang="de-AT" sz="1000" dirty="0" err="1"/>
              <a:t>axle</a:t>
            </a:r>
            <a:r>
              <a:rPr lang="de-AT" sz="1000" dirty="0"/>
              <a:t> </a:t>
            </a:r>
            <a:r>
              <a:rPr lang="de-AT" sz="1000" dirty="0" err="1"/>
              <a:t>Traielr</a:t>
            </a:r>
            <a:endParaRPr lang="de-AT" sz="1000" dirty="0"/>
          </a:p>
        </p:txBody>
      </p:sp>
    </p:spTree>
    <p:extLst>
      <p:ext uri="{BB962C8B-B14F-4D97-AF65-F5344CB8AC3E}">
        <p14:creationId xmlns:p14="http://schemas.microsoft.com/office/powerpoint/2010/main" val="132687293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0</TotalTime>
  <Words>2048</Words>
  <Application>Microsoft Office PowerPoint</Application>
  <PresentationFormat>Bildschirmpräsentation (16:9)</PresentationFormat>
  <Paragraphs>261</Paragraphs>
  <Slides>21</Slides>
  <Notes>18</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21</vt:i4>
      </vt:variant>
    </vt:vector>
  </HeadingPairs>
  <TitlesOfParts>
    <vt:vector size="29" baseType="lpstr">
      <vt:lpstr>MS PGothic</vt:lpstr>
      <vt:lpstr>MS PGothic</vt:lpstr>
      <vt:lpstr>Arial</vt:lpstr>
      <vt:lpstr>Calibri</vt:lpstr>
      <vt:lpstr>Calibri Light</vt:lpstr>
      <vt:lpstr>Verdana</vt:lpstr>
      <vt:lpstr>Wingdings</vt:lpstr>
      <vt:lpstr>Office Theme</vt:lpstr>
      <vt:lpstr> VECTO Trailer Tool </vt:lpstr>
      <vt:lpstr>Content</vt:lpstr>
      <vt:lpstr>References to information in Technical Annexes of the Trailer Regulation</vt:lpstr>
      <vt:lpstr>VECTO Trailer Tool – Software package</vt:lpstr>
      <vt:lpstr>VECTO Trailer Tool – JobFiles GUI</vt:lpstr>
      <vt:lpstr>VECTO Trailer Tool – Options GUI</vt:lpstr>
      <vt:lpstr>VECTO Trailer Tool  - Background worker</vt:lpstr>
      <vt:lpstr>VECTO Trailer Tool – Create or edit trailer job (1/6)</vt:lpstr>
      <vt:lpstr>VECTO Trailer Tool – Create or edit trailer job (2/6)</vt:lpstr>
      <vt:lpstr>VECTO Trailer Tool – Create or edit trailer job (3/6)</vt:lpstr>
      <vt:lpstr>VECTO Trailer Tool – Create or edit trailer job (4/6)</vt:lpstr>
      <vt:lpstr>VECTO Trailer Tool – Create or edit trailer job (5/6)</vt:lpstr>
      <vt:lpstr>VECTO Trailer Tool – Create or edit trailer job (6/6)</vt:lpstr>
      <vt:lpstr>Generation of input XML for a certified aero device (1/X) </vt:lpstr>
      <vt:lpstr>Generation of input XML for a certified aero device (2/X) </vt:lpstr>
      <vt:lpstr>VECTO Trailer Tool – Result files (1/2)</vt:lpstr>
      <vt:lpstr>VECTO Trailer Tool – Results (2/2)</vt:lpstr>
      <vt:lpstr>Overview content of Masterexcel (1/4)</vt:lpstr>
      <vt:lpstr>Overview content of Masterexcel (2/4)</vt:lpstr>
      <vt:lpstr>Overview content of Masterexcel (3/4)</vt:lpstr>
      <vt:lpstr>Overview content of Masterexcel (4/4)</vt:lpstr>
    </vt:vector>
  </TitlesOfParts>
  <Company>European Commission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JRC Visitors'Centre: May – Nov 2015</dc:title>
  <dc:creator>G. Fontaras</dc:creator>
  <cp:lastModifiedBy>Present Stefan</cp:lastModifiedBy>
  <cp:revision>461</cp:revision>
  <cp:lastPrinted>2018-11-06T11:10:30Z</cp:lastPrinted>
  <dcterms:created xsi:type="dcterms:W3CDTF">2015-11-03T14:12:48Z</dcterms:created>
  <dcterms:modified xsi:type="dcterms:W3CDTF">2022-03-02T06:57:54Z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https://connected.cnect.cec.eu.int</vt:lpwstr>
  </property>
  <property fmtid="{D5CDD505-2E9C-101B-9397-08002B2CF9AE}" pid="3" name="Offisync_UniqueId">
    <vt:lpwstr>88340</vt:lpwstr>
  </property>
  <property fmtid="{D5CDD505-2E9C-101B-9397-08002B2CF9AE}" pid="4" name="Jive_VersionGuid">
    <vt:lpwstr>b09c5ecf-6eac-48d9-a0e8-ce20245ff03d</vt:lpwstr>
  </property>
  <property fmtid="{D5CDD505-2E9C-101B-9397-08002B2CF9AE}" pid="5" name="Offisync_UpdateToken">
    <vt:lpwstr>9</vt:lpwstr>
  </property>
  <property fmtid="{D5CDD505-2E9C-101B-9397-08002B2CF9AE}" pid="6" name="Jive_LatestUserAccountName">
    <vt:lpwstr>noelmma</vt:lpwstr>
  </property>
  <property fmtid="{D5CDD505-2E9C-101B-9397-08002B2CF9AE}" pid="7" name="Offisync_ServerID">
    <vt:lpwstr>0d3b22a6-6203-4efc-8e8e-b5279256493b</vt:lpwstr>
  </property>
  <property fmtid="{D5CDD505-2E9C-101B-9397-08002B2CF9AE}" pid="8" name="Jive_ModifiedButNotPublished">
    <vt:lpwstr/>
  </property>
</Properties>
</file>